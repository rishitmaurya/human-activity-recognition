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84" r:id="rId4"/>
    <p:sldId id="334" r:id="rId5"/>
    <p:sldId id="335" r:id="rId6"/>
    <p:sldId id="286" r:id="rId7"/>
    <p:sldId id="326" r:id="rId8"/>
    <p:sldId id="327" r:id="rId9"/>
    <p:sldId id="331" r:id="rId10"/>
    <p:sldId id="332" r:id="rId11"/>
    <p:sldId id="310" r:id="rId12"/>
    <p:sldId id="305" r:id="rId13"/>
    <p:sldId id="312" r:id="rId14"/>
    <p:sldId id="290" r:id="rId15"/>
    <p:sldId id="336" r:id="rId16"/>
    <p:sldId id="291" r:id="rId17"/>
    <p:sldId id="299" r:id="rId18"/>
    <p:sldId id="311" r:id="rId19"/>
    <p:sldId id="318" r:id="rId20"/>
    <p:sldId id="278" r:id="rId21"/>
    <p:sldId id="333" r:id="rId22"/>
    <p:sldId id="317" r:id="rId23"/>
    <p:sldId id="301" r:id="rId24"/>
    <p:sldId id="337" r:id="rId25"/>
    <p:sldId id="338" r:id="rId26"/>
    <p:sldId id="321" r:id="rId27"/>
    <p:sldId id="339" r:id="rId28"/>
    <p:sldId id="294" r:id="rId29"/>
    <p:sldId id="295" r:id="rId30"/>
    <p:sldId id="315" r:id="rId31"/>
  </p:sldIdLst>
  <p:sldSz cx="12192000" cy="6858000"/>
  <p:notesSz cx="6858000" cy="9144000"/>
  <p:embeddedFontLst>
    <p:embeddedFont>
      <p:font typeface="Arial Black" panose="020B0A04020102020204" pitchFamily="34" charset="0"/>
      <p:regular r:id="rId34"/>
      <p:bold r:id="rId35"/>
    </p:embeddedFont>
    <p:embeddedFont>
      <p:font typeface="Cambria Math" panose="02040503050406030204" pitchFamily="18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FF"/>
    <a:srgbClr val="FA3D0A"/>
    <a:srgbClr val="CC0000"/>
    <a:srgbClr val="1552DB"/>
    <a:srgbClr val="FF6600"/>
    <a:srgbClr val="3333FF"/>
    <a:srgbClr val="00FF00"/>
    <a:srgbClr val="FFFF99"/>
    <a:srgbClr val="3DF5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129BD1-FC92-40F7-9949-7B2696B6D511}">
  <a:tblStyle styleId="{FF129BD1-FC92-40F7-9949-7B2696B6D5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6548CB8-554B-47B1-B464-9B95B1BBCFA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K" userId="c82aea2e5423fcf6" providerId="LiveId" clId="{95EEA42B-6BC1-48B9-A686-38EA1E396BB3}"/>
    <pc:docChg chg="undo custSel addSld modSld sldOrd">
      <pc:chgData name="Praveen K" userId="c82aea2e5423fcf6" providerId="LiveId" clId="{95EEA42B-6BC1-48B9-A686-38EA1E396BB3}" dt="2025-07-13T07:43:30.190" v="167" actId="478"/>
      <pc:docMkLst>
        <pc:docMk/>
      </pc:docMkLst>
      <pc:sldChg chg="addSp delSp modSp mod ord">
        <pc:chgData name="Praveen K" userId="c82aea2e5423fcf6" providerId="LiveId" clId="{95EEA42B-6BC1-48B9-A686-38EA1E396BB3}" dt="2025-07-13T06:48:00.759" v="53" actId="1076"/>
        <pc:sldMkLst>
          <pc:docMk/>
          <pc:sldMk cId="1160658422" sldId="278"/>
        </pc:sldMkLst>
        <pc:spChg chg="mod">
          <ac:chgData name="Praveen K" userId="c82aea2e5423fcf6" providerId="LiveId" clId="{95EEA42B-6BC1-48B9-A686-38EA1E396BB3}" dt="2025-07-13T06:47:55.239" v="52" actId="1076"/>
          <ac:spMkLst>
            <pc:docMk/>
            <pc:sldMk cId="1160658422" sldId="278"/>
            <ac:spMk id="10" creationId="{0F834F8E-C008-BBE8-AA05-B1AB9AA42869}"/>
          </ac:spMkLst>
        </pc:spChg>
        <pc:spChg chg="del mod">
          <ac:chgData name="Praveen K" userId="c82aea2e5423fcf6" providerId="LiveId" clId="{95EEA42B-6BC1-48B9-A686-38EA1E396BB3}" dt="2025-07-13T06:44:56.243" v="42" actId="478"/>
          <ac:spMkLst>
            <pc:docMk/>
            <pc:sldMk cId="1160658422" sldId="278"/>
            <ac:spMk id="12" creationId="{D87A59D2-8DAA-73DD-2BA5-EF1E5BEA12B4}"/>
          </ac:spMkLst>
        </pc:spChg>
        <pc:spChg chg="del mod">
          <ac:chgData name="Praveen K" userId="c82aea2e5423fcf6" providerId="LiveId" clId="{95EEA42B-6BC1-48B9-A686-38EA1E396BB3}" dt="2025-07-13T06:44:55.126" v="41" actId="478"/>
          <ac:spMkLst>
            <pc:docMk/>
            <pc:sldMk cId="1160658422" sldId="278"/>
            <ac:spMk id="13" creationId="{457CCA23-41E5-1A82-7D7E-0703A52010C2}"/>
          </ac:spMkLst>
        </pc:spChg>
        <pc:spChg chg="del">
          <ac:chgData name="Praveen K" userId="c82aea2e5423fcf6" providerId="LiveId" clId="{95EEA42B-6BC1-48B9-A686-38EA1E396BB3}" dt="2025-07-13T06:47:44.157" v="47" actId="478"/>
          <ac:spMkLst>
            <pc:docMk/>
            <pc:sldMk cId="1160658422" sldId="278"/>
            <ac:spMk id="14" creationId="{9C0717F9-D8FA-852D-3E32-3AC46DA3D5CF}"/>
          </ac:spMkLst>
        </pc:spChg>
        <pc:spChg chg="mod">
          <ac:chgData name="Praveen K" userId="c82aea2e5423fcf6" providerId="LiveId" clId="{95EEA42B-6BC1-48B9-A686-38EA1E396BB3}" dt="2025-07-13T06:48:00.759" v="53" actId="1076"/>
          <ac:spMkLst>
            <pc:docMk/>
            <pc:sldMk cId="1160658422" sldId="278"/>
            <ac:spMk id="19" creationId="{C8CB01CD-21A8-CD3D-20BE-489208119169}"/>
          </ac:spMkLst>
        </pc:spChg>
        <pc:picChg chg="del mod">
          <ac:chgData name="Praveen K" userId="c82aea2e5423fcf6" providerId="LiveId" clId="{95EEA42B-6BC1-48B9-A686-38EA1E396BB3}" dt="2025-07-13T06:44:05.764" v="8" actId="478"/>
          <ac:picMkLst>
            <pc:docMk/>
            <pc:sldMk cId="1160658422" sldId="278"/>
            <ac:picMk id="3" creationId="{7C3C4ED8-84FB-2D06-7953-77C9009CD680}"/>
          </ac:picMkLst>
        </pc:picChg>
        <pc:picChg chg="mod">
          <ac:chgData name="Praveen K" userId="c82aea2e5423fcf6" providerId="LiveId" clId="{95EEA42B-6BC1-48B9-A686-38EA1E396BB3}" dt="2025-07-13T06:45:07.388" v="44" actId="14100"/>
          <ac:picMkLst>
            <pc:docMk/>
            <pc:sldMk cId="1160658422" sldId="278"/>
            <ac:picMk id="5" creationId="{94252598-E9E4-DD4C-1736-7CA5BEB5E57F}"/>
          </ac:picMkLst>
        </pc:picChg>
        <pc:picChg chg="del">
          <ac:chgData name="Praveen K" userId="c82aea2e5423fcf6" providerId="LiveId" clId="{95EEA42B-6BC1-48B9-A686-38EA1E396BB3}" dt="2025-07-13T06:47:42.009" v="46" actId="478"/>
          <ac:picMkLst>
            <pc:docMk/>
            <pc:sldMk cId="1160658422" sldId="278"/>
            <ac:picMk id="7" creationId="{1CF4768E-F9B8-AB6A-FC17-E3E25E95BB39}"/>
          </ac:picMkLst>
        </pc:picChg>
        <pc:picChg chg="add mod">
          <ac:chgData name="Praveen K" userId="c82aea2e5423fcf6" providerId="LiveId" clId="{95EEA42B-6BC1-48B9-A686-38EA1E396BB3}" dt="2025-07-13T06:44:50.925" v="40" actId="14100"/>
          <ac:picMkLst>
            <pc:docMk/>
            <pc:sldMk cId="1160658422" sldId="278"/>
            <ac:picMk id="16" creationId="{0F51AA4A-820A-C53E-36D8-EF20002FF147}"/>
          </ac:picMkLst>
        </pc:picChg>
        <pc:picChg chg="add mod">
          <ac:chgData name="Praveen K" userId="c82aea2e5423fcf6" providerId="LiveId" clId="{95EEA42B-6BC1-48B9-A686-38EA1E396BB3}" dt="2025-07-13T06:47:51.235" v="51" actId="1076"/>
          <ac:picMkLst>
            <pc:docMk/>
            <pc:sldMk cId="1160658422" sldId="278"/>
            <ac:picMk id="18" creationId="{54C6711E-6C02-3E1B-78BD-BAA9EF686049}"/>
          </ac:picMkLst>
        </pc:picChg>
      </pc:sldChg>
      <pc:sldChg chg="modSp mod">
        <pc:chgData name="Praveen K" userId="c82aea2e5423fcf6" providerId="LiveId" clId="{95EEA42B-6BC1-48B9-A686-38EA1E396BB3}" dt="2025-07-13T06:38:12.828" v="3" actId="20577"/>
        <pc:sldMkLst>
          <pc:docMk/>
          <pc:sldMk cId="1538997592" sldId="290"/>
        </pc:sldMkLst>
        <pc:spChg chg="mod">
          <ac:chgData name="Praveen K" userId="c82aea2e5423fcf6" providerId="LiveId" clId="{95EEA42B-6BC1-48B9-A686-38EA1E396BB3}" dt="2025-07-13T06:38:12.828" v="3" actId="20577"/>
          <ac:spMkLst>
            <pc:docMk/>
            <pc:sldMk cId="1538997592" sldId="290"/>
            <ac:spMk id="8" creationId="{68B470CE-78F6-CA8C-A694-B0BEE64081E7}"/>
          </ac:spMkLst>
        </pc:spChg>
      </pc:sldChg>
      <pc:sldChg chg="delSp mod">
        <pc:chgData name="Praveen K" userId="c82aea2e5423fcf6" providerId="LiveId" clId="{95EEA42B-6BC1-48B9-A686-38EA1E396BB3}" dt="2025-07-13T06:52:27.865" v="65" actId="478"/>
        <pc:sldMkLst>
          <pc:docMk/>
          <pc:sldMk cId="3427646999" sldId="291"/>
        </pc:sldMkLst>
        <pc:picChg chg="del">
          <ac:chgData name="Praveen K" userId="c82aea2e5423fcf6" providerId="LiveId" clId="{95EEA42B-6BC1-48B9-A686-38EA1E396BB3}" dt="2025-07-13T06:52:27.865" v="65" actId="478"/>
          <ac:picMkLst>
            <pc:docMk/>
            <pc:sldMk cId="3427646999" sldId="291"/>
            <ac:picMk id="11" creationId="{86F501B8-BAFE-C61C-55A0-B764AAD0D38E}"/>
          </ac:picMkLst>
        </pc:picChg>
      </pc:sldChg>
      <pc:sldChg chg="modSp mod ord">
        <pc:chgData name="Praveen K" userId="c82aea2e5423fcf6" providerId="LiveId" clId="{95EEA42B-6BC1-48B9-A686-38EA1E396BB3}" dt="2025-07-13T06:52:12.377" v="64"/>
        <pc:sldMkLst>
          <pc:docMk/>
          <pc:sldMk cId="3342246145" sldId="298"/>
        </pc:sldMkLst>
        <pc:graphicFrameChg chg="mod modGraphic">
          <ac:chgData name="Praveen K" userId="c82aea2e5423fcf6" providerId="LiveId" clId="{95EEA42B-6BC1-48B9-A686-38EA1E396BB3}" dt="2025-07-13T06:51:09.490" v="62" actId="122"/>
          <ac:graphicFrameMkLst>
            <pc:docMk/>
            <pc:sldMk cId="3342246145" sldId="298"/>
            <ac:graphicFrameMk id="12" creationId="{6C0C1FFE-37D8-2E7F-7FBA-D60F6A966B58}"/>
          </ac:graphicFrameMkLst>
        </pc:graphicFrameChg>
      </pc:sldChg>
      <pc:sldChg chg="modSp">
        <pc:chgData name="Praveen K" userId="c82aea2e5423fcf6" providerId="LiveId" clId="{95EEA42B-6BC1-48B9-A686-38EA1E396BB3}" dt="2025-07-13T06:49:02.633" v="54"/>
        <pc:sldMkLst>
          <pc:docMk/>
          <pc:sldMk cId="2618844330" sldId="299"/>
        </pc:sldMkLst>
        <pc:graphicFrameChg chg="mod">
          <ac:chgData name="Praveen K" userId="c82aea2e5423fcf6" providerId="LiveId" clId="{95EEA42B-6BC1-48B9-A686-38EA1E396BB3}" dt="2025-07-13T06:49:02.633" v="54"/>
          <ac:graphicFrameMkLst>
            <pc:docMk/>
            <pc:sldMk cId="2618844330" sldId="299"/>
            <ac:graphicFrameMk id="16" creationId="{ACFA7B29-4BC9-8B4B-E439-CE727E228226}"/>
          </ac:graphicFrameMkLst>
        </pc:graphicFrameChg>
      </pc:sldChg>
      <pc:sldChg chg="addSp modSp mod">
        <pc:chgData name="Praveen K" userId="c82aea2e5423fcf6" providerId="LiveId" clId="{95EEA42B-6BC1-48B9-A686-38EA1E396BB3}" dt="2025-07-13T06:54:22.448" v="78" actId="14100"/>
        <pc:sldMkLst>
          <pc:docMk/>
          <pc:sldMk cId="269477701" sldId="311"/>
        </pc:sldMkLst>
        <pc:spChg chg="add mod">
          <ac:chgData name="Praveen K" userId="c82aea2e5423fcf6" providerId="LiveId" clId="{95EEA42B-6BC1-48B9-A686-38EA1E396BB3}" dt="2025-07-13T06:54:08.586" v="74" actId="14100"/>
          <ac:spMkLst>
            <pc:docMk/>
            <pc:sldMk cId="269477701" sldId="311"/>
            <ac:spMk id="13" creationId="{57CE106E-DD0A-7E36-932C-1A75F49F1F33}"/>
          </ac:spMkLst>
        </pc:spChg>
        <pc:picChg chg="add mod">
          <ac:chgData name="Praveen K" userId="c82aea2e5423fcf6" providerId="LiveId" clId="{95EEA42B-6BC1-48B9-A686-38EA1E396BB3}" dt="2025-07-13T06:54:15.955" v="75" actId="14100"/>
          <ac:picMkLst>
            <pc:docMk/>
            <pc:sldMk cId="269477701" sldId="311"/>
            <ac:picMk id="10" creationId="{5772E801-11B1-4AD9-30C8-F6A8AD1F8B91}"/>
          </ac:picMkLst>
        </pc:picChg>
        <pc:picChg chg="add mod">
          <ac:chgData name="Praveen K" userId="c82aea2e5423fcf6" providerId="LiveId" clId="{95EEA42B-6BC1-48B9-A686-38EA1E396BB3}" dt="2025-07-13T06:54:22.448" v="78" actId="14100"/>
          <ac:picMkLst>
            <pc:docMk/>
            <pc:sldMk cId="269477701" sldId="311"/>
            <ac:picMk id="11" creationId="{20AF9E4E-30DA-7D20-181D-C739E44F136A}"/>
          </ac:picMkLst>
        </pc:picChg>
      </pc:sldChg>
      <pc:sldChg chg="addSp modSp mod ord">
        <pc:chgData name="Praveen K" userId="c82aea2e5423fcf6" providerId="LiveId" clId="{95EEA42B-6BC1-48B9-A686-38EA1E396BB3}" dt="2025-07-13T07:12:31.146" v="123"/>
        <pc:sldMkLst>
          <pc:docMk/>
          <pc:sldMk cId="4007068481" sldId="312"/>
        </pc:sldMkLst>
        <pc:graphicFrameChg chg="add mod">
          <ac:chgData name="Praveen K" userId="c82aea2e5423fcf6" providerId="LiveId" clId="{95EEA42B-6BC1-48B9-A686-38EA1E396BB3}" dt="2025-07-13T06:55:25.501" v="83" actId="1076"/>
          <ac:graphicFrameMkLst>
            <pc:docMk/>
            <pc:sldMk cId="4007068481" sldId="312"/>
            <ac:graphicFrameMk id="10" creationId="{AB2AD162-0A21-C666-7F87-1EFFE890F554}"/>
          </ac:graphicFrameMkLst>
        </pc:graphicFrameChg>
        <pc:graphicFrameChg chg="add mod modGraphic">
          <ac:chgData name="Praveen K" userId="c82aea2e5423fcf6" providerId="LiveId" clId="{95EEA42B-6BC1-48B9-A686-38EA1E396BB3}" dt="2025-07-13T06:55:56.328" v="86" actId="14100"/>
          <ac:graphicFrameMkLst>
            <pc:docMk/>
            <pc:sldMk cId="4007068481" sldId="312"/>
            <ac:graphicFrameMk id="11" creationId="{D3186CB4-FAB1-CC9F-73DD-DF72F84EC20B}"/>
          </ac:graphicFrameMkLst>
        </pc:graphicFrameChg>
      </pc:sldChg>
      <pc:sldChg chg="ord">
        <pc:chgData name="Praveen K" userId="c82aea2e5423fcf6" providerId="LiveId" clId="{95EEA42B-6BC1-48B9-A686-38EA1E396BB3}" dt="2025-07-13T07:12:19.183" v="121"/>
        <pc:sldMkLst>
          <pc:docMk/>
          <pc:sldMk cId="2963145662" sldId="313"/>
        </pc:sldMkLst>
      </pc:sldChg>
      <pc:sldChg chg="addSp delSp modSp mod">
        <pc:chgData name="Praveen K" userId="c82aea2e5423fcf6" providerId="LiveId" clId="{95EEA42B-6BC1-48B9-A686-38EA1E396BB3}" dt="2025-07-13T07:43:30.190" v="167" actId="478"/>
        <pc:sldMkLst>
          <pc:docMk/>
          <pc:sldMk cId="960604607" sldId="314"/>
        </pc:sldMkLst>
        <pc:picChg chg="add del mod">
          <ac:chgData name="Praveen K" userId="c82aea2e5423fcf6" providerId="LiveId" clId="{95EEA42B-6BC1-48B9-A686-38EA1E396BB3}" dt="2025-07-13T07:43:30.190" v="167" actId="478"/>
          <ac:picMkLst>
            <pc:docMk/>
            <pc:sldMk cId="960604607" sldId="314"/>
            <ac:picMk id="10" creationId="{213179B5-37D3-5C8A-5956-5F28D9DFC990}"/>
          </ac:picMkLst>
        </pc:picChg>
      </pc:sldChg>
      <pc:sldChg chg="addSp delSp modSp add mod">
        <pc:chgData name="Praveen K" userId="c82aea2e5423fcf6" providerId="LiveId" clId="{95EEA42B-6BC1-48B9-A686-38EA1E396BB3}" dt="2025-07-13T07:36:14.335" v="154" actId="21"/>
        <pc:sldMkLst>
          <pc:docMk/>
          <pc:sldMk cId="1284348459" sldId="316"/>
        </pc:sldMkLst>
        <pc:graphicFrameChg chg="add mod modGraphic">
          <ac:chgData name="Praveen K" userId="c82aea2e5423fcf6" providerId="LiveId" clId="{95EEA42B-6BC1-48B9-A686-38EA1E396BB3}" dt="2025-07-13T07:22:05.782" v="131" actId="1076"/>
          <ac:graphicFrameMkLst>
            <pc:docMk/>
            <pc:sldMk cId="1284348459" sldId="316"/>
            <ac:graphicFrameMk id="10" creationId="{22E2F4F1-441F-4638-F871-DFEDFC762EE8}"/>
          </ac:graphicFrameMkLst>
        </pc:graphicFrameChg>
        <pc:graphicFrameChg chg="add mod modGraphic">
          <ac:chgData name="Praveen K" userId="c82aea2e5423fcf6" providerId="LiveId" clId="{95EEA42B-6BC1-48B9-A686-38EA1E396BB3}" dt="2025-07-13T07:25:01.614" v="137" actId="14100"/>
          <ac:graphicFrameMkLst>
            <pc:docMk/>
            <pc:sldMk cId="1284348459" sldId="316"/>
            <ac:graphicFrameMk id="11" creationId="{3BC75F41-6357-23E1-FFE6-68C7F5CA6678}"/>
          </ac:graphicFrameMkLst>
        </pc:graphicFrameChg>
        <pc:graphicFrameChg chg="add del mod">
          <ac:chgData name="Praveen K" userId="c82aea2e5423fcf6" providerId="LiveId" clId="{95EEA42B-6BC1-48B9-A686-38EA1E396BB3}" dt="2025-07-13T07:36:14.335" v="154" actId="21"/>
          <ac:graphicFrameMkLst>
            <pc:docMk/>
            <pc:sldMk cId="1284348459" sldId="316"/>
            <ac:graphicFrameMk id="12" creationId="{22193D58-A329-4DA7-68CE-36D36D89050A}"/>
          </ac:graphicFrameMkLst>
        </pc:graphicFrameChg>
      </pc:sldChg>
      <pc:sldChg chg="addSp modSp add mod">
        <pc:chgData name="Praveen K" userId="c82aea2e5423fcf6" providerId="LiveId" clId="{95EEA42B-6BC1-48B9-A686-38EA1E396BB3}" dt="2025-07-13T07:13:11.428" v="124" actId="14100"/>
        <pc:sldMkLst>
          <pc:docMk/>
          <pc:sldMk cId="598752059" sldId="317"/>
        </pc:sldMkLst>
        <pc:picChg chg="add mod">
          <ac:chgData name="Praveen K" userId="c82aea2e5423fcf6" providerId="LiveId" clId="{95EEA42B-6BC1-48B9-A686-38EA1E396BB3}" dt="2025-07-13T07:02:29.604" v="105" actId="14100"/>
          <ac:picMkLst>
            <pc:docMk/>
            <pc:sldMk cId="598752059" sldId="317"/>
            <ac:picMk id="11" creationId="{E8E670B3-2EA0-CFDF-CCE6-80EB13C6A822}"/>
          </ac:picMkLst>
        </pc:picChg>
        <pc:picChg chg="add mod">
          <ac:chgData name="Praveen K" userId="c82aea2e5423fcf6" providerId="LiveId" clId="{95EEA42B-6BC1-48B9-A686-38EA1E396BB3}" dt="2025-07-13T07:13:11.428" v="124" actId="14100"/>
          <ac:picMkLst>
            <pc:docMk/>
            <pc:sldMk cId="598752059" sldId="317"/>
            <ac:picMk id="13" creationId="{69E735CB-2D39-8BFD-80A7-9E2CB847E072}"/>
          </ac:picMkLst>
        </pc:picChg>
      </pc:sldChg>
      <pc:sldChg chg="addSp modSp add mod">
        <pc:chgData name="Praveen K" userId="c82aea2e5423fcf6" providerId="LiveId" clId="{95EEA42B-6BC1-48B9-A686-38EA1E396BB3}" dt="2025-07-13T07:02:47.064" v="106" actId="14100"/>
        <pc:sldMkLst>
          <pc:docMk/>
          <pc:sldMk cId="1897366662" sldId="318"/>
        </pc:sldMkLst>
        <pc:picChg chg="add mod">
          <ac:chgData name="Praveen K" userId="c82aea2e5423fcf6" providerId="LiveId" clId="{95EEA42B-6BC1-48B9-A686-38EA1E396BB3}" dt="2025-07-13T06:56:37.792" v="88" actId="1076"/>
          <ac:picMkLst>
            <pc:docMk/>
            <pc:sldMk cId="1897366662" sldId="318"/>
            <ac:picMk id="10" creationId="{7B5AF747-3119-2605-1F35-164D4D2D6BB7}"/>
          </ac:picMkLst>
        </pc:picChg>
        <pc:picChg chg="add mod">
          <ac:chgData name="Praveen K" userId="c82aea2e5423fcf6" providerId="LiveId" clId="{95EEA42B-6BC1-48B9-A686-38EA1E396BB3}" dt="2025-07-13T07:02:47.064" v="106" actId="14100"/>
          <ac:picMkLst>
            <pc:docMk/>
            <pc:sldMk cId="1897366662" sldId="318"/>
            <ac:picMk id="11" creationId="{69107D98-5C35-83FC-9560-3335DEA77320}"/>
          </ac:picMkLst>
        </pc:picChg>
      </pc:sldChg>
      <pc:sldChg chg="addSp modSp add mod">
        <pc:chgData name="Praveen K" userId="c82aea2e5423fcf6" providerId="LiveId" clId="{95EEA42B-6BC1-48B9-A686-38EA1E396BB3}" dt="2025-07-13T07:35:43.274" v="153" actId="14100"/>
        <pc:sldMkLst>
          <pc:docMk/>
          <pc:sldMk cId="4036846086" sldId="319"/>
        </pc:sldMkLst>
        <pc:spChg chg="add mod">
          <ac:chgData name="Praveen K" userId="c82aea2e5423fcf6" providerId="LiveId" clId="{95EEA42B-6BC1-48B9-A686-38EA1E396BB3}" dt="2025-07-13T07:35:43.274" v="153" actId="14100"/>
          <ac:spMkLst>
            <pc:docMk/>
            <pc:sldMk cId="4036846086" sldId="319"/>
            <ac:spMk id="11" creationId="{F48266FE-AD9A-487D-EA9A-790A20560AC2}"/>
          </ac:spMkLst>
        </pc:spChg>
      </pc:sldChg>
      <pc:sldChg chg="addSp modSp add mod">
        <pc:chgData name="Praveen K" userId="c82aea2e5423fcf6" providerId="LiveId" clId="{95EEA42B-6BC1-48B9-A686-38EA1E396BB3}" dt="2025-07-13T07:39:42.581" v="160" actId="14100"/>
        <pc:sldMkLst>
          <pc:docMk/>
          <pc:sldMk cId="1043010034" sldId="320"/>
        </pc:sldMkLst>
        <pc:graphicFrameChg chg="add mod modGraphic">
          <ac:chgData name="Praveen K" userId="c82aea2e5423fcf6" providerId="LiveId" clId="{95EEA42B-6BC1-48B9-A686-38EA1E396BB3}" dt="2025-07-13T07:39:42.581" v="160" actId="14100"/>
          <ac:graphicFrameMkLst>
            <pc:docMk/>
            <pc:sldMk cId="1043010034" sldId="320"/>
            <ac:graphicFrameMk id="12" creationId="{22193D58-A329-4DA7-68CE-36D36D89050A}"/>
          </ac:graphicFrameMkLst>
        </pc:graphicFrameChg>
      </pc:sldChg>
      <pc:sldChg chg="addSp modSp add mod ord">
        <pc:chgData name="Praveen K" userId="c82aea2e5423fcf6" providerId="LiveId" clId="{95EEA42B-6BC1-48B9-A686-38EA1E396BB3}" dt="2025-07-13T07:12:07.430" v="119"/>
        <pc:sldMkLst>
          <pc:docMk/>
          <pc:sldMk cId="2405740053" sldId="321"/>
        </pc:sldMkLst>
        <pc:graphicFrameChg chg="add mod modGraphic">
          <ac:chgData name="Praveen K" userId="c82aea2e5423fcf6" providerId="LiveId" clId="{95EEA42B-6BC1-48B9-A686-38EA1E396BB3}" dt="2025-07-13T07:03:31.266" v="112" actId="14100"/>
          <ac:graphicFrameMkLst>
            <pc:docMk/>
            <pc:sldMk cId="2405740053" sldId="321"/>
            <ac:graphicFrameMk id="10" creationId="{80618F3C-A265-7DEC-CE49-2E8D5B1047D6}"/>
          </ac:graphicFrameMkLst>
        </pc:graphicFrameChg>
        <pc:graphicFrameChg chg="add mod modGraphic">
          <ac:chgData name="Praveen K" userId="c82aea2e5423fcf6" providerId="LiveId" clId="{95EEA42B-6BC1-48B9-A686-38EA1E396BB3}" dt="2025-07-13T07:11:53.698" v="117" actId="14100"/>
          <ac:graphicFrameMkLst>
            <pc:docMk/>
            <pc:sldMk cId="2405740053" sldId="321"/>
            <ac:graphicFrameMk id="11" creationId="{6EA89658-8CF7-019A-CA69-40227BF41CE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Accuracy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Bending</c:v>
                </c:pt>
                <c:pt idx="1">
                  <c:v>Jumping</c:v>
                </c:pt>
                <c:pt idx="2">
                  <c:v>Running</c:v>
                </c:pt>
                <c:pt idx="3">
                  <c:v>Sitting</c:v>
                </c:pt>
                <c:pt idx="4">
                  <c:v>Squat</c:v>
                </c:pt>
                <c:pt idx="5">
                  <c:v>Standing</c:v>
                </c:pt>
                <c:pt idx="6">
                  <c:v>Walking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0.80520000000000003</c:v>
                </c:pt>
                <c:pt idx="1">
                  <c:v>0.78500000000000003</c:v>
                </c:pt>
                <c:pt idx="2">
                  <c:v>0.75919999999999999</c:v>
                </c:pt>
                <c:pt idx="3">
                  <c:v>0.76429999999999998</c:v>
                </c:pt>
                <c:pt idx="4">
                  <c:v>0.93440000000000001</c:v>
                </c:pt>
                <c:pt idx="5">
                  <c:v>0.79020000000000001</c:v>
                </c:pt>
                <c:pt idx="6">
                  <c:v>0.80779999999999996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E6-45A9-AD4F-B6A7202A77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BiLSTM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Bending</c:v>
                </c:pt>
                <c:pt idx="1">
                  <c:v>Jumping</c:v>
                </c:pt>
                <c:pt idx="2">
                  <c:v>Running</c:v>
                </c:pt>
                <c:pt idx="3">
                  <c:v>Sitting</c:v>
                </c:pt>
                <c:pt idx="4">
                  <c:v>Squat</c:v>
                </c:pt>
                <c:pt idx="5">
                  <c:v>Standing</c:v>
                </c:pt>
                <c:pt idx="6">
                  <c:v>Walking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0.84350000000000003</c:v>
                </c:pt>
                <c:pt idx="1">
                  <c:v>0.83399999999999996</c:v>
                </c:pt>
                <c:pt idx="2">
                  <c:v>0.74409999999999998</c:v>
                </c:pt>
                <c:pt idx="3">
                  <c:v>0.90349999999999997</c:v>
                </c:pt>
                <c:pt idx="4">
                  <c:v>0.97289999999999999</c:v>
                </c:pt>
                <c:pt idx="5">
                  <c:v>0.87590000000000001</c:v>
                </c:pt>
                <c:pt idx="6">
                  <c:v>0.84650000000000003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E6-45A9-AD4F-B6A7202A77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GRS-BiLSTM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Bending</c:v>
                </c:pt>
                <c:pt idx="1">
                  <c:v>Jumping</c:v>
                </c:pt>
                <c:pt idx="2">
                  <c:v>Running</c:v>
                </c:pt>
                <c:pt idx="3">
                  <c:v>Sitting</c:v>
                </c:pt>
                <c:pt idx="4">
                  <c:v>Squat</c:v>
                </c:pt>
                <c:pt idx="5">
                  <c:v>Standing</c:v>
                </c:pt>
                <c:pt idx="6">
                  <c:v>Walking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0.91600000000000004</c:v>
                </c:pt>
                <c:pt idx="1">
                  <c:v>0.88549999999999995</c:v>
                </c:pt>
                <c:pt idx="2">
                  <c:v>0.88060000000000005</c:v>
                </c:pt>
                <c:pt idx="3">
                  <c:v>0.94299999999999995</c:v>
                </c:pt>
                <c:pt idx="4">
                  <c:v>0.9839</c:v>
                </c:pt>
                <c:pt idx="5">
                  <c:v>0.95760000000000001</c:v>
                </c:pt>
                <c:pt idx="6">
                  <c:v>0.92500000000000004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E6-45A9-AD4F-B6A7202A77D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Proposed Model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Bending</c:v>
                </c:pt>
                <c:pt idx="1">
                  <c:v>Jumping</c:v>
                </c:pt>
                <c:pt idx="2">
                  <c:v>Running</c:v>
                </c:pt>
                <c:pt idx="3">
                  <c:v>Sitting</c:v>
                </c:pt>
                <c:pt idx="4">
                  <c:v>Squat</c:v>
                </c:pt>
                <c:pt idx="5">
                  <c:v>Standing</c:v>
                </c:pt>
                <c:pt idx="6">
                  <c:v>Walking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0.93710000000000004</c:v>
                </c:pt>
                <c:pt idx="1">
                  <c:v>0.97950000000000004</c:v>
                </c:pt>
                <c:pt idx="2">
                  <c:v>0.97709999999999997</c:v>
                </c:pt>
                <c:pt idx="3">
                  <c:v>0.94320000000000004</c:v>
                </c:pt>
                <c:pt idx="4">
                  <c:v>0.98660000000000003</c:v>
                </c:pt>
                <c:pt idx="5">
                  <c:v>0.95569999999999999</c:v>
                </c:pt>
                <c:pt idx="6">
                  <c:v>0.99709999999999999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9E6-45A9-AD4F-B6A7202A77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8830783"/>
        <c:axId val="1828831263"/>
      </c:barChart>
      <c:catAx>
        <c:axId val="1828830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8831263"/>
        <c:crosses val="autoZero"/>
        <c:auto val="1"/>
        <c:lblAlgn val="ctr"/>
        <c:lblOffset val="100"/>
        <c:noMultiLvlLbl val="0"/>
      </c:catAx>
      <c:valAx>
        <c:axId val="1828831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8830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E9E2144-ABF7-FC5E-ED89-9A76B26149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961EEC-296A-B5E7-9043-E6B7E3A751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972EF-3B25-4F57-BDC1-D6C50E71D74B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F3424-F753-8583-02FA-CEFA0AC579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7C41D-6412-F492-0E38-018A8A5AAF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98A50-B566-49AB-A9EF-92D99604F2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2248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22DC9A-63C2-A0FC-F295-FB0864F20A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0FE900-524E-1562-ABCF-DD8BC14C4E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1813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5854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6668E3C3-F301-BDD2-717D-7CCFF59E9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9D2CFAC4-64A9-5AF8-DFE7-A31F09FDB1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76F528CB-45D7-36B8-489C-92D90D3370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407DC4-26B3-DFB8-1A18-B3350DB46C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128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C3F06951-156F-B7B1-AF68-E271F5D95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1608774B-6D7F-4C7F-C87B-BE5F87996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050F1DCE-8CE4-97A3-8C6A-BC96463BE9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C5BD1B-7DBB-CA86-B042-AD511B2D72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3092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F401-D131-745C-337E-FDDB921C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0D24F-468A-975D-0D86-C21B7CCC9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6127C-46C2-FC24-8C21-46CE57877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08ACE-2333-4A2F-C6B0-008E05AE06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0634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3091-CE89-3831-E5BA-AE84DDBD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46883-B267-E841-0AB2-3ADDD964B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6919F-2F4F-1B6A-9877-3B2E4DE12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0E969-588D-F272-0F47-DC1BCDBD8A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4490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95A1A-2DC4-BA32-C2FC-A36B4B37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4346E-D2EF-8EEF-7CB8-1B08FE873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1EEE7-379F-063D-0AC8-2851AE6F5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F6AA7-EFD5-D0C8-B075-7BBE981733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245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8524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9213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2E4AC-018C-21C2-5698-85E5A296E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BAEA8-3751-F72F-883D-B59525496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4ECCC-A0A6-6D09-3D47-BB3E69D3B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764BE-6140-8137-37DB-983ED03C6F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6033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05318-92D3-5EE2-F350-EC2F7EE0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91AF9-3637-27C5-7666-F687043EA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5BD15-19BA-4D6F-2DE7-E7813EAC6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B8737-2C2B-1694-05CA-5E14814103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3883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A8333-3A89-C570-E010-979FC1E1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288CF-2305-12CC-05EC-25C001DF0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ED489-7A38-4458-F47A-56334D807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01C55-E568-1B9B-6766-4A9474676B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8089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7373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A102F-164E-DA18-394B-603D1929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8794C-70F5-E632-611F-827F7B426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B2700-5E38-B87F-EF81-B2FD200E2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AE2BA-A980-ABD7-5EEC-8D634DDBF0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66360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89404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613CB-29FD-EA0F-FF23-F72E2073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AE9C5-D95D-1A6A-713A-5F92948D3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E60D4-67C9-CED1-2FF0-AED33780E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C4400-9DD1-31A0-73BD-E4E33E4476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54272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5F629D-73C0-FDFD-3F11-817A22DA02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8560B1-027F-20B1-4A74-E7C804FD5A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DF0EBE14-23E7-552C-A113-21DC43E1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>
            <a:extLst>
              <a:ext uri="{FF2B5EF4-FFF2-40B4-BE49-F238E27FC236}">
                <a16:creationId xmlns:a16="http://schemas.microsoft.com/office/drawing/2014/main" id="{B7FB23CD-DD2E-C6D4-74E5-7A704D7E1C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7:notes">
            <a:extLst>
              <a:ext uri="{FF2B5EF4-FFF2-40B4-BE49-F238E27FC236}">
                <a16:creationId xmlns:a16="http://schemas.microsoft.com/office/drawing/2014/main" id="{287A140C-CBD5-B146-AD32-DB13BA6FB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CAC45A-1F4D-600F-13C3-6E029AEEFF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0165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7184" y="4234898"/>
            <a:ext cx="1530182" cy="134499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3575133" y="6007509"/>
            <a:ext cx="5149887" cy="737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>
              <a:lnSpc>
                <a:spcPct val="120000"/>
              </a:lnSpc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IN" sz="16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600" dirty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1600" dirty="0">
                <a:solidFill>
                  <a:srgbClr val="FF0000"/>
                </a:solidFill>
              </a:rPr>
            </a:br>
            <a:br>
              <a:rPr lang="en-IN" dirty="0"/>
            </a:br>
            <a:r>
              <a:rPr lang="en-IN" dirty="0"/>
              <a:t> </a:t>
            </a:r>
            <a:endParaRPr dirty="0"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3303639" y="5771535"/>
            <a:ext cx="1248696" cy="47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8600" b="1" dirty="0"/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8600" b="1" dirty="0"/>
              <a:t> </a:t>
            </a:r>
            <a:endParaRPr dirty="0"/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/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CED5C-C3A4-0155-4AA2-FC7361DDB4AE}"/>
              </a:ext>
            </a:extLst>
          </p:cNvPr>
          <p:cNvSpPr txBox="1"/>
          <p:nvPr/>
        </p:nvSpPr>
        <p:spPr>
          <a:xfrm>
            <a:off x="4393292" y="208178"/>
            <a:ext cx="3405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Review</a:t>
            </a:r>
          </a:p>
          <a:p>
            <a:pPr algn="ctr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IN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6C846C-173E-F9E2-24CD-A70C10ABCE4F}"/>
              </a:ext>
            </a:extLst>
          </p:cNvPr>
          <p:cNvSpPr/>
          <p:nvPr/>
        </p:nvSpPr>
        <p:spPr>
          <a:xfrm>
            <a:off x="1216585" y="985318"/>
            <a:ext cx="9655278" cy="930277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7F41A4-A27E-9F5D-9B84-D85494C4C715}"/>
              </a:ext>
            </a:extLst>
          </p:cNvPr>
          <p:cNvSpPr txBox="1"/>
          <p:nvPr/>
        </p:nvSpPr>
        <p:spPr>
          <a:xfrm>
            <a:off x="1410487" y="961488"/>
            <a:ext cx="9479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1552D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 based Human Activity Recognition using Mobile Sensor Data</a:t>
            </a:r>
            <a:endParaRPr lang="en-IN" sz="2800" dirty="0">
              <a:solidFill>
                <a:srgbClr val="1552DB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004A5-0AFF-DC86-9DBD-29950DA922B5}"/>
              </a:ext>
            </a:extLst>
          </p:cNvPr>
          <p:cNvSpPr txBox="1"/>
          <p:nvPr/>
        </p:nvSpPr>
        <p:spPr>
          <a:xfrm>
            <a:off x="3303639" y="2936013"/>
            <a:ext cx="5657275" cy="11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600"/>
              </a:spcBef>
              <a:buNone/>
            </a:pPr>
            <a:r>
              <a:rPr lang="en-I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  <a:p>
            <a:pPr algn="ctr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b="1" dirty="0" err="1">
                <a:solidFill>
                  <a:srgbClr val="FF006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Dr.</a:t>
            </a:r>
            <a:r>
              <a:rPr lang="en-IN" sz="2000" b="1" dirty="0">
                <a:solidFill>
                  <a:srgbClr val="FF006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Ravi Kumar Mandava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Asst. Professor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C0554-60DA-232A-46D9-E2E7BF056493}"/>
              </a:ext>
            </a:extLst>
          </p:cNvPr>
          <p:cNvSpPr txBox="1"/>
          <p:nvPr/>
        </p:nvSpPr>
        <p:spPr>
          <a:xfrm>
            <a:off x="3004445" y="1981000"/>
            <a:ext cx="62556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Rishit Maurya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(224ME1001)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767398-3D18-E3C5-1F6F-AD21BA9C23E5}"/>
              </a:ext>
            </a:extLst>
          </p:cNvPr>
          <p:cNvSpPr txBox="1"/>
          <p:nvPr/>
        </p:nvSpPr>
        <p:spPr>
          <a:xfrm>
            <a:off x="3127828" y="571069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IIITDM Kurnool</a:t>
            </a:r>
            <a:endParaRPr lang="en-IN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1028393" y="951470"/>
            <a:ext cx="9777259" cy="5449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342900" lvl="0" indent="-34290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342900" lvl="0" indent="-34290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so far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  <a:p>
            <a:pPr marL="342900" lvl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lvl="0" indent="-34290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256D97-30D6-7F20-C9ED-6FD17A1AAD18}"/>
              </a:ext>
            </a:extLst>
          </p:cNvPr>
          <p:cNvSpPr/>
          <p:nvPr/>
        </p:nvSpPr>
        <p:spPr>
          <a:xfrm>
            <a:off x="992459" y="188267"/>
            <a:ext cx="9360910" cy="6390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189E0D-6448-1C2E-0EEB-19FD96C81A1D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about Human Activity Recognition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5BCA3-D4C5-E9B1-7B4B-4203C0399228}"/>
              </a:ext>
            </a:extLst>
          </p:cNvPr>
          <p:cNvSpPr txBox="1"/>
          <p:nvPr/>
        </p:nvSpPr>
        <p:spPr>
          <a:xfrm>
            <a:off x="155742" y="1036037"/>
            <a:ext cx="773565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Activity Recognition (HAR)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automatically identifying and classifying human actions from sensor or motion data.</a:t>
            </a:r>
          </a:p>
          <a:p>
            <a:pPr marL="342900" lvl="0" indent="-342900" algn="just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 analyzes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movement patterns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activities like walking, sitting, standing, and climbing stairs.</a:t>
            </a:r>
          </a:p>
          <a:p>
            <a:pPr marL="342900" lvl="0" indent="-342900" algn="just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HAR supports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abnormal behavior detection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recovery monitoring, and safety for independent living.</a:t>
            </a:r>
          </a:p>
          <a:p>
            <a:pPr lvl="0" eaLnBrk="0" fontAlgn="base" hangingPunct="0">
              <a:spcBef>
                <a:spcPts val="600"/>
              </a:spcBef>
              <a:spcAft>
                <a:spcPct val="0"/>
              </a:spcAft>
              <a:buClr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HAR is needed ?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patient movements for rehabilitation and recovery progress.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surveillance systems with automatic threat detection.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robots to understand and respond to human actions.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interaction, navigation, and task coordination with humans.</a:t>
            </a:r>
          </a:p>
        </p:txBody>
      </p:sp>
      <p:pic>
        <p:nvPicPr>
          <p:cNvPr id="4" name="Google Shape;97;p14">
            <a:extLst>
              <a:ext uri="{FF2B5EF4-FFF2-40B4-BE49-F238E27FC236}">
                <a16:creationId xmlns:a16="http://schemas.microsoft.com/office/drawing/2014/main" id="{0391E1C4-F12F-8680-787F-98050260B6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2CE074-1755-9FDE-138A-539374821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732" y="1272329"/>
            <a:ext cx="3838536" cy="46111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FFBF59-730E-AFAB-555F-05D1E2739DC5}"/>
              </a:ext>
            </a:extLst>
          </p:cNvPr>
          <p:cNvSpPr txBox="1"/>
          <p:nvPr/>
        </p:nvSpPr>
        <p:spPr>
          <a:xfrm>
            <a:off x="9638110" y="5883518"/>
            <a:ext cx="13749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Fig.1. HAR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D8A3A69-F144-FD60-2E3C-BF0F63AFA0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25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31A98E9-AD47-0CE4-C7B9-7E54BFB61AA4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Human Activity Recognition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7;p14">
            <a:extLst>
              <a:ext uri="{FF2B5EF4-FFF2-40B4-BE49-F238E27FC236}">
                <a16:creationId xmlns:a16="http://schemas.microsoft.com/office/drawing/2014/main" id="{17A7E052-D967-5F19-4597-CD676186DF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73D5F0-B7F3-DE50-8CFB-84FCCD1EF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6" t="4385" r="2783" b="6483"/>
          <a:stretch>
            <a:fillRect/>
          </a:stretch>
        </p:blipFill>
        <p:spPr>
          <a:xfrm>
            <a:off x="824023" y="1064713"/>
            <a:ext cx="9908346" cy="5390951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75616A-1FD0-59E6-C145-81D8E1F9AA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25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3A705EC-C901-9416-D908-2E6D5195AAB7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Classification for Human Activity Recognition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7;p14">
            <a:extLst>
              <a:ext uri="{FF2B5EF4-FFF2-40B4-BE49-F238E27FC236}">
                <a16:creationId xmlns:a16="http://schemas.microsoft.com/office/drawing/2014/main" id="{38540121-723E-AFE9-8197-7A85999C6C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E03B2A-5B7E-D8EE-C2BA-644AE6D2FF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7" t="4017" r="692" b="5814"/>
          <a:stretch>
            <a:fillRect/>
          </a:stretch>
        </p:blipFill>
        <p:spPr>
          <a:xfrm>
            <a:off x="0" y="963561"/>
            <a:ext cx="12288032" cy="537460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02D1C8-0C4C-853C-0908-D71FA683D8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94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3AF45-51E3-C82C-DF05-241E9A30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A2D9A6-2C88-6E43-2980-C3F673F70A03}"/>
              </a:ext>
            </a:extLst>
          </p:cNvPr>
          <p:cNvSpPr/>
          <p:nvPr/>
        </p:nvSpPr>
        <p:spPr>
          <a:xfrm>
            <a:off x="89899" y="109580"/>
            <a:ext cx="10332295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Approaches to Data Collection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A6BCE2-AB64-24CC-6FF4-2397CC1B198A}"/>
              </a:ext>
            </a:extLst>
          </p:cNvPr>
          <p:cNvSpPr txBox="1"/>
          <p:nvPr/>
        </p:nvSpPr>
        <p:spPr>
          <a:xfrm>
            <a:off x="2110139" y="5503368"/>
            <a:ext cx="7971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Fig.2. Figure (a) Data collection using Kinect sensor and figure (b) Data collection using wearable sensors 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AC412BF-FDE0-F4A6-F26C-9768BA118978}"/>
              </a:ext>
            </a:extLst>
          </p:cNvPr>
          <p:cNvGrpSpPr/>
          <p:nvPr/>
        </p:nvGrpSpPr>
        <p:grpSpPr>
          <a:xfrm>
            <a:off x="0" y="1015594"/>
            <a:ext cx="7854696" cy="4079242"/>
            <a:chOff x="219074" y="1008923"/>
            <a:chExt cx="8303134" cy="427672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E1896B6-3F5D-3C72-1701-46022E865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074" y="1008923"/>
              <a:ext cx="8303134" cy="4276725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4A0178F-F01E-DE2D-C58A-C0883155A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867" y="1322814"/>
              <a:ext cx="2733533" cy="3648942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F0ABAB3-D2BE-157C-1118-7417F0275FCE}"/>
                </a:ext>
              </a:extLst>
            </p:cNvPr>
            <p:cNvSpPr/>
            <p:nvPr/>
          </p:nvSpPr>
          <p:spPr>
            <a:xfrm>
              <a:off x="1543574" y="5036075"/>
              <a:ext cx="246888" cy="2473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9DCA23E-4775-5BD5-7E3B-4D7A7C561A77}"/>
                </a:ext>
              </a:extLst>
            </p:cNvPr>
            <p:cNvSpPr/>
            <p:nvPr/>
          </p:nvSpPr>
          <p:spPr>
            <a:xfrm>
              <a:off x="4909447" y="4971756"/>
              <a:ext cx="246888" cy="2473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12D580C9-8802-D887-9401-8093BB6A1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1" y="1380923"/>
            <a:ext cx="4368327" cy="3529723"/>
          </a:xfrm>
          <a:prstGeom prst="rect">
            <a:avLst/>
          </a:prstGeom>
        </p:spPr>
      </p:pic>
      <p:pic>
        <p:nvPicPr>
          <p:cNvPr id="37" name="Google Shape;97;p14">
            <a:extLst>
              <a:ext uri="{FF2B5EF4-FFF2-40B4-BE49-F238E27FC236}">
                <a16:creationId xmlns:a16="http://schemas.microsoft.com/office/drawing/2014/main" id="{FE359CE8-2A05-AE67-6BCF-028CC1ABCE6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739B237E-7FC2-D5F1-2382-92BA6EEA784A}"/>
              </a:ext>
            </a:extLst>
          </p:cNvPr>
          <p:cNvSpPr txBox="1"/>
          <p:nvPr/>
        </p:nvSpPr>
        <p:spPr>
          <a:xfrm>
            <a:off x="3726011" y="5092670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169F07-788A-A455-DAD3-B167B678EFCD}"/>
              </a:ext>
            </a:extLst>
          </p:cNvPr>
          <p:cNvSpPr txBox="1"/>
          <p:nvPr/>
        </p:nvSpPr>
        <p:spPr>
          <a:xfrm>
            <a:off x="9412327" y="5092670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ED6AA8-9216-88FE-5521-72CE17AC87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573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1E1CB984-8B57-D1F7-6C63-42B2270C1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8BB712-2AAC-736B-21C4-8DF39F02AA1B}"/>
              </a:ext>
            </a:extLst>
          </p:cNvPr>
          <p:cNvSpPr/>
          <p:nvPr/>
        </p:nvSpPr>
        <p:spPr>
          <a:xfrm>
            <a:off x="89899" y="46377"/>
            <a:ext cx="10687665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97;p14">
            <a:extLst>
              <a:ext uri="{FF2B5EF4-FFF2-40B4-BE49-F238E27FC236}">
                <a16:creationId xmlns:a16="http://schemas.microsoft.com/office/drawing/2014/main" id="{C7352718-8164-E201-B579-3916480AC6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33438" y="0"/>
            <a:ext cx="1058562" cy="8829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5C51A9-E26E-DAA9-2A32-C7AC29FA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916727"/>
              </p:ext>
            </p:extLst>
          </p:nvPr>
        </p:nvGraphicFramePr>
        <p:xfrm>
          <a:off x="89899" y="949569"/>
          <a:ext cx="11644901" cy="5400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978">
                  <a:extLst>
                    <a:ext uri="{9D8B030D-6E8A-4147-A177-3AD203B41FA5}">
                      <a16:colId xmlns:a16="http://schemas.microsoft.com/office/drawing/2014/main" val="1465534069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3561462080"/>
                    </a:ext>
                  </a:extLst>
                </a:gridCol>
                <a:gridCol w="3294184">
                  <a:extLst>
                    <a:ext uri="{9D8B030D-6E8A-4147-A177-3AD203B41FA5}">
                      <a16:colId xmlns:a16="http://schemas.microsoft.com/office/drawing/2014/main" val="3693561996"/>
                    </a:ext>
                  </a:extLst>
                </a:gridCol>
                <a:gridCol w="6365631">
                  <a:extLst>
                    <a:ext uri="{9D8B030D-6E8A-4147-A177-3AD203B41FA5}">
                      <a16:colId xmlns:a16="http://schemas.microsoft.com/office/drawing/2014/main" val="519534174"/>
                    </a:ext>
                  </a:extLst>
                </a:gridCol>
              </a:tblGrid>
              <a:tr h="4549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3405995661"/>
                  </a:ext>
                </a:extLst>
              </a:tr>
              <a:tr h="113185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Lalwani et al., 2024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 Novel CNN-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BiLSTM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-GRU Hybrid Deep Learning Model for Human Activity Recognition.</a:t>
                      </a:r>
                      <a:endParaRPr lang="en-US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proposed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CNN-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BiLSTM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-GRU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hybrid model achieved an accuracy of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99.7%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on the WISDM dataset</a:t>
                      </a: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model processes raw wearable sensor data with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minimal preprocessing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findings have implications for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bipedal robotics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by enhancing human–robot interaction quality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4220684924"/>
                  </a:ext>
                </a:extLst>
              </a:tr>
              <a:tr h="81404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Tokas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et al., 2025</a:t>
                      </a:r>
                      <a:endParaRPr lang="da-DK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 Real-Time Deployable Attention-Driven CNN–LSTM Framework for Human Activity Recognition using Wearable Sensor</a:t>
                      </a:r>
                      <a:endParaRPr lang="en-US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Introduces a lightweight architecture combining multi-resolution kernels and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Convolutional Block Attention Modules (CBAM)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to highlight salient features while suppressing sensor noise.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Achieves high accuracy (e.g.,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99.7% on mHealth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) while remaining optimized for edge devices through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structured pruning and quantization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resulting in a compact 130.8 KB model size.</a:t>
                      </a: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3776992934"/>
                  </a:ext>
                </a:extLst>
              </a:tr>
              <a:tr h="7950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Hossen et al., 2025</a:t>
                      </a:r>
                      <a:endParaRPr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Machine Learning for Human Activity Recognition: State-of-the-Art Techniques and Emerging Trends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Provides a comprehensive review focusing on the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integration of sensor-based, vision-based, and hybrid methodologies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using modalities like RGB, depth, and Wi-Fi.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Discusses recent breakthroughs in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deep learning (CNNs, RNNs, attention mechanisms, and reinforcement learning)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and evaluates their implications for future tech development.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519018479"/>
                  </a:ext>
                </a:extLst>
              </a:tr>
              <a:tr h="114273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Khatun et al., 2022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Deep CNN-LSTM With Self-Attention Model for Human Activity Recognition Using Wearable Sensor</a:t>
                      </a:r>
                      <a:endParaRPr lang="en-US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 hybrid deep learning model combining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CNN-LSTM and a self-attention algorithm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was proposed to enhance predictive capabilities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model uses raw smartphone sensor data (accelerometer, gyroscope, and linear acceleration)</a:t>
                      </a:r>
                    </a:p>
                    <a:p>
                      <a:pPr marL="285750" indent="-285750" algn="just" defTabSz="914400" rtl="0" eaLnBrk="1" latinLnBrk="0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It achieved an accuracy of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99.93%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on the collected H-Activity dataset.</a:t>
                      </a:r>
                      <a:endParaRPr lang="en-US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2987469427"/>
                  </a:ext>
                </a:extLst>
              </a:tr>
            </a:tbl>
          </a:graphicData>
        </a:graphic>
      </p:graphicFrame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C850CD5-1B51-A452-942A-4DE13969FD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222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A5E88850-9B07-5DFF-8C7C-663201052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82A2738-D62A-810D-EA4D-069876F8B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440174"/>
              </p:ext>
            </p:extLst>
          </p:nvPr>
        </p:nvGraphicFramePr>
        <p:xfrm>
          <a:off x="70668" y="937965"/>
          <a:ext cx="11844192" cy="4913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040">
                  <a:extLst>
                    <a:ext uri="{9D8B030D-6E8A-4147-A177-3AD203B41FA5}">
                      <a16:colId xmlns:a16="http://schemas.microsoft.com/office/drawing/2014/main" val="1465534069"/>
                    </a:ext>
                  </a:extLst>
                </a:gridCol>
                <a:gridCol w="1512277">
                  <a:extLst>
                    <a:ext uri="{9D8B030D-6E8A-4147-A177-3AD203B41FA5}">
                      <a16:colId xmlns:a16="http://schemas.microsoft.com/office/drawing/2014/main" val="3561462080"/>
                    </a:ext>
                  </a:extLst>
                </a:gridCol>
                <a:gridCol w="3639940">
                  <a:extLst>
                    <a:ext uri="{9D8B030D-6E8A-4147-A177-3AD203B41FA5}">
                      <a16:colId xmlns:a16="http://schemas.microsoft.com/office/drawing/2014/main" val="2483098990"/>
                    </a:ext>
                  </a:extLst>
                </a:gridCol>
                <a:gridCol w="6101935">
                  <a:extLst>
                    <a:ext uri="{9D8B030D-6E8A-4147-A177-3AD203B41FA5}">
                      <a16:colId xmlns:a16="http://schemas.microsoft.com/office/drawing/2014/main" val="519534174"/>
                    </a:ext>
                  </a:extLst>
                </a:gridCol>
              </a:tblGrid>
              <a:tr h="27701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S. No.</a:t>
                      </a:r>
                      <a:endParaRPr lang="en-IN" sz="1400" b="1" i="0" u="none" strike="noStrike" cap="none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Authors &amp; Year</a:t>
                      </a:r>
                      <a:endParaRPr lang="en-IN" sz="1400" b="1" i="0" u="none" strike="noStrike" cap="none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Title</a:t>
                      </a:r>
                      <a:endParaRPr lang="en-IN" sz="1400" b="1" i="0" u="none" strike="noStrike" cap="none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Key Findings</a:t>
                      </a:r>
                      <a:endParaRPr lang="en-IN" sz="1400" b="1" i="0" u="none" strike="noStrike" cap="none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3405995661"/>
                  </a:ext>
                </a:extLst>
              </a:tr>
              <a:tr h="147956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6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Sain et al., 2023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Hybrid deep learning model-based human action recognition in indoor environment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Introduces the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LNMIIT-KHAD dataset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consisting of seven indoor activities collected from 20 individuals using a Kinect V2 sensor.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Develops a novel hybrid model (CNN +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BiLSTM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) that uses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skeleton coordinates and kinematic features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to identify actions while specifically protecting user privacy.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Achieves a high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accuracy of 99.5%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 outperforming standard stand-alone CNN, LSTM, and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ConvLSTM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architectures</a:t>
                      </a: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2290422251"/>
                  </a:ext>
                </a:extLst>
              </a:tr>
              <a:tr h="151227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7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Challa et al., 2022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 multibranch CNN-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BiLSTM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model for human activity recognition using wearable sensor data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multibranch CNN-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BiLSTM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network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was proposed for automatic feature extraction from raw sensor data</a:t>
                      </a:r>
                      <a:r>
                        <a:rPr lang="en-US" sz="14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. 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model uses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different convolutional filter sizes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(3, 7, and 11) to capture various temporal local dependencies.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It achieved accuracies of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96.37%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(UCI-HAR),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96.05%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(WISDM), and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94.29%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(PAMAP2) datasets.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4220684924"/>
                  </a:ext>
                </a:extLst>
              </a:tr>
              <a:tr h="81089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8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400" b="0" u="none" strike="noStrike" cap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Kaseris</a:t>
                      </a:r>
                      <a:r>
                        <a:rPr lang="en-IN" sz="14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 et al., 2024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 Comprehensive Survey on Deep Learning Methods in Human Activity Recognition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It investigates approaches utilizing diverse input modalities like accelerometer data, video sequences, and audio signals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4219917004"/>
                  </a:ext>
                </a:extLst>
              </a:tr>
              <a:tr h="80106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9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Sarveshwaran</a:t>
                      </a:r>
                      <a:r>
                        <a:rPr lang="en-US" sz="1400" b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, 2022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nvestigation on Human Activity Recognition using Deep Learning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9085" marR="19085" marT="9542" marB="9542"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Char char="§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Discussion about the deep learning model, merits, demerits and dataset used in human activity recognition.</a:t>
                      </a:r>
                    </a:p>
                  </a:txBody>
                  <a:tcPr marL="19085" marR="19085" marT="9542" marB="9542" anchor="ctr"/>
                </a:tc>
                <a:extLst>
                  <a:ext uri="{0D108BD9-81ED-4DB2-BD59-A6C34878D82A}">
                    <a16:rowId xmlns:a16="http://schemas.microsoft.com/office/drawing/2014/main" val="2067203638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EB1A2D-F9F0-80A2-F496-08B4CA39DD5F}"/>
              </a:ext>
            </a:extLst>
          </p:cNvPr>
          <p:cNvSpPr/>
          <p:nvPr/>
        </p:nvSpPr>
        <p:spPr>
          <a:xfrm>
            <a:off x="0" y="20237"/>
            <a:ext cx="10687665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7;p14">
            <a:extLst>
              <a:ext uri="{FF2B5EF4-FFF2-40B4-BE49-F238E27FC236}">
                <a16:creationId xmlns:a16="http://schemas.microsoft.com/office/drawing/2014/main" id="{D781CC4F-2D66-DEC4-8189-7316868E07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33438" y="0"/>
            <a:ext cx="1058562" cy="88299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FF5C464-B434-DC96-D941-705C8B7ABA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15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1D86E2-DABC-A734-6B55-2C559001DF00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7;p14">
            <a:extLst>
              <a:ext uri="{FF2B5EF4-FFF2-40B4-BE49-F238E27FC236}">
                <a16:creationId xmlns:a16="http://schemas.microsoft.com/office/drawing/2014/main" id="{6A4697F0-B944-83BB-6C7B-ECA099AFD4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FF00D8-3FC9-E430-B36D-AEFB78ACC98A}"/>
              </a:ext>
            </a:extLst>
          </p:cNvPr>
          <p:cNvSpPr txBox="1"/>
          <p:nvPr/>
        </p:nvSpPr>
        <p:spPr>
          <a:xfrm>
            <a:off x="306967" y="1153972"/>
            <a:ext cx="5265108" cy="453970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Data and Annotation Challenges 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annotated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subject diversity.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Noisy, imbalanced real-world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High-cost vision data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Reliance on handcrafted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models lack interpretability.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Activity and Complexity Modeling 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multi-sensor fusion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Subtle/overlapping motions cause difficulty.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postural transition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suffers occlusion/clutter.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12039-1731-5A88-2A41-04D6D9A07CA9}"/>
              </a:ext>
            </a:extLst>
          </p:cNvPr>
          <p:cNvSpPr txBox="1"/>
          <p:nvPr/>
        </p:nvSpPr>
        <p:spPr>
          <a:xfrm>
            <a:off x="5903936" y="1153972"/>
            <a:ext cx="5695166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Architectural and Methodological Limitations 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preprocessing overhead.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multi-resolution encoding.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RNNs are slow, and provide limited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CNN/RNN spatial–temporal mismatch.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Deployment and Real-World Challenges 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domain shift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wearable 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adaptive recalibration.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constraints.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Vision-based privacy concerns.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FA6E61-0CC9-55E7-A7D0-FE4A0DBB06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106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30A03F-44EE-CCD1-7490-34D435639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095" y="1153972"/>
            <a:ext cx="3781953" cy="495369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81A2102-9CEF-4A25-4774-6BC35D38B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09" y="1523719"/>
            <a:ext cx="6112702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unified, efficient HAR model capable of handling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scarcity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complexity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deployment challenges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wearable.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and compare activity recognition performance across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 sensing modalities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recognized motion patterns to a bipedal robot, enabling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imitation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reproduction of human activities.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24FD76-7FAA-3ED4-12C8-96CB81ADA2C7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97;p14">
            <a:extLst>
              <a:ext uri="{FF2B5EF4-FFF2-40B4-BE49-F238E27FC236}">
                <a16:creationId xmlns:a16="http://schemas.microsoft.com/office/drawing/2014/main" id="{51CE1480-FF6A-4114-069A-28946E5646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A5ED31-802A-997A-6993-B0CCF7A2441F}"/>
              </a:ext>
            </a:extLst>
          </p:cNvPr>
          <p:cNvSpPr txBox="1"/>
          <p:nvPr/>
        </p:nvSpPr>
        <p:spPr>
          <a:xfrm>
            <a:off x="8358714" y="6171608"/>
            <a:ext cx="15267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Fig.3. Bipedal Robot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2F5131-75F5-BD5C-1502-5A6E747448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845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91073-7110-89A1-5074-5123E188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E14977-DEC7-502E-430C-574F8E31E53F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 so far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8FD67-D742-C9BE-ED24-1605F3710100}"/>
              </a:ext>
            </a:extLst>
          </p:cNvPr>
          <p:cNvSpPr txBox="1"/>
          <p:nvPr/>
        </p:nvSpPr>
        <p:spPr>
          <a:xfrm>
            <a:off x="306967" y="963561"/>
            <a:ext cx="11480221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a Mobile HAR Dataset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Samsung M34 mobile and Sensor Logger application for Human Activity Recognition.</a:t>
            </a:r>
            <a:endParaRPr lang="en-US" sz="2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Studied sensory joint movement patterns specific to each activity to enhance accurate feature capture for the model.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multi-scale feature extraction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to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slow, medium, and fast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movements during activities for dataset creation.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 hybrid deep learning architecture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Multi-Scale Gated Residual Skip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a classification accuracy of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96.8937%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the MS-GRS-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on the Mobile HAR dataset for Human Activity Recognition.</a:t>
            </a:r>
          </a:p>
        </p:txBody>
      </p:sp>
      <p:pic>
        <p:nvPicPr>
          <p:cNvPr id="10" name="Google Shape;97;p14">
            <a:extLst>
              <a:ext uri="{FF2B5EF4-FFF2-40B4-BE49-F238E27FC236}">
                <a16:creationId xmlns:a16="http://schemas.microsoft.com/office/drawing/2014/main" id="{D8225A95-0BF0-4476-D121-0D40B68764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2CFE8-7E44-ACA8-3221-F219855D5F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563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E6A26-1EA5-ECFF-DC50-C45667FE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EEC279-9DC0-CCD2-E4AC-9E48E25BC62B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Selection – Kinect Sensor 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BEE8F-9F94-562B-FD5A-9576B8871C4A}"/>
              </a:ext>
            </a:extLst>
          </p:cNvPr>
          <p:cNvSpPr txBox="1"/>
          <p:nvPr/>
        </p:nvSpPr>
        <p:spPr>
          <a:xfrm>
            <a:off x="-58075" y="1084302"/>
            <a:ext cx="1107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7;p14">
            <a:extLst>
              <a:ext uri="{FF2B5EF4-FFF2-40B4-BE49-F238E27FC236}">
                <a16:creationId xmlns:a16="http://schemas.microsoft.com/office/drawing/2014/main" id="{0BF32570-CF22-2891-CB88-DE3008C512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D44B95E-FCC5-2C3C-8914-88354B132D7E}"/>
              </a:ext>
            </a:extLst>
          </p:cNvPr>
          <p:cNvSpPr txBox="1"/>
          <p:nvPr/>
        </p:nvSpPr>
        <p:spPr>
          <a:xfrm>
            <a:off x="7005908" y="5144632"/>
            <a:ext cx="32390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Fig.4. Accelerometer and Gyroscope Sensor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39AB31-2502-11E8-164D-B920763C7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6276" y="1153972"/>
            <a:ext cx="5715000" cy="38100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5684130-9C73-E4E8-14FD-0F279D2B8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28" y="1222802"/>
            <a:ext cx="508416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accelerometer and gyroscope sensors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multi-axis motion data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(x, y, z and angular velocity), enabling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 analysis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posture, orientation, and gait patterns.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Motion is captured using a smartphone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external hardware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user comfort, portability, and independent usage.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Unlike vision-based systems that track full-body movement in global coordinates, mobile sensors measure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localized body motion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relative to the device’s position.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smartphones typically capture movement from a single body location, sensor fusion techniques can still infer coordinated motion patterns.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190BF-C73A-910D-4976-D44DD1460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16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99C7-C789-6D2A-3B48-20BB60996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4518FDF-4923-5F5F-84DE-4DD0C820120B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Dataset - Using Mobile 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AA935A-53F8-BF7A-DB14-179ACD23568C}"/>
              </a:ext>
            </a:extLst>
          </p:cNvPr>
          <p:cNvCxnSpPr>
            <a:cxnSpLocks/>
          </p:cNvCxnSpPr>
          <p:nvPr/>
        </p:nvCxnSpPr>
        <p:spPr>
          <a:xfrm>
            <a:off x="8873635" y="2201158"/>
            <a:ext cx="0" cy="426896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97;p14">
            <a:extLst>
              <a:ext uri="{FF2B5EF4-FFF2-40B4-BE49-F238E27FC236}">
                <a16:creationId xmlns:a16="http://schemas.microsoft.com/office/drawing/2014/main" id="{62E9445B-E67B-0F92-3713-C97A6C241F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333EF75-3FF1-A4C1-336E-26609953F50B}"/>
              </a:ext>
            </a:extLst>
          </p:cNvPr>
          <p:cNvSpPr txBox="1"/>
          <p:nvPr/>
        </p:nvSpPr>
        <p:spPr>
          <a:xfrm>
            <a:off x="457200" y="1676400"/>
            <a:ext cx="10555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83F9783-660D-E05E-B181-FA5350A3B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28" y="568441"/>
            <a:ext cx="4675119" cy="6032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captured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Samsung M34 mobile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Logger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mobile was mounted on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chest area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track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 y, 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coordinates over time.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 individuals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variability in movement and posture.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person performs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 activities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jumping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squat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walking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activity is stored as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time-series CSV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body 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joint coordinates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: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1,06,991 samples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AF33B6-50B0-CC91-F753-BF4A6F03EF1B}"/>
              </a:ext>
            </a:extLst>
          </p:cNvPr>
          <p:cNvSpPr txBox="1"/>
          <p:nvPr/>
        </p:nvSpPr>
        <p:spPr>
          <a:xfrm>
            <a:off x="6982130" y="5861243"/>
            <a:ext cx="24941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Fig.5. Person vs Activity Distribution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DB3615-8E11-4AF3-86D8-E42BB9461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947" y="1124777"/>
            <a:ext cx="7309053" cy="46940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5C55E-D303-49C7-7E4E-43D67F3A2C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68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A738C-D19F-4261-3605-650593C7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80733B-DAB5-3528-A16D-51E2061FA4EE}"/>
              </a:ext>
            </a:extLst>
          </p:cNvPr>
          <p:cNvSpPr/>
          <p:nvPr/>
        </p:nvSpPr>
        <p:spPr>
          <a:xfrm>
            <a:off x="311309" y="166223"/>
            <a:ext cx="10191934" cy="7589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Google Shape;97;p14">
            <a:extLst>
              <a:ext uri="{FF2B5EF4-FFF2-40B4-BE49-F238E27FC236}">
                <a16:creationId xmlns:a16="http://schemas.microsoft.com/office/drawing/2014/main" id="{FB7D034F-085A-6ACE-26F3-55F21EDCC9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8A45E1-790F-8A12-F5B4-5D13AC58169D}"/>
              </a:ext>
            </a:extLst>
          </p:cNvPr>
          <p:cNvSpPr txBox="1"/>
          <p:nvPr/>
        </p:nvSpPr>
        <p:spPr>
          <a:xfrm>
            <a:off x="3859101" y="5652340"/>
            <a:ext cx="40637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Fig.6. Volunteers performing Activity for Dataset Collection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469A6B-3AF8-1238-0AE9-B21527553FE2}"/>
              </a:ext>
            </a:extLst>
          </p:cNvPr>
          <p:cNvGrpSpPr/>
          <p:nvPr/>
        </p:nvGrpSpPr>
        <p:grpSpPr>
          <a:xfrm>
            <a:off x="485943" y="1265925"/>
            <a:ext cx="11220114" cy="3654464"/>
            <a:chOff x="232410" y="1542924"/>
            <a:chExt cx="11220114" cy="365446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96B7166-AACB-CDD4-CF6B-695B63504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2410" y="1542924"/>
              <a:ext cx="2736342" cy="365446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4207FD3-6EE4-74A2-B33D-D1290DA42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2232" y="1548066"/>
              <a:ext cx="2772270" cy="364932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2994BB4-358D-A0AE-731B-E309FE7A4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75340" y="1548932"/>
              <a:ext cx="2966892" cy="364845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863094B-24EB-CE24-37E3-69B1D0FF7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61865" y="1548932"/>
              <a:ext cx="2890659" cy="3648456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B2E9769-AF1F-C36C-C447-BFC08CE932C5}"/>
              </a:ext>
            </a:extLst>
          </p:cNvPr>
          <p:cNvSpPr txBox="1"/>
          <p:nvPr/>
        </p:nvSpPr>
        <p:spPr>
          <a:xfrm>
            <a:off x="1393891" y="5038349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(a) sitting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C801F5-E4F0-BCFB-65AA-69A710CB293F}"/>
              </a:ext>
            </a:extLst>
          </p:cNvPr>
          <p:cNvSpPr txBox="1"/>
          <p:nvPr/>
        </p:nvSpPr>
        <p:spPr>
          <a:xfrm>
            <a:off x="4015125" y="5038349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(b) standing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4C126A-28E6-6C4D-77AF-0104BAA4E4B8}"/>
              </a:ext>
            </a:extLst>
          </p:cNvPr>
          <p:cNvSpPr txBox="1"/>
          <p:nvPr/>
        </p:nvSpPr>
        <p:spPr>
          <a:xfrm>
            <a:off x="6857262" y="5037568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(c) standing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DBBE49-C056-7512-EDB0-682EA4479EE8}"/>
              </a:ext>
            </a:extLst>
          </p:cNvPr>
          <p:cNvSpPr txBox="1"/>
          <p:nvPr/>
        </p:nvSpPr>
        <p:spPr>
          <a:xfrm>
            <a:off x="9686886" y="5033673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(d) walking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0C7EBE-8928-1056-21F5-60F17C1399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997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4620D7-7AB8-22F4-DC1D-75E6370756D8}"/>
              </a:ext>
            </a:extLst>
          </p:cNvPr>
          <p:cNvSpPr/>
          <p:nvPr/>
        </p:nvSpPr>
        <p:spPr>
          <a:xfrm>
            <a:off x="311309" y="166223"/>
            <a:ext cx="10191934" cy="7589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Used 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7;p14">
            <a:extLst>
              <a:ext uri="{FF2B5EF4-FFF2-40B4-BE49-F238E27FC236}">
                <a16:creationId xmlns:a16="http://schemas.microsoft.com/office/drawing/2014/main" id="{A4DDE570-FCD9-4D92-6BC8-72D5CFA7CD6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C41C42-3327-930C-CED5-8E91876A2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849667"/>
              </p:ext>
            </p:extLst>
          </p:nvPr>
        </p:nvGraphicFramePr>
        <p:xfrm>
          <a:off x="112734" y="1153972"/>
          <a:ext cx="11711838" cy="5474036"/>
        </p:xfrm>
        <a:graphic>
          <a:graphicData uri="http://schemas.openxmlformats.org/drawingml/2006/table">
            <a:tbl>
              <a:tblPr>
                <a:tableStyleId>{36548CB8-554B-47B1-B464-9B95B1BBCFA0}</a:tableStyleId>
              </a:tblPr>
              <a:tblGrid>
                <a:gridCol w="1665962">
                  <a:extLst>
                    <a:ext uri="{9D8B030D-6E8A-4147-A177-3AD203B41FA5}">
                      <a16:colId xmlns:a16="http://schemas.microsoft.com/office/drawing/2014/main" val="2618100679"/>
                    </a:ext>
                  </a:extLst>
                </a:gridCol>
                <a:gridCol w="1528175">
                  <a:extLst>
                    <a:ext uri="{9D8B030D-6E8A-4147-A177-3AD203B41FA5}">
                      <a16:colId xmlns:a16="http://schemas.microsoft.com/office/drawing/2014/main" val="2567674809"/>
                    </a:ext>
                  </a:extLst>
                </a:gridCol>
                <a:gridCol w="1878904">
                  <a:extLst>
                    <a:ext uri="{9D8B030D-6E8A-4147-A177-3AD203B41FA5}">
                      <a16:colId xmlns:a16="http://schemas.microsoft.com/office/drawing/2014/main" val="1835998858"/>
                    </a:ext>
                  </a:extLst>
                </a:gridCol>
                <a:gridCol w="2734851">
                  <a:extLst>
                    <a:ext uri="{9D8B030D-6E8A-4147-A177-3AD203B41FA5}">
                      <a16:colId xmlns:a16="http://schemas.microsoft.com/office/drawing/2014/main" val="2287341766"/>
                    </a:ext>
                  </a:extLst>
                </a:gridCol>
                <a:gridCol w="2025040">
                  <a:extLst>
                    <a:ext uri="{9D8B030D-6E8A-4147-A177-3AD203B41FA5}">
                      <a16:colId xmlns:a16="http://schemas.microsoft.com/office/drawing/2014/main" val="2006504308"/>
                    </a:ext>
                  </a:extLst>
                </a:gridCol>
                <a:gridCol w="1878906">
                  <a:extLst>
                    <a:ext uri="{9D8B030D-6E8A-4147-A177-3AD203B41FA5}">
                      <a16:colId xmlns:a16="http://schemas.microsoft.com/office/drawing/2014/main" val="1881031806"/>
                    </a:ext>
                  </a:extLst>
                </a:gridCol>
              </a:tblGrid>
              <a:tr h="2453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Model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Key Idea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Architecture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Strengths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Limitations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Best Use Cases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106773302"/>
                  </a:ext>
                </a:extLst>
              </a:tr>
              <a:tr h="1447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Long Short Term Memory (LSTM)</a:t>
                      </a:r>
                      <a:endParaRPr lang="en-IN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Learns </a:t>
                      </a:r>
                      <a:r>
                        <a:rPr lang="en-US" sz="1400" b="1" dirty="0"/>
                        <a:t>long-term dependencies</a:t>
                      </a:r>
                      <a:r>
                        <a:rPr lang="en-US" sz="1400" dirty="0"/>
                        <a:t> in sequential data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Single-direction recurrent unit with </a:t>
                      </a:r>
                      <a:r>
                        <a:rPr lang="en-US" sz="1400" b="1"/>
                        <a:t>input, forget, and output gates</a:t>
                      </a:r>
                      <a:endParaRPr lang="en-US" sz="14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400" dirty="0"/>
                        <a:t>- Handles </a:t>
                      </a:r>
                      <a:r>
                        <a:rPr lang="en-US" sz="1400" b="1" dirty="0"/>
                        <a:t>vanishing gradient</a:t>
                      </a:r>
                      <a:r>
                        <a:rPr lang="en-US" sz="1400" dirty="0"/>
                        <a:t> problem- Good for </a:t>
                      </a:r>
                      <a:r>
                        <a:rPr lang="en-US" sz="1400" b="1" dirty="0"/>
                        <a:t>time-series / sequential classification.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 - Captures </a:t>
                      </a:r>
                      <a:r>
                        <a:rPr lang="en-US" sz="1400" b="1" dirty="0"/>
                        <a:t>temporal memory</a:t>
                      </a:r>
                      <a:r>
                        <a:rPr lang="en-US" sz="1400" dirty="0"/>
                        <a:t> effectively.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400" dirty="0"/>
                        <a:t>- Loses information from </a:t>
                      </a:r>
                      <a:r>
                        <a:rPr lang="en-US" sz="1400" b="1" dirty="0"/>
                        <a:t>future context.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400" dirty="0"/>
                        <a:t>- May underperform on </a:t>
                      </a:r>
                      <a:r>
                        <a:rPr lang="en-US" sz="1400" b="1" dirty="0"/>
                        <a:t>complex motion patterns.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Basic </a:t>
                      </a:r>
                      <a:r>
                        <a:rPr lang="en-US" sz="1400" b="1"/>
                        <a:t>sequence forecasting</a:t>
                      </a:r>
                      <a:r>
                        <a:rPr lang="en-US" sz="1400"/>
                        <a:t>, simple </a:t>
                      </a:r>
                      <a:r>
                        <a:rPr lang="en-US" sz="1400" b="1"/>
                        <a:t>activity recognition</a:t>
                      </a:r>
                      <a:r>
                        <a:rPr lang="en-US" sz="1400"/>
                        <a:t>, speech modeling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985763223"/>
                  </a:ext>
                </a:extLst>
              </a:tr>
              <a:tr h="14476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Bidirectional LSTM (</a:t>
                      </a:r>
                      <a:r>
                        <a:rPr lang="en-IN" sz="1400" b="1" dirty="0" err="1"/>
                        <a:t>BiLSTM</a:t>
                      </a:r>
                      <a:r>
                        <a:rPr lang="en-IN" sz="1400" b="1" dirty="0"/>
                        <a:t>)</a:t>
                      </a:r>
                      <a:endParaRPr lang="en-IN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Uses </a:t>
                      </a:r>
                      <a:r>
                        <a:rPr lang="en-US" sz="1400" b="1"/>
                        <a:t>past + future context</a:t>
                      </a:r>
                      <a:r>
                        <a:rPr lang="en-US" sz="1400"/>
                        <a:t> for each time step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Two </a:t>
                      </a:r>
                      <a:r>
                        <a:rPr lang="en-US" sz="1400" b="1"/>
                        <a:t>LSTM</a:t>
                      </a:r>
                      <a:r>
                        <a:rPr lang="en-US" sz="1400"/>
                        <a:t> layers: one forward, one backward, outputs concatenated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400" dirty="0"/>
                        <a:t>- Strong </a:t>
                      </a:r>
                      <a:r>
                        <a:rPr lang="en-US" sz="1400" b="1" dirty="0"/>
                        <a:t>contextual understanding</a:t>
                      </a:r>
                      <a:r>
                        <a:rPr lang="en-US" sz="1400" dirty="0"/>
                        <a:t>- Captures </a:t>
                      </a:r>
                      <a:r>
                        <a:rPr lang="en-US" sz="1400" b="1" dirty="0"/>
                        <a:t>bidirectional motion patterns.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400" dirty="0"/>
                        <a:t>- Good for </a:t>
                      </a:r>
                      <a:r>
                        <a:rPr lang="en-US" sz="1400" b="1" dirty="0"/>
                        <a:t>overlapping / subtle movements.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400" dirty="0"/>
                        <a:t>- Increased </a:t>
                      </a:r>
                      <a:r>
                        <a:rPr lang="en-US" sz="1400" b="1" dirty="0"/>
                        <a:t>computational load.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400" dirty="0"/>
                        <a:t>- More memory usage due to dual processing.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Human activity recognition</a:t>
                      </a:r>
                      <a:r>
                        <a:rPr lang="en-US" sz="1400"/>
                        <a:t>, NLP tasks, gesture recognition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39000357"/>
                  </a:ext>
                </a:extLst>
              </a:tr>
              <a:tr h="23064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Gated Residual Skip </a:t>
                      </a:r>
                      <a:r>
                        <a:rPr lang="en-IN" sz="1400" b="1" dirty="0" err="1"/>
                        <a:t>BiLSTM</a:t>
                      </a:r>
                      <a:r>
                        <a:rPr lang="en-IN" sz="1400" b="1" dirty="0"/>
                        <a:t> (GRS-</a:t>
                      </a:r>
                      <a:r>
                        <a:rPr lang="en-IN" sz="1400" b="1" dirty="0" err="1"/>
                        <a:t>BiLSTM</a:t>
                      </a:r>
                      <a:r>
                        <a:rPr lang="en-IN" sz="1400" b="1" dirty="0"/>
                        <a:t>)</a:t>
                      </a:r>
                      <a:endParaRPr lang="en-IN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Enhances BiLSTM with </a:t>
                      </a:r>
                      <a:r>
                        <a:rPr lang="en-US" sz="1400" b="1"/>
                        <a:t>Gated Residual Skip (GRS)</a:t>
                      </a:r>
                      <a:r>
                        <a:rPr lang="en-US" sz="1400"/>
                        <a:t> connections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 err="1"/>
                        <a:t>BiLSTM</a:t>
                      </a:r>
                      <a:r>
                        <a:rPr lang="en-US" sz="1400" b="1" dirty="0"/>
                        <a:t> backbone + gating layer + residual skip pathways</a:t>
                      </a:r>
                      <a:r>
                        <a:rPr lang="en-US" sz="1400" dirty="0"/>
                        <a:t> + optional </a:t>
                      </a:r>
                      <a:r>
                        <a:rPr lang="en-US" sz="1400" b="1" dirty="0"/>
                        <a:t>multi-scale inputs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400" dirty="0"/>
                        <a:t>- Improved </a:t>
                      </a:r>
                      <a:r>
                        <a:rPr lang="en-US" sz="1400" b="1" dirty="0"/>
                        <a:t>gradient flow</a:t>
                      </a:r>
                      <a:r>
                        <a:rPr lang="en-US" sz="1400" dirty="0"/>
                        <a:t> and </a:t>
                      </a:r>
                      <a:r>
                        <a:rPr lang="en-US" sz="1400" b="1" dirty="0"/>
                        <a:t>training stability</a:t>
                      </a:r>
                      <a:r>
                        <a:rPr lang="en-US" sz="1400" dirty="0"/>
                        <a:t>- Better </a:t>
                      </a:r>
                      <a:r>
                        <a:rPr lang="en-US" sz="1400" b="1" dirty="0"/>
                        <a:t>multi-resolution temporal modeling.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400" dirty="0"/>
                        <a:t>- Handles </a:t>
                      </a:r>
                      <a:r>
                        <a:rPr lang="en-US" sz="1400" b="1" dirty="0"/>
                        <a:t>subtle transitions</a:t>
                      </a:r>
                      <a:r>
                        <a:rPr lang="en-US" sz="1400" dirty="0"/>
                        <a:t> and </a:t>
                      </a:r>
                      <a:r>
                        <a:rPr lang="en-US" sz="1400" b="1" dirty="0"/>
                        <a:t>long motion dependencies</a:t>
                      </a:r>
                      <a:r>
                        <a:rPr lang="en-US" sz="1400" dirty="0"/>
                        <a:t>- Reduces </a:t>
                      </a:r>
                      <a:r>
                        <a:rPr lang="en-US" sz="1400" b="1" dirty="0"/>
                        <a:t>over-smoothing and information loss.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1400" b="1" dirty="0"/>
                        <a:t>- Complex architecture</a:t>
                      </a:r>
                      <a:r>
                        <a:rPr lang="en-US" sz="1400" dirty="0"/>
                        <a:t> requiring careful tuning .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400" dirty="0"/>
                        <a:t>- Higher </a:t>
                      </a:r>
                      <a:r>
                        <a:rPr lang="en-US" sz="1400" b="1" dirty="0"/>
                        <a:t>training time</a:t>
                      </a:r>
                      <a:r>
                        <a:rPr lang="en-US" sz="1400" dirty="0"/>
                        <a:t> and </a:t>
                      </a:r>
                      <a:r>
                        <a:rPr lang="en-US" sz="1400" b="1" dirty="0"/>
                        <a:t>model size.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High-precision activity recognition</a:t>
                      </a:r>
                      <a:r>
                        <a:rPr lang="en-US" sz="1400" dirty="0"/>
                        <a:t>, </a:t>
                      </a:r>
                      <a:r>
                        <a:rPr lang="en-US" sz="1400" b="1" dirty="0"/>
                        <a:t>multi-sensor fusion</a:t>
                      </a:r>
                      <a:r>
                        <a:rPr lang="en-US" sz="1400" dirty="0"/>
                        <a:t>, real-world motion environments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84087882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F5298-1735-EF1E-8056-B3635BC5C1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12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07CDF-A9EE-42A7-3581-26FD91816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453B93-707F-927D-B789-8A139F2C31A9}"/>
              </a:ext>
            </a:extLst>
          </p:cNvPr>
          <p:cNvSpPr/>
          <p:nvPr/>
        </p:nvSpPr>
        <p:spPr>
          <a:xfrm>
            <a:off x="127819" y="127819"/>
            <a:ext cx="10007830" cy="7589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 – MS-GRS-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D8B58F-620E-3924-4231-125ADB2B83C4}"/>
              </a:ext>
            </a:extLst>
          </p:cNvPr>
          <p:cNvSpPr txBox="1"/>
          <p:nvPr/>
        </p:nvSpPr>
        <p:spPr>
          <a:xfrm>
            <a:off x="127819" y="1333009"/>
            <a:ext cx="11915418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Multi-Scale Gated Residual Skip Bidirectional Long Short Term Memory (MS-GRS-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classify short time-windows of sensor / joint data into activity classes.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ideas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multi-scale temporal representation, learned gates to fuse scales, residual skip from raw input,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temporal modeling.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MS-GRS-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just detecting momentary movement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is:	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shape of motion over time, at multiple speeds, while carefully preserving useful 	information and filtering noise.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97;p14">
            <a:extLst>
              <a:ext uri="{FF2B5EF4-FFF2-40B4-BE49-F238E27FC236}">
                <a16:creationId xmlns:a16="http://schemas.microsoft.com/office/drawing/2014/main" id="{CE95CF3C-B449-B4C1-12BB-52183D9C03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E2C171-9AD1-FAF7-E7A0-140967982B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646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C2B10-FD0A-D143-9E4F-6AC0212F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384069-DB2F-DC28-B455-1A3B69569822}"/>
              </a:ext>
            </a:extLst>
          </p:cNvPr>
          <p:cNvSpPr/>
          <p:nvPr/>
        </p:nvSpPr>
        <p:spPr>
          <a:xfrm>
            <a:off x="206478" y="152627"/>
            <a:ext cx="10007830" cy="89298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MS-GRS-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US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97;p14">
            <a:extLst>
              <a:ext uri="{FF2B5EF4-FFF2-40B4-BE49-F238E27FC236}">
                <a16:creationId xmlns:a16="http://schemas.microsoft.com/office/drawing/2014/main" id="{491E00DA-57D3-A16A-BC13-6FCCA5FA6C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CEACA88-6459-ABFD-68DE-175B4D92BF8F}"/>
              </a:ext>
            </a:extLst>
          </p:cNvPr>
          <p:cNvSpPr txBox="1"/>
          <p:nvPr/>
        </p:nvSpPr>
        <p:spPr>
          <a:xfrm>
            <a:off x="206478" y="1162404"/>
            <a:ext cx="109409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Multi-Scale (MS) is Needed ?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activities show patterns at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time speeds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9DC9EB8-05D1-E9C6-AEDE-47D1078FA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156285"/>
              </p:ext>
            </p:extLst>
          </p:nvPr>
        </p:nvGraphicFramePr>
        <p:xfrm>
          <a:off x="294101" y="2130916"/>
          <a:ext cx="6612027" cy="1321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04009">
                  <a:extLst>
                    <a:ext uri="{9D8B030D-6E8A-4147-A177-3AD203B41FA5}">
                      <a16:colId xmlns:a16="http://schemas.microsoft.com/office/drawing/2014/main" val="3111009123"/>
                    </a:ext>
                  </a:extLst>
                </a:gridCol>
                <a:gridCol w="2204009">
                  <a:extLst>
                    <a:ext uri="{9D8B030D-6E8A-4147-A177-3AD203B41FA5}">
                      <a16:colId xmlns:a16="http://schemas.microsoft.com/office/drawing/2014/main" val="3029207695"/>
                    </a:ext>
                  </a:extLst>
                </a:gridCol>
                <a:gridCol w="2204009">
                  <a:extLst>
                    <a:ext uri="{9D8B030D-6E8A-4147-A177-3AD203B41FA5}">
                      <a16:colId xmlns:a16="http://schemas.microsoft.com/office/drawing/2014/main" val="557257605"/>
                    </a:ext>
                  </a:extLst>
                </a:gridCol>
              </a:tblGrid>
              <a:tr h="3303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Activity Type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Activity Speed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243764"/>
                  </a:ext>
                </a:extLst>
              </a:tr>
              <a:tr h="3303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Quick &amp; Repetitive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Running, Jumping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249194"/>
                  </a:ext>
                </a:extLst>
              </a:tr>
              <a:tr h="3303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Moderate Movement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Walking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443241"/>
                  </a:ext>
                </a:extLst>
              </a:tr>
              <a:tr h="3303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Postural &amp; 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Standing, Sitting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65007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3A283D7-464D-C5F9-1D65-7C950FFE0C6F}"/>
              </a:ext>
            </a:extLst>
          </p:cNvPr>
          <p:cNvSpPr txBox="1"/>
          <p:nvPr/>
        </p:nvSpPr>
        <p:spPr>
          <a:xfrm>
            <a:off x="206478" y="3535274"/>
            <a:ext cx="713278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capture these differences, the model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3 versions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each input window:</a:t>
            </a: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detail (original resolution)</a:t>
            </a: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Medium-scaled (every 2nd time step)</a:t>
            </a:r>
          </a:p>
          <a:p>
            <a:pPr marL="285750" indent="-28575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Coarse-scaled (every 4th time step)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allows the network to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both short, rapid motions and longer, slower movement trends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DE5D346-216E-314C-2AF7-938D24E2A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685" y="1532203"/>
            <a:ext cx="3824463" cy="232553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5695669-291C-D2F5-C6B0-73364DBB9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992" y="3857742"/>
            <a:ext cx="4498059" cy="167943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B78F003-0B26-158D-F734-6EF062D96A15}"/>
              </a:ext>
            </a:extLst>
          </p:cNvPr>
          <p:cNvSpPr txBox="1"/>
          <p:nvPr/>
        </p:nvSpPr>
        <p:spPr>
          <a:xfrm>
            <a:off x="7498992" y="1356918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Formula : </a:t>
            </a:r>
            <a:endParaRPr lang="en-IN" sz="16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C7D13E-247A-2337-0968-017F36B0A6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844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9B72E-998F-E635-3BCF-C46EFF7BB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97;p14">
            <a:extLst>
              <a:ext uri="{FF2B5EF4-FFF2-40B4-BE49-F238E27FC236}">
                <a16:creationId xmlns:a16="http://schemas.microsoft.com/office/drawing/2014/main" id="{BC6AF00C-B48F-40D4-D8A6-B4B739362A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40FD71-C418-40FD-13DB-ADCB763AF7E9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MS-GRS-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257007C7-CB82-35FB-69FD-F220C0BAF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67" y="963561"/>
            <a:ext cx="6138134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Gated Residual Skip (GRS) Blocks contains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Projection Layer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Simplifies the signal and extracts essential structure.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Layer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Reads the movement pattern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forward and backward in 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 is important because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happened just before and just after each moment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define the action (e.g., lowering before a jump).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Gating Mechanism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learned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decides:</a:t>
            </a:r>
          </a:p>
          <a:p>
            <a:pPr lvl="8" eaLnBrk="0" fontAlgn="base" hangingPunct="0">
              <a:spcBef>
                <a:spcPts val="120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much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information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use</a:t>
            </a:r>
          </a:p>
          <a:p>
            <a:pPr lvl="8" eaLnBrk="0" fontAlgn="base" hangingPunct="0">
              <a:spcBef>
                <a:spcPts val="1200"/>
              </a:spcBef>
              <a:spcAft>
                <a:spcPct val="0"/>
              </a:spcAft>
              <a:buClr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ii)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much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previous information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keep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Residual Skip Connection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Passes earlier information forward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loss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preventing the model from forgetting important details.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2F80A22-E846-E421-19D4-F8929325D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749" y="2997339"/>
            <a:ext cx="5601251" cy="237661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03E784E-675B-001D-7AA3-4B6B6669F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9277" y="1486617"/>
            <a:ext cx="2346522" cy="146829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1D4A83D-6F63-E145-EF4E-2213CC063A15}"/>
              </a:ext>
            </a:extLst>
          </p:cNvPr>
          <p:cNvSpPr txBox="1"/>
          <p:nvPr/>
        </p:nvSpPr>
        <p:spPr>
          <a:xfrm>
            <a:off x="6590749" y="1196403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Formula : </a:t>
            </a:r>
            <a:endParaRPr lang="en-IN" sz="16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7E3DEA-1EC8-A74A-2C68-EE2B64BF6A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8C02A-FBC3-7241-C4C7-C51C112F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97;p14">
            <a:extLst>
              <a:ext uri="{FF2B5EF4-FFF2-40B4-BE49-F238E27FC236}">
                <a16:creationId xmlns:a16="http://schemas.microsoft.com/office/drawing/2014/main" id="{5460E120-4BE3-752A-77AD-FB5D127F77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BD979BE-2CF3-AD94-D65A-3EBBE1FBA16F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MS-GRS-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15868-2018-E663-8B47-7BBFB471B421}"/>
              </a:ext>
            </a:extLst>
          </p:cNvPr>
          <p:cNvSpPr txBox="1"/>
          <p:nvPr/>
        </p:nvSpPr>
        <p:spPr>
          <a:xfrm>
            <a:off x="306967" y="1120878"/>
            <a:ext cx="1107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1AC85-8A7F-7F30-C42E-3F0C2E857EF1}"/>
              </a:ext>
            </a:extLst>
          </p:cNvPr>
          <p:cNvSpPr txBox="1"/>
          <p:nvPr/>
        </p:nvSpPr>
        <p:spPr>
          <a:xfrm>
            <a:off x="306967" y="1120878"/>
            <a:ext cx="702953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is a type of neural network used for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time-series or sequential data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cells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allow it to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retain important past information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decide what to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what to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what to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forget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processes the sequence in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directions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Forward: earlier → later time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Backward: later → earlier time steps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gives it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from both past and future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steps,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B9CCD4-F1F6-5B33-DEB2-15E217127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500" y="1436533"/>
            <a:ext cx="4353533" cy="16766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F171B2F-51C9-FF50-EBCC-0BA149B1A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990" y="3230230"/>
            <a:ext cx="3603058" cy="311321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C33EDEC-7BCC-015A-07FD-3C8E1530B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2252" y="4613603"/>
            <a:ext cx="4294245" cy="136779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36A603E-778D-DB27-AEAA-1C685CA77F32}"/>
              </a:ext>
            </a:extLst>
          </p:cNvPr>
          <p:cNvSpPr txBox="1"/>
          <p:nvPr/>
        </p:nvSpPr>
        <p:spPr>
          <a:xfrm>
            <a:off x="7036638" y="1106028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Formula : </a:t>
            </a:r>
            <a:endParaRPr lang="en-IN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CDBA4B-BA1A-020E-434E-E5BD9F5CF0B7}"/>
              </a:ext>
            </a:extLst>
          </p:cNvPr>
          <p:cNvSpPr txBox="1"/>
          <p:nvPr/>
        </p:nvSpPr>
        <p:spPr>
          <a:xfrm>
            <a:off x="115924" y="4535435"/>
            <a:ext cx="1178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Formula : </a:t>
            </a:r>
            <a:endParaRPr lang="en-IN" sz="1600" b="1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C696149-1529-6B16-3F5E-FF001E6246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219" y="4870225"/>
            <a:ext cx="2236540" cy="102790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B527340-52B6-79A0-2D18-0591B2CA70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665" y="5898130"/>
            <a:ext cx="1286217" cy="3706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C5985-97AD-DA45-95ED-4EE29E7E8D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366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53AA9B6-A0BB-FB1F-F361-D039ABAD0CBB}"/>
              </a:ext>
            </a:extLst>
          </p:cNvPr>
          <p:cNvSpPr/>
          <p:nvPr/>
        </p:nvSpPr>
        <p:spPr>
          <a:xfrm>
            <a:off x="89899" y="100206"/>
            <a:ext cx="10332295" cy="7589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MS-GRS-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oogle Shape;97;p14">
            <a:extLst>
              <a:ext uri="{FF2B5EF4-FFF2-40B4-BE49-F238E27FC236}">
                <a16:creationId xmlns:a16="http://schemas.microsoft.com/office/drawing/2014/main" id="{6DB2BCAB-61B9-69E3-471B-4C6885FF44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3E910D-C02F-6F88-CC43-FE65ACF322AF}"/>
              </a:ext>
            </a:extLst>
          </p:cNvPr>
          <p:cNvSpPr txBox="1"/>
          <p:nvPr/>
        </p:nvSpPr>
        <p:spPr>
          <a:xfrm>
            <a:off x="4798244" y="6217850"/>
            <a:ext cx="25838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Fig.8. MS-GRS-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39C4D2-B7EE-5151-4815-AD3CF90E33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175" y="932688"/>
            <a:ext cx="9363995" cy="50458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64BEA-BEDE-CA74-4A6B-F8E0B4BC7C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658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9B54CC-CDF6-E43F-8AF6-A740C05DA052}"/>
              </a:ext>
            </a:extLst>
          </p:cNvPr>
          <p:cNvSpPr/>
          <p:nvPr/>
        </p:nvSpPr>
        <p:spPr>
          <a:xfrm>
            <a:off x="89899" y="100206"/>
            <a:ext cx="10332295" cy="7589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Used in HAR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99118CF-B023-FF15-71DE-BC2ED113B4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9145277"/>
                  </p:ext>
                </p:extLst>
              </p:nvPr>
            </p:nvGraphicFramePr>
            <p:xfrm>
              <a:off x="216817" y="928847"/>
              <a:ext cx="11255604" cy="5583705"/>
            </p:xfrm>
            <a:graphic>
              <a:graphicData uri="http://schemas.openxmlformats.org/drawingml/2006/table">
                <a:tbl>
                  <a:tblPr>
                    <a:tableStyleId>{21E4AEA4-8DFA-4A89-87EB-49C32662AFE0}</a:tableStyleId>
                  </a:tblPr>
                  <a:tblGrid>
                    <a:gridCol w="1008479">
                      <a:extLst>
                        <a:ext uri="{9D8B030D-6E8A-4147-A177-3AD203B41FA5}">
                          <a16:colId xmlns:a16="http://schemas.microsoft.com/office/drawing/2014/main" val="1385591346"/>
                        </a:ext>
                      </a:extLst>
                    </a:gridCol>
                    <a:gridCol w="2167128">
                      <a:extLst>
                        <a:ext uri="{9D8B030D-6E8A-4147-A177-3AD203B41FA5}">
                          <a16:colId xmlns:a16="http://schemas.microsoft.com/office/drawing/2014/main" val="536659541"/>
                        </a:ext>
                      </a:extLst>
                    </a:gridCol>
                    <a:gridCol w="2569464">
                      <a:extLst>
                        <a:ext uri="{9D8B030D-6E8A-4147-A177-3AD203B41FA5}">
                          <a16:colId xmlns:a16="http://schemas.microsoft.com/office/drawing/2014/main" val="1648483843"/>
                        </a:ext>
                      </a:extLst>
                    </a:gridCol>
                    <a:gridCol w="2633472">
                      <a:extLst>
                        <a:ext uri="{9D8B030D-6E8A-4147-A177-3AD203B41FA5}">
                          <a16:colId xmlns:a16="http://schemas.microsoft.com/office/drawing/2014/main" val="4076832240"/>
                        </a:ext>
                      </a:extLst>
                    </a:gridCol>
                    <a:gridCol w="2877061">
                      <a:extLst>
                        <a:ext uri="{9D8B030D-6E8A-4147-A177-3AD203B41FA5}">
                          <a16:colId xmlns:a16="http://schemas.microsoft.com/office/drawing/2014/main" val="139714059"/>
                        </a:ext>
                      </a:extLst>
                    </a:gridCol>
                  </a:tblGrid>
                  <a:tr h="44214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/>
                            <a:t>Metrics</a:t>
                          </a:r>
                          <a:endParaRPr lang="en-IN" sz="1400" dirty="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Definition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Formula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1" dirty="0"/>
                            <a:t>Usage in HAR</a:t>
                          </a:r>
                          <a:endParaRPr lang="en-US" sz="1400" dirty="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400" b="1" dirty="0"/>
                            <a:t>Symbols &amp; Meaning</a:t>
                          </a:r>
                          <a:endParaRPr lang="en-IN" sz="1400" dirty="0"/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4093125850"/>
                      </a:ext>
                    </a:extLst>
                  </a:tr>
                  <a:tr h="99167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Precision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Proportion of correctly predicted positives out of all predicted positives.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IN" sz="1400" dirty="0" smtClean="0"/>
                                  <m:t>Precision</m:t>
                                </m:r>
                                <m:r>
                                  <a:rPr lang="en-IN" sz="140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400" dirty="0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num>
                                  <m:den>
                                    <m:r>
                                      <a:rPr lang="en-IN" sz="1400" dirty="0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en-IN" sz="1400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1400" dirty="0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Important when </a:t>
                          </a:r>
                          <a:r>
                            <a:rPr lang="en-US" sz="1400" b="1" dirty="0"/>
                            <a:t>false positives are costly</a:t>
                          </a:r>
                          <a:r>
                            <a:rPr lang="en-US" sz="1400" dirty="0"/>
                            <a:t> (e.g., detecting a fall when none occurred).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400" b="1" dirty="0"/>
                            <a:t>TP:</a:t>
                          </a:r>
                          <a:r>
                            <a:rPr lang="en-IN" sz="1400" dirty="0"/>
                            <a:t> True Positives (correct positive predictions)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IN" sz="1400" b="1" dirty="0"/>
                            <a:t>FP:</a:t>
                          </a:r>
                          <a:r>
                            <a:rPr lang="en-IN" sz="1400" dirty="0"/>
                            <a:t> False Positives (incorrect positive predictions)</a:t>
                          </a:r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4144166889"/>
                      </a:ext>
                    </a:extLst>
                  </a:tr>
                  <a:tr h="8085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Recall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Proportion of correctly predicted positives out of all actual positives.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IN" sz="1400" dirty="0" smtClean="0"/>
                                <m:t>Recall</m:t>
                              </m:r>
                              <m:r>
                                <a:rPr lang="en-IN" sz="1400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N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𝑇𝑃</m:t>
                                  </m:r>
                                </m:num>
                                <m:den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𝑇𝑃</m:t>
                                  </m:r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𝐹𝑁</m:t>
                                  </m:r>
                                </m:den>
                              </m:f>
                            </m:oMath>
                          </a14:m>
                          <a:endParaRPr lang="en-IN" sz="1400" dirty="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Key when </a:t>
                          </a:r>
                          <a:r>
                            <a:rPr lang="en-US" sz="1400" b="1"/>
                            <a:t>missing a positive is critical</a:t>
                          </a:r>
                          <a:r>
                            <a:rPr lang="en-US" sz="1400"/>
                            <a:t> (e.g., failing to detect a real fall).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400" b="1" dirty="0"/>
                            <a:t>FN:</a:t>
                          </a:r>
                          <a:r>
                            <a:rPr lang="en-IN" sz="1400" dirty="0"/>
                            <a:t> False Negatives (missed actual positives)</a:t>
                          </a:r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1798312840"/>
                      </a:ext>
                    </a:extLst>
                  </a:tr>
                  <a:tr h="99167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F1-Score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Harmonic mean of Precision and Recall; balances false positives and false negatives.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400" dirty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IN" sz="1400" dirty="0" smtClean="0">
                                    <a:latin typeface="Cambria Math" panose="02040503050406030204" pitchFamily="18" charset="0"/>
                                  </a:rPr>
                                  <m:t>1=2×</m:t>
                                </m:r>
                                <m:f>
                                  <m:fPr>
                                    <m:ctrlPr>
                                      <a:rPr lang="en-IN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IN" sz="1400" dirty="0"/>
                                      <m:t>Precision</m:t>
                                    </m:r>
                                    <m:r>
                                      <a:rPr lang="en-IN" sz="1400" dirty="0"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dirty="0"/>
                                      <m:t>Recall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IN" sz="1400" dirty="0"/>
                                      <m:t>Precision</m:t>
                                    </m:r>
                                    <m:r>
                                      <a:rPr lang="en-IN" sz="1400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dirty="0"/>
                                      <m:t>Recall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Used when </a:t>
                          </a:r>
                          <a:r>
                            <a:rPr lang="en-US" sz="1400" b="1"/>
                            <a:t>both precision and recall matter</a:t>
                          </a:r>
                          <a:r>
                            <a:rPr lang="en-US" sz="1400"/>
                            <a:t>, e.g., imbalanced HAR activity classes.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400" dirty="0"/>
                            <a:t>-</a:t>
                          </a:r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2589191954"/>
                      </a:ext>
                    </a:extLst>
                  </a:tr>
                  <a:tr h="8085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Accuracy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Proportion of correctly predicted samples out of all samples.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IN" sz="1400" dirty="0" smtClean="0"/>
                                <m:t>Accuracy</m:t>
                              </m:r>
                              <m:r>
                                <a:rPr lang="en-IN" sz="1400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N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𝑇𝑃</m:t>
                                  </m:r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</m:num>
                                <m:den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𝑇𝑃</m:t>
                                  </m:r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𝐹𝑃</m:t>
                                  </m:r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1400" dirty="0" smtClean="0">
                                      <a:latin typeface="Cambria Math" panose="02040503050406030204" pitchFamily="18" charset="0"/>
                                    </a:rPr>
                                    <m:t>𝐹𝑁</m:t>
                                  </m:r>
                                </m:den>
                              </m:f>
                            </m:oMath>
                          </a14:m>
                          <a:endParaRPr lang="en-IN" sz="1400" dirty="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General metric for overall performance; less reliable for </a:t>
                          </a:r>
                          <a:r>
                            <a:rPr lang="en-US" sz="1400" b="1"/>
                            <a:t>imbalanced datasets</a:t>
                          </a:r>
                          <a:r>
                            <a:rPr lang="en-US" sz="1400"/>
                            <a:t>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400" b="1"/>
                            <a:t>TN:</a:t>
                          </a:r>
                          <a:r>
                            <a:rPr lang="en-US" sz="1400"/>
                            <a:t> True Negatives (correct negative predictions)</a:t>
                          </a:r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502368675"/>
                      </a:ext>
                    </a:extLst>
                  </a:tr>
                  <a:tr h="1541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/>
                            <a:t>Loss</a:t>
                          </a:r>
                          <a:endParaRPr lang="en-IN" sz="1400" dirty="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Measures prediction error during training; used to update network weights.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/>
                            <a:t>Categorical Cross-Entropy: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IN" sz="14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IN" sz="1400" dirty="0" smtClean="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  <m:r>
                                <a:rPr lang="en-IN" sz="1400" dirty="0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I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4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1400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I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IN" sz="1400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1400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IN" sz="1400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IN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IN" sz="1400" dirty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IN" sz="1400" dirty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IN" sz="1400" dirty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IN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400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IN" sz="1400" dirty="0" err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IN" sz="1400" dirty="0" err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IN" sz="1400" dirty="0" err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nary>
                                  <m:func>
                                    <m:funcPr>
                                      <m:ctrlPr>
                                        <a:rPr lang="en-IN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IN" sz="1400" dirty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IN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1400" dirty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1400" dirty="0" err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IN" sz="1400" dirty="0" err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IN" sz="1400" dirty="0" err="1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oMath>
                          </a14:m>
                          <a:endParaRPr lang="en-IN" sz="1400" dirty="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Guides </a:t>
                          </a:r>
                          <a:r>
                            <a:rPr lang="en-US" sz="1400" b="1"/>
                            <a:t>weight updates</a:t>
                          </a:r>
                          <a:r>
                            <a:rPr lang="en-US" sz="1400"/>
                            <a:t> in BiLSTM, helps learn sequential HAR patterns accurately.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400" b="1" dirty="0"/>
                            <a:t>N:</a:t>
                          </a:r>
                          <a:r>
                            <a:rPr lang="en-US" sz="1400" dirty="0"/>
                            <a:t> Total samples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1400" b="1" dirty="0"/>
                            <a:t>C:</a:t>
                          </a:r>
                          <a:r>
                            <a:rPr lang="en-US" sz="1400" dirty="0"/>
                            <a:t> Number of classes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1400" b="1" dirty="0"/>
                            <a:t>y₍ᵢ,𝚌₎:</a:t>
                          </a:r>
                          <a:r>
                            <a:rPr lang="en-US" sz="1400" dirty="0"/>
                            <a:t> Ground-truth (1 if sample </a:t>
                          </a:r>
                          <a:r>
                            <a:rPr lang="en-US" sz="1400" dirty="0" err="1"/>
                            <a:t>i</a:t>
                          </a:r>
                          <a:r>
                            <a:rPr lang="en-US" sz="1400" dirty="0"/>
                            <a:t> belongs to class c, else 0)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1400" b="1" dirty="0"/>
                            <a:t>p₍ᵢ,𝚌₎:</a:t>
                          </a:r>
                          <a:r>
                            <a:rPr lang="en-US" sz="1400" dirty="0"/>
                            <a:t> Predicted probability for class c for sample </a:t>
                          </a:r>
                          <a:r>
                            <a:rPr lang="en-US" sz="1400" dirty="0" err="1"/>
                            <a:t>i</a:t>
                          </a:r>
                          <a:endParaRPr lang="en-US" sz="1400" dirty="0"/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24983577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99118CF-B023-FF15-71DE-BC2ED113B4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9145277"/>
                  </p:ext>
                </p:extLst>
              </p:nvPr>
            </p:nvGraphicFramePr>
            <p:xfrm>
              <a:off x="216817" y="928847"/>
              <a:ext cx="11255604" cy="5583705"/>
            </p:xfrm>
            <a:graphic>
              <a:graphicData uri="http://schemas.openxmlformats.org/drawingml/2006/table">
                <a:tbl>
                  <a:tblPr>
                    <a:tableStyleId>{21E4AEA4-8DFA-4A89-87EB-49C32662AFE0}</a:tableStyleId>
                  </a:tblPr>
                  <a:tblGrid>
                    <a:gridCol w="1008479">
                      <a:extLst>
                        <a:ext uri="{9D8B030D-6E8A-4147-A177-3AD203B41FA5}">
                          <a16:colId xmlns:a16="http://schemas.microsoft.com/office/drawing/2014/main" val="1385591346"/>
                        </a:ext>
                      </a:extLst>
                    </a:gridCol>
                    <a:gridCol w="2167128">
                      <a:extLst>
                        <a:ext uri="{9D8B030D-6E8A-4147-A177-3AD203B41FA5}">
                          <a16:colId xmlns:a16="http://schemas.microsoft.com/office/drawing/2014/main" val="536659541"/>
                        </a:ext>
                      </a:extLst>
                    </a:gridCol>
                    <a:gridCol w="2569464">
                      <a:extLst>
                        <a:ext uri="{9D8B030D-6E8A-4147-A177-3AD203B41FA5}">
                          <a16:colId xmlns:a16="http://schemas.microsoft.com/office/drawing/2014/main" val="1648483843"/>
                        </a:ext>
                      </a:extLst>
                    </a:gridCol>
                    <a:gridCol w="2633472">
                      <a:extLst>
                        <a:ext uri="{9D8B030D-6E8A-4147-A177-3AD203B41FA5}">
                          <a16:colId xmlns:a16="http://schemas.microsoft.com/office/drawing/2014/main" val="4076832240"/>
                        </a:ext>
                      </a:extLst>
                    </a:gridCol>
                    <a:gridCol w="2877061">
                      <a:extLst>
                        <a:ext uri="{9D8B030D-6E8A-4147-A177-3AD203B41FA5}">
                          <a16:colId xmlns:a16="http://schemas.microsoft.com/office/drawing/2014/main" val="139714059"/>
                        </a:ext>
                      </a:extLst>
                    </a:gridCol>
                  </a:tblGrid>
                  <a:tr h="44214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/>
                            <a:t>Metrics</a:t>
                          </a:r>
                          <a:endParaRPr lang="en-IN" sz="1400" dirty="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Definition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Formula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1" dirty="0"/>
                            <a:t>Usage in HAR</a:t>
                          </a:r>
                          <a:endParaRPr lang="en-US" sz="1400" dirty="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400" b="1" dirty="0"/>
                            <a:t>Symbols &amp; Meaning</a:t>
                          </a:r>
                          <a:endParaRPr lang="en-IN" sz="1400" dirty="0"/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4093125850"/>
                      </a:ext>
                    </a:extLst>
                  </a:tr>
                  <a:tr h="99167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Precision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Proportion of correctly predicted positives out of all predicted positives.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063" marR="63063" marT="31531" marB="31531" anchor="ctr">
                        <a:blipFill>
                          <a:blip r:embed="rId2"/>
                          <a:stretch>
                            <a:fillRect l="-123697" t="-45679" r="-214929" b="-4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Important when </a:t>
                          </a:r>
                          <a:r>
                            <a:rPr lang="en-US" sz="1400" b="1" dirty="0"/>
                            <a:t>false positives are costly</a:t>
                          </a:r>
                          <a:r>
                            <a:rPr lang="en-US" sz="1400" dirty="0"/>
                            <a:t> (e.g., detecting a fall when none occurred).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400" b="1" dirty="0"/>
                            <a:t>TP:</a:t>
                          </a:r>
                          <a:r>
                            <a:rPr lang="en-IN" sz="1400" dirty="0"/>
                            <a:t> True Positives (correct positive predictions)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IN" sz="1400" b="1" dirty="0"/>
                            <a:t>FP:</a:t>
                          </a:r>
                          <a:r>
                            <a:rPr lang="en-IN" sz="1400" dirty="0"/>
                            <a:t> False Positives (incorrect positive predictions)</a:t>
                          </a:r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4144166889"/>
                      </a:ext>
                    </a:extLst>
                  </a:tr>
                  <a:tr h="8085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Recall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Proportion of correctly predicted positives out of all actual positives.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063" marR="63063" marT="31531" marB="31531" anchor="ctr">
                        <a:blipFill>
                          <a:blip r:embed="rId2"/>
                          <a:stretch>
                            <a:fillRect l="-123697" t="-177444" r="-214929" b="-4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Key when </a:t>
                          </a:r>
                          <a:r>
                            <a:rPr lang="en-US" sz="1400" b="1"/>
                            <a:t>missing a positive is critical</a:t>
                          </a:r>
                          <a:r>
                            <a:rPr lang="en-US" sz="1400"/>
                            <a:t> (e.g., failing to detect a real fall).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400" b="1" dirty="0"/>
                            <a:t>FN:</a:t>
                          </a:r>
                          <a:r>
                            <a:rPr lang="en-IN" sz="1400" dirty="0"/>
                            <a:t> False Negatives (missed actual positives)</a:t>
                          </a:r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1798312840"/>
                      </a:ext>
                    </a:extLst>
                  </a:tr>
                  <a:tr h="99167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F1-Score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Harmonic mean of Precision and Recall; balances false positives and false negatives.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063" marR="63063" marT="31531" marB="31531" anchor="ctr">
                        <a:blipFill>
                          <a:blip r:embed="rId2"/>
                          <a:stretch>
                            <a:fillRect l="-123697" t="-226380" r="-214929" b="-238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Used when </a:t>
                          </a:r>
                          <a:r>
                            <a:rPr lang="en-US" sz="1400" b="1"/>
                            <a:t>both precision and recall matter</a:t>
                          </a:r>
                          <a:r>
                            <a:rPr lang="en-US" sz="1400"/>
                            <a:t>, e.g., imbalanced HAR activity classes.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400" dirty="0"/>
                            <a:t>-</a:t>
                          </a:r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2589191954"/>
                      </a:ext>
                    </a:extLst>
                  </a:tr>
                  <a:tr h="8085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/>
                            <a:t>Accuracy</a:t>
                          </a:r>
                          <a:endParaRPr lang="en-IN" sz="140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Proportion of correctly predicted samples out of all samples.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063" marR="63063" marT="31531" marB="31531" anchor="ctr">
                        <a:blipFill>
                          <a:blip r:embed="rId2"/>
                          <a:stretch>
                            <a:fillRect l="-123697" t="-400000" r="-214929" b="-1917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General metric for overall performance; less reliable for </a:t>
                          </a:r>
                          <a:r>
                            <a:rPr lang="en-US" sz="1400" b="1"/>
                            <a:t>imbalanced datasets</a:t>
                          </a:r>
                          <a:r>
                            <a:rPr lang="en-US" sz="1400"/>
                            <a:t>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400" b="1"/>
                            <a:t>TN:</a:t>
                          </a:r>
                          <a:r>
                            <a:rPr lang="en-US" sz="1400"/>
                            <a:t> True Negatives (correct negative predictions)</a:t>
                          </a:r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502368675"/>
                      </a:ext>
                    </a:extLst>
                  </a:tr>
                  <a:tr h="1541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400" b="1" dirty="0"/>
                            <a:t>Loss</a:t>
                          </a:r>
                          <a:endParaRPr lang="en-IN" sz="1400" dirty="0"/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Measures prediction error during training; used to update network weights.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063" marR="63063" marT="31531" marB="31531" anchor="ctr">
                        <a:blipFill>
                          <a:blip r:embed="rId2"/>
                          <a:stretch>
                            <a:fillRect l="-123697" t="-262846" r="-214929" b="-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/>
                            <a:t>Guides </a:t>
                          </a:r>
                          <a:r>
                            <a:rPr lang="en-US" sz="1400" b="1"/>
                            <a:t>weight updates</a:t>
                          </a:r>
                          <a:r>
                            <a:rPr lang="en-US" sz="1400"/>
                            <a:t> in BiLSTM, helps learn sequential HAR patterns accurately.</a:t>
                          </a:r>
                        </a:p>
                      </a:txBody>
                      <a:tcPr marL="63063" marR="63063" marT="31531" marB="31531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400" b="1" dirty="0"/>
                            <a:t>N:</a:t>
                          </a:r>
                          <a:r>
                            <a:rPr lang="en-US" sz="1400" dirty="0"/>
                            <a:t> Total samples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1400" b="1" dirty="0"/>
                            <a:t>C:</a:t>
                          </a:r>
                          <a:r>
                            <a:rPr lang="en-US" sz="1400" dirty="0"/>
                            <a:t> Number of classes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1400" b="1" dirty="0"/>
                            <a:t>y₍ᵢ,𝚌₎:</a:t>
                          </a:r>
                          <a:r>
                            <a:rPr lang="en-US" sz="1400" dirty="0"/>
                            <a:t> Ground-truth (1 if sample </a:t>
                          </a:r>
                          <a:r>
                            <a:rPr lang="en-US" sz="1400" dirty="0" err="1"/>
                            <a:t>i</a:t>
                          </a:r>
                          <a:r>
                            <a:rPr lang="en-US" sz="1400" dirty="0"/>
                            <a:t> belongs to class c, else 0)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US" sz="1400" b="1" dirty="0"/>
                            <a:t>p₍ᵢ,𝚌₎:</a:t>
                          </a:r>
                          <a:r>
                            <a:rPr lang="en-US" sz="1400" dirty="0"/>
                            <a:t> Predicted probability for class c for sample </a:t>
                          </a:r>
                          <a:r>
                            <a:rPr lang="en-US" sz="1400" dirty="0" err="1"/>
                            <a:t>i</a:t>
                          </a:r>
                          <a:endParaRPr lang="en-US" sz="1400" dirty="0"/>
                        </a:p>
                      </a:txBody>
                      <a:tcPr marL="63063" marR="63063" marT="31531" marB="31531" anchor="ctr"/>
                    </a:tc>
                    <a:extLst>
                      <a:ext uri="{0D108BD9-81ED-4DB2-BD59-A6C34878D82A}">
                        <a16:rowId xmlns:a16="http://schemas.microsoft.com/office/drawing/2014/main" val="249835774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Google Shape;97;p14">
            <a:extLst>
              <a:ext uri="{FF2B5EF4-FFF2-40B4-BE49-F238E27FC236}">
                <a16:creationId xmlns:a16="http://schemas.microsoft.com/office/drawing/2014/main" id="{7AB6B90E-180B-FB92-3CB7-4406FA1AC6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3C865-93F5-490D-8672-FBC8F09E8B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701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6E6BA-8031-EC46-C59A-4C08EB2B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0B1176C-DAAA-0516-4233-5A1C686AC9A9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on My Dataset using the Proposed Model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A1CAD-9DDD-D58A-267A-EE68B8EAB2E0}"/>
              </a:ext>
            </a:extLst>
          </p:cNvPr>
          <p:cNvSpPr txBox="1"/>
          <p:nvPr/>
        </p:nvSpPr>
        <p:spPr>
          <a:xfrm>
            <a:off x="306967" y="1120878"/>
            <a:ext cx="1107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oogle Shape;97;p14">
            <a:extLst>
              <a:ext uri="{FF2B5EF4-FFF2-40B4-BE49-F238E27FC236}">
                <a16:creationId xmlns:a16="http://schemas.microsoft.com/office/drawing/2014/main" id="{522AF93D-9CC8-C04D-1E23-AB89429336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467A4FC-EBB0-BE32-4CFC-A64C3BA7A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83740"/>
              </p:ext>
            </p:extLst>
          </p:nvPr>
        </p:nvGraphicFramePr>
        <p:xfrm>
          <a:off x="310796" y="1398269"/>
          <a:ext cx="5531732" cy="417235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82933">
                  <a:extLst>
                    <a:ext uri="{9D8B030D-6E8A-4147-A177-3AD203B41FA5}">
                      <a16:colId xmlns:a16="http://schemas.microsoft.com/office/drawing/2014/main" val="3187092594"/>
                    </a:ext>
                  </a:extLst>
                </a:gridCol>
                <a:gridCol w="1382933">
                  <a:extLst>
                    <a:ext uri="{9D8B030D-6E8A-4147-A177-3AD203B41FA5}">
                      <a16:colId xmlns:a16="http://schemas.microsoft.com/office/drawing/2014/main" val="3441527458"/>
                    </a:ext>
                  </a:extLst>
                </a:gridCol>
                <a:gridCol w="1382933">
                  <a:extLst>
                    <a:ext uri="{9D8B030D-6E8A-4147-A177-3AD203B41FA5}">
                      <a16:colId xmlns:a16="http://schemas.microsoft.com/office/drawing/2014/main" val="1498230877"/>
                    </a:ext>
                  </a:extLst>
                </a:gridCol>
                <a:gridCol w="1382933">
                  <a:extLst>
                    <a:ext uri="{9D8B030D-6E8A-4147-A177-3AD203B41FA5}">
                      <a16:colId xmlns:a16="http://schemas.microsoft.com/office/drawing/2014/main" val="3942958361"/>
                    </a:ext>
                  </a:extLst>
                </a:gridCol>
              </a:tblGrid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2999003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Bending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0.9642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0.9193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0.9371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07151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Jumping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0.9635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0.9795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611495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0.9652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0.9743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0.9771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726538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0.9702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0.9432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984714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Squat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0.9652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0.9866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5523780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Standing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0.9854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0.9267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0.9557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1727970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Walking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0.9942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0.9971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3142717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715257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Overall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013638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-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0.9689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912023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Macro 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0.9679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0.9684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0.9687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205540"/>
                  </a:ext>
                </a:extLst>
              </a:tr>
              <a:tr h="319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Weighted </a:t>
                      </a:r>
                      <a:r>
                        <a:rPr lang="en-IN" sz="1400" dirty="0" err="1"/>
                        <a:t>Avg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0.9678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0.9684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0.9681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1513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8A7801A-C59A-F0EE-FC60-120137B2CB6D}"/>
              </a:ext>
            </a:extLst>
          </p:cNvPr>
          <p:cNvSpPr txBox="1"/>
          <p:nvPr/>
        </p:nvSpPr>
        <p:spPr>
          <a:xfrm>
            <a:off x="7542788" y="5903086"/>
            <a:ext cx="29089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Fig.9. Confusion Matrix on Mobile Dataset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3C0CFB-1380-C0D1-1381-92B3330E1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801" y="1213745"/>
            <a:ext cx="5610723" cy="454140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8262F66-0FA3-69BA-6F4C-B8D626982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752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ABD49D-5098-396A-040F-C0333A5D31EB}"/>
              </a:ext>
            </a:extLst>
          </p:cNvPr>
          <p:cNvSpPr/>
          <p:nvPr/>
        </p:nvSpPr>
        <p:spPr>
          <a:xfrm>
            <a:off x="328662" y="169785"/>
            <a:ext cx="10609007" cy="7589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Accuracies of Models on My Dataset   </a:t>
            </a:r>
          </a:p>
        </p:txBody>
      </p:sp>
      <p:pic>
        <p:nvPicPr>
          <p:cNvPr id="11" name="Google Shape;97;p14">
            <a:extLst>
              <a:ext uri="{FF2B5EF4-FFF2-40B4-BE49-F238E27FC236}">
                <a16:creationId xmlns:a16="http://schemas.microsoft.com/office/drawing/2014/main" id="{0F201838-F4CC-7C75-2815-8EF7F9E5D0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C087B83-0F27-A501-D9B2-A4686440F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668176"/>
              </p:ext>
            </p:extLst>
          </p:nvPr>
        </p:nvGraphicFramePr>
        <p:xfrm>
          <a:off x="89894" y="1463040"/>
          <a:ext cx="5413310" cy="324634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82662">
                  <a:extLst>
                    <a:ext uri="{9D8B030D-6E8A-4147-A177-3AD203B41FA5}">
                      <a16:colId xmlns:a16="http://schemas.microsoft.com/office/drawing/2014/main" val="2867144366"/>
                    </a:ext>
                  </a:extLst>
                </a:gridCol>
                <a:gridCol w="1082662">
                  <a:extLst>
                    <a:ext uri="{9D8B030D-6E8A-4147-A177-3AD203B41FA5}">
                      <a16:colId xmlns:a16="http://schemas.microsoft.com/office/drawing/2014/main" val="118019708"/>
                    </a:ext>
                  </a:extLst>
                </a:gridCol>
                <a:gridCol w="1082662">
                  <a:extLst>
                    <a:ext uri="{9D8B030D-6E8A-4147-A177-3AD203B41FA5}">
                      <a16:colId xmlns:a16="http://schemas.microsoft.com/office/drawing/2014/main" val="28157161"/>
                    </a:ext>
                  </a:extLst>
                </a:gridCol>
                <a:gridCol w="1082662">
                  <a:extLst>
                    <a:ext uri="{9D8B030D-6E8A-4147-A177-3AD203B41FA5}">
                      <a16:colId xmlns:a16="http://schemas.microsoft.com/office/drawing/2014/main" val="372070279"/>
                    </a:ext>
                  </a:extLst>
                </a:gridCol>
                <a:gridCol w="1082662">
                  <a:extLst>
                    <a:ext uri="{9D8B030D-6E8A-4147-A177-3AD203B41FA5}">
                      <a16:colId xmlns:a16="http://schemas.microsoft.com/office/drawing/2014/main" val="351420326"/>
                    </a:ext>
                  </a:extLst>
                </a:gridCol>
              </a:tblGrid>
              <a:tr h="6504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Activities / Models 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LSTM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BiLSTM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solidFill>
                            <a:schemeClr val="bg1"/>
                          </a:solidFill>
                          <a:effectLst/>
                        </a:rPr>
                        <a:t>GRS-BiLSTM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Proposed Model</a:t>
                      </a:r>
                      <a:endParaRPr lang="en-IN" sz="14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3110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Bending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0.8052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0.8435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0.9160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0.9371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24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Jumping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0.7850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0.8340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0.8855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0.9795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8370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Running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0.7592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0.7441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0.8806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0.9771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4887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Sitting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0.7643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0.9035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0.9430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0.9432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374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Squat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0.9344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0.9729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0.9839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0.9866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729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Standing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0.7902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0.8759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0.9576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0.9557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38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Walking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0.8078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0.8465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0.9250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0.9971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69219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81D3FD5-F201-58C2-E89D-1AEA0CEB5D27}"/>
              </a:ext>
            </a:extLst>
          </p:cNvPr>
          <p:cNvSpPr txBox="1"/>
          <p:nvPr/>
        </p:nvSpPr>
        <p:spPr>
          <a:xfrm>
            <a:off x="6995871" y="5287039"/>
            <a:ext cx="36860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Fig.11. Accuracy amongst different Activity and Models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F9A5808C-8E1F-CCCB-6127-94F02A09E9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0965375"/>
              </p:ext>
            </p:extLst>
          </p:nvPr>
        </p:nvGraphicFramePr>
        <p:xfrm>
          <a:off x="5643154" y="1234845"/>
          <a:ext cx="6183085" cy="3884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54ACE2-F744-B363-3629-E159FC926E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711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B827D5-D545-0029-F9B0-3936AD68F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65562"/>
              </p:ext>
            </p:extLst>
          </p:nvPr>
        </p:nvGraphicFramePr>
        <p:xfrm>
          <a:off x="653143" y="1208659"/>
          <a:ext cx="10506269" cy="5100952"/>
        </p:xfrm>
        <a:graphic>
          <a:graphicData uri="http://schemas.openxmlformats.org/drawingml/2006/table">
            <a:tbl>
              <a:tblPr firstRow="1" firstCol="1" bandRow="1">
                <a:tableStyleId>{FF129BD1-FC92-40F7-9949-7B2696B6D511}</a:tableStyleId>
              </a:tblPr>
              <a:tblGrid>
                <a:gridCol w="5280867">
                  <a:extLst>
                    <a:ext uri="{9D8B030D-6E8A-4147-A177-3AD203B41FA5}">
                      <a16:colId xmlns:a16="http://schemas.microsoft.com/office/drawing/2014/main" val="3334980696"/>
                    </a:ext>
                  </a:extLst>
                </a:gridCol>
                <a:gridCol w="5225402">
                  <a:extLst>
                    <a:ext uri="{9D8B030D-6E8A-4147-A177-3AD203B41FA5}">
                      <a16:colId xmlns:a16="http://schemas.microsoft.com/office/drawing/2014/main" val="2353683280"/>
                    </a:ext>
                  </a:extLst>
                </a:gridCol>
              </a:tblGrid>
              <a:tr h="24146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3224030"/>
                  </a:ext>
                </a:extLst>
              </a:tr>
              <a:tr h="2506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8281472"/>
                  </a:ext>
                </a:extLst>
              </a:tr>
              <a:tr h="2185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736101"/>
                  </a:ext>
                </a:extLst>
              </a:tr>
              <a:tr h="2506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GRS-</a:t>
                      </a:r>
                      <a:r>
                        <a:rPr lang="en-IN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MS-GRS-</a:t>
                      </a:r>
                      <a:r>
                        <a:rPr lang="en-IN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9503512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44FB0E-A996-0BE6-F674-8E1BD1D33246}"/>
              </a:ext>
            </a:extLst>
          </p:cNvPr>
          <p:cNvSpPr/>
          <p:nvPr/>
        </p:nvSpPr>
        <p:spPr>
          <a:xfrm>
            <a:off x="328662" y="169785"/>
            <a:ext cx="10609007" cy="90825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Confusion </a:t>
            </a:r>
            <a:r>
              <a:rPr lang="en-US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Matrics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 Epochs of Models on My Dataset   </a:t>
            </a:r>
          </a:p>
        </p:txBody>
      </p:sp>
      <p:pic>
        <p:nvPicPr>
          <p:cNvPr id="10" name="Google Shape;97;p14">
            <a:extLst>
              <a:ext uri="{FF2B5EF4-FFF2-40B4-BE49-F238E27FC236}">
                <a16:creationId xmlns:a16="http://schemas.microsoft.com/office/drawing/2014/main" id="{20B7A6F3-5642-5113-A8FE-C29B269EDAB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C70B67F1-4563-1E5B-7354-ABF7C2AD07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24</a:t>
            </a:fld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CF5B13-5BC8-EA10-49F8-0ED7214EF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57" y="1298447"/>
            <a:ext cx="3657115" cy="23064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BA71C4-BEC3-88E4-C077-8F71C846E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1256570"/>
            <a:ext cx="3511295" cy="234156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91949B0-0EFE-E8C2-7771-C1909E093CAE}"/>
              </a:ext>
            </a:extLst>
          </p:cNvPr>
          <p:cNvGrpSpPr/>
          <p:nvPr/>
        </p:nvGrpSpPr>
        <p:grpSpPr>
          <a:xfrm>
            <a:off x="1490956" y="3914357"/>
            <a:ext cx="3657115" cy="2085825"/>
            <a:chOff x="1490956" y="3914357"/>
            <a:chExt cx="3657115" cy="208582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F7EDB27-6E67-C127-C4E3-404ED5922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90956" y="3914357"/>
              <a:ext cx="3657115" cy="2085825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F64515A-11C5-C061-A462-C186B03CA9B3}"/>
                </a:ext>
              </a:extLst>
            </p:cNvPr>
            <p:cNvSpPr/>
            <p:nvPr/>
          </p:nvSpPr>
          <p:spPr>
            <a:xfrm>
              <a:off x="3172968" y="3914357"/>
              <a:ext cx="182545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6BD7F66-726E-0E6D-2CB8-86E5F43B6C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3914357"/>
            <a:ext cx="3511294" cy="20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50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E0CD87-BF87-3E6D-809F-AEBE73C39C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25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3E23D3-399D-9253-5BB9-5A88F11C6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760368"/>
              </p:ext>
            </p:extLst>
          </p:nvPr>
        </p:nvGraphicFramePr>
        <p:xfrm>
          <a:off x="653143" y="1208659"/>
          <a:ext cx="10506269" cy="5100952"/>
        </p:xfrm>
        <a:graphic>
          <a:graphicData uri="http://schemas.openxmlformats.org/drawingml/2006/table">
            <a:tbl>
              <a:tblPr firstRow="1" firstCol="1" bandRow="1">
                <a:tableStyleId>{FF129BD1-FC92-40F7-9949-7B2696B6D511}</a:tableStyleId>
              </a:tblPr>
              <a:tblGrid>
                <a:gridCol w="5280867">
                  <a:extLst>
                    <a:ext uri="{9D8B030D-6E8A-4147-A177-3AD203B41FA5}">
                      <a16:colId xmlns:a16="http://schemas.microsoft.com/office/drawing/2014/main" val="3334980696"/>
                    </a:ext>
                  </a:extLst>
                </a:gridCol>
                <a:gridCol w="5225402">
                  <a:extLst>
                    <a:ext uri="{9D8B030D-6E8A-4147-A177-3AD203B41FA5}">
                      <a16:colId xmlns:a16="http://schemas.microsoft.com/office/drawing/2014/main" val="2353683280"/>
                    </a:ext>
                  </a:extLst>
                </a:gridCol>
              </a:tblGrid>
              <a:tr h="24146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3224030"/>
                  </a:ext>
                </a:extLst>
              </a:tr>
              <a:tr h="2506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8281472"/>
                  </a:ext>
                </a:extLst>
              </a:tr>
              <a:tr h="21850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2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736101"/>
                  </a:ext>
                </a:extLst>
              </a:tr>
              <a:tr h="2506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GRS-</a:t>
                      </a:r>
                      <a:r>
                        <a:rPr lang="en-IN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MS-GRS-</a:t>
                      </a:r>
                      <a:r>
                        <a:rPr lang="en-IN" sz="1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9503512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D6A6F4-1FE0-FB8D-6F08-836E8E610047}"/>
              </a:ext>
            </a:extLst>
          </p:cNvPr>
          <p:cNvSpPr/>
          <p:nvPr/>
        </p:nvSpPr>
        <p:spPr>
          <a:xfrm>
            <a:off x="328662" y="169785"/>
            <a:ext cx="10609007" cy="90825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Accuracy/Loss over Epochs of Models on My Dataset   </a:t>
            </a:r>
          </a:p>
        </p:txBody>
      </p:sp>
      <p:pic>
        <p:nvPicPr>
          <p:cNvPr id="5" name="Google Shape;97;p14">
            <a:extLst>
              <a:ext uri="{FF2B5EF4-FFF2-40B4-BE49-F238E27FC236}">
                <a16:creationId xmlns:a16="http://schemas.microsoft.com/office/drawing/2014/main" id="{E3D03F52-25B0-0E21-8282-0BD0DF6059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0012FA-3A6D-32B4-246A-4C1460EFE59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25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FA0CC2-1995-B645-D53D-F824044C3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88" y="1280160"/>
            <a:ext cx="4188636" cy="2286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63498F-5043-774D-2776-4A71C103C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280160"/>
            <a:ext cx="4188637" cy="2286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73749F-FB6A-3294-4673-4A5290D4C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88" y="3890969"/>
            <a:ext cx="4188636" cy="20908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5C8B76-6CCA-4993-62F9-4012FD7DA3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0313" y="3890969"/>
            <a:ext cx="4188636" cy="209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15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BD7D3-B9A0-0F5C-9A19-6A681C7DD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A056C29-86C9-7293-F2D4-2C0BF666C5F3}"/>
              </a:ext>
            </a:extLst>
          </p:cNvPr>
          <p:cNvSpPr/>
          <p:nvPr/>
        </p:nvSpPr>
        <p:spPr>
          <a:xfrm>
            <a:off x="306967" y="173322"/>
            <a:ext cx="10144723" cy="7902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Models Performance on Mobile Dataset 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725ED-2363-B3CB-D65D-E5516F658EFF}"/>
              </a:ext>
            </a:extLst>
          </p:cNvPr>
          <p:cNvSpPr txBox="1"/>
          <p:nvPr/>
        </p:nvSpPr>
        <p:spPr>
          <a:xfrm>
            <a:off x="306968" y="1120878"/>
            <a:ext cx="3756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oogle Shape;97;p14">
            <a:extLst>
              <a:ext uri="{FF2B5EF4-FFF2-40B4-BE49-F238E27FC236}">
                <a16:creationId xmlns:a16="http://schemas.microsoft.com/office/drawing/2014/main" id="{D2AC535D-E1AB-F8E1-0456-7DF79EA272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34FB94-0CED-B3FB-762C-63CA99FDF6F7}"/>
              </a:ext>
            </a:extLst>
          </p:cNvPr>
          <p:cNvSpPr txBox="1"/>
          <p:nvPr/>
        </p:nvSpPr>
        <p:spPr>
          <a:xfrm>
            <a:off x="451962" y="1357537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Dataset (My Dataset) :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A9700BF-65CF-75AA-0304-90945B6C6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427963"/>
              </p:ext>
            </p:extLst>
          </p:nvPr>
        </p:nvGraphicFramePr>
        <p:xfrm>
          <a:off x="513806" y="1862970"/>
          <a:ext cx="11329851" cy="4055472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2956118">
                  <a:extLst>
                    <a:ext uri="{9D8B030D-6E8A-4147-A177-3AD203B41FA5}">
                      <a16:colId xmlns:a16="http://schemas.microsoft.com/office/drawing/2014/main" val="1190062519"/>
                    </a:ext>
                  </a:extLst>
                </a:gridCol>
                <a:gridCol w="1883483">
                  <a:extLst>
                    <a:ext uri="{9D8B030D-6E8A-4147-A177-3AD203B41FA5}">
                      <a16:colId xmlns:a16="http://schemas.microsoft.com/office/drawing/2014/main" val="3346433181"/>
                    </a:ext>
                  </a:extLst>
                </a:gridCol>
                <a:gridCol w="2088510">
                  <a:extLst>
                    <a:ext uri="{9D8B030D-6E8A-4147-A177-3AD203B41FA5}">
                      <a16:colId xmlns:a16="http://schemas.microsoft.com/office/drawing/2014/main" val="3231336544"/>
                    </a:ext>
                  </a:extLst>
                </a:gridCol>
                <a:gridCol w="2088510">
                  <a:extLst>
                    <a:ext uri="{9D8B030D-6E8A-4147-A177-3AD203B41FA5}">
                      <a16:colId xmlns:a16="http://schemas.microsoft.com/office/drawing/2014/main" val="2141927756"/>
                    </a:ext>
                  </a:extLst>
                </a:gridCol>
                <a:gridCol w="2313230">
                  <a:extLst>
                    <a:ext uri="{9D8B030D-6E8A-4147-A177-3AD203B41FA5}">
                      <a16:colId xmlns:a16="http://schemas.microsoft.com/office/drawing/2014/main" val="3392182951"/>
                    </a:ext>
                  </a:extLst>
                </a:gridCol>
              </a:tblGrid>
              <a:tr h="586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all" dirty="0">
                          <a:effectLst/>
                        </a:rPr>
                        <a:t> METRICS</a:t>
                      </a:r>
                      <a:endParaRPr lang="en-IN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all">
                          <a:effectLst/>
                        </a:rPr>
                        <a:t>LSTM</a:t>
                      </a:r>
                      <a:endParaRPr lang="en-IN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all">
                          <a:effectLst/>
                        </a:rPr>
                        <a:t>BiLSTM</a:t>
                      </a:r>
                      <a:endParaRPr lang="en-IN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all">
                          <a:effectLst/>
                        </a:rPr>
                        <a:t>GRS-BiLSTM</a:t>
                      </a:r>
                      <a:endParaRPr lang="en-IN" sz="14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all" dirty="0">
                          <a:effectLst/>
                        </a:rPr>
                        <a:t>MS-GRS-</a:t>
                      </a:r>
                      <a:r>
                        <a:rPr lang="en-IN" sz="1400" b="1" kern="100" cap="all" dirty="0" err="1">
                          <a:effectLst/>
                        </a:rPr>
                        <a:t>BiLSTM</a:t>
                      </a:r>
                      <a:endParaRPr lang="en-IN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14277293"/>
                  </a:ext>
                </a:extLst>
              </a:tr>
              <a:tr h="2847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cap="all" dirty="0">
                          <a:effectLst/>
                        </a:rPr>
                        <a:t>Precision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0.826493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0.879853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0.929214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0.967921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46814779"/>
                  </a:ext>
                </a:extLst>
              </a:tr>
              <a:tr h="2847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cap="all">
                          <a:effectLst/>
                        </a:rPr>
                        <a:t>Recall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0.807268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0.862020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0.927349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0.968486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2639783"/>
                  </a:ext>
                </a:extLst>
              </a:tr>
              <a:tr h="2847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cap="all">
                          <a:effectLst/>
                        </a:rPr>
                        <a:t>F1-score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0.806628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0.860110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0.927426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0.968763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0617152"/>
                  </a:ext>
                </a:extLst>
              </a:tr>
              <a:tr h="2847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cap="all">
                          <a:effectLst/>
                        </a:rPr>
                        <a:t>Test Accuracy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0.806886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0.862275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0.927395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0.968937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1975132"/>
                  </a:ext>
                </a:extLst>
              </a:tr>
              <a:tr h="2847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cap="all">
                          <a:effectLst/>
                        </a:rPr>
                        <a:t>Test Loss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0.3746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0.2357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0.106525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0.077365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6907549"/>
                  </a:ext>
                </a:extLst>
              </a:tr>
              <a:tr h="586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cap="all">
                          <a:effectLst/>
                        </a:rPr>
                        <a:t>Model Parameters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32,775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84,040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556,104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559,176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668857"/>
                  </a:ext>
                </a:extLst>
              </a:tr>
              <a:tr h="2847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cap="all">
                          <a:effectLst/>
                        </a:rPr>
                        <a:t>Model Size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0.1250 MB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0.3206 MB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2.1214 MB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2.1373 MB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9323468"/>
                  </a:ext>
                </a:extLst>
              </a:tr>
              <a:tr h="586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cap="all">
                          <a:effectLst/>
                        </a:rPr>
                        <a:t>Avg Batch Inference Time</a:t>
                      </a:r>
                      <a:endParaRPr lang="en-IN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0.008822 sec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0.014246 sec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0.017332 sec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0.017672 sec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4213358"/>
                  </a:ext>
                </a:extLst>
              </a:tr>
              <a:tr h="586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100" cap="all" dirty="0">
                          <a:effectLst/>
                        </a:rPr>
                        <a:t>Single Sample Inference Time</a:t>
                      </a:r>
                      <a:endParaRPr lang="en-IN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0.004555 sec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0.002505 sec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0.008718 sec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0.009988 sec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79106025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3E8D6F9-1138-F739-51DE-82D6FEB1E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40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5F3A61-C3B7-AC75-F347-D4ADE17E18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27</a:t>
            </a:fld>
            <a:endParaRPr lang="en-IN"/>
          </a:p>
        </p:txBody>
      </p:sp>
      <p:pic>
        <p:nvPicPr>
          <p:cNvPr id="3" name="Google Shape;97;p14">
            <a:extLst>
              <a:ext uri="{FF2B5EF4-FFF2-40B4-BE49-F238E27FC236}">
                <a16:creationId xmlns:a16="http://schemas.microsoft.com/office/drawing/2014/main" id="{78737496-4763-8279-D785-10BF4841CA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9B4B03-AC8C-F27D-EF68-C55423238988}"/>
              </a:ext>
            </a:extLst>
          </p:cNvPr>
          <p:cNvSpPr/>
          <p:nvPr/>
        </p:nvSpPr>
        <p:spPr>
          <a:xfrm>
            <a:off x="328662" y="169785"/>
            <a:ext cx="10609007" cy="7589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5FA731-71C4-0697-63A7-D01A923ED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724" y="1069847"/>
            <a:ext cx="6849431" cy="539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205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D43055-FDFB-FDAE-908E-20BB12BD1DBD}"/>
              </a:ext>
            </a:extLst>
          </p:cNvPr>
          <p:cNvSpPr/>
          <p:nvPr/>
        </p:nvSpPr>
        <p:spPr>
          <a:xfrm>
            <a:off x="838200" y="149035"/>
            <a:ext cx="10007830" cy="7589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97;p14">
            <a:extLst>
              <a:ext uri="{FF2B5EF4-FFF2-40B4-BE49-F238E27FC236}">
                <a16:creationId xmlns:a16="http://schemas.microsoft.com/office/drawing/2014/main" id="{FC674249-1290-445D-3FCC-6DE4FCAA0F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3234A137-97AD-E7C7-9A22-5C006B0FFC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9919" y="1519732"/>
            <a:ext cx="10857647" cy="35086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Gupta, S. Deep learning based human activity recognition (HAR) using wearable sensor data. Int. J. Inf. Manag. Data Insights 2021, 1, 100046. </a:t>
            </a:r>
          </a:p>
          <a:p>
            <a:pPr marL="342900" lvl="0" algn="just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Kaseris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Kostavelis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Malassiotis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 Comprehensive Survey on Deep Learning Methods in Human Activity Recognition," 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Mach. Learn. </a:t>
            </a:r>
            <a:r>
              <a:rPr lang="en-US" alt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Extr.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pp. 842–876, Apr. 2024.</a:t>
            </a:r>
          </a:p>
          <a:p>
            <a:pPr marL="342900" lvl="0" algn="just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Lalwani and R. Ganeshan, "A Novel CNN-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-GRU Hybrid Deep Learning Model for Human Activity Recognition," 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Int. J. </a:t>
            </a:r>
            <a:r>
              <a:rPr lang="en-US" alt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Syst.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17, no. 278, Nov. 2024.</a:t>
            </a:r>
          </a:p>
          <a:p>
            <a:pPr marL="342900" lvl="0" algn="just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K. Challa, A. Kumar, and V. B. Semwal, "A multibranch CNN-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for human activity recognition using wearable sensor data," 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 Computer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38, pp. 4095–4109, Aug. 2021.</a:t>
            </a:r>
          </a:p>
          <a:p>
            <a:pPr marL="342900" lvl="0" algn="just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Tokas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B. Semwal, and S. Verma, "A Real-Time Deployable Attention-Driven CNN–LSTM Framework for Human Activity Recognition using Wearable Sensor," Dehradun, India: IEEE Sensors Council, 2025.</a:t>
            </a:r>
          </a:p>
          <a:p>
            <a:pPr marL="342900" lvl="0" algn="just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A. Khatun 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"Deep CNN-LSTM With Self-Attention Model for Human Activity Recognition Using Wearable Sensor," </a:t>
            </a:r>
            <a:r>
              <a:rPr lang="en-US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J. Transl. Eng. Health Med.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10, pp. 1–16, May 2022.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77D7E34-CD42-AB8D-7968-6B01CDBBA4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28</a:t>
            </a:fld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>
            <a:spLocks noGrp="1"/>
          </p:cNvSpPr>
          <p:nvPr>
            <p:ph type="body" idx="1"/>
          </p:nvPr>
        </p:nvSpPr>
        <p:spPr>
          <a:xfrm>
            <a:off x="838200" y="1070519"/>
            <a:ext cx="10515600" cy="4434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4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4892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4892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5EBE0F-5D2C-E72C-2138-AD0354DE8BFA}"/>
              </a:ext>
            </a:extLst>
          </p:cNvPr>
          <p:cNvSpPr/>
          <p:nvPr/>
        </p:nvSpPr>
        <p:spPr>
          <a:xfrm>
            <a:off x="838200" y="149035"/>
            <a:ext cx="10007830" cy="7589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5A51C-A5BB-40F3-C159-3508CDD2452B}"/>
              </a:ext>
            </a:extLst>
          </p:cNvPr>
          <p:cNvSpPr txBox="1"/>
          <p:nvPr/>
        </p:nvSpPr>
        <p:spPr>
          <a:xfrm>
            <a:off x="837965" y="1361985"/>
            <a:ext cx="1051560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+mj-lt"/>
              <a:buAutoNum type="arabicPeriod" startAt="7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Xu, S.; Zhang, L.; Huang, W.; Wu, H.; Song, A. Deformable convolutional networks for multimodal human activity recognition using wearable sensors. IEEE Trans.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Instrum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Meas. 2022, 71, 2505414. </a:t>
            </a:r>
          </a:p>
          <a:p>
            <a:pPr marL="342900" lvl="0" indent="-342900" algn="just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+mj-lt"/>
              <a:buAutoNum type="arabicPeriod" startAt="7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Beddiar, D.R.; Nini, B.;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Sabokrou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M.; Hadid, A. Vision-based human activity recognition: A survey.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Multimed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Tools Appl. 2020, 79, 30509–30555. </a:t>
            </a:r>
          </a:p>
          <a:p>
            <a:pPr marL="342900" lvl="0" indent="-342900" algn="just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+mj-lt"/>
              <a:buAutoNum type="arabicPeriod" startAt="7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Lara, O.D.; Labrador, M.A. A survey on human activity recognition using wearable sensors. IEEE Commun.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Tutorials 2012, 15, 1192–1209. </a:t>
            </a:r>
          </a:p>
          <a:p>
            <a:pPr marL="342900" lvl="0" indent="-342900" algn="just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+mj-lt"/>
              <a:buAutoNum type="arabicPeriod" startAt="7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Ke, S.R.; Thuc, H.L.U.; Lee, Y.J.; Hwang, J.N.; Yoo, J.H.; Choi, K.H. A review on video-based human activity recognition. Computers 2013, 2, 88–131. </a:t>
            </a:r>
          </a:p>
          <a:p>
            <a:pPr marL="342900" lvl="0" indent="-342900" algn="just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+mj-lt"/>
              <a:buAutoNum type="arabicPeriod" startAt="7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Ray, A.; Kolekar, M.H.; Balasubramanian, R.; Hafiane, A. Transfer learning enhanced vision-based human activity recognition: A decade-long analysis. Int. J. Inf. Manag. Data Insights 2023, 3, 100142. [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CrossRef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2900" lvl="0" indent="-342900" algn="just" eaLnBrk="0" fontAlgn="base" hangingPunct="0">
              <a:spcBef>
                <a:spcPts val="600"/>
              </a:spcBef>
              <a:spcAft>
                <a:spcPct val="0"/>
              </a:spcAft>
              <a:buClrTx/>
              <a:buFont typeface="+mj-lt"/>
              <a:buAutoNum type="arabicPeriod" startAt="7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Singh, R.; Kushwaha, A.K.S.; Srivastava, R. Recent trends in human activity recognition–A comparative study.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Syst. Res. 2023, 77, 30–44. 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Google Shape;97;p14">
            <a:extLst>
              <a:ext uri="{FF2B5EF4-FFF2-40B4-BE49-F238E27FC236}">
                <a16:creationId xmlns:a16="http://schemas.microsoft.com/office/drawing/2014/main" id="{8E5F4357-2B7C-4446-2AD9-63C6C1520D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E6DF558-69CF-E99C-A4B1-F1F3866F31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29</a:t>
            </a:fld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609DAD76-3DC3-8DD1-A800-56CD865A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>
            <a:extLst>
              <a:ext uri="{FF2B5EF4-FFF2-40B4-BE49-F238E27FC236}">
                <a16:creationId xmlns:a16="http://schemas.microsoft.com/office/drawing/2014/main" id="{4D465C3C-6EFC-022F-F708-E501D5594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78976" y="2847321"/>
            <a:ext cx="7492109" cy="149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Arial Black"/>
              <a:buNone/>
            </a:pPr>
            <a:r>
              <a:rPr lang="en-IN" sz="7200" b="1" dirty="0">
                <a:solidFill>
                  <a:srgbClr val="3333FF"/>
                </a:solidFill>
                <a:latin typeface="Times New Roman" panose="02020603050405020304" pitchFamily="18" charset="0"/>
                <a:ea typeface="Arial Black"/>
                <a:cs typeface="Times New Roman" panose="02020603050405020304" pitchFamily="18" charset="0"/>
                <a:sym typeface="Arial Black"/>
              </a:rPr>
              <a:t>THANK YOU </a:t>
            </a:r>
            <a:endParaRPr sz="72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97;p14">
            <a:extLst>
              <a:ext uri="{FF2B5EF4-FFF2-40B4-BE49-F238E27FC236}">
                <a16:creationId xmlns:a16="http://schemas.microsoft.com/office/drawing/2014/main" id="{A3951444-4617-0ACC-7DBB-14228F849F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3048" y="0"/>
            <a:ext cx="1178952" cy="11539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ED8544-69EA-D132-C0FD-25DF8E3986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688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5721</TotalTime>
  <Words>2960</Words>
  <Application>Microsoft Office PowerPoint</Application>
  <PresentationFormat>Widescreen</PresentationFormat>
  <Paragraphs>497</Paragraphs>
  <Slides>30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Times New Roman</vt:lpstr>
      <vt:lpstr>Calibri</vt:lpstr>
      <vt:lpstr>Arial</vt:lpstr>
      <vt:lpstr>Cambria Math</vt:lpstr>
      <vt:lpstr>Noto Sans Symbols</vt:lpstr>
      <vt:lpstr>Wingdings</vt:lpstr>
      <vt:lpstr>Arial Black</vt:lpstr>
      <vt:lpstr>Courier New</vt:lpstr>
      <vt:lpstr>Aptos</vt:lpstr>
      <vt:lpstr>Office Theme</vt:lpstr>
      <vt:lpstr>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based Robotic Wire Arc Additive Manufacturing of Nickel based Alloy  Mr. V V D Praveen Kalepu Research Scholar    Under the supervision of</dc:title>
  <dc:creator>IIITM KURNOOL</dc:creator>
  <cp:lastModifiedBy>Rishit Maurya</cp:lastModifiedBy>
  <cp:revision>391</cp:revision>
  <dcterms:modified xsi:type="dcterms:W3CDTF">2026-03-04T14:57:48Z</dcterms:modified>
</cp:coreProperties>
</file>