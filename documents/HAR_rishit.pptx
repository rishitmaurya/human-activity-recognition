
<file path=[Content_Types].xml><?xml version="1.0" encoding="utf-8"?>
<Types xmlns="http://schemas.openxmlformats.org/package/2006/content-types">
  <Default Extension="fntdata" ContentType="application/x-fontdata"/>
  <Default Extension="gif" ContentType="image/gif"/>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37"/>
  </p:notesMasterIdLst>
  <p:handoutMasterIdLst>
    <p:handoutMasterId r:id="rId38"/>
  </p:handoutMasterIdLst>
  <p:sldIdLst>
    <p:sldId id="256" r:id="rId2"/>
    <p:sldId id="257" r:id="rId3"/>
    <p:sldId id="284" r:id="rId4"/>
    <p:sldId id="334" r:id="rId5"/>
    <p:sldId id="335" r:id="rId6"/>
    <p:sldId id="286" r:id="rId7"/>
    <p:sldId id="326" r:id="rId8"/>
    <p:sldId id="327" r:id="rId9"/>
    <p:sldId id="331" r:id="rId10"/>
    <p:sldId id="332" r:id="rId11"/>
    <p:sldId id="310" r:id="rId12"/>
    <p:sldId id="305" r:id="rId13"/>
    <p:sldId id="312" r:id="rId14"/>
    <p:sldId id="290" r:id="rId15"/>
    <p:sldId id="336" r:id="rId16"/>
    <p:sldId id="291" r:id="rId17"/>
    <p:sldId id="299" r:id="rId18"/>
    <p:sldId id="311" r:id="rId19"/>
    <p:sldId id="318" r:id="rId20"/>
    <p:sldId id="278" r:id="rId21"/>
    <p:sldId id="333" r:id="rId22"/>
    <p:sldId id="317" r:id="rId23"/>
    <p:sldId id="330" r:id="rId24"/>
    <p:sldId id="301" r:id="rId25"/>
    <p:sldId id="337" r:id="rId26"/>
    <p:sldId id="339" r:id="rId27"/>
    <p:sldId id="338" r:id="rId28"/>
    <p:sldId id="340" r:id="rId29"/>
    <p:sldId id="321" r:id="rId30"/>
    <p:sldId id="341" r:id="rId31"/>
    <p:sldId id="342" r:id="rId32"/>
    <p:sldId id="322" r:id="rId33"/>
    <p:sldId id="294" r:id="rId34"/>
    <p:sldId id="295" r:id="rId35"/>
    <p:sldId id="315" r:id="rId36"/>
  </p:sldIdLst>
  <p:sldSz cx="12192000" cy="6858000"/>
  <p:notesSz cx="6858000" cy="9144000"/>
  <p:embeddedFontLst>
    <p:embeddedFont>
      <p:font typeface="Arial Black" panose="020B0A04020102020204" pitchFamily="34" charset="0"/>
      <p:regular r:id="rId39"/>
      <p:bold r:id="rId40"/>
    </p:embeddedFont>
    <p:embeddedFont>
      <p:font typeface="Cambria Math" panose="02040503050406030204" pitchFamily="18" charset="0"/>
      <p:regular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0000FF"/>
    <a:srgbClr val="FA3D0A"/>
    <a:srgbClr val="CC0000"/>
    <a:srgbClr val="1552DB"/>
    <a:srgbClr val="FF6600"/>
    <a:srgbClr val="3333FF"/>
    <a:srgbClr val="00FF00"/>
    <a:srgbClr val="FFFF99"/>
    <a:srgbClr val="3DF55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F129BD1-FC92-40F7-9949-7B2696B6D511}">
  <a:tblStyle styleId="{FF129BD1-FC92-40F7-9949-7B2696B6D51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6548CB8-554B-47B1-B464-9B95B1BBCFA0}"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2" autoAdjust="0"/>
    <p:restoredTop sz="94660"/>
  </p:normalViewPr>
  <p:slideViewPr>
    <p:cSldViewPr snapToGrid="0">
      <p:cViewPr varScale="1">
        <p:scale>
          <a:sx n="84" d="100"/>
          <a:sy n="84" d="100"/>
        </p:scale>
        <p:origin x="63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2.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font" Target="fonts/font3.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veen K" userId="c82aea2e5423fcf6" providerId="LiveId" clId="{95EEA42B-6BC1-48B9-A686-38EA1E396BB3}"/>
    <pc:docChg chg="undo custSel addSld modSld sldOrd">
      <pc:chgData name="Praveen K" userId="c82aea2e5423fcf6" providerId="LiveId" clId="{95EEA42B-6BC1-48B9-A686-38EA1E396BB3}" dt="2025-07-13T07:43:30.190" v="167" actId="478"/>
      <pc:docMkLst>
        <pc:docMk/>
      </pc:docMkLst>
      <pc:sldChg chg="addSp delSp modSp mod ord">
        <pc:chgData name="Praveen K" userId="c82aea2e5423fcf6" providerId="LiveId" clId="{95EEA42B-6BC1-48B9-A686-38EA1E396BB3}" dt="2025-07-13T06:48:00.759" v="53" actId="1076"/>
        <pc:sldMkLst>
          <pc:docMk/>
          <pc:sldMk cId="1160658422" sldId="278"/>
        </pc:sldMkLst>
        <pc:spChg chg="mod">
          <ac:chgData name="Praveen K" userId="c82aea2e5423fcf6" providerId="LiveId" clId="{95EEA42B-6BC1-48B9-A686-38EA1E396BB3}" dt="2025-07-13T06:47:55.239" v="52" actId="1076"/>
          <ac:spMkLst>
            <pc:docMk/>
            <pc:sldMk cId="1160658422" sldId="278"/>
            <ac:spMk id="10" creationId="{0F834F8E-C008-BBE8-AA05-B1AB9AA42869}"/>
          </ac:spMkLst>
        </pc:spChg>
        <pc:spChg chg="del mod">
          <ac:chgData name="Praveen K" userId="c82aea2e5423fcf6" providerId="LiveId" clId="{95EEA42B-6BC1-48B9-A686-38EA1E396BB3}" dt="2025-07-13T06:44:56.243" v="42" actId="478"/>
          <ac:spMkLst>
            <pc:docMk/>
            <pc:sldMk cId="1160658422" sldId="278"/>
            <ac:spMk id="12" creationId="{D87A59D2-8DAA-73DD-2BA5-EF1E5BEA12B4}"/>
          </ac:spMkLst>
        </pc:spChg>
        <pc:spChg chg="del mod">
          <ac:chgData name="Praveen K" userId="c82aea2e5423fcf6" providerId="LiveId" clId="{95EEA42B-6BC1-48B9-A686-38EA1E396BB3}" dt="2025-07-13T06:44:55.126" v="41" actId="478"/>
          <ac:spMkLst>
            <pc:docMk/>
            <pc:sldMk cId="1160658422" sldId="278"/>
            <ac:spMk id="13" creationId="{457CCA23-41E5-1A82-7D7E-0703A52010C2}"/>
          </ac:spMkLst>
        </pc:spChg>
        <pc:spChg chg="del">
          <ac:chgData name="Praveen K" userId="c82aea2e5423fcf6" providerId="LiveId" clId="{95EEA42B-6BC1-48B9-A686-38EA1E396BB3}" dt="2025-07-13T06:47:44.157" v="47" actId="478"/>
          <ac:spMkLst>
            <pc:docMk/>
            <pc:sldMk cId="1160658422" sldId="278"/>
            <ac:spMk id="14" creationId="{9C0717F9-D8FA-852D-3E32-3AC46DA3D5CF}"/>
          </ac:spMkLst>
        </pc:spChg>
        <pc:spChg chg="mod">
          <ac:chgData name="Praveen K" userId="c82aea2e5423fcf6" providerId="LiveId" clId="{95EEA42B-6BC1-48B9-A686-38EA1E396BB3}" dt="2025-07-13T06:48:00.759" v="53" actId="1076"/>
          <ac:spMkLst>
            <pc:docMk/>
            <pc:sldMk cId="1160658422" sldId="278"/>
            <ac:spMk id="19" creationId="{C8CB01CD-21A8-CD3D-20BE-489208119169}"/>
          </ac:spMkLst>
        </pc:spChg>
        <pc:picChg chg="del mod">
          <ac:chgData name="Praveen K" userId="c82aea2e5423fcf6" providerId="LiveId" clId="{95EEA42B-6BC1-48B9-A686-38EA1E396BB3}" dt="2025-07-13T06:44:05.764" v="8" actId="478"/>
          <ac:picMkLst>
            <pc:docMk/>
            <pc:sldMk cId="1160658422" sldId="278"/>
            <ac:picMk id="3" creationId="{7C3C4ED8-84FB-2D06-7953-77C9009CD680}"/>
          </ac:picMkLst>
        </pc:picChg>
        <pc:picChg chg="mod">
          <ac:chgData name="Praveen K" userId="c82aea2e5423fcf6" providerId="LiveId" clId="{95EEA42B-6BC1-48B9-A686-38EA1E396BB3}" dt="2025-07-13T06:45:07.388" v="44" actId="14100"/>
          <ac:picMkLst>
            <pc:docMk/>
            <pc:sldMk cId="1160658422" sldId="278"/>
            <ac:picMk id="5" creationId="{94252598-E9E4-DD4C-1736-7CA5BEB5E57F}"/>
          </ac:picMkLst>
        </pc:picChg>
        <pc:picChg chg="del">
          <ac:chgData name="Praveen K" userId="c82aea2e5423fcf6" providerId="LiveId" clId="{95EEA42B-6BC1-48B9-A686-38EA1E396BB3}" dt="2025-07-13T06:47:42.009" v="46" actId="478"/>
          <ac:picMkLst>
            <pc:docMk/>
            <pc:sldMk cId="1160658422" sldId="278"/>
            <ac:picMk id="7" creationId="{1CF4768E-F9B8-AB6A-FC17-E3E25E95BB39}"/>
          </ac:picMkLst>
        </pc:picChg>
        <pc:picChg chg="add mod">
          <ac:chgData name="Praveen K" userId="c82aea2e5423fcf6" providerId="LiveId" clId="{95EEA42B-6BC1-48B9-A686-38EA1E396BB3}" dt="2025-07-13T06:44:50.925" v="40" actId="14100"/>
          <ac:picMkLst>
            <pc:docMk/>
            <pc:sldMk cId="1160658422" sldId="278"/>
            <ac:picMk id="16" creationId="{0F51AA4A-820A-C53E-36D8-EF20002FF147}"/>
          </ac:picMkLst>
        </pc:picChg>
        <pc:picChg chg="add mod">
          <ac:chgData name="Praveen K" userId="c82aea2e5423fcf6" providerId="LiveId" clId="{95EEA42B-6BC1-48B9-A686-38EA1E396BB3}" dt="2025-07-13T06:47:51.235" v="51" actId="1076"/>
          <ac:picMkLst>
            <pc:docMk/>
            <pc:sldMk cId="1160658422" sldId="278"/>
            <ac:picMk id="18" creationId="{54C6711E-6C02-3E1B-78BD-BAA9EF686049}"/>
          </ac:picMkLst>
        </pc:picChg>
      </pc:sldChg>
      <pc:sldChg chg="modSp mod">
        <pc:chgData name="Praveen K" userId="c82aea2e5423fcf6" providerId="LiveId" clId="{95EEA42B-6BC1-48B9-A686-38EA1E396BB3}" dt="2025-07-13T06:38:12.828" v="3" actId="20577"/>
        <pc:sldMkLst>
          <pc:docMk/>
          <pc:sldMk cId="1538997592" sldId="290"/>
        </pc:sldMkLst>
        <pc:spChg chg="mod">
          <ac:chgData name="Praveen K" userId="c82aea2e5423fcf6" providerId="LiveId" clId="{95EEA42B-6BC1-48B9-A686-38EA1E396BB3}" dt="2025-07-13T06:38:12.828" v="3" actId="20577"/>
          <ac:spMkLst>
            <pc:docMk/>
            <pc:sldMk cId="1538997592" sldId="290"/>
            <ac:spMk id="8" creationId="{68B470CE-78F6-CA8C-A694-B0BEE64081E7}"/>
          </ac:spMkLst>
        </pc:spChg>
      </pc:sldChg>
      <pc:sldChg chg="delSp mod">
        <pc:chgData name="Praveen K" userId="c82aea2e5423fcf6" providerId="LiveId" clId="{95EEA42B-6BC1-48B9-A686-38EA1E396BB3}" dt="2025-07-13T06:52:27.865" v="65" actId="478"/>
        <pc:sldMkLst>
          <pc:docMk/>
          <pc:sldMk cId="3427646999" sldId="291"/>
        </pc:sldMkLst>
        <pc:picChg chg="del">
          <ac:chgData name="Praveen K" userId="c82aea2e5423fcf6" providerId="LiveId" clId="{95EEA42B-6BC1-48B9-A686-38EA1E396BB3}" dt="2025-07-13T06:52:27.865" v="65" actId="478"/>
          <ac:picMkLst>
            <pc:docMk/>
            <pc:sldMk cId="3427646999" sldId="291"/>
            <ac:picMk id="11" creationId="{86F501B8-BAFE-C61C-55A0-B764AAD0D38E}"/>
          </ac:picMkLst>
        </pc:picChg>
      </pc:sldChg>
      <pc:sldChg chg="modSp mod ord">
        <pc:chgData name="Praveen K" userId="c82aea2e5423fcf6" providerId="LiveId" clId="{95EEA42B-6BC1-48B9-A686-38EA1E396BB3}" dt="2025-07-13T06:52:12.377" v="64"/>
        <pc:sldMkLst>
          <pc:docMk/>
          <pc:sldMk cId="3342246145" sldId="298"/>
        </pc:sldMkLst>
        <pc:graphicFrameChg chg="mod modGraphic">
          <ac:chgData name="Praveen K" userId="c82aea2e5423fcf6" providerId="LiveId" clId="{95EEA42B-6BC1-48B9-A686-38EA1E396BB3}" dt="2025-07-13T06:51:09.490" v="62" actId="122"/>
          <ac:graphicFrameMkLst>
            <pc:docMk/>
            <pc:sldMk cId="3342246145" sldId="298"/>
            <ac:graphicFrameMk id="12" creationId="{6C0C1FFE-37D8-2E7F-7FBA-D60F6A966B58}"/>
          </ac:graphicFrameMkLst>
        </pc:graphicFrameChg>
      </pc:sldChg>
      <pc:sldChg chg="modSp">
        <pc:chgData name="Praveen K" userId="c82aea2e5423fcf6" providerId="LiveId" clId="{95EEA42B-6BC1-48B9-A686-38EA1E396BB3}" dt="2025-07-13T06:49:02.633" v="54"/>
        <pc:sldMkLst>
          <pc:docMk/>
          <pc:sldMk cId="2618844330" sldId="299"/>
        </pc:sldMkLst>
        <pc:graphicFrameChg chg="mod">
          <ac:chgData name="Praveen K" userId="c82aea2e5423fcf6" providerId="LiveId" clId="{95EEA42B-6BC1-48B9-A686-38EA1E396BB3}" dt="2025-07-13T06:49:02.633" v="54"/>
          <ac:graphicFrameMkLst>
            <pc:docMk/>
            <pc:sldMk cId="2618844330" sldId="299"/>
            <ac:graphicFrameMk id="16" creationId="{ACFA7B29-4BC9-8B4B-E439-CE727E228226}"/>
          </ac:graphicFrameMkLst>
        </pc:graphicFrameChg>
      </pc:sldChg>
      <pc:sldChg chg="addSp modSp mod">
        <pc:chgData name="Praveen K" userId="c82aea2e5423fcf6" providerId="LiveId" clId="{95EEA42B-6BC1-48B9-A686-38EA1E396BB3}" dt="2025-07-13T06:54:22.448" v="78" actId="14100"/>
        <pc:sldMkLst>
          <pc:docMk/>
          <pc:sldMk cId="269477701" sldId="311"/>
        </pc:sldMkLst>
        <pc:spChg chg="add mod">
          <ac:chgData name="Praveen K" userId="c82aea2e5423fcf6" providerId="LiveId" clId="{95EEA42B-6BC1-48B9-A686-38EA1E396BB3}" dt="2025-07-13T06:54:08.586" v="74" actId="14100"/>
          <ac:spMkLst>
            <pc:docMk/>
            <pc:sldMk cId="269477701" sldId="311"/>
            <ac:spMk id="13" creationId="{57CE106E-DD0A-7E36-932C-1A75F49F1F33}"/>
          </ac:spMkLst>
        </pc:spChg>
        <pc:picChg chg="add mod">
          <ac:chgData name="Praveen K" userId="c82aea2e5423fcf6" providerId="LiveId" clId="{95EEA42B-6BC1-48B9-A686-38EA1E396BB3}" dt="2025-07-13T06:54:15.955" v="75" actId="14100"/>
          <ac:picMkLst>
            <pc:docMk/>
            <pc:sldMk cId="269477701" sldId="311"/>
            <ac:picMk id="10" creationId="{5772E801-11B1-4AD9-30C8-F6A8AD1F8B91}"/>
          </ac:picMkLst>
        </pc:picChg>
        <pc:picChg chg="add mod">
          <ac:chgData name="Praveen K" userId="c82aea2e5423fcf6" providerId="LiveId" clId="{95EEA42B-6BC1-48B9-A686-38EA1E396BB3}" dt="2025-07-13T06:54:22.448" v="78" actId="14100"/>
          <ac:picMkLst>
            <pc:docMk/>
            <pc:sldMk cId="269477701" sldId="311"/>
            <ac:picMk id="11" creationId="{20AF9E4E-30DA-7D20-181D-C739E44F136A}"/>
          </ac:picMkLst>
        </pc:picChg>
      </pc:sldChg>
      <pc:sldChg chg="addSp modSp mod ord">
        <pc:chgData name="Praveen K" userId="c82aea2e5423fcf6" providerId="LiveId" clId="{95EEA42B-6BC1-48B9-A686-38EA1E396BB3}" dt="2025-07-13T07:12:31.146" v="123"/>
        <pc:sldMkLst>
          <pc:docMk/>
          <pc:sldMk cId="4007068481" sldId="312"/>
        </pc:sldMkLst>
        <pc:graphicFrameChg chg="add mod">
          <ac:chgData name="Praveen K" userId="c82aea2e5423fcf6" providerId="LiveId" clId="{95EEA42B-6BC1-48B9-A686-38EA1E396BB3}" dt="2025-07-13T06:55:25.501" v="83" actId="1076"/>
          <ac:graphicFrameMkLst>
            <pc:docMk/>
            <pc:sldMk cId="4007068481" sldId="312"/>
            <ac:graphicFrameMk id="10" creationId="{AB2AD162-0A21-C666-7F87-1EFFE890F554}"/>
          </ac:graphicFrameMkLst>
        </pc:graphicFrameChg>
        <pc:graphicFrameChg chg="add mod modGraphic">
          <ac:chgData name="Praveen K" userId="c82aea2e5423fcf6" providerId="LiveId" clId="{95EEA42B-6BC1-48B9-A686-38EA1E396BB3}" dt="2025-07-13T06:55:56.328" v="86" actId="14100"/>
          <ac:graphicFrameMkLst>
            <pc:docMk/>
            <pc:sldMk cId="4007068481" sldId="312"/>
            <ac:graphicFrameMk id="11" creationId="{D3186CB4-FAB1-CC9F-73DD-DF72F84EC20B}"/>
          </ac:graphicFrameMkLst>
        </pc:graphicFrameChg>
      </pc:sldChg>
      <pc:sldChg chg="ord">
        <pc:chgData name="Praveen K" userId="c82aea2e5423fcf6" providerId="LiveId" clId="{95EEA42B-6BC1-48B9-A686-38EA1E396BB3}" dt="2025-07-13T07:12:19.183" v="121"/>
        <pc:sldMkLst>
          <pc:docMk/>
          <pc:sldMk cId="2963145662" sldId="313"/>
        </pc:sldMkLst>
      </pc:sldChg>
      <pc:sldChg chg="addSp delSp modSp mod">
        <pc:chgData name="Praveen K" userId="c82aea2e5423fcf6" providerId="LiveId" clId="{95EEA42B-6BC1-48B9-A686-38EA1E396BB3}" dt="2025-07-13T07:43:30.190" v="167" actId="478"/>
        <pc:sldMkLst>
          <pc:docMk/>
          <pc:sldMk cId="960604607" sldId="314"/>
        </pc:sldMkLst>
        <pc:picChg chg="add del mod">
          <ac:chgData name="Praveen K" userId="c82aea2e5423fcf6" providerId="LiveId" clId="{95EEA42B-6BC1-48B9-A686-38EA1E396BB3}" dt="2025-07-13T07:43:30.190" v="167" actId="478"/>
          <ac:picMkLst>
            <pc:docMk/>
            <pc:sldMk cId="960604607" sldId="314"/>
            <ac:picMk id="10" creationId="{213179B5-37D3-5C8A-5956-5F28D9DFC990}"/>
          </ac:picMkLst>
        </pc:picChg>
      </pc:sldChg>
      <pc:sldChg chg="addSp delSp modSp add mod">
        <pc:chgData name="Praveen K" userId="c82aea2e5423fcf6" providerId="LiveId" clId="{95EEA42B-6BC1-48B9-A686-38EA1E396BB3}" dt="2025-07-13T07:36:14.335" v="154" actId="21"/>
        <pc:sldMkLst>
          <pc:docMk/>
          <pc:sldMk cId="1284348459" sldId="316"/>
        </pc:sldMkLst>
        <pc:graphicFrameChg chg="add mod modGraphic">
          <ac:chgData name="Praveen K" userId="c82aea2e5423fcf6" providerId="LiveId" clId="{95EEA42B-6BC1-48B9-A686-38EA1E396BB3}" dt="2025-07-13T07:22:05.782" v="131" actId="1076"/>
          <ac:graphicFrameMkLst>
            <pc:docMk/>
            <pc:sldMk cId="1284348459" sldId="316"/>
            <ac:graphicFrameMk id="10" creationId="{22E2F4F1-441F-4638-F871-DFEDFC762EE8}"/>
          </ac:graphicFrameMkLst>
        </pc:graphicFrameChg>
        <pc:graphicFrameChg chg="add mod modGraphic">
          <ac:chgData name="Praveen K" userId="c82aea2e5423fcf6" providerId="LiveId" clId="{95EEA42B-6BC1-48B9-A686-38EA1E396BB3}" dt="2025-07-13T07:25:01.614" v="137" actId="14100"/>
          <ac:graphicFrameMkLst>
            <pc:docMk/>
            <pc:sldMk cId="1284348459" sldId="316"/>
            <ac:graphicFrameMk id="11" creationId="{3BC75F41-6357-23E1-FFE6-68C7F5CA6678}"/>
          </ac:graphicFrameMkLst>
        </pc:graphicFrameChg>
        <pc:graphicFrameChg chg="add del mod">
          <ac:chgData name="Praveen K" userId="c82aea2e5423fcf6" providerId="LiveId" clId="{95EEA42B-6BC1-48B9-A686-38EA1E396BB3}" dt="2025-07-13T07:36:14.335" v="154" actId="21"/>
          <ac:graphicFrameMkLst>
            <pc:docMk/>
            <pc:sldMk cId="1284348459" sldId="316"/>
            <ac:graphicFrameMk id="12" creationId="{22193D58-A329-4DA7-68CE-36D36D89050A}"/>
          </ac:graphicFrameMkLst>
        </pc:graphicFrameChg>
      </pc:sldChg>
      <pc:sldChg chg="addSp modSp add mod">
        <pc:chgData name="Praveen K" userId="c82aea2e5423fcf6" providerId="LiveId" clId="{95EEA42B-6BC1-48B9-A686-38EA1E396BB3}" dt="2025-07-13T07:13:11.428" v="124" actId="14100"/>
        <pc:sldMkLst>
          <pc:docMk/>
          <pc:sldMk cId="598752059" sldId="317"/>
        </pc:sldMkLst>
        <pc:picChg chg="add mod">
          <ac:chgData name="Praveen K" userId="c82aea2e5423fcf6" providerId="LiveId" clId="{95EEA42B-6BC1-48B9-A686-38EA1E396BB3}" dt="2025-07-13T07:02:29.604" v="105" actId="14100"/>
          <ac:picMkLst>
            <pc:docMk/>
            <pc:sldMk cId="598752059" sldId="317"/>
            <ac:picMk id="11" creationId="{E8E670B3-2EA0-CFDF-CCE6-80EB13C6A822}"/>
          </ac:picMkLst>
        </pc:picChg>
        <pc:picChg chg="add mod">
          <ac:chgData name="Praveen K" userId="c82aea2e5423fcf6" providerId="LiveId" clId="{95EEA42B-6BC1-48B9-A686-38EA1E396BB3}" dt="2025-07-13T07:13:11.428" v="124" actId="14100"/>
          <ac:picMkLst>
            <pc:docMk/>
            <pc:sldMk cId="598752059" sldId="317"/>
            <ac:picMk id="13" creationId="{69E735CB-2D39-8BFD-80A7-9E2CB847E072}"/>
          </ac:picMkLst>
        </pc:picChg>
      </pc:sldChg>
      <pc:sldChg chg="addSp modSp add mod">
        <pc:chgData name="Praveen K" userId="c82aea2e5423fcf6" providerId="LiveId" clId="{95EEA42B-6BC1-48B9-A686-38EA1E396BB3}" dt="2025-07-13T07:02:47.064" v="106" actId="14100"/>
        <pc:sldMkLst>
          <pc:docMk/>
          <pc:sldMk cId="1897366662" sldId="318"/>
        </pc:sldMkLst>
        <pc:picChg chg="add mod">
          <ac:chgData name="Praveen K" userId="c82aea2e5423fcf6" providerId="LiveId" clId="{95EEA42B-6BC1-48B9-A686-38EA1E396BB3}" dt="2025-07-13T06:56:37.792" v="88" actId="1076"/>
          <ac:picMkLst>
            <pc:docMk/>
            <pc:sldMk cId="1897366662" sldId="318"/>
            <ac:picMk id="10" creationId="{7B5AF747-3119-2605-1F35-164D4D2D6BB7}"/>
          </ac:picMkLst>
        </pc:picChg>
        <pc:picChg chg="add mod">
          <ac:chgData name="Praveen K" userId="c82aea2e5423fcf6" providerId="LiveId" clId="{95EEA42B-6BC1-48B9-A686-38EA1E396BB3}" dt="2025-07-13T07:02:47.064" v="106" actId="14100"/>
          <ac:picMkLst>
            <pc:docMk/>
            <pc:sldMk cId="1897366662" sldId="318"/>
            <ac:picMk id="11" creationId="{69107D98-5C35-83FC-9560-3335DEA77320}"/>
          </ac:picMkLst>
        </pc:picChg>
      </pc:sldChg>
      <pc:sldChg chg="addSp modSp add mod">
        <pc:chgData name="Praveen K" userId="c82aea2e5423fcf6" providerId="LiveId" clId="{95EEA42B-6BC1-48B9-A686-38EA1E396BB3}" dt="2025-07-13T07:35:43.274" v="153" actId="14100"/>
        <pc:sldMkLst>
          <pc:docMk/>
          <pc:sldMk cId="4036846086" sldId="319"/>
        </pc:sldMkLst>
        <pc:spChg chg="add mod">
          <ac:chgData name="Praveen K" userId="c82aea2e5423fcf6" providerId="LiveId" clId="{95EEA42B-6BC1-48B9-A686-38EA1E396BB3}" dt="2025-07-13T07:35:43.274" v="153" actId="14100"/>
          <ac:spMkLst>
            <pc:docMk/>
            <pc:sldMk cId="4036846086" sldId="319"/>
            <ac:spMk id="11" creationId="{F48266FE-AD9A-487D-EA9A-790A20560AC2}"/>
          </ac:spMkLst>
        </pc:spChg>
      </pc:sldChg>
      <pc:sldChg chg="addSp modSp add mod">
        <pc:chgData name="Praveen K" userId="c82aea2e5423fcf6" providerId="LiveId" clId="{95EEA42B-6BC1-48B9-A686-38EA1E396BB3}" dt="2025-07-13T07:39:42.581" v="160" actId="14100"/>
        <pc:sldMkLst>
          <pc:docMk/>
          <pc:sldMk cId="1043010034" sldId="320"/>
        </pc:sldMkLst>
        <pc:graphicFrameChg chg="add mod modGraphic">
          <ac:chgData name="Praveen K" userId="c82aea2e5423fcf6" providerId="LiveId" clId="{95EEA42B-6BC1-48B9-A686-38EA1E396BB3}" dt="2025-07-13T07:39:42.581" v="160" actId="14100"/>
          <ac:graphicFrameMkLst>
            <pc:docMk/>
            <pc:sldMk cId="1043010034" sldId="320"/>
            <ac:graphicFrameMk id="12" creationId="{22193D58-A329-4DA7-68CE-36D36D89050A}"/>
          </ac:graphicFrameMkLst>
        </pc:graphicFrameChg>
      </pc:sldChg>
      <pc:sldChg chg="addSp modSp add mod ord">
        <pc:chgData name="Praveen K" userId="c82aea2e5423fcf6" providerId="LiveId" clId="{95EEA42B-6BC1-48B9-A686-38EA1E396BB3}" dt="2025-07-13T07:12:07.430" v="119"/>
        <pc:sldMkLst>
          <pc:docMk/>
          <pc:sldMk cId="2405740053" sldId="321"/>
        </pc:sldMkLst>
        <pc:graphicFrameChg chg="add mod modGraphic">
          <ac:chgData name="Praveen K" userId="c82aea2e5423fcf6" providerId="LiveId" clId="{95EEA42B-6BC1-48B9-A686-38EA1E396BB3}" dt="2025-07-13T07:03:31.266" v="112" actId="14100"/>
          <ac:graphicFrameMkLst>
            <pc:docMk/>
            <pc:sldMk cId="2405740053" sldId="321"/>
            <ac:graphicFrameMk id="10" creationId="{80618F3C-A265-7DEC-CE49-2E8D5B1047D6}"/>
          </ac:graphicFrameMkLst>
        </pc:graphicFrameChg>
        <pc:graphicFrameChg chg="add mod modGraphic">
          <ac:chgData name="Praveen K" userId="c82aea2e5423fcf6" providerId="LiveId" clId="{95EEA42B-6BC1-48B9-A686-38EA1E396BB3}" dt="2025-07-13T07:11:53.698" v="117" actId="14100"/>
          <ac:graphicFrameMkLst>
            <pc:docMk/>
            <pc:sldMk cId="2405740053" sldId="321"/>
            <ac:graphicFrameMk id="11" creationId="{6EA89658-8CF7-019A-CA69-40227BF41CE4}"/>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Accuracy</a:t>
            </a:r>
            <a:r>
              <a:rPr lang="en-IN" baseline="0" dirty="0"/>
              <a:t>  </a:t>
            </a:r>
            <a:endParaRPr lang="en-IN"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tx>
            <c:strRef>
              <c:f>Sheet1!$B$1</c:f>
              <c:strCache>
                <c:ptCount val="1"/>
                <c:pt idx="0">
                  <c:v>LSTM</c:v>
                </c:pt>
              </c:strCache>
            </c:strRef>
          </c:tx>
          <c:spPr>
            <a:solidFill>
              <a:schemeClr val="accent1"/>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Sheet1!$B$2:$B$8</c:f>
              <c:numCache>
                <c:formatCode>General</c:formatCode>
                <c:ptCount val="7"/>
                <c:pt idx="0">
                  <c:v>0.90910000000000002</c:v>
                </c:pt>
                <c:pt idx="1">
                  <c:v>0.85709999999999997</c:v>
                </c:pt>
                <c:pt idx="2">
                  <c:v>0.76919999999999999</c:v>
                </c:pt>
                <c:pt idx="3">
                  <c:v>0.4</c:v>
                </c:pt>
                <c:pt idx="4">
                  <c:v>1</c:v>
                </c:pt>
                <c:pt idx="5">
                  <c:v>0.5</c:v>
                </c:pt>
                <c:pt idx="6">
                  <c:v>0.83330000000000004</c:v>
                </c:pt>
              </c:numCache>
            </c:numRef>
          </c:val>
          <c:extLst>
            <c:ext xmlns:c16="http://schemas.microsoft.com/office/drawing/2014/chart" uri="{C3380CC4-5D6E-409C-BE32-E72D297353CC}">
              <c16:uniqueId val="{00000000-9688-4E16-8596-41F39496E71A}"/>
            </c:ext>
          </c:extLst>
        </c:ser>
        <c:ser>
          <c:idx val="1"/>
          <c:order val="1"/>
          <c:tx>
            <c:strRef>
              <c:f>Sheet1!$C$1</c:f>
              <c:strCache>
                <c:ptCount val="1"/>
                <c:pt idx="0">
                  <c:v>BiLSTM</c:v>
                </c:pt>
              </c:strCache>
            </c:strRef>
          </c:tx>
          <c:spPr>
            <a:solidFill>
              <a:schemeClr val="accent2"/>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Sheet1!$C$2:$C$8</c:f>
              <c:numCache>
                <c:formatCode>General</c:formatCode>
                <c:ptCount val="7"/>
                <c:pt idx="0">
                  <c:v>0.98</c:v>
                </c:pt>
                <c:pt idx="1">
                  <c:v>0.49</c:v>
                </c:pt>
                <c:pt idx="2">
                  <c:v>0.74</c:v>
                </c:pt>
                <c:pt idx="3">
                  <c:v>1</c:v>
                </c:pt>
                <c:pt idx="4">
                  <c:v>1</c:v>
                </c:pt>
                <c:pt idx="5">
                  <c:v>0.92</c:v>
                </c:pt>
                <c:pt idx="6">
                  <c:v>0.97</c:v>
                </c:pt>
              </c:numCache>
            </c:numRef>
          </c:val>
          <c:extLst>
            <c:ext xmlns:c16="http://schemas.microsoft.com/office/drawing/2014/chart" uri="{C3380CC4-5D6E-409C-BE32-E72D297353CC}">
              <c16:uniqueId val="{00000001-9688-4E16-8596-41F39496E71A}"/>
            </c:ext>
          </c:extLst>
        </c:ser>
        <c:ser>
          <c:idx val="2"/>
          <c:order val="2"/>
          <c:tx>
            <c:strRef>
              <c:f>Sheet1!$D$1</c:f>
              <c:strCache>
                <c:ptCount val="1"/>
                <c:pt idx="0">
                  <c:v>GRS-BiLSTM</c:v>
                </c:pt>
              </c:strCache>
            </c:strRef>
          </c:tx>
          <c:spPr>
            <a:solidFill>
              <a:schemeClr val="accent3"/>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Sheet1!$D$2:$D$8</c:f>
              <c:numCache>
                <c:formatCode>General</c:formatCode>
                <c:ptCount val="7"/>
                <c:pt idx="0">
                  <c:v>1</c:v>
                </c:pt>
                <c:pt idx="1">
                  <c:v>0.73</c:v>
                </c:pt>
                <c:pt idx="2">
                  <c:v>0.82</c:v>
                </c:pt>
                <c:pt idx="3">
                  <c:v>0.98</c:v>
                </c:pt>
                <c:pt idx="4">
                  <c:v>1</c:v>
                </c:pt>
                <c:pt idx="5">
                  <c:v>0.98</c:v>
                </c:pt>
                <c:pt idx="6">
                  <c:v>1</c:v>
                </c:pt>
              </c:numCache>
            </c:numRef>
          </c:val>
          <c:extLst>
            <c:ext xmlns:c16="http://schemas.microsoft.com/office/drawing/2014/chart" uri="{C3380CC4-5D6E-409C-BE32-E72D297353CC}">
              <c16:uniqueId val="{00000002-9688-4E16-8596-41F39496E71A}"/>
            </c:ext>
          </c:extLst>
        </c:ser>
        <c:ser>
          <c:idx val="3"/>
          <c:order val="3"/>
          <c:tx>
            <c:strRef>
              <c:f>Sheet1!$E$1</c:f>
              <c:strCache>
                <c:ptCount val="1"/>
                <c:pt idx="0">
                  <c:v>MS-GRS-BiLSTM</c:v>
                </c:pt>
              </c:strCache>
            </c:strRef>
          </c:tx>
          <c:spPr>
            <a:solidFill>
              <a:schemeClr val="accent4"/>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Sheet1!$E$2:$E$8</c:f>
              <c:numCache>
                <c:formatCode>General</c:formatCode>
                <c:ptCount val="7"/>
                <c:pt idx="0">
                  <c:v>0.99770000000000003</c:v>
                </c:pt>
                <c:pt idx="1">
                  <c:v>0.94689999999999996</c:v>
                </c:pt>
                <c:pt idx="2">
                  <c:v>0.94669999999999999</c:v>
                </c:pt>
                <c:pt idx="3">
                  <c:v>1</c:v>
                </c:pt>
                <c:pt idx="4">
                  <c:v>0.99760000000000004</c:v>
                </c:pt>
                <c:pt idx="5">
                  <c:v>0.99770000000000003</c:v>
                </c:pt>
                <c:pt idx="6">
                  <c:v>0.99709999999999999</c:v>
                </c:pt>
              </c:numCache>
            </c:numRef>
          </c:val>
          <c:extLst>
            <c:ext xmlns:c16="http://schemas.microsoft.com/office/drawing/2014/chart" uri="{C3380CC4-5D6E-409C-BE32-E72D297353CC}">
              <c16:uniqueId val="{00000003-9688-4E16-8596-41F39496E71A}"/>
            </c:ext>
          </c:extLst>
        </c:ser>
        <c:dLbls>
          <c:showLegendKey val="0"/>
          <c:showVal val="0"/>
          <c:showCatName val="0"/>
          <c:showSerName val="0"/>
          <c:showPercent val="0"/>
          <c:showBubbleSize val="0"/>
        </c:dLbls>
        <c:gapWidth val="219"/>
        <c:overlap val="-27"/>
        <c:axId val="1584436463"/>
        <c:axId val="1584435023"/>
      </c:barChart>
      <c:catAx>
        <c:axId val="15844364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5023"/>
        <c:crosses val="autoZero"/>
        <c:auto val="1"/>
        <c:lblAlgn val="ctr"/>
        <c:lblOffset val="100"/>
        <c:noMultiLvlLbl val="0"/>
      </c:catAx>
      <c:valAx>
        <c:axId val="15844350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646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E9E2144-ABF7-FC5E-ED89-9A76B261493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DC961EEC-296A-B5E7-9043-E6B7E3A751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972EF-3B25-4F57-BDC1-D6C50E71D74B}" type="datetimeFigureOut">
              <a:rPr lang="en-IN" smtClean="0"/>
              <a:t>04-03-2026</a:t>
            </a:fld>
            <a:endParaRPr lang="en-IN"/>
          </a:p>
        </p:txBody>
      </p:sp>
      <p:sp>
        <p:nvSpPr>
          <p:cNvPr id="4" name="Footer Placeholder 3">
            <a:extLst>
              <a:ext uri="{FF2B5EF4-FFF2-40B4-BE49-F238E27FC236}">
                <a16:creationId xmlns:a16="http://schemas.microsoft.com/office/drawing/2014/main" id="{CA7F3424-F753-8583-02FA-CEFA0AC579C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9127C41D-6412-F492-0E38-018A8A5AAF7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F98A50-B566-49AB-A9EF-92D99604F2A9}" type="slidenum">
              <a:rPr lang="en-IN" smtClean="0"/>
              <a:t>‹#›</a:t>
            </a:fld>
            <a:endParaRPr lang="en-IN"/>
          </a:p>
        </p:txBody>
      </p:sp>
    </p:spTree>
    <p:extLst>
      <p:ext uri="{BB962C8B-B14F-4D97-AF65-F5344CB8AC3E}">
        <p14:creationId xmlns:p14="http://schemas.microsoft.com/office/powerpoint/2010/main" val="170722482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C22DC9A-63C2-A0FC-F295-FB0864F20AD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90FE900-524E-1562-ABCF-DD8BC14C4E7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18137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75854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6668E3C3-F301-BDD2-717D-7CCFF59E983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9D2CFAC4-64A9-5AF8-DFE7-A31F09FDB1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76F528CB-45D7-36B8-489C-92D90D3370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2407DC4-26B3-DFB8-1A18-B3350DB46C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1280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C3F06951-156F-B7B1-AF68-E271F5D957C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1608774B-6D7F-4C7F-C87B-BE5F87996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050F1DCE-8CE4-97A3-8C6A-BC96463BE9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68C5BD1B-7DBB-CA86-B042-AD511B2D728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130921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9F401-D131-745C-337E-FDDB921C3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0D24F-468A-975D-0D86-C21B7CCC999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EE6127C-46C2-FC24-8C21-46CE578772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1108ACE-2333-4A2F-C6B0-008E05AE063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11</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80634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3091-CE89-3831-E5BA-AE84DDBD2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146883-B267-E841-0AB2-3ADDD964B2D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DF6919F-2F4F-1B6A-9877-3B2E4DE122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C0E969-588D-F272-0F47-DC1BCDBD8AA4}"/>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14490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95A1A-2DC4-BA32-C2FC-A36B4B373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4346E-D2EF-8EEF-7CB8-1B08FE87315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531EEE7-379F-063D-0AC8-2851AE6F51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5F6AA7-EFD5-D0C8-B075-7BBE981733E1}"/>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8245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98524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9921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2E4AC-018C-21C2-5698-85E5A296E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BAEA8-3751-F72F-883D-B5952549602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954ECCC-A0A6-6D09-3D47-BB3E69D3B27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9764BE-6140-8137-37DB-983ED03C6FC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76033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05318-92D3-5EE2-F350-EC2F7EE08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191AF9-3637-27C5-7666-F687043EAF4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65BD15-19BA-4D6F-2DE7-E7813EAC62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7B8737-2C2B-1694-05CA-5E148141036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03883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A8333-3A89-C570-E010-979FC1E161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D288CF-2305-12CC-05EC-25C001DF044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AED489-7A38-4458-F47A-56334D8074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F01C55-E568-1B9B-6766-4A9474676BC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380890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20</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473734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102F-164E-DA18-394B-603D1929B1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8794C-70F5-E632-611F-827F7B42655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E6B2700-5E38-B87F-EF81-B2FD200E25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4AE2BA-A980-ABD7-5EEC-8D634DDBF08A}"/>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266360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88CB-86E9-ED10-5CB1-3099072BE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ACB368-B158-0087-4988-0464A1D171A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4395B94-4F98-C6E2-05ED-F46F2D8DCA6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490099-30B4-F68B-4BB0-8D8FB25CFD3F}"/>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69445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189404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613CB-29FD-EA0F-FF23-F72E2073B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E9C5-D95D-1A6A-713A-5F92948D3A6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F9E60D4-67C9-CED1-2FF0-AED33780E8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0C4400-9DD1-31A0-73BD-E4E33E44768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54272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1" name="Google Shape;22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D95F629D-73C0-FDFD-3F11-817A22DA0235}"/>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33</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8" name="Google Shape;22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F38560B1-027F-20B1-4A74-E7C804FD5AC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34</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a:extLst>
            <a:ext uri="{FF2B5EF4-FFF2-40B4-BE49-F238E27FC236}">
              <a16:creationId xmlns:a16="http://schemas.microsoft.com/office/drawing/2014/main" id="{DF0EBE14-23E7-552C-A113-21DC43E1C17D}"/>
            </a:ext>
          </a:extLst>
        </p:cNvPr>
        <p:cNvGrpSpPr/>
        <p:nvPr/>
      </p:nvGrpSpPr>
      <p:grpSpPr>
        <a:xfrm>
          <a:off x="0" y="0"/>
          <a:ext cx="0" cy="0"/>
          <a:chOff x="0" y="0"/>
          <a:chExt cx="0" cy="0"/>
        </a:xfrm>
      </p:grpSpPr>
      <p:sp>
        <p:nvSpPr>
          <p:cNvPr id="241" name="Google Shape;241;p17:notes">
            <a:extLst>
              <a:ext uri="{FF2B5EF4-FFF2-40B4-BE49-F238E27FC236}">
                <a16:creationId xmlns:a16="http://schemas.microsoft.com/office/drawing/2014/main" id="{B7FB23CD-DD2E-C6D4-74E5-7A704D7E1C2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2" name="Google Shape;242;p17:notes">
            <a:extLst>
              <a:ext uri="{FF2B5EF4-FFF2-40B4-BE49-F238E27FC236}">
                <a16:creationId xmlns:a16="http://schemas.microsoft.com/office/drawing/2014/main" id="{287A140C-CBD5-B146-AD32-DB13BA6FB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BCAC45A-1F4D-600F-13C3-6E029AEEFFD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35</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501658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7"/>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7"/>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8"/>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8"/>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8"/>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3.gif"/><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30.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37.png"/><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44.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pic>
        <p:nvPicPr>
          <p:cNvPr id="88" name="Google Shape;88;p13"/>
          <p:cNvPicPr preferRelativeResize="0"/>
          <p:nvPr/>
        </p:nvPicPr>
        <p:blipFill rotWithShape="1">
          <a:blip r:embed="rId3">
            <a:alphaModFix/>
          </a:blip>
          <a:srcRect/>
          <a:stretch/>
        </p:blipFill>
        <p:spPr>
          <a:xfrm>
            <a:off x="5367184" y="4234898"/>
            <a:ext cx="1530182" cy="1344991"/>
          </a:xfrm>
          <a:prstGeom prst="rect">
            <a:avLst/>
          </a:prstGeom>
          <a:noFill/>
          <a:ln>
            <a:noFill/>
          </a:ln>
        </p:spPr>
      </p:pic>
      <p:sp>
        <p:nvSpPr>
          <p:cNvPr id="89" name="Google Shape;89;p13"/>
          <p:cNvSpPr txBox="1">
            <a:spLocks noGrp="1"/>
          </p:cNvSpPr>
          <p:nvPr>
            <p:ph type="ctrTitle"/>
          </p:nvPr>
        </p:nvSpPr>
        <p:spPr>
          <a:xfrm>
            <a:off x="3575133" y="6007509"/>
            <a:ext cx="5149887" cy="737421"/>
          </a:xfrm>
          <a:prstGeom prst="rect">
            <a:avLst/>
          </a:prstGeom>
          <a:noFill/>
          <a:ln>
            <a:noFill/>
          </a:ln>
        </p:spPr>
        <p:txBody>
          <a:bodyPr spcFirstLastPara="1" wrap="square" lIns="91425" tIns="45700" rIns="91425" bIns="45700" anchor="b" anchorCtr="0">
            <a:normAutofit fontScale="90000"/>
          </a:bodyPr>
          <a:lstStyle/>
          <a:p>
            <a:pPr>
              <a:lnSpc>
                <a:spcPct val="120000"/>
              </a:lnSpc>
            </a:pPr>
            <a:br>
              <a:rPr lang="en-IN" sz="1600" dirty="0">
                <a:latin typeface="Times New Roman" panose="02020603050405020304" pitchFamily="18" charset="0"/>
                <a:cs typeface="Times New Roman" panose="02020603050405020304" pitchFamily="18" charset="0"/>
              </a:rPr>
            </a:br>
            <a:r>
              <a:rPr lang="en-IN" sz="1600" b="1" dirty="0">
                <a:solidFill>
                  <a:srgbClr val="00B050"/>
                </a:solidFill>
                <a:latin typeface="Times New Roman"/>
                <a:ea typeface="Times New Roman"/>
                <a:cs typeface="Times New Roman"/>
                <a:sym typeface="Times New Roman"/>
              </a:rPr>
              <a:t> </a:t>
            </a:r>
            <a:br>
              <a:rPr lang="en-IN" sz="1600" b="1" dirty="0">
                <a:solidFill>
                  <a:srgbClr val="00B050"/>
                </a:solidFill>
                <a:latin typeface="Times New Roman"/>
                <a:ea typeface="Times New Roman"/>
                <a:cs typeface="Times New Roman"/>
                <a:sym typeface="Times New Roman"/>
              </a:rPr>
            </a:br>
            <a:br>
              <a:rPr lang="en-IN" sz="1600" dirty="0">
                <a:solidFill>
                  <a:srgbClr val="FF000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00B0F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FF0000"/>
                </a:solidFill>
              </a:rPr>
            </a:br>
            <a:br>
              <a:rPr lang="en-IN" dirty="0"/>
            </a:br>
            <a:r>
              <a:rPr lang="en-IN" dirty="0"/>
              <a:t> </a:t>
            </a:r>
            <a:endParaRPr dirty="0"/>
          </a:p>
        </p:txBody>
      </p:sp>
      <p:sp>
        <p:nvSpPr>
          <p:cNvPr id="90" name="Google Shape;90;p13"/>
          <p:cNvSpPr txBox="1">
            <a:spLocks noGrp="1"/>
          </p:cNvSpPr>
          <p:nvPr>
            <p:ph type="subTitle" idx="1"/>
          </p:nvPr>
        </p:nvSpPr>
        <p:spPr>
          <a:xfrm>
            <a:off x="3303639" y="5771535"/>
            <a:ext cx="1248696" cy="471949"/>
          </a:xfrm>
          <a:prstGeom prst="rect">
            <a:avLst/>
          </a:prstGeom>
          <a:noFill/>
          <a:ln>
            <a:noFill/>
          </a:ln>
        </p:spPr>
        <p:txBody>
          <a:bodyPr spcFirstLastPara="1" wrap="square" lIns="91425" tIns="45700" rIns="91425" bIns="45700" anchor="t" anchorCtr="0">
            <a:normAutofit fontScale="25000" lnSpcReduction="20000"/>
          </a:bodyPr>
          <a:lstStyle/>
          <a:p>
            <a:pPr marL="0" lvl="0" indent="0" rtl="0">
              <a:lnSpc>
                <a:spcPct val="90000"/>
              </a:lnSpc>
              <a:spcBef>
                <a:spcPts val="1000"/>
              </a:spcBef>
              <a:spcAft>
                <a:spcPts val="0"/>
              </a:spcAft>
              <a:buClr>
                <a:schemeClr val="dk1"/>
              </a:buClr>
              <a:buSzPct val="100000"/>
              <a:buNone/>
            </a:pPr>
            <a:endParaRPr sz="8600" b="1" dirty="0"/>
          </a:p>
          <a:p>
            <a:pPr marL="0" lvl="0" indent="0" rtl="0">
              <a:lnSpc>
                <a:spcPct val="90000"/>
              </a:lnSpc>
              <a:spcBef>
                <a:spcPts val="1000"/>
              </a:spcBef>
              <a:spcAft>
                <a:spcPts val="0"/>
              </a:spcAft>
              <a:buClr>
                <a:schemeClr val="dk1"/>
              </a:buClr>
              <a:buSzPct val="100000"/>
              <a:buNone/>
            </a:pPr>
            <a:r>
              <a:rPr lang="en-IN" sz="8600" b="1" dirty="0"/>
              <a:t> </a:t>
            </a:r>
            <a:endParaRPr dirty="0"/>
          </a:p>
          <a:p>
            <a:pPr marL="0" lvl="0" indent="0" rtl="0">
              <a:lnSpc>
                <a:spcPct val="90000"/>
              </a:lnSpc>
              <a:spcBef>
                <a:spcPts val="1000"/>
              </a:spcBef>
              <a:spcAft>
                <a:spcPts val="0"/>
              </a:spcAft>
              <a:buClr>
                <a:schemeClr val="dk1"/>
              </a:buClr>
              <a:buSzPct val="100000"/>
              <a:buNone/>
            </a:pPr>
            <a:endParaRPr b="1" dirty="0"/>
          </a:p>
          <a:p>
            <a:pPr marL="0" lvl="0" indent="0" rtl="0">
              <a:lnSpc>
                <a:spcPct val="90000"/>
              </a:lnSpc>
              <a:spcBef>
                <a:spcPts val="1000"/>
              </a:spcBef>
              <a:spcAft>
                <a:spcPts val="0"/>
              </a:spcAft>
              <a:buClr>
                <a:schemeClr val="dk1"/>
              </a:buClr>
              <a:buSzPct val="100000"/>
              <a:buNone/>
            </a:pPr>
            <a:endParaRPr dirty="0"/>
          </a:p>
          <a:p>
            <a:pPr marL="0" lvl="0" indent="0" rtl="0">
              <a:lnSpc>
                <a:spcPct val="90000"/>
              </a:lnSpc>
              <a:spcBef>
                <a:spcPts val="1000"/>
              </a:spcBef>
              <a:spcAft>
                <a:spcPts val="0"/>
              </a:spcAft>
              <a:buClr>
                <a:schemeClr val="dk1"/>
              </a:buClr>
              <a:buSzPct val="100000"/>
              <a:buNone/>
            </a:pPr>
            <a:endParaRPr dirty="0"/>
          </a:p>
        </p:txBody>
      </p:sp>
      <p:sp>
        <p:nvSpPr>
          <p:cNvPr id="4" name="TextBox 3">
            <a:extLst>
              <a:ext uri="{FF2B5EF4-FFF2-40B4-BE49-F238E27FC236}">
                <a16:creationId xmlns:a16="http://schemas.microsoft.com/office/drawing/2014/main" id="{14CCED5C-C3A4-0155-4AA2-FC7361DDB4AE}"/>
              </a:ext>
            </a:extLst>
          </p:cNvPr>
          <p:cNvSpPr txBox="1"/>
          <p:nvPr/>
        </p:nvSpPr>
        <p:spPr>
          <a:xfrm>
            <a:off x="4393292" y="208178"/>
            <a:ext cx="3405416" cy="646331"/>
          </a:xfrm>
          <a:prstGeom prst="rect">
            <a:avLst/>
          </a:prstGeom>
          <a:noFill/>
        </p:spPr>
        <p:txBody>
          <a:bodyPr wrap="square" rtlCol="0">
            <a:spAutoFit/>
          </a:bodyPr>
          <a:lstStyle/>
          <a:p>
            <a:pPr algn="ctr"/>
            <a:r>
              <a:rPr lang="en-US" sz="1800" b="1" dirty="0" err="1">
                <a:latin typeface="Times New Roman" panose="02020603050405020304" pitchFamily="18" charset="0"/>
                <a:cs typeface="Times New Roman" panose="02020603050405020304" pitchFamily="18" charset="0"/>
              </a:rPr>
              <a:t>M.Tech</a:t>
            </a:r>
            <a:r>
              <a:rPr lang="en-US" sz="1800" b="1" dirty="0">
                <a:latin typeface="Times New Roman" panose="02020603050405020304" pitchFamily="18" charset="0"/>
                <a:cs typeface="Times New Roman" panose="02020603050405020304" pitchFamily="18" charset="0"/>
              </a:rPr>
              <a:t> Project Review</a:t>
            </a:r>
          </a:p>
          <a:p>
            <a:pPr algn="ctr"/>
            <a:r>
              <a:rPr lang="en-US" sz="1800" b="1" i="1" dirty="0">
                <a:latin typeface="Times New Roman" panose="02020603050405020304" pitchFamily="18" charset="0"/>
                <a:cs typeface="Times New Roman" panose="02020603050405020304" pitchFamily="18" charset="0"/>
              </a:rPr>
              <a:t>on</a:t>
            </a:r>
            <a:endParaRPr lang="en-IN" sz="1800" b="1" i="1" dirty="0">
              <a:latin typeface="Times New Roman" panose="02020603050405020304" pitchFamily="18" charset="0"/>
              <a:cs typeface="Times New Roman" panose="02020603050405020304" pitchFamily="18" charset="0"/>
            </a:endParaRPr>
          </a:p>
        </p:txBody>
      </p:sp>
      <p:sp>
        <p:nvSpPr>
          <p:cNvPr id="5" name="Rectangle: Rounded Corners 4">
            <a:extLst>
              <a:ext uri="{FF2B5EF4-FFF2-40B4-BE49-F238E27FC236}">
                <a16:creationId xmlns:a16="http://schemas.microsoft.com/office/drawing/2014/main" id="{5A6C846C-173E-F9E2-24CD-A70C10ABCE4F}"/>
              </a:ext>
            </a:extLst>
          </p:cNvPr>
          <p:cNvSpPr/>
          <p:nvPr/>
        </p:nvSpPr>
        <p:spPr>
          <a:xfrm>
            <a:off x="1216585" y="985318"/>
            <a:ext cx="9655278" cy="930277"/>
          </a:xfrm>
          <a:prstGeom prst="roundRect">
            <a:avLst/>
          </a:prstGeom>
          <a:solidFill>
            <a:schemeClr val="bg1"/>
          </a:solidFill>
          <a:ln>
            <a:solidFill>
              <a:srgbClr val="00B0F0"/>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en-IN"/>
          </a:p>
        </p:txBody>
      </p:sp>
      <p:sp>
        <p:nvSpPr>
          <p:cNvPr id="6" name="TextBox 5">
            <a:extLst>
              <a:ext uri="{FF2B5EF4-FFF2-40B4-BE49-F238E27FC236}">
                <a16:creationId xmlns:a16="http://schemas.microsoft.com/office/drawing/2014/main" id="{BE7F41A4-A27E-9F5D-9B84-D85494C4C715}"/>
              </a:ext>
            </a:extLst>
          </p:cNvPr>
          <p:cNvSpPr txBox="1"/>
          <p:nvPr/>
        </p:nvSpPr>
        <p:spPr>
          <a:xfrm>
            <a:off x="1410487" y="961488"/>
            <a:ext cx="9479177" cy="954107"/>
          </a:xfrm>
          <a:prstGeom prst="rect">
            <a:avLst/>
          </a:prstGeom>
          <a:noFill/>
        </p:spPr>
        <p:txBody>
          <a:bodyPr wrap="square" rtlCol="0">
            <a:spAutoFit/>
          </a:bodyPr>
          <a:lstStyle/>
          <a:p>
            <a:pPr algn="ctr"/>
            <a:r>
              <a:rPr lang="en-IN" sz="2800" b="1" dirty="0">
                <a:solidFill>
                  <a:srgbClr val="1552DB"/>
                </a:solidFill>
                <a:latin typeface="Times New Roman"/>
                <a:ea typeface="Times New Roman"/>
                <a:cs typeface="Times New Roman"/>
                <a:sym typeface="Times New Roman"/>
              </a:rPr>
              <a:t>Deep Learning Model based Human Activity Recognition using Kinect Sensor Data</a:t>
            </a:r>
            <a:endParaRPr lang="en-IN" sz="2800" dirty="0">
              <a:solidFill>
                <a:srgbClr val="1552DB"/>
              </a:solidFill>
            </a:endParaRPr>
          </a:p>
        </p:txBody>
      </p:sp>
      <p:sp>
        <p:nvSpPr>
          <p:cNvPr id="8" name="TextBox 7">
            <a:extLst>
              <a:ext uri="{FF2B5EF4-FFF2-40B4-BE49-F238E27FC236}">
                <a16:creationId xmlns:a16="http://schemas.microsoft.com/office/drawing/2014/main" id="{ADC004A5-0AFF-DC86-9DBD-29950DA922B5}"/>
              </a:ext>
            </a:extLst>
          </p:cNvPr>
          <p:cNvSpPr txBox="1"/>
          <p:nvPr/>
        </p:nvSpPr>
        <p:spPr>
          <a:xfrm>
            <a:off x="3303639" y="2936013"/>
            <a:ext cx="5657275" cy="1168077"/>
          </a:xfrm>
          <a:prstGeom prst="rect">
            <a:avLst/>
          </a:prstGeom>
          <a:noFill/>
        </p:spPr>
        <p:txBody>
          <a:bodyPr wrap="square">
            <a:spAutoFit/>
          </a:bodyPr>
          <a:lstStyle/>
          <a:p>
            <a:pPr marL="0" indent="0" algn="ctr">
              <a:lnSpc>
                <a:spcPct val="120000"/>
              </a:lnSpc>
              <a:spcBef>
                <a:spcPts val="600"/>
              </a:spcBef>
              <a:buNone/>
            </a:pPr>
            <a:r>
              <a:rPr lang="en-IN" sz="2000" dirty="0">
                <a:solidFill>
                  <a:srgbClr val="0000FF"/>
                </a:solidFill>
                <a:latin typeface="Times New Roman" panose="02020603050405020304" pitchFamily="18" charset="0"/>
                <a:cs typeface="Times New Roman" panose="02020603050405020304" pitchFamily="18" charset="0"/>
              </a:rPr>
              <a:t>Supervisor</a:t>
            </a:r>
          </a:p>
          <a:p>
            <a:pPr algn="ctr">
              <a:lnSpc>
                <a:spcPct val="120000"/>
              </a:lnSpc>
            </a:pPr>
            <a:r>
              <a:rPr lang="en-IN" sz="2000" dirty="0">
                <a:latin typeface="Times New Roman" panose="02020603050405020304" pitchFamily="18" charset="0"/>
                <a:cs typeface="Times New Roman" panose="02020603050405020304" pitchFamily="18" charset="0"/>
              </a:rPr>
              <a:t>    </a:t>
            </a:r>
            <a:r>
              <a:rPr lang="en-IN" sz="2000" b="1" dirty="0" err="1">
                <a:solidFill>
                  <a:srgbClr val="FF0066"/>
                </a:solidFill>
                <a:latin typeface="Times New Roman" panose="02020603050405020304" pitchFamily="18" charset="0"/>
                <a:ea typeface="Times New Roman"/>
                <a:cs typeface="Times New Roman" panose="02020603050405020304" pitchFamily="18" charset="0"/>
                <a:sym typeface="Times New Roman"/>
              </a:rPr>
              <a:t>Dr.</a:t>
            </a:r>
            <a:r>
              <a:rPr lang="en-IN" sz="2000" b="1" dirty="0">
                <a:solidFill>
                  <a:srgbClr val="FF0066"/>
                </a:solidFill>
                <a:latin typeface="Times New Roman" panose="02020603050405020304" pitchFamily="18" charset="0"/>
                <a:ea typeface="Times New Roman"/>
                <a:cs typeface="Times New Roman" panose="02020603050405020304" pitchFamily="18" charset="0"/>
                <a:sym typeface="Times New Roman"/>
              </a:rPr>
              <a:t> Ravi Kumar Mandava</a:t>
            </a:r>
            <a:endParaRPr lang="en-IN" sz="2000" dirty="0">
              <a:latin typeface="Times New Roman" panose="02020603050405020304" pitchFamily="18" charset="0"/>
              <a:cs typeface="Times New Roman" panose="02020603050405020304" pitchFamily="18" charset="0"/>
            </a:endParaRPr>
          </a:p>
          <a:p>
            <a:pPr algn="ctr">
              <a:lnSpc>
                <a:spcPct val="120000"/>
              </a:lnSpc>
            </a:pPr>
            <a:r>
              <a:rPr lang="en-IN" sz="2000" dirty="0">
                <a:latin typeface="Times New Roman" panose="02020603050405020304" pitchFamily="18" charset="0"/>
                <a:cs typeface="Times New Roman" panose="02020603050405020304" pitchFamily="18" charset="0"/>
              </a:rPr>
              <a:t>  Asst. Professor</a:t>
            </a:r>
          </a:p>
        </p:txBody>
      </p:sp>
      <p:sp>
        <p:nvSpPr>
          <p:cNvPr id="3" name="TextBox 2">
            <a:extLst>
              <a:ext uri="{FF2B5EF4-FFF2-40B4-BE49-F238E27FC236}">
                <a16:creationId xmlns:a16="http://schemas.microsoft.com/office/drawing/2014/main" id="{CDFC0554-60DA-232A-46D9-E2E7BF056493}"/>
              </a:ext>
            </a:extLst>
          </p:cNvPr>
          <p:cNvSpPr txBox="1"/>
          <p:nvPr/>
        </p:nvSpPr>
        <p:spPr>
          <a:xfrm>
            <a:off x="3004445" y="1981000"/>
            <a:ext cx="6255657" cy="1015663"/>
          </a:xfrm>
          <a:prstGeom prst="rect">
            <a:avLst/>
          </a:prstGeom>
          <a:noFill/>
        </p:spPr>
        <p:txBody>
          <a:bodyPr wrap="square">
            <a:spAutoFit/>
          </a:bodyPr>
          <a:lstStyle/>
          <a:p>
            <a:pPr algn="ctr"/>
            <a:r>
              <a:rPr lang="en-IN" sz="2000" i="1" dirty="0">
                <a:latin typeface="Times New Roman" panose="02020603050405020304" pitchFamily="18" charset="0"/>
                <a:cs typeface="Times New Roman" panose="02020603050405020304" pitchFamily="18" charset="0"/>
              </a:rPr>
              <a:t>by</a:t>
            </a:r>
            <a:br>
              <a:rPr lang="en-IN" sz="2000" dirty="0">
                <a:latin typeface="Times New Roman" panose="02020603050405020304" pitchFamily="18" charset="0"/>
                <a:cs typeface="Times New Roman" panose="02020603050405020304" pitchFamily="18" charset="0"/>
              </a:rPr>
            </a:br>
            <a:r>
              <a:rPr lang="en-IN" sz="2000" b="1" dirty="0">
                <a:solidFill>
                  <a:srgbClr val="C00000"/>
                </a:solidFill>
                <a:latin typeface="Times New Roman"/>
                <a:ea typeface="Times New Roman"/>
                <a:cs typeface="Times New Roman"/>
                <a:sym typeface="Times New Roman"/>
              </a:rPr>
              <a:t>Rishit Maurya </a:t>
            </a:r>
            <a:r>
              <a:rPr lang="en-IN" sz="2000" b="1" dirty="0">
                <a:solidFill>
                  <a:srgbClr val="C00000"/>
                </a:solidFill>
                <a:latin typeface="Times New Roman" panose="02020603050405020304" pitchFamily="18" charset="0"/>
                <a:cs typeface="Times New Roman" panose="02020603050405020304" pitchFamily="18" charset="0"/>
              </a:rPr>
              <a:t>(224ME1001)</a:t>
            </a:r>
            <a:br>
              <a:rPr lang="en-IN" sz="2000" dirty="0">
                <a:latin typeface="Times New Roman" panose="02020603050405020304" pitchFamily="18" charset="0"/>
                <a:cs typeface="Times New Roman" panose="02020603050405020304" pitchFamily="18" charset="0"/>
              </a:rPr>
            </a:br>
            <a:endParaRPr lang="en-IN" sz="2000" dirty="0"/>
          </a:p>
        </p:txBody>
      </p:sp>
      <p:sp>
        <p:nvSpPr>
          <p:cNvPr id="9" name="TextBox 8">
            <a:extLst>
              <a:ext uri="{FF2B5EF4-FFF2-40B4-BE49-F238E27FC236}">
                <a16:creationId xmlns:a16="http://schemas.microsoft.com/office/drawing/2014/main" id="{6F767398-3D18-E3C5-1F6F-AD21BA9C23E5}"/>
              </a:ext>
            </a:extLst>
          </p:cNvPr>
          <p:cNvSpPr txBox="1"/>
          <p:nvPr/>
        </p:nvSpPr>
        <p:spPr>
          <a:xfrm>
            <a:off x="3127828" y="5710698"/>
            <a:ext cx="6096000" cy="707886"/>
          </a:xfrm>
          <a:prstGeom prst="rect">
            <a:avLst/>
          </a:prstGeom>
          <a:noFill/>
        </p:spPr>
        <p:txBody>
          <a:bodyPr wrap="square">
            <a:spAutoFit/>
          </a:bodyPr>
          <a:lstStyle/>
          <a:p>
            <a:pPr algn="ctr"/>
            <a:r>
              <a:rPr lang="en-IN" sz="2000" dirty="0">
                <a:latin typeface="Times New Roman" panose="02020603050405020304" pitchFamily="18" charset="0"/>
                <a:cs typeface="Times New Roman" panose="02020603050405020304" pitchFamily="18" charset="0"/>
              </a:rPr>
              <a:t>Department of Mechanical Engineering</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IIITDM Kurnool</a:t>
            </a:r>
            <a:endParaRPr lang="en-I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6" name="Google Shape;96;p14"/>
          <p:cNvSpPr txBox="1">
            <a:spLocks noGrp="1"/>
          </p:cNvSpPr>
          <p:nvPr>
            <p:ph type="subTitle" idx="1"/>
          </p:nvPr>
        </p:nvSpPr>
        <p:spPr>
          <a:xfrm>
            <a:off x="1028393" y="951470"/>
            <a:ext cx="9777259" cy="5449330"/>
          </a:xfrm>
          <a:prstGeom prst="rect">
            <a:avLst/>
          </a:prstGeom>
          <a:noFill/>
          <a:ln>
            <a:noFill/>
          </a:ln>
        </p:spPr>
        <p:txBody>
          <a:bodyPr spcFirstLastPara="1" wrap="square" lIns="91425" tIns="45700" rIns="91425" bIns="45700" anchor="t" anchorCtr="0">
            <a:normAutofit fontScale="32500" lnSpcReduction="20000"/>
          </a:bodyPr>
          <a:lstStyle/>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Introduction </a:t>
            </a:r>
          </a:p>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Applications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Literature Review</a:t>
            </a:r>
          </a:p>
          <a:p>
            <a:pPr marL="34290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Research Gaps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Objectives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Work done so far</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Dataset Collection</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Deep Learning Models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Results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References</a:t>
            </a:r>
          </a:p>
          <a:p>
            <a:pPr marL="342900" lvl="0" indent="-342900" algn="just" rtl="0">
              <a:lnSpc>
                <a:spcPct val="160000"/>
              </a:lnSpc>
              <a:spcBef>
                <a:spcPts val="1000"/>
              </a:spcBef>
              <a:spcAft>
                <a:spcPts val="0"/>
              </a:spcAft>
              <a:buClr>
                <a:schemeClr val="dk1"/>
              </a:buClr>
              <a:buSzPts val="2400"/>
              <a:buFont typeface="Noto Sans Symbols"/>
              <a:buChar char="⮚"/>
            </a:pPr>
            <a:endParaRPr lang="en-US"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0" lvl="0" indent="0" algn="just" rtl="0">
              <a:lnSpc>
                <a:spcPct val="160000"/>
              </a:lnSpc>
              <a:spcBef>
                <a:spcPts val="1000"/>
              </a:spcBef>
              <a:spcAft>
                <a:spcPts val="0"/>
              </a:spcAft>
              <a:buClr>
                <a:schemeClr val="dk1"/>
              </a:buClr>
              <a:buSzPts val="2400"/>
            </a:pPr>
            <a:endParaRPr lang="en-IN" sz="2200" dirty="0">
              <a:latin typeface="Times New Roman" panose="02020603050405020304" pitchFamily="18" charset="0"/>
              <a:cs typeface="Times New Roman" panose="02020603050405020304" pitchFamily="18" charset="0"/>
            </a:endParaRPr>
          </a:p>
          <a:p>
            <a:pPr marL="0" lvl="0" indent="0" algn="ctr" rtl="0">
              <a:lnSpc>
                <a:spcPct val="90000"/>
              </a:lnSpc>
              <a:spcBef>
                <a:spcPts val="1000"/>
              </a:spcBef>
              <a:spcAft>
                <a:spcPts val="0"/>
              </a:spcAft>
              <a:buClr>
                <a:schemeClr val="dk1"/>
              </a:buClr>
              <a:buSzPts val="2400"/>
              <a:buNone/>
            </a:pPr>
            <a:endParaRPr dirty="0"/>
          </a:p>
        </p:txBody>
      </p:sp>
      <p:pic>
        <p:nvPicPr>
          <p:cNvPr id="97" name="Google Shape;97;p14"/>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6" name="Rectangle: Rounded Corners 5">
            <a:extLst>
              <a:ext uri="{FF2B5EF4-FFF2-40B4-BE49-F238E27FC236}">
                <a16:creationId xmlns:a16="http://schemas.microsoft.com/office/drawing/2014/main" id="{1E256D97-30D6-7F20-C9ED-6FD17A1AAD18}"/>
              </a:ext>
            </a:extLst>
          </p:cNvPr>
          <p:cNvSpPr/>
          <p:nvPr/>
        </p:nvSpPr>
        <p:spPr>
          <a:xfrm>
            <a:off x="992459" y="188267"/>
            <a:ext cx="9360910" cy="639097"/>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Contents</a:t>
            </a:r>
            <a:endParaRPr lang="en-IN" sz="2800" b="1" dirty="0">
              <a:solidFill>
                <a:srgbClr val="00206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E5189E0D-6448-1C2E-0EEB-19FD96C81A1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Introduction about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455BCA3-D4C5-E9B1-7B4B-4203C0399228}"/>
              </a:ext>
            </a:extLst>
          </p:cNvPr>
          <p:cNvSpPr txBox="1"/>
          <p:nvPr/>
        </p:nvSpPr>
        <p:spPr>
          <a:xfrm>
            <a:off x="155742" y="1036037"/>
            <a:ext cx="7735655" cy="4462760"/>
          </a:xfrm>
          <a:prstGeom prst="rect">
            <a:avLst/>
          </a:prstGeom>
          <a:noFill/>
        </p:spPr>
        <p:txBody>
          <a:bodyPr wrap="square" rtlCol="0">
            <a:spAutoFit/>
          </a:bodyPr>
          <a:lstStyle/>
          <a:p>
            <a:pPr marL="285750" indent="-285750" algn="just">
              <a:spcBef>
                <a:spcPts val="600"/>
              </a:spcBef>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Human Activity Recognition (HAR)</a:t>
            </a:r>
            <a:r>
              <a:rPr lang="en-US" sz="2000" dirty="0">
                <a:latin typeface="Times New Roman" panose="02020603050405020304" pitchFamily="18" charset="0"/>
                <a:cs typeface="Times New Roman" panose="02020603050405020304" pitchFamily="18" charset="0"/>
              </a:rPr>
              <a:t> refers to automatically identifying and classifying human actions from sensor or motion data.</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HAR analyzes </a:t>
            </a:r>
            <a:r>
              <a:rPr lang="en-US" altLang="en-US" sz="2000" b="1" dirty="0">
                <a:solidFill>
                  <a:schemeClr val="tx1"/>
                </a:solidFill>
                <a:latin typeface="Times New Roman" panose="02020603050405020304" pitchFamily="18" charset="0"/>
                <a:cs typeface="Times New Roman" panose="02020603050405020304" pitchFamily="18" charset="0"/>
              </a:rPr>
              <a:t>body movement patterns</a:t>
            </a:r>
            <a:r>
              <a:rPr lang="en-US" altLang="en-US" sz="2000" dirty="0">
                <a:solidFill>
                  <a:schemeClr val="tx1"/>
                </a:solidFill>
                <a:latin typeface="Times New Roman" panose="02020603050405020304" pitchFamily="18" charset="0"/>
                <a:cs typeface="Times New Roman" panose="02020603050405020304" pitchFamily="18" charset="0"/>
              </a:rPr>
              <a:t> to identify activities like walking, sitting, standing, and climbing stairs.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Accurate HAR supports </a:t>
            </a:r>
            <a:r>
              <a:rPr lang="en-US" altLang="en-US" sz="2000" b="1" dirty="0">
                <a:solidFill>
                  <a:schemeClr val="tx1"/>
                </a:solidFill>
                <a:latin typeface="Times New Roman" panose="02020603050405020304" pitchFamily="18" charset="0"/>
                <a:cs typeface="Times New Roman" panose="02020603050405020304" pitchFamily="18" charset="0"/>
              </a:rPr>
              <a:t>abnormal behavior detection</a:t>
            </a:r>
            <a:r>
              <a:rPr lang="en-US" altLang="en-US" sz="2000" dirty="0">
                <a:solidFill>
                  <a:schemeClr val="tx1"/>
                </a:solidFill>
                <a:latin typeface="Times New Roman" panose="02020603050405020304" pitchFamily="18" charset="0"/>
                <a:cs typeface="Times New Roman" panose="02020603050405020304" pitchFamily="18" charset="0"/>
              </a:rPr>
              <a:t>, recovery monitoring, and safety for independent living.</a:t>
            </a:r>
          </a:p>
          <a:p>
            <a:pPr lvl="0" eaLnBrk="0" fontAlgn="base" hangingPunct="0">
              <a:spcBef>
                <a:spcPts val="600"/>
              </a:spcBef>
              <a:spcAft>
                <a:spcPct val="0"/>
              </a:spcAft>
              <a:buClrTx/>
            </a:pPr>
            <a:endParaRPr lang="en-US" sz="2000" dirty="0">
              <a:latin typeface="Times New Roman" panose="02020603050405020304" pitchFamily="18" charset="0"/>
              <a:cs typeface="Times New Roman" panose="02020603050405020304" pitchFamily="18" charset="0"/>
            </a:endParaRPr>
          </a:p>
          <a:p>
            <a:pPr algn="just">
              <a:spcBef>
                <a:spcPts val="600"/>
              </a:spcBef>
            </a:pPr>
            <a:r>
              <a:rPr lang="en-US" sz="2400" b="1" dirty="0">
                <a:latin typeface="Times New Roman" panose="02020603050405020304" pitchFamily="18" charset="0"/>
                <a:cs typeface="Times New Roman" panose="02020603050405020304" pitchFamily="18" charset="0"/>
              </a:rPr>
              <a:t>Why HAR is needed ?</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Monitor patient movements for rehabilitation and recovery progress.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Enhance surveillance systems with automatic threat detection.</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Enable robots to understand and respond to human actions.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Improve interaction, navigation, and task coordination with humans.</a:t>
            </a:r>
          </a:p>
        </p:txBody>
      </p:sp>
      <p:pic>
        <p:nvPicPr>
          <p:cNvPr id="4" name="Google Shape;97;p14">
            <a:extLst>
              <a:ext uri="{FF2B5EF4-FFF2-40B4-BE49-F238E27FC236}">
                <a16:creationId xmlns:a16="http://schemas.microsoft.com/office/drawing/2014/main" id="{0391E1C4-F12F-8680-787F-98050260B6A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7" name="Picture 6">
            <a:extLst>
              <a:ext uri="{FF2B5EF4-FFF2-40B4-BE49-F238E27FC236}">
                <a16:creationId xmlns:a16="http://schemas.microsoft.com/office/drawing/2014/main" id="{752CE074-1755-9FDE-138A-5393748214F1}"/>
              </a:ext>
            </a:extLst>
          </p:cNvPr>
          <p:cNvPicPr>
            <a:picLocks noChangeAspect="1"/>
          </p:cNvPicPr>
          <p:nvPr/>
        </p:nvPicPr>
        <p:blipFill>
          <a:blip r:embed="rId4"/>
          <a:stretch>
            <a:fillRect/>
          </a:stretch>
        </p:blipFill>
        <p:spPr>
          <a:xfrm>
            <a:off x="8240732" y="1272329"/>
            <a:ext cx="3838536" cy="4611189"/>
          </a:xfrm>
          <a:prstGeom prst="rect">
            <a:avLst/>
          </a:prstGeom>
        </p:spPr>
      </p:pic>
      <p:sp>
        <p:nvSpPr>
          <p:cNvPr id="10" name="TextBox 9">
            <a:extLst>
              <a:ext uri="{FF2B5EF4-FFF2-40B4-BE49-F238E27FC236}">
                <a16:creationId xmlns:a16="http://schemas.microsoft.com/office/drawing/2014/main" id="{5DFFBF59-730E-AFAB-555F-05D1E2739DC5}"/>
              </a:ext>
            </a:extLst>
          </p:cNvPr>
          <p:cNvSpPr txBox="1"/>
          <p:nvPr/>
        </p:nvSpPr>
        <p:spPr>
          <a:xfrm>
            <a:off x="9638110" y="5883518"/>
            <a:ext cx="1374938"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 HAR</a:t>
            </a:r>
          </a:p>
        </p:txBody>
      </p:sp>
      <p:sp>
        <p:nvSpPr>
          <p:cNvPr id="11" name="Slide Number Placeholder 10">
            <a:extLst>
              <a:ext uri="{FF2B5EF4-FFF2-40B4-BE49-F238E27FC236}">
                <a16:creationId xmlns:a16="http://schemas.microsoft.com/office/drawing/2014/main" id="{52FF38F4-6496-AF2D-9152-F4962A1C605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a:t>
            </a:fld>
            <a:endParaRPr lang="en-IN"/>
          </a:p>
        </p:txBody>
      </p:sp>
    </p:spTree>
    <p:extLst>
      <p:ext uri="{BB962C8B-B14F-4D97-AF65-F5344CB8AC3E}">
        <p14:creationId xmlns:p14="http://schemas.microsoft.com/office/powerpoint/2010/main" val="2988259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731A98E9-AD47-0CE4-C7B9-7E54BFB61AA4}"/>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Applications of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17A7E052-D967-5F19-4597-CD676186DF8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6" name="Picture 5">
            <a:extLst>
              <a:ext uri="{FF2B5EF4-FFF2-40B4-BE49-F238E27FC236}">
                <a16:creationId xmlns:a16="http://schemas.microsoft.com/office/drawing/2014/main" id="{9C73D5F0-B7F3-DE50-8CFB-84FCCD1EFB4D}"/>
              </a:ext>
            </a:extLst>
          </p:cNvPr>
          <p:cNvPicPr>
            <a:picLocks noChangeAspect="1"/>
          </p:cNvPicPr>
          <p:nvPr/>
        </p:nvPicPr>
        <p:blipFill>
          <a:blip r:embed="rId3"/>
          <a:srcRect l="2266" t="4385" r="2783" b="6483"/>
          <a:stretch>
            <a:fillRect/>
          </a:stretch>
        </p:blipFill>
        <p:spPr>
          <a:xfrm>
            <a:off x="824023" y="1064713"/>
            <a:ext cx="9908346" cy="5390951"/>
          </a:xfrm>
          <a:prstGeom prst="rect">
            <a:avLst/>
          </a:prstGeom>
        </p:spPr>
      </p:pic>
      <p:sp>
        <p:nvSpPr>
          <p:cNvPr id="9" name="Slide Number Placeholder 8">
            <a:extLst>
              <a:ext uri="{FF2B5EF4-FFF2-40B4-BE49-F238E27FC236}">
                <a16:creationId xmlns:a16="http://schemas.microsoft.com/office/drawing/2014/main" id="{C3E099D7-498B-B878-49FE-86ADC0A19AA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4</a:t>
            </a:fld>
            <a:endParaRPr lang="en-IN"/>
          </a:p>
        </p:txBody>
      </p:sp>
    </p:spTree>
    <p:extLst>
      <p:ext uri="{BB962C8B-B14F-4D97-AF65-F5344CB8AC3E}">
        <p14:creationId xmlns:p14="http://schemas.microsoft.com/office/powerpoint/2010/main" val="2567258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3A705EC-C901-9416-D908-2E6D5195AAB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Classification for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38540121-723E-AFE9-8197-7A85999C6C7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4" name="Picture 3">
            <a:extLst>
              <a:ext uri="{FF2B5EF4-FFF2-40B4-BE49-F238E27FC236}">
                <a16:creationId xmlns:a16="http://schemas.microsoft.com/office/drawing/2014/main" id="{F4E03B2A-5B7E-D8EE-C2BA-644AE6D2FFEA}"/>
              </a:ext>
            </a:extLst>
          </p:cNvPr>
          <p:cNvPicPr>
            <a:picLocks noChangeAspect="1"/>
          </p:cNvPicPr>
          <p:nvPr/>
        </p:nvPicPr>
        <p:blipFill>
          <a:blip r:embed="rId3"/>
          <a:srcRect l="1457" t="4017" r="692" b="5814"/>
          <a:stretch>
            <a:fillRect/>
          </a:stretch>
        </p:blipFill>
        <p:spPr>
          <a:xfrm>
            <a:off x="0" y="963561"/>
            <a:ext cx="12288032" cy="5374609"/>
          </a:xfrm>
          <a:prstGeom prst="rect">
            <a:avLst/>
          </a:prstGeom>
        </p:spPr>
      </p:pic>
      <p:sp>
        <p:nvSpPr>
          <p:cNvPr id="9" name="Slide Number Placeholder 8">
            <a:extLst>
              <a:ext uri="{FF2B5EF4-FFF2-40B4-BE49-F238E27FC236}">
                <a16:creationId xmlns:a16="http://schemas.microsoft.com/office/drawing/2014/main" id="{32016311-F0CA-0576-AC28-E4CA046B524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5</a:t>
            </a:fld>
            <a:endParaRPr lang="en-IN"/>
          </a:p>
        </p:txBody>
      </p:sp>
    </p:spTree>
    <p:extLst>
      <p:ext uri="{BB962C8B-B14F-4D97-AF65-F5344CB8AC3E}">
        <p14:creationId xmlns:p14="http://schemas.microsoft.com/office/powerpoint/2010/main" val="1024940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AF45-51E3-C82C-DF05-241E9A30B9B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4A2D9A6-2C88-6E43-2980-C3F673F70A03}"/>
              </a:ext>
            </a:extLst>
          </p:cNvPr>
          <p:cNvSpPr/>
          <p:nvPr/>
        </p:nvSpPr>
        <p:spPr>
          <a:xfrm>
            <a:off x="89899" y="109580"/>
            <a:ext cx="1033229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Different Approaches to Data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27" name="TextBox 26">
            <a:extLst>
              <a:ext uri="{FF2B5EF4-FFF2-40B4-BE49-F238E27FC236}">
                <a16:creationId xmlns:a16="http://schemas.microsoft.com/office/drawing/2014/main" id="{35A6BCE2-AB64-24CC-6FF4-2397CC1B198A}"/>
              </a:ext>
            </a:extLst>
          </p:cNvPr>
          <p:cNvSpPr txBox="1"/>
          <p:nvPr/>
        </p:nvSpPr>
        <p:spPr>
          <a:xfrm>
            <a:off x="2110139" y="5503368"/>
            <a:ext cx="7971251" cy="307777"/>
          </a:xfrm>
          <a:prstGeom prst="rect">
            <a:avLst/>
          </a:prstGeom>
          <a:noFill/>
        </p:spPr>
        <p:txBody>
          <a:bodyPr wrap="square">
            <a:spAutoFit/>
          </a:bodyPr>
          <a:lstStyle/>
          <a:p>
            <a:pPr algn="ctr"/>
            <a:r>
              <a:rPr lang="en-IN" dirty="0">
                <a:latin typeface="Times New Roman" panose="02020603050405020304" pitchFamily="18" charset="0"/>
                <a:cs typeface="Times New Roman" panose="02020603050405020304" pitchFamily="18" charset="0"/>
              </a:rPr>
              <a:t>Fig.2. Figure (a) Data collection using Kinect sensor and figure (b) Data collection using wearable sensors </a:t>
            </a:r>
          </a:p>
        </p:txBody>
      </p:sp>
      <p:grpSp>
        <p:nvGrpSpPr>
          <p:cNvPr id="46" name="Group 45">
            <a:extLst>
              <a:ext uri="{FF2B5EF4-FFF2-40B4-BE49-F238E27FC236}">
                <a16:creationId xmlns:a16="http://schemas.microsoft.com/office/drawing/2014/main" id="{8AC412BF-FDE0-F4A6-F26C-9768BA118978}"/>
              </a:ext>
            </a:extLst>
          </p:cNvPr>
          <p:cNvGrpSpPr/>
          <p:nvPr/>
        </p:nvGrpSpPr>
        <p:grpSpPr>
          <a:xfrm>
            <a:off x="0" y="1015594"/>
            <a:ext cx="7854696" cy="4079242"/>
            <a:chOff x="219074" y="1008923"/>
            <a:chExt cx="8303134" cy="4276725"/>
          </a:xfrm>
        </p:grpSpPr>
        <p:pic>
          <p:nvPicPr>
            <p:cNvPr id="36" name="Picture 35">
              <a:extLst>
                <a:ext uri="{FF2B5EF4-FFF2-40B4-BE49-F238E27FC236}">
                  <a16:creationId xmlns:a16="http://schemas.microsoft.com/office/drawing/2014/main" id="{3E1896B6-3F5D-3C72-1701-46022E86582D}"/>
                </a:ext>
              </a:extLst>
            </p:cNvPr>
            <p:cNvPicPr>
              <a:picLocks noChangeAspect="1"/>
            </p:cNvPicPr>
            <p:nvPr/>
          </p:nvPicPr>
          <p:blipFill>
            <a:blip r:embed="rId3"/>
            <a:stretch>
              <a:fillRect/>
            </a:stretch>
          </p:blipFill>
          <p:spPr>
            <a:xfrm>
              <a:off x="219074" y="1008923"/>
              <a:ext cx="8303134" cy="4276725"/>
            </a:xfrm>
            <a:prstGeom prst="rect">
              <a:avLst/>
            </a:prstGeom>
          </p:spPr>
        </p:pic>
        <p:pic>
          <p:nvPicPr>
            <p:cNvPr id="39" name="Picture 38">
              <a:extLst>
                <a:ext uri="{FF2B5EF4-FFF2-40B4-BE49-F238E27FC236}">
                  <a16:creationId xmlns:a16="http://schemas.microsoft.com/office/drawing/2014/main" id="{D4A0178F-F01E-DE2D-C58A-C0883155A5F3}"/>
                </a:ext>
              </a:extLst>
            </p:cNvPr>
            <p:cNvPicPr>
              <a:picLocks noChangeAspect="1"/>
            </p:cNvPicPr>
            <p:nvPr/>
          </p:nvPicPr>
          <p:blipFill>
            <a:blip r:embed="rId4"/>
            <a:stretch>
              <a:fillRect/>
            </a:stretch>
          </p:blipFill>
          <p:spPr>
            <a:xfrm>
              <a:off x="466867" y="1322814"/>
              <a:ext cx="2733533" cy="3648942"/>
            </a:xfrm>
            <a:prstGeom prst="rect">
              <a:avLst/>
            </a:prstGeom>
          </p:spPr>
        </p:pic>
        <p:sp>
          <p:nvSpPr>
            <p:cNvPr id="42" name="Rectangle 41">
              <a:extLst>
                <a:ext uri="{FF2B5EF4-FFF2-40B4-BE49-F238E27FC236}">
                  <a16:creationId xmlns:a16="http://schemas.microsoft.com/office/drawing/2014/main" id="{1F0ABAB3-D2BE-157C-1118-7417F0275FCE}"/>
                </a:ext>
              </a:extLst>
            </p:cNvPr>
            <p:cNvSpPr/>
            <p:nvPr/>
          </p:nvSpPr>
          <p:spPr>
            <a:xfrm>
              <a:off x="1543574" y="5036075"/>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39DCA23E-4775-5BD5-7E3B-4D7A7C561A77}"/>
                </a:ext>
              </a:extLst>
            </p:cNvPr>
            <p:cNvSpPr/>
            <p:nvPr/>
          </p:nvSpPr>
          <p:spPr>
            <a:xfrm>
              <a:off x="4909447" y="4971756"/>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41" name="Picture 40">
            <a:extLst>
              <a:ext uri="{FF2B5EF4-FFF2-40B4-BE49-F238E27FC236}">
                <a16:creationId xmlns:a16="http://schemas.microsoft.com/office/drawing/2014/main" id="{12D580C9-8802-D887-9401-8093BB6A1103}"/>
              </a:ext>
            </a:extLst>
          </p:cNvPr>
          <p:cNvPicPr>
            <a:picLocks noChangeAspect="1"/>
          </p:cNvPicPr>
          <p:nvPr/>
        </p:nvPicPr>
        <p:blipFill>
          <a:blip r:embed="rId5"/>
          <a:stretch>
            <a:fillRect/>
          </a:stretch>
        </p:blipFill>
        <p:spPr>
          <a:xfrm>
            <a:off x="7429501" y="1380923"/>
            <a:ext cx="4368327" cy="3529723"/>
          </a:xfrm>
          <a:prstGeom prst="rect">
            <a:avLst/>
          </a:prstGeom>
        </p:spPr>
      </p:pic>
      <p:pic>
        <p:nvPicPr>
          <p:cNvPr id="37" name="Google Shape;97;p14">
            <a:extLst>
              <a:ext uri="{FF2B5EF4-FFF2-40B4-BE49-F238E27FC236}">
                <a16:creationId xmlns:a16="http://schemas.microsoft.com/office/drawing/2014/main" id="{FE359CE8-2A05-AE67-6BCF-028CC1ABCE6F}"/>
              </a:ext>
            </a:extLst>
          </p:cNvPr>
          <p:cNvPicPr preferRelativeResize="0"/>
          <p:nvPr/>
        </p:nvPicPr>
        <p:blipFill rotWithShape="1">
          <a:blip r:embed="rId6">
            <a:alphaModFix/>
          </a:blip>
          <a:srcRect/>
          <a:stretch/>
        </p:blipFill>
        <p:spPr>
          <a:xfrm>
            <a:off x="11013048" y="0"/>
            <a:ext cx="1178952" cy="1153972"/>
          </a:xfrm>
          <a:prstGeom prst="rect">
            <a:avLst/>
          </a:prstGeom>
          <a:noFill/>
          <a:ln>
            <a:noFill/>
          </a:ln>
        </p:spPr>
      </p:pic>
      <p:sp>
        <p:nvSpPr>
          <p:cNvPr id="49" name="TextBox 48">
            <a:extLst>
              <a:ext uri="{FF2B5EF4-FFF2-40B4-BE49-F238E27FC236}">
                <a16:creationId xmlns:a16="http://schemas.microsoft.com/office/drawing/2014/main" id="{739B237E-7FC2-D5F1-2382-92BA6EEA784A}"/>
              </a:ext>
            </a:extLst>
          </p:cNvPr>
          <p:cNvSpPr txBox="1"/>
          <p:nvPr/>
        </p:nvSpPr>
        <p:spPr>
          <a:xfrm>
            <a:off x="3726011" y="5092670"/>
            <a:ext cx="402674" cy="307777"/>
          </a:xfrm>
          <a:prstGeom prst="rect">
            <a:avLst/>
          </a:prstGeom>
          <a:noFill/>
        </p:spPr>
        <p:txBody>
          <a:bodyPr wrap="none" rtlCol="0">
            <a:spAutoFit/>
          </a:bodyPr>
          <a:lstStyle/>
          <a:p>
            <a:r>
              <a:rPr lang="en-US" dirty="0"/>
              <a:t>(a)</a:t>
            </a:r>
            <a:endParaRPr lang="en-IN" dirty="0"/>
          </a:p>
        </p:txBody>
      </p:sp>
      <p:sp>
        <p:nvSpPr>
          <p:cNvPr id="50" name="TextBox 49">
            <a:extLst>
              <a:ext uri="{FF2B5EF4-FFF2-40B4-BE49-F238E27FC236}">
                <a16:creationId xmlns:a16="http://schemas.microsoft.com/office/drawing/2014/main" id="{A4169F07-788A-A455-DAD3-B167B678EFCD}"/>
              </a:ext>
            </a:extLst>
          </p:cNvPr>
          <p:cNvSpPr txBox="1"/>
          <p:nvPr/>
        </p:nvSpPr>
        <p:spPr>
          <a:xfrm>
            <a:off x="9412327" y="5092670"/>
            <a:ext cx="402674" cy="307777"/>
          </a:xfrm>
          <a:prstGeom prst="rect">
            <a:avLst/>
          </a:prstGeom>
          <a:noFill/>
        </p:spPr>
        <p:txBody>
          <a:bodyPr wrap="none" rtlCol="0">
            <a:spAutoFit/>
          </a:bodyPr>
          <a:lstStyle/>
          <a:p>
            <a:r>
              <a:rPr lang="en-US" dirty="0"/>
              <a:t>(b)</a:t>
            </a:r>
            <a:endParaRPr lang="en-IN" dirty="0"/>
          </a:p>
        </p:txBody>
      </p:sp>
      <p:sp>
        <p:nvSpPr>
          <p:cNvPr id="8" name="Slide Number Placeholder 7">
            <a:extLst>
              <a:ext uri="{FF2B5EF4-FFF2-40B4-BE49-F238E27FC236}">
                <a16:creationId xmlns:a16="http://schemas.microsoft.com/office/drawing/2014/main" id="{776A7EAD-B474-55A7-2193-32DC7B3FF8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6</a:t>
            </a:fld>
            <a:endParaRPr lang="en-IN"/>
          </a:p>
        </p:txBody>
      </p:sp>
    </p:spTree>
    <p:extLst>
      <p:ext uri="{BB962C8B-B14F-4D97-AF65-F5344CB8AC3E}">
        <p14:creationId xmlns:p14="http://schemas.microsoft.com/office/powerpoint/2010/main" val="700573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1E1CB984-8B57-D1F7-6C63-42B2270C1DDD}"/>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628BB712-2AAC-736B-21C4-8DF39F02AA1B}"/>
              </a:ext>
            </a:extLst>
          </p:cNvPr>
          <p:cNvSpPr/>
          <p:nvPr/>
        </p:nvSpPr>
        <p:spPr>
          <a:xfrm>
            <a:off x="89899" y="4637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7" name="Google Shape;97;p14">
            <a:extLst>
              <a:ext uri="{FF2B5EF4-FFF2-40B4-BE49-F238E27FC236}">
                <a16:creationId xmlns:a16="http://schemas.microsoft.com/office/drawing/2014/main" id="{C7352718-8164-E201-B579-3916480AC6EF}"/>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graphicFrame>
        <p:nvGraphicFramePr>
          <p:cNvPr id="8" name="Table 7">
            <a:extLst>
              <a:ext uri="{FF2B5EF4-FFF2-40B4-BE49-F238E27FC236}">
                <a16:creationId xmlns:a16="http://schemas.microsoft.com/office/drawing/2014/main" id="{565C51A9-E26E-DAA9-2A32-C7AC29FA8F39}"/>
              </a:ext>
            </a:extLst>
          </p:cNvPr>
          <p:cNvGraphicFramePr>
            <a:graphicFrameLocks noGrp="1"/>
          </p:cNvGraphicFramePr>
          <p:nvPr>
            <p:extLst>
              <p:ext uri="{D42A27DB-BD31-4B8C-83A1-F6EECF244321}">
                <p14:modId xmlns:p14="http://schemas.microsoft.com/office/powerpoint/2010/main" val="769678536"/>
              </p:ext>
            </p:extLst>
          </p:nvPr>
        </p:nvGraphicFramePr>
        <p:xfrm>
          <a:off x="89899" y="949569"/>
          <a:ext cx="11644901" cy="5496472"/>
        </p:xfrm>
        <a:graphic>
          <a:graphicData uri="http://schemas.openxmlformats.org/drawingml/2006/table">
            <a:tbl>
              <a:tblPr firstRow="1" bandRow="1">
                <a:tableStyleId>{5C22544A-7EE6-4342-B048-85BDC9FD1C3A}</a:tableStyleId>
              </a:tblPr>
              <a:tblGrid>
                <a:gridCol w="507978">
                  <a:extLst>
                    <a:ext uri="{9D8B030D-6E8A-4147-A177-3AD203B41FA5}">
                      <a16:colId xmlns:a16="http://schemas.microsoft.com/office/drawing/2014/main" val="1465534069"/>
                    </a:ext>
                  </a:extLst>
                </a:gridCol>
                <a:gridCol w="1477108">
                  <a:extLst>
                    <a:ext uri="{9D8B030D-6E8A-4147-A177-3AD203B41FA5}">
                      <a16:colId xmlns:a16="http://schemas.microsoft.com/office/drawing/2014/main" val="3561462080"/>
                    </a:ext>
                  </a:extLst>
                </a:gridCol>
                <a:gridCol w="3294184">
                  <a:extLst>
                    <a:ext uri="{9D8B030D-6E8A-4147-A177-3AD203B41FA5}">
                      <a16:colId xmlns:a16="http://schemas.microsoft.com/office/drawing/2014/main" val="3693561996"/>
                    </a:ext>
                  </a:extLst>
                </a:gridCol>
                <a:gridCol w="6365631">
                  <a:extLst>
                    <a:ext uri="{9D8B030D-6E8A-4147-A177-3AD203B41FA5}">
                      <a16:colId xmlns:a16="http://schemas.microsoft.com/office/drawing/2014/main" val="519534174"/>
                    </a:ext>
                  </a:extLst>
                </a:gridCol>
              </a:tblGrid>
              <a:tr h="454928">
                <a:tc>
                  <a:txBody>
                    <a:bodyPr/>
                    <a:lstStyle/>
                    <a:p>
                      <a:pPr algn="ctr">
                        <a:buNone/>
                      </a:pPr>
                      <a:r>
                        <a:rPr lang="en-IN" sz="1400" b="1" dirty="0">
                          <a:latin typeface="Times New Roman" panose="02020603050405020304" pitchFamily="18" charset="0"/>
                          <a:cs typeface="Times New Roman" panose="02020603050405020304" pitchFamily="18" charset="0"/>
                        </a:rPr>
                        <a:t>S. No.</a:t>
                      </a: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Authors &amp; Year</a:t>
                      </a:r>
                    </a:p>
                  </a:txBody>
                  <a:tcPr marL="19085" marR="19085" marT="9542" marB="9542" anchor="ctr"/>
                </a:tc>
                <a:tc>
                  <a:txBody>
                    <a:bodyPr/>
                    <a:lstStyle/>
                    <a:p>
                      <a:pPr algn="ctr">
                        <a:buNone/>
                      </a:pPr>
                      <a:r>
                        <a:rPr lang="en-US" sz="1400" b="1" dirty="0">
                          <a:latin typeface="Times New Roman" panose="02020603050405020304" pitchFamily="18" charset="0"/>
                          <a:cs typeface="Times New Roman" panose="02020603050405020304" pitchFamily="18" charset="0"/>
                        </a:rPr>
                        <a:t>Title</a:t>
                      </a:r>
                      <a:endParaRPr lang="en-IN" sz="1400" b="1" dirty="0">
                        <a:latin typeface="Times New Roman" panose="02020603050405020304" pitchFamily="18" charset="0"/>
                        <a:cs typeface="Times New Roman" panose="02020603050405020304" pitchFamily="18" charset="0"/>
                      </a:endParaRP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Key Findings</a:t>
                      </a:r>
                    </a:p>
                  </a:txBody>
                  <a:tcPr marL="19085" marR="19085" marT="9542" marB="9542" anchor="ctr"/>
                </a:tc>
                <a:extLst>
                  <a:ext uri="{0D108BD9-81ED-4DB2-BD59-A6C34878D82A}">
                    <a16:rowId xmlns:a16="http://schemas.microsoft.com/office/drawing/2014/main" val="3405995661"/>
                  </a:ext>
                </a:extLst>
              </a:tr>
              <a:tr h="1131855">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1</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Lalwani et al., 2024</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Novel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 Hybrid Deep Learning Model for Human Activity Recognition.</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proposed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hybrid model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WISDM dataset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processes raw wearable sensor data with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minimal preprocessing</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findings have implications for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bipedal robotics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by enhancing human–robot interaction quality</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4220684924"/>
                  </a:ext>
                </a:extLst>
              </a:tr>
              <a:tr h="814046">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da-DK" sz="1400" b="0" kern="1200" dirty="0">
                          <a:solidFill>
                            <a:schemeClr val="dk1"/>
                          </a:solidFill>
                          <a:latin typeface="Times New Roman" panose="02020603050405020304" pitchFamily="18" charset="0"/>
                          <a:cs typeface="Times New Roman" panose="02020603050405020304" pitchFamily="18" charset="0"/>
                        </a:rPr>
                        <a:t>Ashwini K et al., 2020</a:t>
                      </a:r>
                      <a:endParaRPr lang="da-DK"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Skeletal Data based Activity Recognition System</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system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statistical features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derived from Kinect skeletal data.</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performed better than the KNN classifier</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3776992934"/>
                  </a:ext>
                </a:extLst>
              </a:tr>
              <a:tr h="1157828">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3</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IN" sz="1400" b="0" dirty="0">
                          <a:solidFill>
                            <a:schemeClr val="dk1"/>
                          </a:solidFill>
                          <a:latin typeface="Times New Roman" panose="02020603050405020304" pitchFamily="18" charset="0"/>
                          <a:cs typeface="Times New Roman" panose="02020603050405020304" pitchFamily="18" charset="0"/>
                          <a:sym typeface="Times New Roman"/>
                        </a:rPr>
                        <a:t>Rahul Kala et al., 2016</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in Real-Times Environments using Skeleton Joints</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Artificial Neural Network (ANN)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achieved the highest aggregate accuracy result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95.1%.</a:t>
                      </a:r>
                    </a:p>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Principal Component Analysis (PCA) was used for dimension reduction of 3D joint coordinates captured by the Kinect camera.</a:t>
                      </a:r>
                      <a:endParaRPr sz="1400" b="0"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356964958"/>
                  </a:ext>
                </a:extLst>
              </a:tr>
              <a:tr h="795085">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4</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sym typeface="Times New Roman"/>
                        </a:rPr>
                        <a:t>Komang Mandira et al.,</a:t>
                      </a:r>
                      <a:r>
                        <a:rPr lang="en-US" sz="1400" b="0" dirty="0">
                          <a:solidFill>
                            <a:schemeClr val="dk1"/>
                          </a:solidFill>
                          <a:latin typeface="Times New Roman" panose="02020603050405020304" pitchFamily="18" charset="0"/>
                          <a:cs typeface="Times New Roman" panose="02020603050405020304" pitchFamily="18" charset="0"/>
                          <a:sym typeface="Arial"/>
                        </a:rPr>
                        <a:t> </a:t>
                      </a:r>
                      <a:r>
                        <a:rPr lang="en-IN" sz="1400" b="0" dirty="0">
                          <a:solidFill>
                            <a:schemeClr val="dk1"/>
                          </a:solidFill>
                          <a:latin typeface="Times New Roman" panose="02020603050405020304" pitchFamily="18" charset="0"/>
                          <a:cs typeface="Times New Roman" panose="02020603050405020304" pitchFamily="18" charset="0"/>
                          <a:sym typeface="Times New Roman"/>
                        </a:rPr>
                        <a:t>2019</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using skeleton data and support vector machine</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l"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proposed using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 classification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skeleton data captured by a Kinect device with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93.75%.</a:t>
                      </a:r>
                      <a:endParaRPr sz="1400" b="1"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1519018479"/>
                  </a:ext>
                </a:extLst>
              </a:tr>
              <a:tr h="1142730">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5</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Khatun et al., 2022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just"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Deep CNN-LSTM With Self-Attention Model for Human Activity Recognition Using Wearable Sensor</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hybrid deep learning model combining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CNN-LSTM and a self-attention algorithm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to enhance predictive capabilities</a:t>
                      </a:r>
                      <a:r>
                        <a:rPr lang="en-US" sz="1400" b="0" kern="1200" dirty="0">
                          <a:solidFill>
                            <a:schemeClr val="dk1"/>
                          </a:solidFill>
                          <a:latin typeface="Times New Roman" panose="02020603050405020304" pitchFamily="18" charset="0"/>
                          <a:cs typeface="Times New Roman" panose="02020603050405020304" pitchFamily="18" charset="0"/>
                        </a:rPr>
                        <a: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raw smartphone sensor data (accelerometer, gyroscope, and linear acceleration)</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99.93%</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collected H-Activity dataset.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2987469427"/>
                  </a:ext>
                </a:extLst>
              </a:tr>
            </a:tbl>
          </a:graphicData>
        </a:graphic>
      </p:graphicFrame>
      <p:sp>
        <p:nvSpPr>
          <p:cNvPr id="14" name="Slide Number Placeholder 13">
            <a:extLst>
              <a:ext uri="{FF2B5EF4-FFF2-40B4-BE49-F238E27FC236}">
                <a16:creationId xmlns:a16="http://schemas.microsoft.com/office/drawing/2014/main" id="{6E7F504C-DA4D-9DD0-55B0-D210C287F07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7</a:t>
            </a:fld>
            <a:endParaRPr lang="en-IN"/>
          </a:p>
        </p:txBody>
      </p:sp>
    </p:spTree>
    <p:extLst>
      <p:ext uri="{BB962C8B-B14F-4D97-AF65-F5344CB8AC3E}">
        <p14:creationId xmlns:p14="http://schemas.microsoft.com/office/powerpoint/2010/main" val="25642228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A5E88850-9B07-5DFF-8C7C-663201052D6D}"/>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82A2738-D62A-810D-EA4D-069876F8BADB}"/>
              </a:ext>
            </a:extLst>
          </p:cNvPr>
          <p:cNvGraphicFramePr>
            <a:graphicFrameLocks noGrp="1"/>
          </p:cNvGraphicFramePr>
          <p:nvPr>
            <p:extLst>
              <p:ext uri="{D42A27DB-BD31-4B8C-83A1-F6EECF244321}">
                <p14:modId xmlns:p14="http://schemas.microsoft.com/office/powerpoint/2010/main" val="766456436"/>
              </p:ext>
            </p:extLst>
          </p:nvPr>
        </p:nvGraphicFramePr>
        <p:xfrm>
          <a:off x="70668" y="937965"/>
          <a:ext cx="11844192" cy="5568579"/>
        </p:xfrm>
        <a:graphic>
          <a:graphicData uri="http://schemas.openxmlformats.org/drawingml/2006/table">
            <a:tbl>
              <a:tblPr firstRow="1" bandRow="1">
                <a:tableStyleId>{5C22544A-7EE6-4342-B048-85BDC9FD1C3A}</a:tableStyleId>
              </a:tblPr>
              <a:tblGrid>
                <a:gridCol w="590040">
                  <a:extLst>
                    <a:ext uri="{9D8B030D-6E8A-4147-A177-3AD203B41FA5}">
                      <a16:colId xmlns:a16="http://schemas.microsoft.com/office/drawing/2014/main" val="1465534069"/>
                    </a:ext>
                  </a:extLst>
                </a:gridCol>
                <a:gridCol w="1512277">
                  <a:extLst>
                    <a:ext uri="{9D8B030D-6E8A-4147-A177-3AD203B41FA5}">
                      <a16:colId xmlns:a16="http://schemas.microsoft.com/office/drawing/2014/main" val="3561462080"/>
                    </a:ext>
                  </a:extLst>
                </a:gridCol>
                <a:gridCol w="3639940">
                  <a:extLst>
                    <a:ext uri="{9D8B030D-6E8A-4147-A177-3AD203B41FA5}">
                      <a16:colId xmlns:a16="http://schemas.microsoft.com/office/drawing/2014/main" val="2483098990"/>
                    </a:ext>
                  </a:extLst>
                </a:gridCol>
                <a:gridCol w="6101935">
                  <a:extLst>
                    <a:ext uri="{9D8B030D-6E8A-4147-A177-3AD203B41FA5}">
                      <a16:colId xmlns:a16="http://schemas.microsoft.com/office/drawing/2014/main" val="519534174"/>
                    </a:ext>
                  </a:extLst>
                </a:gridCol>
              </a:tblGrid>
              <a:tr h="277014">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S. No.</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Authors &amp; Year</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Title</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Key Findings</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3405995661"/>
                  </a:ext>
                </a:extLst>
              </a:tr>
              <a:tr h="1479567">
                <a:tc>
                  <a:txBody>
                    <a:bodyPr/>
                    <a:lstStyle/>
                    <a:p>
                      <a:pPr marR="0" algn="ctr" rtl="0">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6</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IN"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Açış &amp; Güney</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2023</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Classification of human movements by using Kinect sensor</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maximum average classification success achieved was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98.85%</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This maximum success utilized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LSTM for feature extraction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combined with a machine learning classifier (SVM Kernel/Logistic Regression/Medium Neural Network).</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concluded that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joint data provided much more successful results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for classification than image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2290422251"/>
                  </a:ext>
                </a:extLst>
              </a:tr>
              <a:tr h="1512277">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7</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Challa et al., 2022</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multibranch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model for human activity recognition using wearable sensor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multibranch 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network</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for automatic feature extraction from raw sensor data</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different convolutional filter sizes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(3, 7, and 11) to capture various temporal local dependencies.</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accuracies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96.37%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(UCI-HAR),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96.05%</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(WISDM), and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94.29%</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(PAMAP2) datasets.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20684924"/>
                  </a:ext>
                </a:extLst>
              </a:tr>
              <a:tr h="810890">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8</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err="1">
                          <a:solidFill>
                            <a:schemeClr val="tx1"/>
                          </a:solidFill>
                          <a:latin typeface="Times New Roman" panose="02020603050405020304" pitchFamily="18" charset="0"/>
                          <a:cs typeface="Times New Roman" panose="02020603050405020304" pitchFamily="18" charset="0"/>
                          <a:sym typeface="Arial"/>
                        </a:rPr>
                        <a:t>Kaseris</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et al., 2024</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Comprehensive Survey on Deep Learning Methods in Human Activity Recognition</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investigates approaches utilizing diverse input modalities like accelerometer data, video sequences, and audio signals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19917004"/>
                  </a:ext>
                </a:extLst>
              </a:tr>
              <a:tr h="801062">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9</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dirty="0">
                          <a:latin typeface="Times New Roman" panose="02020603050405020304" pitchFamily="18" charset="0"/>
                          <a:cs typeface="Times New Roman" panose="02020603050405020304" pitchFamily="18" charset="0"/>
                        </a:rPr>
                        <a:t>Sarveshwaran</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2022</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cs typeface="Times New Roman" panose="02020603050405020304" pitchFamily="18" charset="0"/>
                          <a:sym typeface="Arial"/>
                        </a:rPr>
                        <a:t>I</a:t>
                      </a:r>
                      <a:r>
                        <a:rPr lang="en-US" dirty="0">
                          <a:latin typeface="Times New Roman" panose="02020603050405020304" pitchFamily="18" charset="0"/>
                          <a:cs typeface="Times New Roman" panose="02020603050405020304" pitchFamily="18" charset="0"/>
                        </a:rPr>
                        <a:t>nvestigation on Human Activity Recognition using Deep Learning</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Discussion about the deep learning model, merits, demerits and dataset used in human activity recognition.</a:t>
                      </a:r>
                    </a:p>
                  </a:txBody>
                  <a:tcPr marL="19085" marR="19085" marT="9542" marB="9542" anchor="ctr"/>
                </a:tc>
                <a:extLst>
                  <a:ext uri="{0D108BD9-81ED-4DB2-BD59-A6C34878D82A}">
                    <a16:rowId xmlns:a16="http://schemas.microsoft.com/office/drawing/2014/main" val="2067203638"/>
                  </a:ext>
                </a:extLst>
              </a:tr>
              <a:tr h="687769">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10</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Morana et al., 2017</a:t>
                      </a: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KARD - Kinect Activity Recognition Dataset</a:t>
                      </a: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KARD contains 18 Activities. Each activity is performed 3 times by 10 different subjects.</a:t>
                      </a:r>
                      <a:endParaRPr lang="en-US" dirty="0">
                        <a:latin typeface="Times New Roman" panose="02020603050405020304" pitchFamily="18" charset="0"/>
                        <a:cs typeface="Times New Roman" panose="02020603050405020304" pitchFamily="18" charset="0"/>
                      </a:endParaRPr>
                    </a:p>
                  </a:txBody>
                  <a:tcPr marL="19085" marR="19085" marT="9542" marB="9542" anchor="ctr"/>
                </a:tc>
                <a:extLst>
                  <a:ext uri="{0D108BD9-81ED-4DB2-BD59-A6C34878D82A}">
                    <a16:rowId xmlns:a16="http://schemas.microsoft.com/office/drawing/2014/main" val="1283891522"/>
                  </a:ext>
                </a:extLst>
              </a:tr>
            </a:tbl>
          </a:graphicData>
        </a:graphic>
      </p:graphicFrame>
      <p:sp>
        <p:nvSpPr>
          <p:cNvPr id="6" name="Rectangle: Rounded Corners 5">
            <a:extLst>
              <a:ext uri="{FF2B5EF4-FFF2-40B4-BE49-F238E27FC236}">
                <a16:creationId xmlns:a16="http://schemas.microsoft.com/office/drawing/2014/main" id="{02EB1A2D-F9F0-80A2-F496-08B4CA39DD5F}"/>
              </a:ext>
            </a:extLst>
          </p:cNvPr>
          <p:cNvSpPr/>
          <p:nvPr/>
        </p:nvSpPr>
        <p:spPr>
          <a:xfrm>
            <a:off x="0" y="2023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4" name="Google Shape;97;p14">
            <a:extLst>
              <a:ext uri="{FF2B5EF4-FFF2-40B4-BE49-F238E27FC236}">
                <a16:creationId xmlns:a16="http://schemas.microsoft.com/office/drawing/2014/main" id="{D781CC4F-2D66-DEC4-8189-7316868E0798}"/>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sp>
        <p:nvSpPr>
          <p:cNvPr id="14" name="Slide Number Placeholder 13">
            <a:extLst>
              <a:ext uri="{FF2B5EF4-FFF2-40B4-BE49-F238E27FC236}">
                <a16:creationId xmlns:a16="http://schemas.microsoft.com/office/drawing/2014/main" id="{8B07C198-1BCB-B112-D0D2-25B87596293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8</a:t>
            </a:fld>
            <a:endParaRPr lang="en-IN"/>
          </a:p>
        </p:txBody>
      </p:sp>
    </p:spTree>
    <p:extLst>
      <p:ext uri="{BB962C8B-B14F-4D97-AF65-F5344CB8AC3E}">
        <p14:creationId xmlns:p14="http://schemas.microsoft.com/office/powerpoint/2010/main" val="23721586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001D86E2-DABC-A734-6B55-2C559001DF00}"/>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Research Gaps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4" name="Google Shape;97;p14">
            <a:extLst>
              <a:ext uri="{FF2B5EF4-FFF2-40B4-BE49-F238E27FC236}">
                <a16:creationId xmlns:a16="http://schemas.microsoft.com/office/drawing/2014/main" id="{6A4697F0-B944-83BB-6C7B-ECA099AFD44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5" name="TextBox 4">
            <a:extLst>
              <a:ext uri="{FF2B5EF4-FFF2-40B4-BE49-F238E27FC236}">
                <a16:creationId xmlns:a16="http://schemas.microsoft.com/office/drawing/2014/main" id="{6EFF00D8-3FC9-E430-B36D-AEFB78ACC98A}"/>
              </a:ext>
            </a:extLst>
          </p:cNvPr>
          <p:cNvSpPr txBox="1"/>
          <p:nvPr/>
        </p:nvSpPr>
        <p:spPr>
          <a:xfrm>
            <a:off x="306967" y="1153972"/>
            <a:ext cx="5265108" cy="4539704"/>
          </a:xfrm>
          <a:prstGeom prst="rect">
            <a:avLst/>
          </a:prstGeom>
          <a:noFill/>
        </p:spPr>
        <p:txBody>
          <a:bodyPr wrap="square" numCol="1"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A. Data and Annotation Challenges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Limited annotated datasets.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subject diversity.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Noisy, imbalanced real-world data.</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High-cost vision data processing.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Reliance on handcrafted features.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Deep models lack interpretability.</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B. Activity and Complexity Modeling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Complex multi-sensor fusion required.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Subtle/overlapping motions cause difficulty.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Hard postural transition detection.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 suffers occlusion/clutter.</a:t>
            </a:r>
          </a:p>
          <a:p>
            <a:endParaRPr lang="en-US" dirty="0"/>
          </a:p>
        </p:txBody>
      </p:sp>
      <p:sp>
        <p:nvSpPr>
          <p:cNvPr id="6" name="TextBox 5">
            <a:extLst>
              <a:ext uri="{FF2B5EF4-FFF2-40B4-BE49-F238E27FC236}">
                <a16:creationId xmlns:a16="http://schemas.microsoft.com/office/drawing/2014/main" id="{5BB12039-1731-5A88-2A41-04D6D9A07CA9}"/>
              </a:ext>
            </a:extLst>
          </p:cNvPr>
          <p:cNvSpPr txBox="1"/>
          <p:nvPr/>
        </p:nvSpPr>
        <p:spPr>
          <a:xfrm>
            <a:off x="5903936" y="1153972"/>
            <a:ext cx="5695166" cy="4324261"/>
          </a:xfrm>
          <a:prstGeom prst="rect">
            <a:avLst/>
          </a:prstGeom>
          <a:noFill/>
        </p:spPr>
        <p:txBody>
          <a:bodyPr wrap="square"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C. Architectural and Methodological Limitations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Heavy preprocessing overhead.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multi-resolution encoding.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 computational complexity.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RNNs are slow, and provide limited context.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CNN/RNN spatial–temporal mismatch.</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D. Deployment and Real-World Challenges :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Severe domain shift issues.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wearable adoption.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adaptive recalibration.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Embedded systems constraints.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Vision-based privacy concerns.</a:t>
            </a:r>
          </a:p>
        </p:txBody>
      </p:sp>
      <p:sp>
        <p:nvSpPr>
          <p:cNvPr id="2" name="Slide Number Placeholder 1">
            <a:extLst>
              <a:ext uri="{FF2B5EF4-FFF2-40B4-BE49-F238E27FC236}">
                <a16:creationId xmlns:a16="http://schemas.microsoft.com/office/drawing/2014/main" id="{322A32AB-26A7-78E6-73D7-DAFBB9A7FB5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9</a:t>
            </a:fld>
            <a:endParaRPr lang="en-IN"/>
          </a:p>
        </p:txBody>
      </p:sp>
    </p:spTree>
    <p:extLst>
      <p:ext uri="{BB962C8B-B14F-4D97-AF65-F5344CB8AC3E}">
        <p14:creationId xmlns:p14="http://schemas.microsoft.com/office/powerpoint/2010/main" val="3043106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30A03F-44EE-CCD1-7490-34D435639FCF}"/>
              </a:ext>
            </a:extLst>
          </p:cNvPr>
          <p:cNvPicPr>
            <a:picLocks noChangeAspect="1"/>
          </p:cNvPicPr>
          <p:nvPr/>
        </p:nvPicPr>
        <p:blipFill>
          <a:blip r:embed="rId2"/>
          <a:stretch>
            <a:fillRect/>
          </a:stretch>
        </p:blipFill>
        <p:spPr>
          <a:xfrm>
            <a:off x="7231095" y="1153972"/>
            <a:ext cx="3781953" cy="4953691"/>
          </a:xfrm>
          <a:prstGeom prst="rect">
            <a:avLst/>
          </a:prstGeom>
        </p:spPr>
      </p:pic>
      <p:sp>
        <p:nvSpPr>
          <p:cNvPr id="5" name="Rectangle 1">
            <a:extLst>
              <a:ext uri="{FF2B5EF4-FFF2-40B4-BE49-F238E27FC236}">
                <a16:creationId xmlns:a16="http://schemas.microsoft.com/office/drawing/2014/main" id="{581A2102-9CEF-4A25-4774-6BC35D38B8A2}"/>
              </a:ext>
            </a:extLst>
          </p:cNvPr>
          <p:cNvSpPr>
            <a:spLocks noChangeArrowheads="1"/>
          </p:cNvSpPr>
          <p:nvPr/>
        </p:nvSpPr>
        <p:spPr bwMode="auto">
          <a:xfrm>
            <a:off x="446209" y="1215943"/>
            <a:ext cx="6112702"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algn="just" eaLnBrk="0" fontAlgn="base" hangingPunct="0">
              <a:spcBef>
                <a:spcPts val="600"/>
              </a:spcBef>
              <a:spcAft>
                <a:spcPct val="0"/>
              </a:spcAft>
              <a:buClrTx/>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unified, efficient HAR model capable of handling </a:t>
            </a:r>
            <a:r>
              <a:rPr lang="en-US" sz="2000" b="1" dirty="0">
                <a:latin typeface="Times New Roman" panose="02020603050405020304" pitchFamily="18" charset="0"/>
                <a:cs typeface="Times New Roman" panose="02020603050405020304" pitchFamily="18" charset="0"/>
              </a:rPr>
              <a:t>data scarcity</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multi-sensor complexity</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real-world deployment challenges </a:t>
            </a:r>
            <a:r>
              <a:rPr lang="en-US" sz="2000" dirty="0">
                <a:latin typeface="Times New Roman" panose="02020603050405020304" pitchFamily="18" charset="0"/>
                <a:cs typeface="Times New Roman" panose="02020603050405020304" pitchFamily="18" charset="0"/>
              </a:rPr>
              <a:t>using both wearable and non-wearable Kinect data.</a:t>
            </a:r>
          </a:p>
          <a:p>
            <a:pPr marL="342900" marR="0" lvl="0" indent="-342900" algn="just"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Integrate and compare activity recognition performance across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wearable and non-wearable sensing modalities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lvl="0" indent="-342900" algn="just" eaLnBrk="0" fontAlgn="base" hangingPunct="0">
              <a:spcBef>
                <a:spcPts val="600"/>
              </a:spcBef>
              <a:spcAft>
                <a:spcPct val="0"/>
              </a:spcAft>
              <a:buClrTx/>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Transfer recognized motion patterns to a bipedal robot, enabling </a:t>
            </a:r>
            <a:r>
              <a:rPr lang="en-US" sz="2000" b="1" dirty="0">
                <a:latin typeface="Times New Roman" panose="02020603050405020304" pitchFamily="18" charset="0"/>
                <a:cs typeface="Times New Roman" panose="02020603050405020304" pitchFamily="18" charset="0"/>
              </a:rPr>
              <a:t>accurate</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real-time imitation </a:t>
            </a:r>
            <a:r>
              <a:rPr lang="en-US" sz="2000" dirty="0">
                <a:latin typeface="Times New Roman" panose="02020603050405020304" pitchFamily="18" charset="0"/>
                <a:cs typeface="Times New Roman" panose="02020603050405020304" pitchFamily="18" charset="0"/>
              </a:rPr>
              <a:t>and reproduction of human activities.</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B724FD76-7FAA-3ED4-12C8-96CB81ADA2C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Objective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7" name="Google Shape;97;p14">
            <a:extLst>
              <a:ext uri="{FF2B5EF4-FFF2-40B4-BE49-F238E27FC236}">
                <a16:creationId xmlns:a16="http://schemas.microsoft.com/office/drawing/2014/main" id="{51CE1480-FF6A-4114-069A-28946E56466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0" name="TextBox 9">
            <a:extLst>
              <a:ext uri="{FF2B5EF4-FFF2-40B4-BE49-F238E27FC236}">
                <a16:creationId xmlns:a16="http://schemas.microsoft.com/office/drawing/2014/main" id="{E5A5ED31-802A-997A-6993-B0CCF7A2441F}"/>
              </a:ext>
            </a:extLst>
          </p:cNvPr>
          <p:cNvSpPr txBox="1"/>
          <p:nvPr/>
        </p:nvSpPr>
        <p:spPr>
          <a:xfrm>
            <a:off x="8358714" y="6171608"/>
            <a:ext cx="152671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Fig.3. Bipedal Robot</a:t>
            </a:r>
          </a:p>
        </p:txBody>
      </p:sp>
      <p:sp>
        <p:nvSpPr>
          <p:cNvPr id="2" name="Slide Number Placeholder 1">
            <a:extLst>
              <a:ext uri="{FF2B5EF4-FFF2-40B4-BE49-F238E27FC236}">
                <a16:creationId xmlns:a16="http://schemas.microsoft.com/office/drawing/2014/main" id="{F49ED11C-98DA-EA90-754A-B34436992DE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10</a:t>
            </a:fld>
            <a:endParaRPr lang="en-IN"/>
          </a:p>
        </p:txBody>
      </p:sp>
    </p:spTree>
    <p:extLst>
      <p:ext uri="{BB962C8B-B14F-4D97-AF65-F5344CB8AC3E}">
        <p14:creationId xmlns:p14="http://schemas.microsoft.com/office/powerpoint/2010/main" val="1146845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91073-7110-89A1-5074-5123E188EE0D}"/>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C2E14977-DEC7-502E-430C-574F8E31E53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Work done so far</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CF8FD67-D742-C9BE-ED24-1605F3710100}"/>
              </a:ext>
            </a:extLst>
          </p:cNvPr>
          <p:cNvSpPr txBox="1"/>
          <p:nvPr/>
        </p:nvSpPr>
        <p:spPr>
          <a:xfrm>
            <a:off x="306967" y="963561"/>
            <a:ext cx="11480221" cy="4653646"/>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Ø"/>
            </a:pPr>
            <a:r>
              <a:rPr lang="en-US" sz="2000" b="1" dirty="0">
                <a:solidFill>
                  <a:schemeClr val="tx1"/>
                </a:solidFill>
                <a:latin typeface="Times New Roman" panose="02020603050405020304" pitchFamily="18" charset="0"/>
                <a:cs typeface="Times New Roman" panose="02020603050405020304" pitchFamily="18" charset="0"/>
              </a:rPr>
              <a:t>Created a Skeletal Joints Dataset </a:t>
            </a:r>
            <a:r>
              <a:rPr lang="en-US" sz="2000" dirty="0">
                <a:solidFill>
                  <a:schemeClr val="tx1"/>
                </a:solidFill>
                <a:latin typeface="Times New Roman" panose="02020603050405020304" pitchFamily="18" charset="0"/>
                <a:cs typeface="Times New Roman" panose="02020603050405020304" pitchFamily="18" charset="0"/>
              </a:rPr>
              <a:t>using Microsoft Kinect Sensor for Human Activity Recognition.</a:t>
            </a:r>
            <a:endParaRPr lang="en-US" sz="2000" i="1" dirty="0">
              <a:solidFill>
                <a:schemeClr val="tx1"/>
              </a:solidFill>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Studied skeletal joint movement patterns specific to each activity to enhance accurate feature capture for the 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Used a </a:t>
            </a:r>
            <a:r>
              <a:rPr lang="en-US" sz="2000" b="1" dirty="0">
                <a:solidFill>
                  <a:schemeClr val="tx1"/>
                </a:solidFill>
                <a:latin typeface="Times New Roman" panose="02020603050405020304" pitchFamily="18" charset="0"/>
                <a:cs typeface="Times New Roman" panose="02020603050405020304" pitchFamily="18" charset="0"/>
              </a:rPr>
              <a:t>multi-scale feature extraction </a:t>
            </a:r>
            <a:r>
              <a:rPr lang="en-US" sz="2000" dirty="0">
                <a:solidFill>
                  <a:schemeClr val="tx1"/>
                </a:solidFill>
                <a:latin typeface="Times New Roman" panose="02020603050405020304" pitchFamily="18" charset="0"/>
                <a:cs typeface="Times New Roman" panose="02020603050405020304" pitchFamily="18" charset="0"/>
              </a:rPr>
              <a:t>approach to </a:t>
            </a:r>
            <a:r>
              <a:rPr lang="en-US" sz="2000" b="1" dirty="0">
                <a:solidFill>
                  <a:schemeClr val="tx1"/>
                </a:solidFill>
                <a:latin typeface="Times New Roman" panose="02020603050405020304" pitchFamily="18" charset="0"/>
                <a:cs typeface="Times New Roman" panose="02020603050405020304" pitchFamily="18" charset="0"/>
              </a:rPr>
              <a:t>capture slow, medium, and fast </a:t>
            </a:r>
            <a:r>
              <a:rPr lang="en-US" sz="2000" dirty="0">
                <a:solidFill>
                  <a:schemeClr val="tx1"/>
                </a:solidFill>
                <a:latin typeface="Times New Roman" panose="02020603050405020304" pitchFamily="18" charset="0"/>
                <a:cs typeface="Times New Roman" panose="02020603050405020304" pitchFamily="18" charset="0"/>
              </a:rPr>
              <a:t>skeletal joint movements during activities for dataset creation.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Developed a hybrid deep learning architecture </a:t>
            </a:r>
            <a:r>
              <a:rPr lang="en-US" sz="2000" b="1" dirty="0">
                <a:solidFill>
                  <a:schemeClr val="tx1"/>
                </a:solidFill>
                <a:latin typeface="Times New Roman" panose="02020603050405020304" pitchFamily="18" charset="0"/>
                <a:cs typeface="Times New Roman" panose="02020603050405020304" pitchFamily="18" charset="0"/>
              </a:rPr>
              <a:t>Multi-Scale Gated Residual Skip </a:t>
            </a:r>
            <a:r>
              <a:rPr lang="en-US" sz="2000" b="1" dirty="0" err="1">
                <a:solidFill>
                  <a:schemeClr val="tx1"/>
                </a:solidFill>
                <a:latin typeface="Times New Roman" panose="02020603050405020304" pitchFamily="18" charset="0"/>
                <a:cs typeface="Times New Roman" panose="02020603050405020304" pitchFamily="18" charset="0"/>
              </a:rPr>
              <a:t>BiLSTM</a:t>
            </a: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Achieved a classification accuracy of </a:t>
            </a:r>
            <a:r>
              <a:rPr lang="en-US" sz="2000" b="1" dirty="0">
                <a:solidFill>
                  <a:schemeClr val="tx1"/>
                </a:solidFill>
                <a:latin typeface="Times New Roman" panose="02020603050405020304" pitchFamily="18" charset="0"/>
                <a:cs typeface="Times New Roman" panose="02020603050405020304" pitchFamily="18" charset="0"/>
              </a:rPr>
              <a:t>97.97%</a:t>
            </a:r>
            <a:r>
              <a:rPr lang="en-US" sz="2000" dirty="0">
                <a:solidFill>
                  <a:schemeClr val="tx1"/>
                </a:solidFill>
                <a:latin typeface="Times New Roman" panose="02020603050405020304" pitchFamily="18" charset="0"/>
                <a:cs typeface="Times New Roman" panose="02020603050405020304" pitchFamily="18" charset="0"/>
              </a:rPr>
              <a:t> using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skeletal joints dataset for Human Activity Recognition.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Evaluated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a:t>
            </a:r>
            <a:r>
              <a:rPr lang="en-US" sz="2000" b="1" dirty="0">
                <a:solidFill>
                  <a:schemeClr val="tx1"/>
                </a:solidFill>
                <a:latin typeface="Times New Roman" panose="02020603050405020304" pitchFamily="18" charset="0"/>
                <a:cs typeface="Times New Roman" panose="02020603050405020304" pitchFamily="18" charset="0"/>
              </a:rPr>
              <a:t>KARD - Kinect Activity Recognition dataset </a:t>
            </a:r>
            <a:r>
              <a:rPr lang="en-US" sz="2000" dirty="0">
                <a:solidFill>
                  <a:schemeClr val="tx1"/>
                </a:solidFill>
                <a:latin typeface="Times New Roman" panose="02020603050405020304" pitchFamily="18" charset="0"/>
                <a:cs typeface="Times New Roman" panose="02020603050405020304" pitchFamily="18" charset="0"/>
              </a:rPr>
              <a:t>and achieved an accuracy of </a:t>
            </a:r>
            <a:r>
              <a:rPr lang="en-US" sz="2000" b="1" dirty="0">
                <a:solidFill>
                  <a:schemeClr val="tx1"/>
                </a:solidFill>
                <a:latin typeface="Times New Roman" panose="02020603050405020304" pitchFamily="18" charset="0"/>
                <a:cs typeface="Times New Roman" panose="02020603050405020304" pitchFamily="18" charset="0"/>
              </a:rPr>
              <a:t>98.77%</a:t>
            </a:r>
            <a:r>
              <a:rPr lang="en-US" sz="2000" dirty="0">
                <a:solidFill>
                  <a:schemeClr val="tx1"/>
                </a:solidFill>
                <a:latin typeface="Times New Roman" panose="02020603050405020304" pitchFamily="18" charset="0"/>
                <a:cs typeface="Times New Roman" panose="02020603050405020304" pitchFamily="18" charset="0"/>
              </a:rPr>
              <a:t>.</a:t>
            </a:r>
          </a:p>
        </p:txBody>
      </p:sp>
      <p:pic>
        <p:nvPicPr>
          <p:cNvPr id="10" name="Google Shape;97;p14">
            <a:extLst>
              <a:ext uri="{FF2B5EF4-FFF2-40B4-BE49-F238E27FC236}">
                <a16:creationId xmlns:a16="http://schemas.microsoft.com/office/drawing/2014/main" id="{D8225A95-0BF0-4476-D121-0D40B68764B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4" name="Slide Number Placeholder 3">
            <a:extLst>
              <a:ext uri="{FF2B5EF4-FFF2-40B4-BE49-F238E27FC236}">
                <a16:creationId xmlns:a16="http://schemas.microsoft.com/office/drawing/2014/main" id="{C60A774C-1820-497D-BA71-35D7B7AB12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11</a:t>
            </a:fld>
            <a:endParaRPr lang="en-IN"/>
          </a:p>
        </p:txBody>
      </p:sp>
    </p:spTree>
    <p:extLst>
      <p:ext uri="{BB962C8B-B14F-4D97-AF65-F5344CB8AC3E}">
        <p14:creationId xmlns:p14="http://schemas.microsoft.com/office/powerpoint/2010/main" val="2660563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0"/>
            <a:lum/>
          </a:blip>
          <a:srcRect/>
          <a:stretch>
            <a:fillRect t="-39000" b="-39000"/>
          </a:stretch>
        </a:blipFill>
        <a:effectLst/>
      </p:bgPr>
    </p:bg>
    <p:spTree>
      <p:nvGrpSpPr>
        <p:cNvPr id="1" name="">
          <a:extLst>
            <a:ext uri="{FF2B5EF4-FFF2-40B4-BE49-F238E27FC236}">
              <a16:creationId xmlns:a16="http://schemas.microsoft.com/office/drawing/2014/main" id="{F73E6A26-1EA5-ECFF-DC50-C45667FEACA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7EEC279-9DC0-CCD2-E4AC-9E48E25BC62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Selection –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F5BEE8F-9F94-562B-FD5A-9576B8871C4A}"/>
              </a:ext>
            </a:extLst>
          </p:cNvPr>
          <p:cNvSpPr txBox="1"/>
          <p:nvPr/>
        </p:nvSpPr>
        <p:spPr>
          <a:xfrm>
            <a:off x="-58075" y="1084302"/>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979EF269-42CE-37D5-0EB1-5F37697AEDB8}"/>
              </a:ext>
            </a:extLst>
          </p:cNvPr>
          <p:cNvPicPr>
            <a:picLocks noChangeAspect="1"/>
          </p:cNvPicPr>
          <p:nvPr/>
        </p:nvPicPr>
        <p:blipFill>
          <a:blip r:embed="rId4"/>
          <a:stretch>
            <a:fillRect/>
          </a:stretch>
        </p:blipFill>
        <p:spPr>
          <a:xfrm>
            <a:off x="5013053" y="1257958"/>
            <a:ext cx="6762323" cy="3814373"/>
          </a:xfrm>
          <a:prstGeom prst="rect">
            <a:avLst/>
          </a:prstGeom>
        </p:spPr>
      </p:pic>
      <p:sp>
        <p:nvSpPr>
          <p:cNvPr id="10" name="Rectangle 1">
            <a:extLst>
              <a:ext uri="{FF2B5EF4-FFF2-40B4-BE49-F238E27FC236}">
                <a16:creationId xmlns:a16="http://schemas.microsoft.com/office/drawing/2014/main" id="{DA9BDAF3-6629-2BB2-F0E4-177DD6ECEE4A}"/>
              </a:ext>
            </a:extLst>
          </p:cNvPr>
          <p:cNvSpPr>
            <a:spLocks noChangeArrowheads="1"/>
          </p:cNvSpPr>
          <p:nvPr/>
        </p:nvSpPr>
        <p:spPr bwMode="auto">
          <a:xfrm>
            <a:off x="306967" y="1084302"/>
            <a:ext cx="4517313" cy="52475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provides </a:t>
            </a:r>
            <a:r>
              <a:rPr lang="en-US" altLang="en-US" sz="2000" b="1" dirty="0">
                <a:solidFill>
                  <a:schemeClr val="tx1"/>
                </a:solidFill>
                <a:latin typeface="Times New Roman" panose="02020603050405020304" pitchFamily="18" charset="0"/>
                <a:cs typeface="Times New Roman" panose="02020603050405020304" pitchFamily="18" charset="0"/>
              </a:rPr>
              <a:t>3D skeletal coordinates </a:t>
            </a:r>
            <a:r>
              <a:rPr lang="en-US" altLang="en-US" sz="2000" dirty="0">
                <a:solidFill>
                  <a:schemeClr val="tx1"/>
                </a:solidFill>
                <a:latin typeface="Times New Roman" panose="02020603050405020304" pitchFamily="18" charset="0"/>
                <a:cs typeface="Times New Roman" panose="02020603050405020304" pitchFamily="18" charset="0"/>
              </a:rPr>
              <a:t>(x, y, z) for 25 joints, supporting detailed posture and gait analysis.</a:t>
            </a:r>
          </a:p>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It </a:t>
            </a:r>
            <a:r>
              <a:rPr lang="en-US" altLang="en-US" sz="2000" b="1" dirty="0">
                <a:solidFill>
                  <a:schemeClr val="tx1"/>
                </a:solidFill>
                <a:latin typeface="Times New Roman" panose="02020603050405020304" pitchFamily="18" charset="0"/>
                <a:cs typeface="Times New Roman" panose="02020603050405020304" pitchFamily="18" charset="0"/>
              </a:rPr>
              <a:t>captures motion contact-free</a:t>
            </a:r>
            <a:r>
              <a:rPr lang="en-US" altLang="en-US" sz="2000" dirty="0">
                <a:solidFill>
                  <a:schemeClr val="tx1"/>
                </a:solidFill>
                <a:latin typeface="Times New Roman" panose="02020603050405020304" pitchFamily="18" charset="0"/>
                <a:cs typeface="Times New Roman" panose="02020603050405020304" pitchFamily="18" charset="0"/>
              </a:rPr>
              <a:t>, avoiding discomfort and ensuring user independence.</a:t>
            </a:r>
          </a:p>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records full-body </a:t>
            </a:r>
            <a:r>
              <a:rPr lang="en-US" altLang="en-US" sz="2000" dirty="0">
                <a:solidFill>
                  <a:schemeClr val="tx1"/>
                </a:solidFill>
                <a:latin typeface="Times New Roman" panose="02020603050405020304" pitchFamily="18" charset="0"/>
                <a:cs typeface="Times New Roman" panose="02020603050405020304" pitchFamily="18" charset="0"/>
              </a:rPr>
              <a:t>movement in global coordinates, whereas wearables capture only local motion signals.</a:t>
            </a:r>
          </a:p>
          <a:p>
            <a:pPr marL="342900" lvl="0" indent="-342900" algn="just"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tracks multiple joints</a:t>
            </a:r>
            <a:r>
              <a:rPr lang="en-US" altLang="en-US" sz="2000" dirty="0">
                <a:solidFill>
                  <a:schemeClr val="tx1"/>
                </a:solidFill>
                <a:latin typeface="Times New Roman" panose="02020603050405020304" pitchFamily="18" charset="0"/>
                <a:cs typeface="Times New Roman" panose="02020603050405020304" pitchFamily="18" charset="0"/>
              </a:rPr>
              <a:t> simultaneously for coordinated movement detection; wearables typically monitor only one or few points, limiting context.</a:t>
            </a:r>
          </a:p>
        </p:txBody>
      </p:sp>
      <p:pic>
        <p:nvPicPr>
          <p:cNvPr id="4" name="Google Shape;97;p14">
            <a:extLst>
              <a:ext uri="{FF2B5EF4-FFF2-40B4-BE49-F238E27FC236}">
                <a16:creationId xmlns:a16="http://schemas.microsoft.com/office/drawing/2014/main" id="{0BF32570-CF22-2891-CB88-DE3008C51298}"/>
              </a:ext>
            </a:extLst>
          </p:cNvPr>
          <p:cNvPicPr preferRelativeResize="0"/>
          <p:nvPr/>
        </p:nvPicPr>
        <p:blipFill rotWithShape="1">
          <a:blip r:embed="rId5">
            <a:alphaModFix/>
          </a:blip>
          <a:srcRect/>
          <a:stretch/>
        </p:blipFill>
        <p:spPr>
          <a:xfrm>
            <a:off x="11013048" y="0"/>
            <a:ext cx="1178952" cy="1153972"/>
          </a:xfrm>
          <a:prstGeom prst="rect">
            <a:avLst/>
          </a:prstGeom>
          <a:noFill/>
          <a:ln>
            <a:noFill/>
          </a:ln>
        </p:spPr>
      </p:pic>
      <p:sp>
        <p:nvSpPr>
          <p:cNvPr id="21" name="TextBox 20">
            <a:extLst>
              <a:ext uri="{FF2B5EF4-FFF2-40B4-BE49-F238E27FC236}">
                <a16:creationId xmlns:a16="http://schemas.microsoft.com/office/drawing/2014/main" id="{CD44B95E-FCC5-2C3C-8914-88354B132D7E}"/>
              </a:ext>
            </a:extLst>
          </p:cNvPr>
          <p:cNvSpPr txBox="1"/>
          <p:nvPr/>
        </p:nvSpPr>
        <p:spPr>
          <a:xfrm>
            <a:off x="7774005" y="5176317"/>
            <a:ext cx="157243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Fig.4. Kinect Sensor</a:t>
            </a:r>
          </a:p>
        </p:txBody>
      </p:sp>
      <p:sp>
        <p:nvSpPr>
          <p:cNvPr id="5" name="Slide Number Placeholder 4">
            <a:extLst>
              <a:ext uri="{FF2B5EF4-FFF2-40B4-BE49-F238E27FC236}">
                <a16:creationId xmlns:a16="http://schemas.microsoft.com/office/drawing/2014/main" id="{C827A542-5E51-8334-B1D0-EB704775B28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12</a:t>
            </a:fld>
            <a:endParaRPr lang="en-IN"/>
          </a:p>
        </p:txBody>
      </p:sp>
    </p:spTree>
    <p:extLst>
      <p:ext uri="{BB962C8B-B14F-4D97-AF65-F5344CB8AC3E}">
        <p14:creationId xmlns:p14="http://schemas.microsoft.com/office/powerpoint/2010/main" val="1571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699C7-C789-6D2A-3B48-20BB60996A64}"/>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84518FDF-4923-5F5F-84DE-4DD0C820120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My Dataset - Using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cxnSp>
        <p:nvCxnSpPr>
          <p:cNvPr id="12" name="Straight Connector 11">
            <a:extLst>
              <a:ext uri="{FF2B5EF4-FFF2-40B4-BE49-F238E27FC236}">
                <a16:creationId xmlns:a16="http://schemas.microsoft.com/office/drawing/2014/main" id="{7FAA935A-53F8-BF7A-DB14-179ACD23568C}"/>
              </a:ext>
            </a:extLst>
          </p:cNvPr>
          <p:cNvCxnSpPr>
            <a:cxnSpLocks/>
          </p:cNvCxnSpPr>
          <p:nvPr/>
        </p:nvCxnSpPr>
        <p:spPr>
          <a:xfrm>
            <a:off x="8873635" y="2201158"/>
            <a:ext cx="0" cy="4268963"/>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 name="Google Shape;97;p14">
            <a:extLst>
              <a:ext uri="{FF2B5EF4-FFF2-40B4-BE49-F238E27FC236}">
                <a16:creationId xmlns:a16="http://schemas.microsoft.com/office/drawing/2014/main" id="{62E9445B-E67B-0F92-3713-C97A6C241F2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3" name="TextBox 22">
            <a:extLst>
              <a:ext uri="{FF2B5EF4-FFF2-40B4-BE49-F238E27FC236}">
                <a16:creationId xmlns:a16="http://schemas.microsoft.com/office/drawing/2014/main" id="{1333EF75-3FF1-A4C1-336E-26609953F50B}"/>
              </a:ext>
            </a:extLst>
          </p:cNvPr>
          <p:cNvSpPr txBox="1"/>
          <p:nvPr/>
        </p:nvSpPr>
        <p:spPr>
          <a:xfrm>
            <a:off x="457200" y="1676400"/>
            <a:ext cx="10555840" cy="307777"/>
          </a:xfrm>
          <a:prstGeom prst="rect">
            <a:avLst/>
          </a:prstGeom>
          <a:noFill/>
        </p:spPr>
        <p:txBody>
          <a:bodyPr wrap="square" rtlCol="0">
            <a:spAutoFit/>
          </a:bodyPr>
          <a:lstStyle/>
          <a:p>
            <a:pPr marL="285750" indent="-285750">
              <a:buFont typeface="Wingdings" panose="05000000000000000000" pitchFamily="2" charset="2"/>
              <a:buChar char="Ø"/>
            </a:pPr>
            <a:endParaRPr lang="en-IN" dirty="0"/>
          </a:p>
        </p:txBody>
      </p:sp>
      <p:pic>
        <p:nvPicPr>
          <p:cNvPr id="13" name="Picture 12">
            <a:extLst>
              <a:ext uri="{FF2B5EF4-FFF2-40B4-BE49-F238E27FC236}">
                <a16:creationId xmlns:a16="http://schemas.microsoft.com/office/drawing/2014/main" id="{00235ACF-A7CC-C3F4-5CF5-AF89AF355EFB}"/>
              </a:ext>
            </a:extLst>
          </p:cNvPr>
          <p:cNvPicPr>
            <a:picLocks noChangeAspect="1"/>
          </p:cNvPicPr>
          <p:nvPr/>
        </p:nvPicPr>
        <p:blipFill>
          <a:blip r:embed="rId4"/>
          <a:stretch>
            <a:fillRect/>
          </a:stretch>
        </p:blipFill>
        <p:spPr>
          <a:xfrm>
            <a:off x="4896672" y="1180540"/>
            <a:ext cx="7295328" cy="4680703"/>
          </a:xfrm>
          <a:prstGeom prst="rect">
            <a:avLst/>
          </a:prstGeom>
        </p:spPr>
      </p:pic>
      <p:sp>
        <p:nvSpPr>
          <p:cNvPr id="10" name="Rectangle 2">
            <a:extLst>
              <a:ext uri="{FF2B5EF4-FFF2-40B4-BE49-F238E27FC236}">
                <a16:creationId xmlns:a16="http://schemas.microsoft.com/office/drawing/2014/main" id="{183F9783-660D-E05E-B181-FA5350A3BE3C}"/>
              </a:ext>
            </a:extLst>
          </p:cNvPr>
          <p:cNvSpPr>
            <a:spLocks noChangeArrowheads="1"/>
          </p:cNvSpPr>
          <p:nvPr/>
        </p:nvSpPr>
        <p:spPr bwMode="auto">
          <a:xfrm>
            <a:off x="103914" y="653216"/>
            <a:ext cx="4675119" cy="5601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ts val="120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captured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Microsoft Kinect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RGB</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depth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3D skeletal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data.</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Kinect uses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25-joint skeleton model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 y, z</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coordinates tracked over time.</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Dataset includes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30 individuals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variability in movement and posture.</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person performs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activities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bending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jumping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running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sitting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squat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standing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walking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activity is stored as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time-series CSV</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timestamp</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body ID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joint coordinates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endParaRPr lang="en-US" altLang="en-US" sz="1800" dirty="0">
              <a:solidFill>
                <a:schemeClr val="tx1"/>
              </a:solidFill>
              <a:latin typeface="Arial" panose="020B0604020202020204" pitchFamily="34" charset="0"/>
              <a:cs typeface="Times New Roman" panose="02020603050405020304" pitchFamily="18" charset="0"/>
            </a:endParaRPr>
          </a:p>
          <a:p>
            <a:pPr marL="285750" marR="0" lvl="0" indent="-285750" algn="just" defTabSz="914400" rtl="0" eaLnBrk="0" fontAlgn="base" latinLnBrk="0" hangingPunct="0">
              <a:lnSpc>
                <a:spcPct val="100000"/>
              </a:lnSpc>
              <a:spcBef>
                <a:spcPts val="12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Dataset Size :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1,29,982 samples</a:t>
            </a:r>
            <a:endPar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B3AF33B6-50B0-CC91-F753-BF4A6F03EF1B}"/>
              </a:ext>
            </a:extLst>
          </p:cNvPr>
          <p:cNvSpPr txBox="1"/>
          <p:nvPr/>
        </p:nvSpPr>
        <p:spPr>
          <a:xfrm>
            <a:off x="7297265" y="5861243"/>
            <a:ext cx="249414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Fig.5. Person vs Activity Distribution</a:t>
            </a:r>
          </a:p>
        </p:txBody>
      </p:sp>
      <p:sp>
        <p:nvSpPr>
          <p:cNvPr id="4" name="Slide Number Placeholder 3">
            <a:extLst>
              <a:ext uri="{FF2B5EF4-FFF2-40B4-BE49-F238E27FC236}">
                <a16:creationId xmlns:a16="http://schemas.microsoft.com/office/drawing/2014/main" id="{D42D8EF1-5087-F95B-B4A0-D53407BCA23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13</a:t>
            </a:fld>
            <a:endParaRPr lang="en-IN"/>
          </a:p>
        </p:txBody>
      </p:sp>
    </p:spTree>
    <p:extLst>
      <p:ext uri="{BB962C8B-B14F-4D97-AF65-F5344CB8AC3E}">
        <p14:creationId xmlns:p14="http://schemas.microsoft.com/office/powerpoint/2010/main" val="4007068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A738C-D19F-4261-3605-650593C7428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A80733B-DAB5-3528-A16D-51E2061FA4EE}"/>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Dataset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12" name="Google Shape;97;p14">
            <a:extLst>
              <a:ext uri="{FF2B5EF4-FFF2-40B4-BE49-F238E27FC236}">
                <a16:creationId xmlns:a16="http://schemas.microsoft.com/office/drawing/2014/main" id="{FB7D034F-085A-6ACE-26F3-55F21EDCC9A2}"/>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6" name="Picture 15">
            <a:extLst>
              <a:ext uri="{FF2B5EF4-FFF2-40B4-BE49-F238E27FC236}">
                <a16:creationId xmlns:a16="http://schemas.microsoft.com/office/drawing/2014/main" id="{72690DD2-13ED-711C-7971-176F582E8FE9}"/>
              </a:ext>
            </a:extLst>
          </p:cNvPr>
          <p:cNvPicPr>
            <a:picLocks noChangeAspect="1"/>
          </p:cNvPicPr>
          <p:nvPr/>
        </p:nvPicPr>
        <p:blipFill>
          <a:blip r:embed="rId4"/>
          <a:srcRect l="1023" t="7732" r="15636" b="14928"/>
          <a:stretch>
            <a:fillRect/>
          </a:stretch>
        </p:blipFill>
        <p:spPr>
          <a:xfrm>
            <a:off x="311310" y="1153972"/>
            <a:ext cx="6670516" cy="4040197"/>
          </a:xfrm>
          <a:prstGeom prst="rect">
            <a:avLst/>
          </a:prstGeom>
        </p:spPr>
      </p:pic>
      <p:pic>
        <p:nvPicPr>
          <p:cNvPr id="22" name="Picture 21">
            <a:extLst>
              <a:ext uri="{FF2B5EF4-FFF2-40B4-BE49-F238E27FC236}">
                <a16:creationId xmlns:a16="http://schemas.microsoft.com/office/drawing/2014/main" id="{E1A47E32-EF88-CEBB-66DE-C6CD75702C98}"/>
              </a:ext>
            </a:extLst>
          </p:cNvPr>
          <p:cNvPicPr>
            <a:picLocks noChangeAspect="1"/>
          </p:cNvPicPr>
          <p:nvPr/>
        </p:nvPicPr>
        <p:blipFill>
          <a:blip r:embed="rId5"/>
          <a:srcRect l="11143" t="6428" r="4286" b="8572"/>
          <a:stretch>
            <a:fillRect/>
          </a:stretch>
        </p:blipFill>
        <p:spPr>
          <a:xfrm>
            <a:off x="6241891" y="1028700"/>
            <a:ext cx="5638800" cy="5070348"/>
          </a:xfrm>
          <a:prstGeom prst="rect">
            <a:avLst/>
          </a:prstGeom>
        </p:spPr>
      </p:pic>
      <p:sp>
        <p:nvSpPr>
          <p:cNvPr id="14" name="TextBox 13">
            <a:extLst>
              <a:ext uri="{FF2B5EF4-FFF2-40B4-BE49-F238E27FC236}">
                <a16:creationId xmlns:a16="http://schemas.microsoft.com/office/drawing/2014/main" id="{858A45E1-790F-8A12-F5B4-5D13AC58169D}"/>
              </a:ext>
            </a:extLst>
          </p:cNvPr>
          <p:cNvSpPr txBox="1"/>
          <p:nvPr/>
        </p:nvSpPr>
        <p:spPr>
          <a:xfrm>
            <a:off x="1499950" y="5284475"/>
            <a:ext cx="381798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Fig.6. Person performing Activity for Dataset Collection</a:t>
            </a:r>
          </a:p>
        </p:txBody>
      </p:sp>
      <p:sp>
        <p:nvSpPr>
          <p:cNvPr id="15" name="TextBox 14">
            <a:extLst>
              <a:ext uri="{FF2B5EF4-FFF2-40B4-BE49-F238E27FC236}">
                <a16:creationId xmlns:a16="http://schemas.microsoft.com/office/drawing/2014/main" id="{9DE9F162-476D-6FF7-2D2D-1C4F8D1AEE69}"/>
              </a:ext>
            </a:extLst>
          </p:cNvPr>
          <p:cNvSpPr txBox="1"/>
          <p:nvPr/>
        </p:nvSpPr>
        <p:spPr>
          <a:xfrm>
            <a:off x="8288470" y="6064082"/>
            <a:ext cx="2724578"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Fig.7. Skeletal representation of Activity</a:t>
            </a:r>
          </a:p>
        </p:txBody>
      </p:sp>
      <p:sp>
        <p:nvSpPr>
          <p:cNvPr id="3" name="Slide Number Placeholder 2">
            <a:extLst>
              <a:ext uri="{FF2B5EF4-FFF2-40B4-BE49-F238E27FC236}">
                <a16:creationId xmlns:a16="http://schemas.microsoft.com/office/drawing/2014/main" id="{0F10A633-C47D-EB2D-171A-42351AC29E4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14</a:t>
            </a:fld>
            <a:endParaRPr lang="en-IN"/>
          </a:p>
        </p:txBody>
      </p:sp>
    </p:spTree>
    <p:extLst>
      <p:ext uri="{BB962C8B-B14F-4D97-AF65-F5344CB8AC3E}">
        <p14:creationId xmlns:p14="http://schemas.microsoft.com/office/powerpoint/2010/main" val="1538997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E4620D7-7AB8-22F4-DC1D-75E6370756D8}"/>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Models Used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A4DDE570-FCD9-4D92-6BC8-72D5CFA7CD6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graphicFrame>
        <p:nvGraphicFramePr>
          <p:cNvPr id="4" name="Table 3">
            <a:extLst>
              <a:ext uri="{FF2B5EF4-FFF2-40B4-BE49-F238E27FC236}">
                <a16:creationId xmlns:a16="http://schemas.microsoft.com/office/drawing/2014/main" id="{4AC41C42-3327-930C-CED5-8E91876A2952}"/>
              </a:ext>
            </a:extLst>
          </p:cNvPr>
          <p:cNvGraphicFramePr>
            <a:graphicFrameLocks noGrp="1"/>
          </p:cNvGraphicFramePr>
          <p:nvPr>
            <p:extLst>
              <p:ext uri="{D42A27DB-BD31-4B8C-83A1-F6EECF244321}">
                <p14:modId xmlns:p14="http://schemas.microsoft.com/office/powerpoint/2010/main" val="2621849667"/>
              </p:ext>
            </p:extLst>
          </p:nvPr>
        </p:nvGraphicFramePr>
        <p:xfrm>
          <a:off x="112734" y="1153972"/>
          <a:ext cx="11711838" cy="5474036"/>
        </p:xfrm>
        <a:graphic>
          <a:graphicData uri="http://schemas.openxmlformats.org/drawingml/2006/table">
            <a:tbl>
              <a:tblPr>
                <a:tableStyleId>{36548CB8-554B-47B1-B464-9B95B1BBCFA0}</a:tableStyleId>
              </a:tblPr>
              <a:tblGrid>
                <a:gridCol w="1665962">
                  <a:extLst>
                    <a:ext uri="{9D8B030D-6E8A-4147-A177-3AD203B41FA5}">
                      <a16:colId xmlns:a16="http://schemas.microsoft.com/office/drawing/2014/main" val="2618100679"/>
                    </a:ext>
                  </a:extLst>
                </a:gridCol>
                <a:gridCol w="1528175">
                  <a:extLst>
                    <a:ext uri="{9D8B030D-6E8A-4147-A177-3AD203B41FA5}">
                      <a16:colId xmlns:a16="http://schemas.microsoft.com/office/drawing/2014/main" val="2567674809"/>
                    </a:ext>
                  </a:extLst>
                </a:gridCol>
                <a:gridCol w="1878904">
                  <a:extLst>
                    <a:ext uri="{9D8B030D-6E8A-4147-A177-3AD203B41FA5}">
                      <a16:colId xmlns:a16="http://schemas.microsoft.com/office/drawing/2014/main" val="1835998858"/>
                    </a:ext>
                  </a:extLst>
                </a:gridCol>
                <a:gridCol w="2734851">
                  <a:extLst>
                    <a:ext uri="{9D8B030D-6E8A-4147-A177-3AD203B41FA5}">
                      <a16:colId xmlns:a16="http://schemas.microsoft.com/office/drawing/2014/main" val="2287341766"/>
                    </a:ext>
                  </a:extLst>
                </a:gridCol>
                <a:gridCol w="2025040">
                  <a:extLst>
                    <a:ext uri="{9D8B030D-6E8A-4147-A177-3AD203B41FA5}">
                      <a16:colId xmlns:a16="http://schemas.microsoft.com/office/drawing/2014/main" val="2006504308"/>
                    </a:ext>
                  </a:extLst>
                </a:gridCol>
                <a:gridCol w="1878906">
                  <a:extLst>
                    <a:ext uri="{9D8B030D-6E8A-4147-A177-3AD203B41FA5}">
                      <a16:colId xmlns:a16="http://schemas.microsoft.com/office/drawing/2014/main" val="1881031806"/>
                    </a:ext>
                  </a:extLst>
                </a:gridCol>
              </a:tblGrid>
              <a:tr h="245371">
                <a:tc>
                  <a:txBody>
                    <a:bodyPr/>
                    <a:lstStyle/>
                    <a:p>
                      <a:pPr algn="ctr">
                        <a:buNone/>
                      </a:pPr>
                      <a:r>
                        <a:rPr lang="en-IN" sz="1400" b="1"/>
                        <a:t>Model</a:t>
                      </a:r>
                    </a:p>
                  </a:txBody>
                  <a:tcPr marL="58802" marR="58802" marT="29401" marB="29401" anchor="ctr"/>
                </a:tc>
                <a:tc>
                  <a:txBody>
                    <a:bodyPr/>
                    <a:lstStyle/>
                    <a:p>
                      <a:pPr algn="ctr">
                        <a:buNone/>
                      </a:pPr>
                      <a:r>
                        <a:rPr lang="en-IN" sz="1400" b="1" dirty="0"/>
                        <a:t>Key Idea</a:t>
                      </a:r>
                    </a:p>
                  </a:txBody>
                  <a:tcPr marL="58802" marR="58802" marT="29401" marB="29401" anchor="ctr"/>
                </a:tc>
                <a:tc>
                  <a:txBody>
                    <a:bodyPr/>
                    <a:lstStyle/>
                    <a:p>
                      <a:pPr algn="ctr">
                        <a:buNone/>
                      </a:pPr>
                      <a:r>
                        <a:rPr lang="en-IN" sz="1400" b="1"/>
                        <a:t>Architecture</a:t>
                      </a:r>
                    </a:p>
                  </a:txBody>
                  <a:tcPr marL="58802" marR="58802" marT="29401" marB="29401" anchor="ctr"/>
                </a:tc>
                <a:tc>
                  <a:txBody>
                    <a:bodyPr/>
                    <a:lstStyle/>
                    <a:p>
                      <a:pPr algn="ctr">
                        <a:buNone/>
                      </a:pPr>
                      <a:r>
                        <a:rPr lang="en-IN" sz="1400" b="1"/>
                        <a:t>Strengths</a:t>
                      </a:r>
                    </a:p>
                  </a:txBody>
                  <a:tcPr marL="58802" marR="58802" marT="29401" marB="29401" anchor="ctr"/>
                </a:tc>
                <a:tc>
                  <a:txBody>
                    <a:bodyPr/>
                    <a:lstStyle/>
                    <a:p>
                      <a:pPr algn="ctr">
                        <a:buNone/>
                      </a:pPr>
                      <a:r>
                        <a:rPr lang="en-IN" sz="1400" b="1"/>
                        <a:t>Limitations</a:t>
                      </a:r>
                    </a:p>
                  </a:txBody>
                  <a:tcPr marL="58802" marR="58802" marT="29401" marB="29401" anchor="ctr"/>
                </a:tc>
                <a:tc>
                  <a:txBody>
                    <a:bodyPr/>
                    <a:lstStyle/>
                    <a:p>
                      <a:pPr algn="ctr">
                        <a:buNone/>
                      </a:pPr>
                      <a:r>
                        <a:rPr lang="en-IN" sz="1400" b="1" dirty="0"/>
                        <a:t>Best Use Cases</a:t>
                      </a:r>
                    </a:p>
                  </a:txBody>
                  <a:tcPr marL="58802" marR="58802" marT="29401" marB="29401" anchor="ctr"/>
                </a:tc>
                <a:extLst>
                  <a:ext uri="{0D108BD9-81ED-4DB2-BD59-A6C34878D82A}">
                    <a16:rowId xmlns:a16="http://schemas.microsoft.com/office/drawing/2014/main" val="4106773302"/>
                  </a:ext>
                </a:extLst>
              </a:tr>
              <a:tr h="1447692">
                <a:tc>
                  <a:txBody>
                    <a:bodyPr/>
                    <a:lstStyle/>
                    <a:p>
                      <a:pPr algn="ctr">
                        <a:buNone/>
                      </a:pPr>
                      <a:r>
                        <a:rPr lang="en-IN" sz="1400" b="1" dirty="0"/>
                        <a:t>Long Short Term Memory (LSTM)</a:t>
                      </a:r>
                      <a:endParaRPr lang="en-IN" sz="1400" dirty="0"/>
                    </a:p>
                  </a:txBody>
                  <a:tcPr marL="58802" marR="58802" marT="29401" marB="29401" anchor="ctr"/>
                </a:tc>
                <a:tc>
                  <a:txBody>
                    <a:bodyPr/>
                    <a:lstStyle/>
                    <a:p>
                      <a:pPr algn="ctr">
                        <a:buNone/>
                      </a:pPr>
                      <a:r>
                        <a:rPr lang="en-US" sz="1400" dirty="0"/>
                        <a:t>Learns </a:t>
                      </a:r>
                      <a:r>
                        <a:rPr lang="en-US" sz="1400" b="1" dirty="0"/>
                        <a:t>long-term dependencies</a:t>
                      </a:r>
                      <a:r>
                        <a:rPr lang="en-US" sz="1400" dirty="0"/>
                        <a:t> in sequential data</a:t>
                      </a:r>
                    </a:p>
                  </a:txBody>
                  <a:tcPr marL="58802" marR="58802" marT="29401" marB="29401" anchor="ctr"/>
                </a:tc>
                <a:tc>
                  <a:txBody>
                    <a:bodyPr/>
                    <a:lstStyle/>
                    <a:p>
                      <a:pPr algn="ctr">
                        <a:buNone/>
                      </a:pPr>
                      <a:r>
                        <a:rPr lang="en-US" sz="1400"/>
                        <a:t>Single-direction recurrent unit with </a:t>
                      </a:r>
                      <a:r>
                        <a:rPr lang="en-US" sz="1400" b="1"/>
                        <a:t>input, forget, and output gates</a:t>
                      </a:r>
                      <a:endParaRPr lang="en-US" sz="1400"/>
                    </a:p>
                  </a:txBody>
                  <a:tcPr marL="58802" marR="58802" marT="29401" marB="29401" anchor="ctr"/>
                </a:tc>
                <a:tc>
                  <a:txBody>
                    <a:bodyPr/>
                    <a:lstStyle/>
                    <a:p>
                      <a:pPr marL="0" indent="0" algn="l">
                        <a:buFontTx/>
                        <a:buNone/>
                      </a:pPr>
                      <a:r>
                        <a:rPr lang="en-US" sz="1400" dirty="0"/>
                        <a:t>- Handles </a:t>
                      </a:r>
                      <a:r>
                        <a:rPr lang="en-US" sz="1400" b="1" dirty="0"/>
                        <a:t>vanishing gradient</a:t>
                      </a:r>
                      <a:r>
                        <a:rPr lang="en-US" sz="1400" dirty="0"/>
                        <a:t> problem- Good for </a:t>
                      </a:r>
                      <a:r>
                        <a:rPr lang="en-US" sz="1400" b="1" dirty="0"/>
                        <a:t>time-series / sequential classification.</a:t>
                      </a:r>
                    </a:p>
                    <a:p>
                      <a:pPr marL="0" indent="0" algn="l">
                        <a:buFont typeface="Arial" panose="020B0604020202020204" pitchFamily="34" charset="0"/>
                        <a:buNone/>
                      </a:pPr>
                      <a:r>
                        <a:rPr lang="en-US" sz="1400" dirty="0"/>
                        <a:t> - Captures </a:t>
                      </a:r>
                      <a:r>
                        <a:rPr lang="en-US" sz="1400" b="1" dirty="0"/>
                        <a:t>temporal memory</a:t>
                      </a:r>
                      <a:r>
                        <a:rPr lang="en-US" sz="1400" dirty="0"/>
                        <a:t> effectively.</a:t>
                      </a:r>
                    </a:p>
                  </a:txBody>
                  <a:tcPr marL="58802" marR="58802" marT="29401" marB="29401" anchor="ctr"/>
                </a:tc>
                <a:tc>
                  <a:txBody>
                    <a:bodyPr/>
                    <a:lstStyle/>
                    <a:p>
                      <a:pPr marL="0" indent="0" algn="l">
                        <a:buFontTx/>
                        <a:buNone/>
                      </a:pPr>
                      <a:r>
                        <a:rPr lang="en-US" sz="1400" dirty="0"/>
                        <a:t>- Loses information from </a:t>
                      </a:r>
                      <a:r>
                        <a:rPr lang="en-US" sz="1400" b="1" dirty="0"/>
                        <a:t>future context.</a:t>
                      </a:r>
                    </a:p>
                    <a:p>
                      <a:pPr marL="0" indent="0" algn="l">
                        <a:buFontTx/>
                        <a:buNone/>
                      </a:pPr>
                      <a:r>
                        <a:rPr lang="en-US" sz="1400" dirty="0"/>
                        <a:t>- May underperform on </a:t>
                      </a:r>
                      <a:r>
                        <a:rPr lang="en-US" sz="1400" b="1" dirty="0"/>
                        <a:t>complex motion patterns.</a:t>
                      </a:r>
                      <a:endParaRPr lang="en-US" sz="1400" dirty="0"/>
                    </a:p>
                  </a:txBody>
                  <a:tcPr marL="58802" marR="58802" marT="29401" marB="29401" anchor="ctr"/>
                </a:tc>
                <a:tc>
                  <a:txBody>
                    <a:bodyPr/>
                    <a:lstStyle/>
                    <a:p>
                      <a:pPr algn="ctr">
                        <a:buNone/>
                      </a:pPr>
                      <a:r>
                        <a:rPr lang="en-US" sz="1400"/>
                        <a:t>Basic </a:t>
                      </a:r>
                      <a:r>
                        <a:rPr lang="en-US" sz="1400" b="1"/>
                        <a:t>sequence forecasting</a:t>
                      </a:r>
                      <a:r>
                        <a:rPr lang="en-US" sz="1400"/>
                        <a:t>, simple </a:t>
                      </a:r>
                      <a:r>
                        <a:rPr lang="en-US" sz="1400" b="1"/>
                        <a:t>activity recognition</a:t>
                      </a:r>
                      <a:r>
                        <a:rPr lang="en-US" sz="1400"/>
                        <a:t>, speech modeling</a:t>
                      </a:r>
                    </a:p>
                  </a:txBody>
                  <a:tcPr marL="58802" marR="58802" marT="29401" marB="29401" anchor="ctr"/>
                </a:tc>
                <a:extLst>
                  <a:ext uri="{0D108BD9-81ED-4DB2-BD59-A6C34878D82A}">
                    <a16:rowId xmlns:a16="http://schemas.microsoft.com/office/drawing/2014/main" val="3985763223"/>
                  </a:ext>
                </a:extLst>
              </a:tr>
              <a:tr h="1447692">
                <a:tc>
                  <a:txBody>
                    <a:bodyPr/>
                    <a:lstStyle/>
                    <a:p>
                      <a:pPr algn="ctr">
                        <a:buNone/>
                      </a:pPr>
                      <a:r>
                        <a:rPr lang="en-IN" sz="1400" b="1" dirty="0"/>
                        <a:t>Bidirectional LSTM (</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Uses </a:t>
                      </a:r>
                      <a:r>
                        <a:rPr lang="en-US" sz="1400" b="1"/>
                        <a:t>past + future context</a:t>
                      </a:r>
                      <a:r>
                        <a:rPr lang="en-US" sz="1400"/>
                        <a:t> for each time step</a:t>
                      </a:r>
                    </a:p>
                  </a:txBody>
                  <a:tcPr marL="58802" marR="58802" marT="29401" marB="29401" anchor="ctr"/>
                </a:tc>
                <a:tc>
                  <a:txBody>
                    <a:bodyPr/>
                    <a:lstStyle/>
                    <a:p>
                      <a:pPr algn="ctr">
                        <a:buNone/>
                      </a:pPr>
                      <a:r>
                        <a:rPr lang="en-US" sz="1400"/>
                        <a:t>Two </a:t>
                      </a:r>
                      <a:r>
                        <a:rPr lang="en-US" sz="1400" b="1"/>
                        <a:t>LSTM</a:t>
                      </a:r>
                      <a:r>
                        <a:rPr lang="en-US" sz="1400"/>
                        <a:t> layers: one forward, one backward, outputs concatenated</a:t>
                      </a:r>
                    </a:p>
                  </a:txBody>
                  <a:tcPr marL="58802" marR="58802" marT="29401" marB="29401" anchor="ctr"/>
                </a:tc>
                <a:tc>
                  <a:txBody>
                    <a:bodyPr/>
                    <a:lstStyle/>
                    <a:p>
                      <a:pPr marL="0" indent="0" algn="l">
                        <a:buFontTx/>
                        <a:buNone/>
                      </a:pPr>
                      <a:r>
                        <a:rPr lang="en-US" sz="1400" dirty="0"/>
                        <a:t>- Strong </a:t>
                      </a:r>
                      <a:r>
                        <a:rPr lang="en-US" sz="1400" b="1" dirty="0"/>
                        <a:t>contextual understanding</a:t>
                      </a:r>
                      <a:r>
                        <a:rPr lang="en-US" sz="1400" dirty="0"/>
                        <a:t>- Captures </a:t>
                      </a:r>
                      <a:r>
                        <a:rPr lang="en-US" sz="1400" b="1" dirty="0"/>
                        <a:t>bidirectional motion patterns.</a:t>
                      </a:r>
                    </a:p>
                    <a:p>
                      <a:pPr marL="0" indent="0" algn="l">
                        <a:buFontTx/>
                        <a:buNone/>
                      </a:pPr>
                      <a:r>
                        <a:rPr lang="en-US" sz="1400" dirty="0"/>
                        <a:t>- Good for </a:t>
                      </a:r>
                      <a:r>
                        <a:rPr lang="en-US" sz="1400" b="1" dirty="0"/>
                        <a:t>overlapping / subtle movements.</a:t>
                      </a:r>
                      <a:endParaRPr lang="en-US" sz="1400" dirty="0"/>
                    </a:p>
                  </a:txBody>
                  <a:tcPr marL="58802" marR="58802" marT="29401" marB="29401" anchor="ctr"/>
                </a:tc>
                <a:tc>
                  <a:txBody>
                    <a:bodyPr/>
                    <a:lstStyle/>
                    <a:p>
                      <a:pPr marL="0" indent="0" algn="l">
                        <a:buFontTx/>
                        <a:buNone/>
                      </a:pPr>
                      <a:r>
                        <a:rPr lang="en-US" sz="1400" dirty="0"/>
                        <a:t>- Increased </a:t>
                      </a:r>
                      <a:r>
                        <a:rPr lang="en-US" sz="1400" b="1" dirty="0"/>
                        <a:t>computational load.</a:t>
                      </a:r>
                    </a:p>
                    <a:p>
                      <a:pPr marL="0" indent="0" algn="l">
                        <a:buFontTx/>
                        <a:buNone/>
                      </a:pPr>
                      <a:r>
                        <a:rPr lang="en-US" sz="1400" dirty="0"/>
                        <a:t>- More memory usage due to dual processing.</a:t>
                      </a:r>
                    </a:p>
                  </a:txBody>
                  <a:tcPr marL="58802" marR="58802" marT="29401" marB="29401" anchor="ctr"/>
                </a:tc>
                <a:tc>
                  <a:txBody>
                    <a:bodyPr/>
                    <a:lstStyle/>
                    <a:p>
                      <a:pPr algn="ctr">
                        <a:buNone/>
                      </a:pPr>
                      <a:r>
                        <a:rPr lang="en-US" sz="1400" b="1"/>
                        <a:t>Human activity recognition</a:t>
                      </a:r>
                      <a:r>
                        <a:rPr lang="en-US" sz="1400"/>
                        <a:t>, NLP tasks, gesture recognition</a:t>
                      </a:r>
                    </a:p>
                  </a:txBody>
                  <a:tcPr marL="58802" marR="58802" marT="29401" marB="29401" anchor="ctr"/>
                </a:tc>
                <a:extLst>
                  <a:ext uri="{0D108BD9-81ED-4DB2-BD59-A6C34878D82A}">
                    <a16:rowId xmlns:a16="http://schemas.microsoft.com/office/drawing/2014/main" val="439000357"/>
                  </a:ext>
                </a:extLst>
              </a:tr>
              <a:tr h="2306490">
                <a:tc>
                  <a:txBody>
                    <a:bodyPr/>
                    <a:lstStyle/>
                    <a:p>
                      <a:pPr algn="ctr">
                        <a:buNone/>
                      </a:pPr>
                      <a:r>
                        <a:rPr lang="en-IN" sz="1400" b="1" dirty="0"/>
                        <a:t>Gated Residual Skip </a:t>
                      </a:r>
                      <a:r>
                        <a:rPr lang="en-IN" sz="1400" b="1" dirty="0" err="1"/>
                        <a:t>BiLSTM</a:t>
                      </a:r>
                      <a:r>
                        <a:rPr lang="en-IN" sz="1400" b="1" dirty="0"/>
                        <a:t> (GRS-</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Enhances BiLSTM with </a:t>
                      </a:r>
                      <a:r>
                        <a:rPr lang="en-US" sz="1400" b="1"/>
                        <a:t>Gated Residual Skip (GRS)</a:t>
                      </a:r>
                      <a:r>
                        <a:rPr lang="en-US" sz="1400"/>
                        <a:t> connections</a:t>
                      </a:r>
                    </a:p>
                  </a:txBody>
                  <a:tcPr marL="58802" marR="58802" marT="29401" marB="29401" anchor="ctr"/>
                </a:tc>
                <a:tc>
                  <a:txBody>
                    <a:bodyPr/>
                    <a:lstStyle/>
                    <a:p>
                      <a:pPr algn="ctr">
                        <a:buNone/>
                      </a:pPr>
                      <a:r>
                        <a:rPr lang="en-US" sz="1400" b="1" dirty="0" err="1"/>
                        <a:t>BiLSTM</a:t>
                      </a:r>
                      <a:r>
                        <a:rPr lang="en-US" sz="1400" b="1" dirty="0"/>
                        <a:t> backbone + gating layer + residual skip pathways</a:t>
                      </a:r>
                      <a:r>
                        <a:rPr lang="en-US" sz="1400" dirty="0"/>
                        <a:t> + optional </a:t>
                      </a:r>
                      <a:r>
                        <a:rPr lang="en-US" sz="1400" b="1" dirty="0"/>
                        <a:t>multi-scale inputs</a:t>
                      </a:r>
                      <a:endParaRPr lang="en-US" sz="1400" dirty="0"/>
                    </a:p>
                  </a:txBody>
                  <a:tcPr marL="58802" marR="58802" marT="29401" marB="29401" anchor="ctr"/>
                </a:tc>
                <a:tc>
                  <a:txBody>
                    <a:bodyPr/>
                    <a:lstStyle/>
                    <a:p>
                      <a:pPr marL="0" indent="0" algn="l">
                        <a:buFontTx/>
                        <a:buNone/>
                      </a:pPr>
                      <a:r>
                        <a:rPr lang="en-US" sz="1400" dirty="0"/>
                        <a:t>- Improved </a:t>
                      </a:r>
                      <a:r>
                        <a:rPr lang="en-US" sz="1400" b="1" dirty="0"/>
                        <a:t>gradient flow</a:t>
                      </a:r>
                      <a:r>
                        <a:rPr lang="en-US" sz="1400" dirty="0"/>
                        <a:t> and </a:t>
                      </a:r>
                      <a:r>
                        <a:rPr lang="en-US" sz="1400" b="1" dirty="0"/>
                        <a:t>training stability</a:t>
                      </a:r>
                      <a:r>
                        <a:rPr lang="en-US" sz="1400" dirty="0"/>
                        <a:t>- Better </a:t>
                      </a:r>
                      <a:r>
                        <a:rPr lang="en-US" sz="1400" b="1" dirty="0"/>
                        <a:t>multi-resolution temporal modeling.</a:t>
                      </a:r>
                    </a:p>
                    <a:p>
                      <a:pPr marL="0" indent="0" algn="l">
                        <a:buFontTx/>
                        <a:buNone/>
                      </a:pPr>
                      <a:r>
                        <a:rPr lang="en-US" sz="1400" dirty="0"/>
                        <a:t>- Handles </a:t>
                      </a:r>
                      <a:r>
                        <a:rPr lang="en-US" sz="1400" b="1" dirty="0"/>
                        <a:t>subtle transitions</a:t>
                      </a:r>
                      <a:r>
                        <a:rPr lang="en-US" sz="1400" dirty="0"/>
                        <a:t> and </a:t>
                      </a:r>
                      <a:r>
                        <a:rPr lang="en-US" sz="1400" b="1" dirty="0"/>
                        <a:t>long motion dependencies</a:t>
                      </a:r>
                      <a:r>
                        <a:rPr lang="en-US" sz="1400" dirty="0"/>
                        <a:t>- Reduces </a:t>
                      </a:r>
                      <a:r>
                        <a:rPr lang="en-US" sz="1400" b="1" dirty="0"/>
                        <a:t>over-smoothing and information loss.</a:t>
                      </a:r>
                      <a:endParaRPr lang="en-US" sz="1400" dirty="0"/>
                    </a:p>
                  </a:txBody>
                  <a:tcPr marL="58802" marR="58802" marT="29401" marB="29401" anchor="ctr"/>
                </a:tc>
                <a:tc>
                  <a:txBody>
                    <a:bodyPr/>
                    <a:lstStyle/>
                    <a:p>
                      <a:pPr marL="0" indent="0" algn="l">
                        <a:buFontTx/>
                        <a:buNone/>
                      </a:pPr>
                      <a:r>
                        <a:rPr lang="en-US" sz="1400" b="1" dirty="0"/>
                        <a:t>- Complex architecture</a:t>
                      </a:r>
                      <a:r>
                        <a:rPr lang="en-US" sz="1400" dirty="0"/>
                        <a:t> requiring careful tuning .</a:t>
                      </a:r>
                    </a:p>
                    <a:p>
                      <a:pPr marL="0" indent="0" algn="l">
                        <a:buFontTx/>
                        <a:buNone/>
                      </a:pPr>
                      <a:r>
                        <a:rPr lang="en-US" sz="1400" dirty="0"/>
                        <a:t>- Higher </a:t>
                      </a:r>
                      <a:r>
                        <a:rPr lang="en-US" sz="1400" b="1" dirty="0"/>
                        <a:t>training time</a:t>
                      </a:r>
                      <a:r>
                        <a:rPr lang="en-US" sz="1400" dirty="0"/>
                        <a:t> and </a:t>
                      </a:r>
                      <a:r>
                        <a:rPr lang="en-US" sz="1400" b="1" dirty="0"/>
                        <a:t>model size.</a:t>
                      </a:r>
                      <a:endParaRPr lang="en-US" sz="1400" dirty="0"/>
                    </a:p>
                  </a:txBody>
                  <a:tcPr marL="58802" marR="58802" marT="29401" marB="29401" anchor="ctr"/>
                </a:tc>
                <a:tc>
                  <a:txBody>
                    <a:bodyPr/>
                    <a:lstStyle/>
                    <a:p>
                      <a:pPr algn="ctr">
                        <a:buNone/>
                      </a:pPr>
                      <a:r>
                        <a:rPr lang="en-US" sz="1400" b="1" dirty="0"/>
                        <a:t>High-precision activity recognition</a:t>
                      </a:r>
                      <a:r>
                        <a:rPr lang="en-US" sz="1400" dirty="0"/>
                        <a:t>, </a:t>
                      </a:r>
                      <a:r>
                        <a:rPr lang="en-US" sz="1400" b="1" dirty="0"/>
                        <a:t>multi-sensor fusion</a:t>
                      </a:r>
                      <a:r>
                        <a:rPr lang="en-US" sz="1400" dirty="0"/>
                        <a:t>, real-world motion environments</a:t>
                      </a:r>
                    </a:p>
                  </a:txBody>
                  <a:tcPr marL="58802" marR="58802" marT="29401" marB="29401" anchor="ctr"/>
                </a:tc>
                <a:extLst>
                  <a:ext uri="{0D108BD9-81ED-4DB2-BD59-A6C34878D82A}">
                    <a16:rowId xmlns:a16="http://schemas.microsoft.com/office/drawing/2014/main" val="2840878820"/>
                  </a:ext>
                </a:extLst>
              </a:tr>
            </a:tbl>
          </a:graphicData>
        </a:graphic>
      </p:graphicFrame>
      <p:sp>
        <p:nvSpPr>
          <p:cNvPr id="5" name="Slide Number Placeholder 4">
            <a:extLst>
              <a:ext uri="{FF2B5EF4-FFF2-40B4-BE49-F238E27FC236}">
                <a16:creationId xmlns:a16="http://schemas.microsoft.com/office/drawing/2014/main" id="{27D278D5-0877-6AEE-10E1-B0DF2D4A70D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15</a:t>
            </a:fld>
            <a:endParaRPr lang="en-IN"/>
          </a:p>
        </p:txBody>
      </p:sp>
    </p:spTree>
    <p:extLst>
      <p:ext uri="{BB962C8B-B14F-4D97-AF65-F5344CB8AC3E}">
        <p14:creationId xmlns:p14="http://schemas.microsoft.com/office/powerpoint/2010/main" val="252412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07CDF-A9EE-42A7-3581-26FD9181660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B453B93-707F-927D-B789-8A139F2C31A9}"/>
              </a:ext>
            </a:extLst>
          </p:cNvPr>
          <p:cNvSpPr/>
          <p:nvPr/>
        </p:nvSpPr>
        <p:spPr>
          <a:xfrm>
            <a:off x="127819" y="127819"/>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Proposed Model – 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36D8B58F-620E-3924-4231-125ADB2B83C4}"/>
              </a:ext>
            </a:extLst>
          </p:cNvPr>
          <p:cNvSpPr txBox="1"/>
          <p:nvPr/>
        </p:nvSpPr>
        <p:spPr>
          <a:xfrm>
            <a:off x="127819" y="1333009"/>
            <a:ext cx="11915418" cy="4191981"/>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Name :</a:t>
            </a:r>
            <a:r>
              <a:rPr lang="en-US" sz="2000" dirty="0">
                <a:solidFill>
                  <a:schemeClr val="tx1"/>
                </a:solidFill>
                <a:latin typeface="Times New Roman" panose="02020603050405020304" pitchFamily="18" charset="0"/>
                <a:cs typeface="Times New Roman" panose="02020603050405020304" pitchFamily="18" charset="0"/>
              </a:rPr>
              <a:t> Multi-Scale Gated Residual Skip Bidirectional Long Short Term Memory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Goal :</a:t>
            </a:r>
            <a:r>
              <a:rPr lang="en-US" sz="2000" dirty="0">
                <a:solidFill>
                  <a:schemeClr val="tx1"/>
                </a:solidFill>
                <a:latin typeface="Times New Roman" panose="02020603050405020304" pitchFamily="18" charset="0"/>
                <a:cs typeface="Times New Roman" panose="02020603050405020304" pitchFamily="18" charset="0"/>
              </a:rPr>
              <a:t> classify short time-windows of sensor / joint data into activity classes.</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Key ideas </a:t>
            </a:r>
            <a:r>
              <a:rPr lang="en-US" sz="2000" dirty="0">
                <a:solidFill>
                  <a:schemeClr val="tx1"/>
                </a:solidFill>
                <a:latin typeface="Times New Roman" panose="02020603050405020304" pitchFamily="18" charset="0"/>
                <a:cs typeface="Times New Roman" panose="02020603050405020304" pitchFamily="18" charset="0"/>
              </a:rPr>
              <a:t>: multi-scale temporal representation, learned gates to fuse scales, residual skip from raw input,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temporal modeling.</a:t>
            </a:r>
          </a:p>
          <a:p>
            <a:pPr marL="285750" indent="-285750">
              <a:lnSpc>
                <a:spcPct val="150000"/>
              </a:lnSpc>
              <a:buFont typeface="Wingdings" panose="05000000000000000000" pitchFamily="2" charset="2"/>
              <a:buChar char="ü"/>
            </a:pPr>
            <a:r>
              <a:rPr lang="en-US" sz="2000" dirty="0">
                <a:solidFill>
                  <a:schemeClr val="tx1"/>
                </a:solidFill>
                <a:latin typeface="Times New Roman" panose="02020603050405020304" pitchFamily="18" charset="0"/>
                <a:cs typeface="Times New Roman" panose="02020603050405020304" pitchFamily="18" charset="0"/>
              </a:rPr>
              <a:t>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is </a:t>
            </a:r>
            <a:r>
              <a:rPr lang="en-US" sz="2000" b="1" dirty="0">
                <a:solidFill>
                  <a:schemeClr val="tx1"/>
                </a:solidFill>
                <a:latin typeface="Times New Roman" panose="02020603050405020304" pitchFamily="18" charset="0"/>
                <a:cs typeface="Times New Roman" panose="02020603050405020304" pitchFamily="18" charset="0"/>
              </a:rPr>
              <a:t>not just detecting momentary movement</a:t>
            </a:r>
            <a:r>
              <a:rPr lang="en-US" sz="2000" dirty="0">
                <a:solidFill>
                  <a:schemeClr val="tx1"/>
                </a:solidFill>
                <a:latin typeface="Times New Roman" panose="02020603050405020304" pitchFamily="18" charset="0"/>
                <a:cs typeface="Times New Roman" panose="02020603050405020304" pitchFamily="18" charset="0"/>
              </a:rPr>
              <a:t>, but is:	</a:t>
            </a:r>
          </a:p>
          <a:p>
            <a:pPr>
              <a:lnSpc>
                <a:spcPct val="150000"/>
              </a:lnSpc>
            </a:pPr>
            <a:r>
              <a:rPr lang="en-US" sz="2000" dirty="0">
                <a:solidFill>
                  <a:schemeClr val="tx1"/>
                </a:solidFill>
                <a:latin typeface="Times New Roman" panose="02020603050405020304" pitchFamily="18" charset="0"/>
                <a:cs typeface="Times New Roman" panose="02020603050405020304" pitchFamily="18" charset="0"/>
              </a:rPr>
              <a:t>	</a:t>
            </a:r>
            <a:r>
              <a:rPr lang="en-US" sz="2000" dirty="0">
                <a:solidFill>
                  <a:srgbClr val="00B0F0"/>
                </a:solidFill>
                <a:latin typeface="Times New Roman" panose="02020603050405020304" pitchFamily="18" charset="0"/>
                <a:cs typeface="Times New Roman" panose="02020603050405020304" pitchFamily="18" charset="0"/>
              </a:rPr>
              <a:t>Understanding the shape of motion over time, at multiple speeds, while carefully preserving useful 	information and filtering noise.</a:t>
            </a:r>
          </a:p>
          <a:p>
            <a:pPr>
              <a:lnSpc>
                <a:spcPct val="150000"/>
              </a:lnSpc>
            </a:pPr>
            <a:endParaRPr lang="en-US" sz="2000" dirty="0">
              <a:solidFill>
                <a:schemeClr val="tx1"/>
              </a:solidFill>
              <a:latin typeface="Times New Roman" panose="02020603050405020304" pitchFamily="18" charset="0"/>
              <a:cs typeface="Times New Roman" panose="02020603050405020304" pitchFamily="18" charset="0"/>
            </a:endParaRPr>
          </a:p>
          <a:p>
            <a:pPr marL="285750" lvl="5" indent="-285750">
              <a:lnSpc>
                <a:spcPct val="150000"/>
              </a:lnSpc>
              <a:buFont typeface="Wingdings" panose="05000000000000000000" pitchFamily="2" charset="2"/>
              <a:buChar char="ü"/>
            </a:pPr>
            <a:endParaRPr lang="en-US" sz="2000" dirty="0">
              <a:solidFill>
                <a:schemeClr val="tx1"/>
              </a:solidFill>
              <a:latin typeface="Times New Roman" panose="02020603050405020304" pitchFamily="18" charset="0"/>
              <a:cs typeface="Times New Roman" panose="02020603050405020304" pitchFamily="18" charset="0"/>
            </a:endParaRPr>
          </a:p>
        </p:txBody>
      </p:sp>
      <p:pic>
        <p:nvPicPr>
          <p:cNvPr id="9" name="Google Shape;97;p14">
            <a:extLst>
              <a:ext uri="{FF2B5EF4-FFF2-40B4-BE49-F238E27FC236}">
                <a16:creationId xmlns:a16="http://schemas.microsoft.com/office/drawing/2014/main" id="{CE95CF3C-B449-B4C1-12BB-52183D9C031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3" name="Slide Number Placeholder 2">
            <a:extLst>
              <a:ext uri="{FF2B5EF4-FFF2-40B4-BE49-F238E27FC236}">
                <a16:creationId xmlns:a16="http://schemas.microsoft.com/office/drawing/2014/main" id="{404AD1CA-50DF-2876-694B-709EC3A02A2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16</a:t>
            </a:fld>
            <a:endParaRPr lang="en-IN"/>
          </a:p>
        </p:txBody>
      </p:sp>
    </p:spTree>
    <p:extLst>
      <p:ext uri="{BB962C8B-B14F-4D97-AF65-F5344CB8AC3E}">
        <p14:creationId xmlns:p14="http://schemas.microsoft.com/office/powerpoint/2010/main" val="3427646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C2B10-FD0A-D143-9E4F-6AC0212F3C04}"/>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4384069-DB2F-DC28-B455-1A3B69569822}"/>
              </a:ext>
            </a:extLst>
          </p:cNvPr>
          <p:cNvSpPr/>
          <p:nvPr/>
        </p:nvSpPr>
        <p:spPr>
          <a:xfrm>
            <a:off x="206478" y="152627"/>
            <a:ext cx="10007830" cy="892980"/>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US" sz="2800" b="1" dirty="0">
              <a:solidFill>
                <a:srgbClr val="002060"/>
              </a:solidFill>
              <a:latin typeface="Times New Roman" panose="02020603050405020304" pitchFamily="18" charset="0"/>
              <a:cs typeface="Times New Roman" panose="02020603050405020304" pitchFamily="18" charset="0"/>
            </a:endParaRPr>
          </a:p>
        </p:txBody>
      </p:sp>
      <p:pic>
        <p:nvPicPr>
          <p:cNvPr id="9" name="Google Shape;97;p14">
            <a:extLst>
              <a:ext uri="{FF2B5EF4-FFF2-40B4-BE49-F238E27FC236}">
                <a16:creationId xmlns:a16="http://schemas.microsoft.com/office/drawing/2014/main" id="{491E00DA-57D3-A16A-BC13-6FCCA5FA6C88}"/>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6" name="TextBox 15">
            <a:extLst>
              <a:ext uri="{FF2B5EF4-FFF2-40B4-BE49-F238E27FC236}">
                <a16:creationId xmlns:a16="http://schemas.microsoft.com/office/drawing/2014/main" id="{8CEACA88-6459-ABFD-68DE-175B4D92BF8F}"/>
              </a:ext>
            </a:extLst>
          </p:cNvPr>
          <p:cNvSpPr txBox="1"/>
          <p:nvPr/>
        </p:nvSpPr>
        <p:spPr>
          <a:xfrm>
            <a:off x="206478" y="1162404"/>
            <a:ext cx="10940902" cy="1323439"/>
          </a:xfrm>
          <a:prstGeom prst="rect">
            <a:avLst/>
          </a:prstGeom>
          <a:noFill/>
        </p:spPr>
        <p:txBody>
          <a:bodyPr wrap="square" rtlCol="0">
            <a:spAutoFit/>
          </a:bodyPr>
          <a:lstStyle/>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Why Multi-Scale (MS) is Needed ?</a:t>
            </a:r>
          </a:p>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Different activities show patterns at </a:t>
            </a:r>
            <a:r>
              <a:rPr lang="en-US" sz="2000" b="1" dirty="0">
                <a:solidFill>
                  <a:schemeClr val="tx1"/>
                </a:solidFill>
                <a:latin typeface="Times New Roman" panose="02020603050405020304" pitchFamily="18" charset="0"/>
                <a:cs typeface="Times New Roman" panose="02020603050405020304" pitchFamily="18" charset="0"/>
              </a:rPr>
              <a:t>different time speeds</a:t>
            </a:r>
            <a:r>
              <a:rPr lang="en-US" sz="2000" dirty="0">
                <a:solidFill>
                  <a:schemeClr val="tx1"/>
                </a:solidFill>
                <a:latin typeface="Times New Roman" panose="02020603050405020304" pitchFamily="18" charset="0"/>
                <a:cs typeface="Times New Roman" panose="02020603050405020304" pitchFamily="18" charset="0"/>
              </a:rPr>
              <a:t>:</a:t>
            </a:r>
            <a:endParaRPr lang="en-IN" sz="2000" b="1" dirty="0">
              <a:solidFill>
                <a:schemeClr val="tx1"/>
              </a:solidFill>
              <a:latin typeface="Times New Roman" panose="02020603050405020304" pitchFamily="18" charset="0"/>
              <a:cs typeface="Times New Roman" panose="02020603050405020304" pitchFamily="18" charset="0"/>
            </a:endParaRPr>
          </a:p>
          <a:p>
            <a:pPr>
              <a:spcBef>
                <a:spcPts val="1200"/>
              </a:spcBef>
            </a:pPr>
            <a:endParaRPr lang="en-US" sz="2000" dirty="0">
              <a:solidFill>
                <a:schemeClr val="tx1"/>
              </a:solidFill>
              <a:latin typeface="Times New Roman" panose="02020603050405020304" pitchFamily="18" charset="0"/>
              <a:cs typeface="Times New Roman" panose="02020603050405020304" pitchFamily="18" charset="0"/>
            </a:endParaRPr>
          </a:p>
        </p:txBody>
      </p:sp>
      <p:graphicFrame>
        <p:nvGraphicFramePr>
          <p:cNvPr id="17" name="Table 16">
            <a:extLst>
              <a:ext uri="{FF2B5EF4-FFF2-40B4-BE49-F238E27FC236}">
                <a16:creationId xmlns:a16="http://schemas.microsoft.com/office/drawing/2014/main" id="{39DC9EB8-05D1-E9C6-AEDE-47D1078FAE99}"/>
              </a:ext>
            </a:extLst>
          </p:cNvPr>
          <p:cNvGraphicFramePr>
            <a:graphicFrameLocks noGrp="1"/>
          </p:cNvGraphicFramePr>
          <p:nvPr>
            <p:extLst>
              <p:ext uri="{D42A27DB-BD31-4B8C-83A1-F6EECF244321}">
                <p14:modId xmlns:p14="http://schemas.microsoft.com/office/powerpoint/2010/main" val="1810156285"/>
              </p:ext>
            </p:extLst>
          </p:nvPr>
        </p:nvGraphicFramePr>
        <p:xfrm>
          <a:off x="294101" y="2130916"/>
          <a:ext cx="6612027" cy="1321480"/>
        </p:xfrm>
        <a:graphic>
          <a:graphicData uri="http://schemas.openxmlformats.org/drawingml/2006/table">
            <a:tbl>
              <a:tblPr firstRow="1" bandRow="1">
                <a:tableStyleId>{7DF18680-E054-41AD-8BC1-D1AEF772440D}</a:tableStyleId>
              </a:tblPr>
              <a:tblGrid>
                <a:gridCol w="2204009">
                  <a:extLst>
                    <a:ext uri="{9D8B030D-6E8A-4147-A177-3AD203B41FA5}">
                      <a16:colId xmlns:a16="http://schemas.microsoft.com/office/drawing/2014/main" val="3111009123"/>
                    </a:ext>
                  </a:extLst>
                </a:gridCol>
                <a:gridCol w="2204009">
                  <a:extLst>
                    <a:ext uri="{9D8B030D-6E8A-4147-A177-3AD203B41FA5}">
                      <a16:colId xmlns:a16="http://schemas.microsoft.com/office/drawing/2014/main" val="3029207695"/>
                    </a:ext>
                  </a:extLst>
                </a:gridCol>
                <a:gridCol w="2204009">
                  <a:extLst>
                    <a:ext uri="{9D8B030D-6E8A-4147-A177-3AD203B41FA5}">
                      <a16:colId xmlns:a16="http://schemas.microsoft.com/office/drawing/2014/main" val="557257605"/>
                    </a:ext>
                  </a:extLst>
                </a:gridCol>
              </a:tblGrid>
              <a:tr h="330370">
                <a:tc>
                  <a:txBody>
                    <a:bodyPr/>
                    <a:lstStyle/>
                    <a:p>
                      <a:pPr algn="ctr"/>
                      <a:r>
                        <a:rPr lang="en-US" dirty="0"/>
                        <a:t>Activity Type </a:t>
                      </a:r>
                      <a:endParaRPr lang="en-IN" dirty="0"/>
                    </a:p>
                  </a:txBody>
                  <a:tcPr/>
                </a:tc>
                <a:tc>
                  <a:txBody>
                    <a:bodyPr/>
                    <a:lstStyle/>
                    <a:p>
                      <a:pPr algn="ctr"/>
                      <a:r>
                        <a:rPr lang="en-US" dirty="0"/>
                        <a:t>Activity Speed</a:t>
                      </a:r>
                      <a:endParaRPr lang="en-IN" dirty="0"/>
                    </a:p>
                  </a:txBody>
                  <a:tcPr/>
                </a:tc>
                <a:tc>
                  <a:txBody>
                    <a:bodyPr/>
                    <a:lstStyle/>
                    <a:p>
                      <a:pPr algn="ctr"/>
                      <a:r>
                        <a:rPr lang="en-US" dirty="0"/>
                        <a:t>Example</a:t>
                      </a:r>
                      <a:endParaRPr lang="en-IN" dirty="0"/>
                    </a:p>
                  </a:txBody>
                  <a:tcPr/>
                </a:tc>
                <a:extLst>
                  <a:ext uri="{0D108BD9-81ED-4DB2-BD59-A6C34878D82A}">
                    <a16:rowId xmlns:a16="http://schemas.microsoft.com/office/drawing/2014/main" val="488243764"/>
                  </a:ext>
                </a:extLst>
              </a:tr>
              <a:tr h="330370">
                <a:tc>
                  <a:txBody>
                    <a:bodyPr/>
                    <a:lstStyle/>
                    <a:p>
                      <a:pPr algn="ctr"/>
                      <a:r>
                        <a:rPr lang="en-IN" dirty="0"/>
                        <a:t>Quick &amp; Repetitive</a:t>
                      </a:r>
                    </a:p>
                  </a:txBody>
                  <a:tcPr/>
                </a:tc>
                <a:tc>
                  <a:txBody>
                    <a:bodyPr/>
                    <a:lstStyle/>
                    <a:p>
                      <a:pPr algn="ctr"/>
                      <a:r>
                        <a:rPr lang="en-IN" dirty="0"/>
                        <a:t>Fast</a:t>
                      </a:r>
                    </a:p>
                  </a:txBody>
                  <a:tcPr/>
                </a:tc>
                <a:tc>
                  <a:txBody>
                    <a:bodyPr/>
                    <a:lstStyle/>
                    <a:p>
                      <a:pPr algn="ctr">
                        <a:buNone/>
                      </a:pPr>
                      <a:r>
                        <a:rPr lang="en-IN" dirty="0"/>
                        <a:t>Running, Jumping</a:t>
                      </a:r>
                    </a:p>
                  </a:txBody>
                  <a:tcPr anchor="ctr"/>
                </a:tc>
                <a:extLst>
                  <a:ext uri="{0D108BD9-81ED-4DB2-BD59-A6C34878D82A}">
                    <a16:rowId xmlns:a16="http://schemas.microsoft.com/office/drawing/2014/main" val="856249194"/>
                  </a:ext>
                </a:extLst>
              </a:tr>
              <a:tr h="330370">
                <a:tc>
                  <a:txBody>
                    <a:bodyPr/>
                    <a:lstStyle/>
                    <a:p>
                      <a:pPr algn="ctr">
                        <a:buNone/>
                      </a:pPr>
                      <a:r>
                        <a:rPr lang="en-IN" dirty="0"/>
                        <a:t>Moderate Movement</a:t>
                      </a:r>
                    </a:p>
                  </a:txBody>
                  <a:tcPr anchor="ctr"/>
                </a:tc>
                <a:tc>
                  <a:txBody>
                    <a:bodyPr/>
                    <a:lstStyle/>
                    <a:p>
                      <a:pPr algn="ctr"/>
                      <a:r>
                        <a:rPr lang="en-IN" dirty="0"/>
                        <a:t>Medium</a:t>
                      </a:r>
                    </a:p>
                  </a:txBody>
                  <a:tcPr/>
                </a:tc>
                <a:tc>
                  <a:txBody>
                    <a:bodyPr/>
                    <a:lstStyle/>
                    <a:p>
                      <a:pPr algn="ctr"/>
                      <a:r>
                        <a:rPr lang="en-IN" dirty="0"/>
                        <a:t>Walking</a:t>
                      </a:r>
                    </a:p>
                  </a:txBody>
                  <a:tcPr/>
                </a:tc>
                <a:extLst>
                  <a:ext uri="{0D108BD9-81ED-4DB2-BD59-A6C34878D82A}">
                    <a16:rowId xmlns:a16="http://schemas.microsoft.com/office/drawing/2014/main" val="2332443241"/>
                  </a:ext>
                </a:extLst>
              </a:tr>
              <a:tr h="330370">
                <a:tc>
                  <a:txBody>
                    <a:bodyPr/>
                    <a:lstStyle/>
                    <a:p>
                      <a:pPr algn="ctr">
                        <a:buNone/>
                      </a:pPr>
                      <a:r>
                        <a:rPr lang="en-IN" dirty="0"/>
                        <a:t>Postural &amp; Stable</a:t>
                      </a:r>
                    </a:p>
                  </a:txBody>
                  <a:tcPr anchor="ctr"/>
                </a:tc>
                <a:tc>
                  <a:txBody>
                    <a:bodyPr/>
                    <a:lstStyle/>
                    <a:p>
                      <a:pPr algn="ctr"/>
                      <a:r>
                        <a:rPr lang="en-IN" dirty="0"/>
                        <a:t>Slow</a:t>
                      </a:r>
                    </a:p>
                  </a:txBody>
                  <a:tcPr/>
                </a:tc>
                <a:tc>
                  <a:txBody>
                    <a:bodyPr/>
                    <a:lstStyle/>
                    <a:p>
                      <a:pPr algn="ctr">
                        <a:buNone/>
                      </a:pPr>
                      <a:r>
                        <a:rPr lang="en-IN" dirty="0"/>
                        <a:t>Standing, Sitting</a:t>
                      </a:r>
                    </a:p>
                  </a:txBody>
                  <a:tcPr anchor="ctr"/>
                </a:tc>
                <a:extLst>
                  <a:ext uri="{0D108BD9-81ED-4DB2-BD59-A6C34878D82A}">
                    <a16:rowId xmlns:a16="http://schemas.microsoft.com/office/drawing/2014/main" val="3535650079"/>
                  </a:ext>
                </a:extLst>
              </a:tr>
            </a:tbl>
          </a:graphicData>
        </a:graphic>
      </p:graphicFrame>
      <p:sp>
        <p:nvSpPr>
          <p:cNvPr id="19" name="TextBox 18">
            <a:extLst>
              <a:ext uri="{FF2B5EF4-FFF2-40B4-BE49-F238E27FC236}">
                <a16:creationId xmlns:a16="http://schemas.microsoft.com/office/drawing/2014/main" id="{13A283D7-464D-C5F9-1D65-7C950FFE0C6F}"/>
              </a:ext>
            </a:extLst>
          </p:cNvPr>
          <p:cNvSpPr txBox="1"/>
          <p:nvPr/>
        </p:nvSpPr>
        <p:spPr>
          <a:xfrm>
            <a:off x="206478" y="3535274"/>
            <a:ext cx="7132785" cy="3170099"/>
          </a:xfrm>
          <a:prstGeom prst="rect">
            <a:avLst/>
          </a:prstGeom>
          <a:noFill/>
        </p:spPr>
        <p:txBody>
          <a:bodyPr wrap="square" rtlCol="0">
            <a:spAutoFit/>
          </a:bodyPr>
          <a:lstStyle/>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To capture these differences, the model </a:t>
            </a:r>
            <a:r>
              <a:rPr lang="en-US" sz="2000" b="1" dirty="0">
                <a:solidFill>
                  <a:schemeClr val="tx1"/>
                </a:solidFill>
                <a:latin typeface="Times New Roman" panose="02020603050405020304" pitchFamily="18" charset="0"/>
                <a:cs typeface="Times New Roman" panose="02020603050405020304" pitchFamily="18" charset="0"/>
              </a:rPr>
              <a:t>creates 3 versions</a:t>
            </a:r>
            <a:r>
              <a:rPr lang="en-US" sz="2000" dirty="0">
                <a:solidFill>
                  <a:schemeClr val="tx1"/>
                </a:solidFill>
                <a:latin typeface="Times New Roman" panose="02020603050405020304" pitchFamily="18" charset="0"/>
                <a:cs typeface="Times New Roman" panose="02020603050405020304" pitchFamily="18" charset="0"/>
              </a:rPr>
              <a:t> of each input window:</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Full detail (original resolution)</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Medium-scaled (every 2nd time step)</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Coarse-scaled (every 4th time step)</a:t>
            </a:r>
          </a:p>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This allows the network to </a:t>
            </a:r>
            <a:r>
              <a:rPr lang="en-US" sz="2000" b="1" dirty="0">
                <a:solidFill>
                  <a:schemeClr val="tx1"/>
                </a:solidFill>
                <a:latin typeface="Times New Roman" panose="02020603050405020304" pitchFamily="18" charset="0"/>
                <a:cs typeface="Times New Roman" panose="02020603050405020304" pitchFamily="18" charset="0"/>
              </a:rPr>
              <a:t>understand both short, rapid motions and longer, slower movement trends</a:t>
            </a:r>
            <a:r>
              <a:rPr lang="en-US" sz="2000" dirty="0">
                <a:solidFill>
                  <a:schemeClr val="tx1"/>
                </a:solidFill>
                <a:latin typeface="Times New Roman" panose="02020603050405020304" pitchFamily="18" charset="0"/>
                <a:cs typeface="Times New Roman" panose="02020603050405020304" pitchFamily="18" charset="0"/>
              </a:rPr>
              <a:t>.</a:t>
            </a:r>
          </a:p>
          <a:p>
            <a:endParaRPr lang="en-IN" sz="2000" dirty="0">
              <a:solidFill>
                <a:schemeClr val="tx1"/>
              </a:solidFill>
              <a:latin typeface="Times New Roman" panose="02020603050405020304" pitchFamily="18" charset="0"/>
              <a:cs typeface="Times New Roman" panose="02020603050405020304" pitchFamily="18" charset="0"/>
            </a:endParaRPr>
          </a:p>
        </p:txBody>
      </p:sp>
      <p:pic>
        <p:nvPicPr>
          <p:cNvPr id="27" name="Picture 26">
            <a:extLst>
              <a:ext uri="{FF2B5EF4-FFF2-40B4-BE49-F238E27FC236}">
                <a16:creationId xmlns:a16="http://schemas.microsoft.com/office/drawing/2014/main" id="{DDE5D346-216E-314C-2AF7-938D24E2AC77}"/>
              </a:ext>
            </a:extLst>
          </p:cNvPr>
          <p:cNvPicPr>
            <a:picLocks noChangeAspect="1"/>
          </p:cNvPicPr>
          <p:nvPr/>
        </p:nvPicPr>
        <p:blipFill>
          <a:blip r:embed="rId4"/>
          <a:stretch>
            <a:fillRect/>
          </a:stretch>
        </p:blipFill>
        <p:spPr>
          <a:xfrm>
            <a:off x="7825685" y="1532203"/>
            <a:ext cx="3824463" cy="2325539"/>
          </a:xfrm>
          <a:prstGeom prst="rect">
            <a:avLst/>
          </a:prstGeom>
        </p:spPr>
      </p:pic>
      <p:pic>
        <p:nvPicPr>
          <p:cNvPr id="29" name="Picture 28">
            <a:extLst>
              <a:ext uri="{FF2B5EF4-FFF2-40B4-BE49-F238E27FC236}">
                <a16:creationId xmlns:a16="http://schemas.microsoft.com/office/drawing/2014/main" id="{B5695669-291C-D2F5-C6B0-73364DBB924B}"/>
              </a:ext>
            </a:extLst>
          </p:cNvPr>
          <p:cNvPicPr>
            <a:picLocks noChangeAspect="1"/>
          </p:cNvPicPr>
          <p:nvPr/>
        </p:nvPicPr>
        <p:blipFill>
          <a:blip r:embed="rId5"/>
          <a:stretch>
            <a:fillRect/>
          </a:stretch>
        </p:blipFill>
        <p:spPr>
          <a:xfrm>
            <a:off x="7498992" y="3857742"/>
            <a:ext cx="4498059" cy="1679432"/>
          </a:xfrm>
          <a:prstGeom prst="rect">
            <a:avLst/>
          </a:prstGeom>
        </p:spPr>
      </p:pic>
      <p:sp>
        <p:nvSpPr>
          <p:cNvPr id="30" name="TextBox 29">
            <a:extLst>
              <a:ext uri="{FF2B5EF4-FFF2-40B4-BE49-F238E27FC236}">
                <a16:creationId xmlns:a16="http://schemas.microsoft.com/office/drawing/2014/main" id="{8B78F003-0B26-158D-F734-6EF062D96A15}"/>
              </a:ext>
            </a:extLst>
          </p:cNvPr>
          <p:cNvSpPr txBox="1"/>
          <p:nvPr/>
        </p:nvSpPr>
        <p:spPr>
          <a:xfrm>
            <a:off x="7498992" y="1356918"/>
            <a:ext cx="1178528" cy="338554"/>
          </a:xfrm>
          <a:prstGeom prst="rect">
            <a:avLst/>
          </a:prstGeom>
          <a:noFill/>
        </p:spPr>
        <p:txBody>
          <a:bodyPr wrap="none" rtlCol="0">
            <a:spAutoFit/>
          </a:bodyPr>
          <a:lstStyle/>
          <a:p>
            <a:r>
              <a:rPr lang="en-US" sz="1600" b="1" dirty="0"/>
              <a:t>Formula : </a:t>
            </a:r>
            <a:endParaRPr lang="en-IN" sz="1600" b="1" dirty="0"/>
          </a:p>
        </p:txBody>
      </p:sp>
      <p:sp>
        <p:nvSpPr>
          <p:cNvPr id="3" name="Slide Number Placeholder 2">
            <a:extLst>
              <a:ext uri="{FF2B5EF4-FFF2-40B4-BE49-F238E27FC236}">
                <a16:creationId xmlns:a16="http://schemas.microsoft.com/office/drawing/2014/main" id="{456F32B9-E44D-21A8-0B4D-4DAE64EF78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17</a:t>
            </a:fld>
            <a:endParaRPr lang="en-IN"/>
          </a:p>
        </p:txBody>
      </p:sp>
    </p:spTree>
    <p:extLst>
      <p:ext uri="{BB962C8B-B14F-4D97-AF65-F5344CB8AC3E}">
        <p14:creationId xmlns:p14="http://schemas.microsoft.com/office/powerpoint/2010/main" val="2618844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9B72E-998F-E635-3BCF-C46EFF7BB6E0}"/>
            </a:ext>
          </a:extLst>
        </p:cNvPr>
        <p:cNvGrpSpPr/>
        <p:nvPr/>
      </p:nvGrpSpPr>
      <p:grpSpPr>
        <a:xfrm>
          <a:off x="0" y="0"/>
          <a:ext cx="0" cy="0"/>
          <a:chOff x="0" y="0"/>
          <a:chExt cx="0" cy="0"/>
        </a:xfrm>
      </p:grpSpPr>
      <p:pic>
        <p:nvPicPr>
          <p:cNvPr id="12" name="Google Shape;97;p14">
            <a:extLst>
              <a:ext uri="{FF2B5EF4-FFF2-40B4-BE49-F238E27FC236}">
                <a16:creationId xmlns:a16="http://schemas.microsoft.com/office/drawing/2014/main" id="{BC6AF00C-B48F-40D4-D8A6-B4B739362A43}"/>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4F40FD71-C418-40FD-13DB-ADCB763AF7E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14" name="Rectangle 2">
            <a:extLst>
              <a:ext uri="{FF2B5EF4-FFF2-40B4-BE49-F238E27FC236}">
                <a16:creationId xmlns:a16="http://schemas.microsoft.com/office/drawing/2014/main" id="{257007C7-CB82-35FB-69FD-F220C0BAFC06}"/>
              </a:ext>
            </a:extLst>
          </p:cNvPr>
          <p:cNvSpPr>
            <a:spLocks noChangeArrowheads="1"/>
          </p:cNvSpPr>
          <p:nvPr/>
        </p:nvSpPr>
        <p:spPr bwMode="auto">
          <a:xfrm>
            <a:off x="306967" y="963561"/>
            <a:ext cx="6138134"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buClrTx/>
            </a:pPr>
            <a:r>
              <a:rPr lang="en-IN" sz="2000" b="1" dirty="0">
                <a:solidFill>
                  <a:schemeClr val="tx1"/>
                </a:solidFill>
                <a:latin typeface="Times New Roman" panose="02020603050405020304" pitchFamily="18" charset="0"/>
                <a:cs typeface="Times New Roman" panose="02020603050405020304" pitchFamily="18" charset="0"/>
              </a:rPr>
              <a:t>Gated Residual Skip (GRS) Blocks contains</a:t>
            </a:r>
            <a:r>
              <a:rPr lang="en-IN" sz="2000" dirty="0">
                <a:solidFill>
                  <a:schemeClr val="tx1"/>
                </a:solidFill>
                <a:latin typeface="Times New Roman" panose="02020603050405020304" pitchFamily="18" charset="0"/>
                <a:cs typeface="Times New Roman" panose="02020603050405020304" pitchFamily="18" charset="0"/>
              </a:rPr>
              <a:t> : </a:t>
            </a:r>
            <a:endParaRPr lang="en-US" altLang="en-US" sz="2000" b="1" dirty="0">
              <a:solidFill>
                <a:schemeClr val="tx1"/>
              </a:solidFill>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Projection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Simplifies the signal and extracts essential structure.</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BiLSTM</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Reads the movement pattern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forward and backward in time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his is important because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what happened just before and just after each moment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helps define the action (e.g., lowering before a jump).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Gating Mechanism </a:t>
            </a:r>
            <a:r>
              <a:rPr lang="en-US" altLang="en-US" sz="2000" dirty="0">
                <a:solidFill>
                  <a:schemeClr val="tx1"/>
                </a:solidFill>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 learned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filter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decides:</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new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use</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ii)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previous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keep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Residual Skip Connection</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Passes earlier information forward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without loss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preventing the model from forgetting important details.</a:t>
            </a:r>
            <a:endParaRPr lang="en-US" altLang="en-US" sz="2000" dirty="0">
              <a:solidFill>
                <a:schemeClr val="tx1"/>
              </a:solidFill>
              <a:latin typeface="Times New Roman" panose="02020603050405020304" pitchFamily="18" charset="0"/>
              <a:cs typeface="Times New Roman" panose="02020603050405020304" pitchFamily="18" charset="0"/>
            </a:endParaRPr>
          </a:p>
          <a:p>
            <a:pPr marR="0" lvl="0" algn="l" defTabSz="914400" rtl="0" eaLnBrk="0" fontAlgn="base" latinLnBrk="0" hangingPunct="0">
              <a:lnSpc>
                <a:spcPct val="100000"/>
              </a:lnSpc>
              <a:spcBef>
                <a:spcPts val="1200"/>
              </a:spcBef>
              <a:spcAft>
                <a:spcPct val="0"/>
              </a:spcAft>
              <a:buClrTx/>
              <a:buSzTx/>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32" name="Picture 31">
            <a:extLst>
              <a:ext uri="{FF2B5EF4-FFF2-40B4-BE49-F238E27FC236}">
                <a16:creationId xmlns:a16="http://schemas.microsoft.com/office/drawing/2014/main" id="{B2F80A22-E846-E421-19D4-F8929325D223}"/>
              </a:ext>
            </a:extLst>
          </p:cNvPr>
          <p:cNvPicPr>
            <a:picLocks noChangeAspect="1"/>
          </p:cNvPicPr>
          <p:nvPr/>
        </p:nvPicPr>
        <p:blipFill>
          <a:blip r:embed="rId4"/>
          <a:stretch>
            <a:fillRect/>
          </a:stretch>
        </p:blipFill>
        <p:spPr>
          <a:xfrm>
            <a:off x="6590749" y="2997339"/>
            <a:ext cx="5601251" cy="2376618"/>
          </a:xfrm>
          <a:prstGeom prst="rect">
            <a:avLst/>
          </a:prstGeom>
        </p:spPr>
      </p:pic>
      <p:pic>
        <p:nvPicPr>
          <p:cNvPr id="34" name="Picture 33">
            <a:extLst>
              <a:ext uri="{FF2B5EF4-FFF2-40B4-BE49-F238E27FC236}">
                <a16:creationId xmlns:a16="http://schemas.microsoft.com/office/drawing/2014/main" id="{803E784E-675B-001D-7AA3-4B6B6669F0D3}"/>
              </a:ext>
            </a:extLst>
          </p:cNvPr>
          <p:cNvPicPr>
            <a:picLocks noChangeAspect="1"/>
          </p:cNvPicPr>
          <p:nvPr/>
        </p:nvPicPr>
        <p:blipFill>
          <a:blip r:embed="rId5"/>
          <a:stretch>
            <a:fillRect/>
          </a:stretch>
        </p:blipFill>
        <p:spPr>
          <a:xfrm>
            <a:off x="7769277" y="1486617"/>
            <a:ext cx="2346522" cy="1468291"/>
          </a:xfrm>
          <a:prstGeom prst="rect">
            <a:avLst/>
          </a:prstGeom>
        </p:spPr>
      </p:pic>
      <p:sp>
        <p:nvSpPr>
          <p:cNvPr id="35" name="TextBox 34">
            <a:extLst>
              <a:ext uri="{FF2B5EF4-FFF2-40B4-BE49-F238E27FC236}">
                <a16:creationId xmlns:a16="http://schemas.microsoft.com/office/drawing/2014/main" id="{91D4A83D-6F63-E145-EF4E-2213CC063A15}"/>
              </a:ext>
            </a:extLst>
          </p:cNvPr>
          <p:cNvSpPr txBox="1"/>
          <p:nvPr/>
        </p:nvSpPr>
        <p:spPr>
          <a:xfrm>
            <a:off x="6590749" y="1196403"/>
            <a:ext cx="1178528" cy="338554"/>
          </a:xfrm>
          <a:prstGeom prst="rect">
            <a:avLst/>
          </a:prstGeom>
          <a:noFill/>
        </p:spPr>
        <p:txBody>
          <a:bodyPr wrap="none" rtlCol="0">
            <a:spAutoFit/>
          </a:bodyPr>
          <a:lstStyle/>
          <a:p>
            <a:r>
              <a:rPr lang="en-US" sz="1600" b="1" dirty="0"/>
              <a:t>Formula : </a:t>
            </a:r>
            <a:endParaRPr lang="en-IN" sz="1600" b="1" dirty="0"/>
          </a:p>
        </p:txBody>
      </p:sp>
      <p:sp>
        <p:nvSpPr>
          <p:cNvPr id="3" name="Slide Number Placeholder 2">
            <a:extLst>
              <a:ext uri="{FF2B5EF4-FFF2-40B4-BE49-F238E27FC236}">
                <a16:creationId xmlns:a16="http://schemas.microsoft.com/office/drawing/2014/main" id="{04771D82-AEAB-123C-B4EB-22A1F5F0112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18</a:t>
            </a:fld>
            <a:endParaRPr lang="en-IN"/>
          </a:p>
        </p:txBody>
      </p:sp>
    </p:spTree>
    <p:extLst>
      <p:ext uri="{BB962C8B-B14F-4D97-AF65-F5344CB8AC3E}">
        <p14:creationId xmlns:p14="http://schemas.microsoft.com/office/powerpoint/2010/main" val="269477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8C02A-FBC3-7241-C4C7-C51C112F3434}"/>
            </a:ext>
          </a:extLst>
        </p:cNvPr>
        <p:cNvGrpSpPr/>
        <p:nvPr/>
      </p:nvGrpSpPr>
      <p:grpSpPr>
        <a:xfrm>
          <a:off x="0" y="0"/>
          <a:ext cx="0" cy="0"/>
          <a:chOff x="0" y="0"/>
          <a:chExt cx="0" cy="0"/>
        </a:xfrm>
      </p:grpSpPr>
      <p:pic>
        <p:nvPicPr>
          <p:cNvPr id="10" name="Google Shape;97;p14">
            <a:extLst>
              <a:ext uri="{FF2B5EF4-FFF2-40B4-BE49-F238E27FC236}">
                <a16:creationId xmlns:a16="http://schemas.microsoft.com/office/drawing/2014/main" id="{5460E120-4BE3-752A-77AD-FB5D127F773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5BD979BE-2CF3-AD94-D65A-3EBBE1FBA16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8B15868-2018-E663-8B47-7BBFB471B421}"/>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3981AC85-8A7F-7F30-C42E-3F0C2E857EF1}"/>
              </a:ext>
            </a:extLst>
          </p:cNvPr>
          <p:cNvSpPr txBox="1"/>
          <p:nvPr/>
        </p:nvSpPr>
        <p:spPr>
          <a:xfrm>
            <a:off x="306967" y="1120878"/>
            <a:ext cx="7029530" cy="3170099"/>
          </a:xfrm>
          <a:prstGeom prst="rect">
            <a:avLst/>
          </a:prstGeom>
          <a:noFill/>
        </p:spPr>
        <p:txBody>
          <a:bodyPr wrap="square" rtlCol="0">
            <a:spAutoFit/>
          </a:bodyPr>
          <a:lstStyle/>
          <a:p>
            <a:pPr lvl="0" eaLnBrk="0" fontAlgn="base" hangingPunct="0">
              <a:spcBef>
                <a:spcPct val="0"/>
              </a:spcBef>
              <a:spcAft>
                <a:spcPct val="0"/>
              </a:spcAft>
              <a:buClrTx/>
            </a:pPr>
            <a:r>
              <a:rPr lang="en-US" altLang="en-US" sz="2000" dirty="0">
                <a:solidFill>
                  <a:schemeClr val="tx1"/>
                </a:solidFill>
                <a:latin typeface="Times New Roman" panose="02020603050405020304" pitchFamily="18" charset="0"/>
                <a:cs typeface="Times New Roman" panose="02020603050405020304" pitchFamily="18" charset="0"/>
              </a:rPr>
              <a:t>LSTM is a type of neural network used for </a:t>
            </a:r>
            <a:r>
              <a:rPr lang="en-US" altLang="en-US" sz="2000" b="1" dirty="0">
                <a:solidFill>
                  <a:schemeClr val="tx1"/>
                </a:solidFill>
                <a:latin typeface="Times New Roman" panose="02020603050405020304" pitchFamily="18" charset="0"/>
                <a:cs typeface="Times New Roman" panose="02020603050405020304" pitchFamily="18" charset="0"/>
              </a:rPr>
              <a:t>time-series or sequential data</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has </a:t>
            </a:r>
            <a:r>
              <a:rPr lang="en-US" altLang="en-US" sz="2000" b="1" dirty="0">
                <a:solidFill>
                  <a:schemeClr val="tx1"/>
                </a:solidFill>
                <a:latin typeface="Times New Roman" panose="02020603050405020304" pitchFamily="18" charset="0"/>
                <a:cs typeface="Times New Roman" panose="02020603050405020304" pitchFamily="18" charset="0"/>
              </a:rPr>
              <a:t>memory cells </a:t>
            </a:r>
            <a:r>
              <a:rPr lang="en-US" altLang="en-US" sz="2000" dirty="0">
                <a:solidFill>
                  <a:schemeClr val="tx1"/>
                </a:solidFill>
                <a:latin typeface="Times New Roman" panose="02020603050405020304" pitchFamily="18" charset="0"/>
                <a:cs typeface="Times New Roman" panose="02020603050405020304" pitchFamily="18" charset="0"/>
              </a:rPr>
              <a:t>that allow it to </a:t>
            </a:r>
            <a:r>
              <a:rPr lang="en-US" altLang="en-US" sz="2000" b="1" dirty="0">
                <a:solidFill>
                  <a:schemeClr val="tx1"/>
                </a:solidFill>
                <a:latin typeface="Times New Roman" panose="02020603050405020304" pitchFamily="18" charset="0"/>
                <a:cs typeface="Times New Roman" panose="02020603050405020304" pitchFamily="18" charset="0"/>
              </a:rPr>
              <a:t>retain important past information</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uses </a:t>
            </a:r>
            <a:r>
              <a:rPr lang="en-US" altLang="en-US" sz="2000" b="1" dirty="0">
                <a:solidFill>
                  <a:schemeClr val="tx1"/>
                </a:solidFill>
                <a:latin typeface="Times New Roman" panose="02020603050405020304" pitchFamily="18" charset="0"/>
                <a:cs typeface="Times New Roman" panose="02020603050405020304" pitchFamily="18" charset="0"/>
              </a:rPr>
              <a:t>gates</a:t>
            </a:r>
            <a:r>
              <a:rPr lang="en-US" altLang="en-US" sz="2000" dirty="0">
                <a:solidFill>
                  <a:schemeClr val="tx1"/>
                </a:solidFill>
                <a:latin typeface="Times New Roman" panose="02020603050405020304" pitchFamily="18" charset="0"/>
                <a:cs typeface="Times New Roman" panose="02020603050405020304" pitchFamily="18" charset="0"/>
              </a:rPr>
              <a:t> to decide what to </a:t>
            </a:r>
            <a:r>
              <a:rPr lang="en-US" altLang="en-US" sz="2000" b="1" dirty="0">
                <a:solidFill>
                  <a:schemeClr val="tx1"/>
                </a:solidFill>
                <a:latin typeface="Times New Roman" panose="02020603050405020304" pitchFamily="18" charset="0"/>
                <a:cs typeface="Times New Roman" panose="02020603050405020304" pitchFamily="18" charset="0"/>
              </a:rPr>
              <a:t>keep</a:t>
            </a:r>
            <a:r>
              <a:rPr lang="en-US" altLang="en-US" sz="2000" dirty="0">
                <a:solidFill>
                  <a:schemeClr val="tx1"/>
                </a:solidFill>
                <a:latin typeface="Times New Roman" panose="02020603050405020304" pitchFamily="18" charset="0"/>
                <a:cs typeface="Times New Roman" panose="02020603050405020304" pitchFamily="18" charset="0"/>
              </a:rPr>
              <a:t>, what to </a:t>
            </a:r>
            <a:r>
              <a:rPr lang="en-US" altLang="en-US" sz="2000" b="1" dirty="0">
                <a:solidFill>
                  <a:schemeClr val="tx1"/>
                </a:solidFill>
                <a:latin typeface="Times New Roman" panose="02020603050405020304" pitchFamily="18" charset="0"/>
                <a:cs typeface="Times New Roman" panose="02020603050405020304" pitchFamily="18" charset="0"/>
              </a:rPr>
              <a:t>update</a:t>
            </a:r>
            <a:r>
              <a:rPr lang="en-US" altLang="en-US" sz="2000" dirty="0">
                <a:solidFill>
                  <a:schemeClr val="tx1"/>
                </a:solidFill>
                <a:latin typeface="Times New Roman" panose="02020603050405020304" pitchFamily="18" charset="0"/>
                <a:cs typeface="Times New Roman" panose="02020603050405020304" pitchFamily="18" charset="0"/>
              </a:rPr>
              <a:t>, and what to </a:t>
            </a:r>
            <a:r>
              <a:rPr lang="en-US" altLang="en-US" sz="2000" b="1" dirty="0">
                <a:solidFill>
                  <a:schemeClr val="tx1"/>
                </a:solidFill>
                <a:latin typeface="Times New Roman" panose="02020603050405020304" pitchFamily="18" charset="0"/>
                <a:cs typeface="Times New Roman" panose="02020603050405020304" pitchFamily="18" charset="0"/>
              </a:rPr>
              <a:t>forget</a:t>
            </a:r>
            <a:r>
              <a:rPr lang="en-US" altLang="en-US" sz="2000" dirty="0">
                <a:solidFill>
                  <a:schemeClr val="tx1"/>
                </a:solidFill>
                <a:latin typeface="Times New Roman" panose="02020603050405020304" pitchFamily="18" charset="0"/>
                <a:cs typeface="Times New Roman" panose="02020603050405020304" pitchFamily="18" charset="0"/>
              </a:rPr>
              <a:t>.</a:t>
            </a:r>
            <a:endParaRPr lang="en-US" sz="2000" dirty="0">
              <a:solidFill>
                <a:schemeClr val="tx1"/>
              </a:solidFill>
              <a:latin typeface="Times New Roman" panose="02020603050405020304" pitchFamily="18" charset="0"/>
              <a:cs typeface="Times New Roman" panose="02020603050405020304" pitchFamily="18" charset="0"/>
            </a:endParaRPr>
          </a:p>
          <a:p>
            <a:r>
              <a:rPr lang="en-US" sz="2000" dirty="0">
                <a:solidFill>
                  <a:schemeClr val="tx1"/>
                </a:solidFill>
                <a:latin typeface="Times New Roman" panose="02020603050405020304" pitchFamily="18" charset="0"/>
                <a:cs typeface="Times New Roman" panose="02020603050405020304" pitchFamily="18" charset="0"/>
              </a:rPr>
              <a:t>A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processes the sequence in </a:t>
            </a:r>
            <a:r>
              <a:rPr lang="en-US" sz="2000" b="1" dirty="0">
                <a:solidFill>
                  <a:schemeClr val="tx1"/>
                </a:solidFill>
                <a:latin typeface="Times New Roman" panose="02020603050405020304" pitchFamily="18" charset="0"/>
                <a:cs typeface="Times New Roman" panose="02020603050405020304" pitchFamily="18" charset="0"/>
              </a:rPr>
              <a:t>two directions</a:t>
            </a:r>
            <a:r>
              <a:rPr lang="en-US" sz="2000" dirty="0">
                <a:solidFill>
                  <a:schemeClr val="tx1"/>
                </a:solidFill>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Forward: earlier → later time steps</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Backward: later → earlier time steps</a:t>
            </a:r>
          </a:p>
          <a:p>
            <a:r>
              <a:rPr lang="en-US" sz="2000" dirty="0">
                <a:solidFill>
                  <a:schemeClr val="tx1"/>
                </a:solidFill>
                <a:latin typeface="Times New Roman" panose="02020603050405020304" pitchFamily="18" charset="0"/>
                <a:cs typeface="Times New Roman" panose="02020603050405020304" pitchFamily="18" charset="0"/>
              </a:rPr>
              <a:t>This gives it </a:t>
            </a:r>
            <a:r>
              <a:rPr lang="en-US" sz="2000" b="1" dirty="0">
                <a:solidFill>
                  <a:schemeClr val="tx1"/>
                </a:solidFill>
                <a:latin typeface="Times New Roman" panose="02020603050405020304" pitchFamily="18" charset="0"/>
                <a:cs typeface="Times New Roman" panose="02020603050405020304" pitchFamily="18" charset="0"/>
              </a:rPr>
              <a:t>context from both past and future </a:t>
            </a:r>
            <a:r>
              <a:rPr lang="en-US" sz="2000" dirty="0">
                <a:solidFill>
                  <a:schemeClr val="tx1"/>
                </a:solidFill>
                <a:latin typeface="Times New Roman" panose="02020603050405020304" pitchFamily="18" charset="0"/>
                <a:cs typeface="Times New Roman" panose="02020603050405020304" pitchFamily="18" charset="0"/>
              </a:rPr>
              <a:t>time steps, </a:t>
            </a:r>
          </a:p>
        </p:txBody>
      </p:sp>
      <p:pic>
        <p:nvPicPr>
          <p:cNvPr id="22" name="Picture 21">
            <a:extLst>
              <a:ext uri="{FF2B5EF4-FFF2-40B4-BE49-F238E27FC236}">
                <a16:creationId xmlns:a16="http://schemas.microsoft.com/office/drawing/2014/main" id="{2EB9CCD4-F1F6-5B33-DEB2-15E217127183}"/>
              </a:ext>
            </a:extLst>
          </p:cNvPr>
          <p:cNvPicPr>
            <a:picLocks noChangeAspect="1"/>
          </p:cNvPicPr>
          <p:nvPr/>
        </p:nvPicPr>
        <p:blipFill>
          <a:blip r:embed="rId4"/>
          <a:stretch>
            <a:fillRect/>
          </a:stretch>
        </p:blipFill>
        <p:spPr>
          <a:xfrm>
            <a:off x="7531500" y="1436533"/>
            <a:ext cx="4353533" cy="1676634"/>
          </a:xfrm>
          <a:prstGeom prst="rect">
            <a:avLst/>
          </a:prstGeom>
        </p:spPr>
      </p:pic>
      <p:pic>
        <p:nvPicPr>
          <p:cNvPr id="24" name="Picture 23">
            <a:extLst>
              <a:ext uri="{FF2B5EF4-FFF2-40B4-BE49-F238E27FC236}">
                <a16:creationId xmlns:a16="http://schemas.microsoft.com/office/drawing/2014/main" id="{DF171B2F-51C9-FF50-EBCC-0BA149B1A085}"/>
              </a:ext>
            </a:extLst>
          </p:cNvPr>
          <p:cNvPicPr>
            <a:picLocks noChangeAspect="1"/>
          </p:cNvPicPr>
          <p:nvPr/>
        </p:nvPicPr>
        <p:blipFill>
          <a:blip r:embed="rId5"/>
          <a:stretch>
            <a:fillRect/>
          </a:stretch>
        </p:blipFill>
        <p:spPr>
          <a:xfrm>
            <a:off x="7409990" y="3230230"/>
            <a:ext cx="3603058" cy="3113211"/>
          </a:xfrm>
          <a:prstGeom prst="rect">
            <a:avLst/>
          </a:prstGeom>
        </p:spPr>
      </p:pic>
      <p:pic>
        <p:nvPicPr>
          <p:cNvPr id="28" name="Picture 27">
            <a:extLst>
              <a:ext uri="{FF2B5EF4-FFF2-40B4-BE49-F238E27FC236}">
                <a16:creationId xmlns:a16="http://schemas.microsoft.com/office/drawing/2014/main" id="{3C33EDEC-7BCC-015A-07FD-3C8E1530B6EF}"/>
              </a:ext>
            </a:extLst>
          </p:cNvPr>
          <p:cNvPicPr>
            <a:picLocks noChangeAspect="1"/>
          </p:cNvPicPr>
          <p:nvPr/>
        </p:nvPicPr>
        <p:blipFill>
          <a:blip r:embed="rId6"/>
          <a:stretch>
            <a:fillRect/>
          </a:stretch>
        </p:blipFill>
        <p:spPr>
          <a:xfrm>
            <a:off x="3042252" y="4613603"/>
            <a:ext cx="4294245" cy="1367796"/>
          </a:xfrm>
          <a:prstGeom prst="rect">
            <a:avLst/>
          </a:prstGeom>
        </p:spPr>
      </p:pic>
      <p:sp>
        <p:nvSpPr>
          <p:cNvPr id="29" name="TextBox 28">
            <a:extLst>
              <a:ext uri="{FF2B5EF4-FFF2-40B4-BE49-F238E27FC236}">
                <a16:creationId xmlns:a16="http://schemas.microsoft.com/office/drawing/2014/main" id="{F36A603E-778D-DB27-AEAA-1C685CA77F32}"/>
              </a:ext>
            </a:extLst>
          </p:cNvPr>
          <p:cNvSpPr txBox="1"/>
          <p:nvPr/>
        </p:nvSpPr>
        <p:spPr>
          <a:xfrm>
            <a:off x="7036638" y="1106028"/>
            <a:ext cx="1178528" cy="338554"/>
          </a:xfrm>
          <a:prstGeom prst="rect">
            <a:avLst/>
          </a:prstGeom>
          <a:noFill/>
        </p:spPr>
        <p:txBody>
          <a:bodyPr wrap="none" rtlCol="0">
            <a:spAutoFit/>
          </a:bodyPr>
          <a:lstStyle/>
          <a:p>
            <a:r>
              <a:rPr lang="en-US" sz="1600" b="1" dirty="0"/>
              <a:t>Formula : </a:t>
            </a:r>
            <a:endParaRPr lang="en-IN" sz="1600" b="1" dirty="0"/>
          </a:p>
        </p:txBody>
      </p:sp>
      <p:sp>
        <p:nvSpPr>
          <p:cNvPr id="30" name="TextBox 29">
            <a:extLst>
              <a:ext uri="{FF2B5EF4-FFF2-40B4-BE49-F238E27FC236}">
                <a16:creationId xmlns:a16="http://schemas.microsoft.com/office/drawing/2014/main" id="{CECDBA4B-BA1A-020E-434E-E5BD9F5CF0B7}"/>
              </a:ext>
            </a:extLst>
          </p:cNvPr>
          <p:cNvSpPr txBox="1"/>
          <p:nvPr/>
        </p:nvSpPr>
        <p:spPr>
          <a:xfrm>
            <a:off x="115924" y="4535435"/>
            <a:ext cx="1178528" cy="338554"/>
          </a:xfrm>
          <a:prstGeom prst="rect">
            <a:avLst/>
          </a:prstGeom>
          <a:noFill/>
        </p:spPr>
        <p:txBody>
          <a:bodyPr wrap="none" rtlCol="0">
            <a:spAutoFit/>
          </a:bodyPr>
          <a:lstStyle/>
          <a:p>
            <a:r>
              <a:rPr lang="en-US" sz="1600" b="1" dirty="0"/>
              <a:t>Formula : </a:t>
            </a:r>
            <a:endParaRPr lang="en-IN" sz="1600" b="1" dirty="0"/>
          </a:p>
        </p:txBody>
      </p:sp>
      <p:pic>
        <p:nvPicPr>
          <p:cNvPr id="32" name="Picture 31">
            <a:extLst>
              <a:ext uri="{FF2B5EF4-FFF2-40B4-BE49-F238E27FC236}">
                <a16:creationId xmlns:a16="http://schemas.microsoft.com/office/drawing/2014/main" id="{5C696149-1529-6B16-3F5E-FF001E624696}"/>
              </a:ext>
            </a:extLst>
          </p:cNvPr>
          <p:cNvPicPr>
            <a:picLocks noChangeAspect="1"/>
          </p:cNvPicPr>
          <p:nvPr/>
        </p:nvPicPr>
        <p:blipFill>
          <a:blip r:embed="rId7"/>
          <a:stretch>
            <a:fillRect/>
          </a:stretch>
        </p:blipFill>
        <p:spPr>
          <a:xfrm>
            <a:off x="732219" y="4870225"/>
            <a:ext cx="2236540" cy="1027905"/>
          </a:xfrm>
          <a:prstGeom prst="rect">
            <a:avLst/>
          </a:prstGeom>
        </p:spPr>
      </p:pic>
      <p:pic>
        <p:nvPicPr>
          <p:cNvPr id="34" name="Picture 33">
            <a:extLst>
              <a:ext uri="{FF2B5EF4-FFF2-40B4-BE49-F238E27FC236}">
                <a16:creationId xmlns:a16="http://schemas.microsoft.com/office/drawing/2014/main" id="{FB527340-52B6-79A0-2D18-0591B2CA70CA}"/>
              </a:ext>
            </a:extLst>
          </p:cNvPr>
          <p:cNvPicPr>
            <a:picLocks noChangeAspect="1"/>
          </p:cNvPicPr>
          <p:nvPr/>
        </p:nvPicPr>
        <p:blipFill>
          <a:blip r:embed="rId8"/>
          <a:stretch>
            <a:fillRect/>
          </a:stretch>
        </p:blipFill>
        <p:spPr>
          <a:xfrm>
            <a:off x="745665" y="5898130"/>
            <a:ext cx="1286217" cy="370605"/>
          </a:xfrm>
          <a:prstGeom prst="rect">
            <a:avLst/>
          </a:prstGeom>
        </p:spPr>
      </p:pic>
      <p:sp>
        <p:nvSpPr>
          <p:cNvPr id="4" name="Slide Number Placeholder 3">
            <a:extLst>
              <a:ext uri="{FF2B5EF4-FFF2-40B4-BE49-F238E27FC236}">
                <a16:creationId xmlns:a16="http://schemas.microsoft.com/office/drawing/2014/main" id="{C1F7FCAC-A29C-F0B3-46F9-EA1FDBF19CE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19</a:t>
            </a:fld>
            <a:endParaRPr lang="en-IN"/>
          </a:p>
        </p:txBody>
      </p:sp>
    </p:spTree>
    <p:extLst>
      <p:ext uri="{BB962C8B-B14F-4D97-AF65-F5344CB8AC3E}">
        <p14:creationId xmlns:p14="http://schemas.microsoft.com/office/powerpoint/2010/main" val="1897366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353AA9B6-A0BB-FB1F-F361-D039ABAD0CBB}"/>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Architecture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6DB2BCAB-61B9-69E3-471B-4C6885FF44C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3" name="TextBox 12">
            <a:extLst>
              <a:ext uri="{FF2B5EF4-FFF2-40B4-BE49-F238E27FC236}">
                <a16:creationId xmlns:a16="http://schemas.microsoft.com/office/drawing/2014/main" id="{193E910D-C02F-6F88-CC43-FE65ACF322AF}"/>
              </a:ext>
            </a:extLst>
          </p:cNvPr>
          <p:cNvSpPr txBox="1"/>
          <p:nvPr/>
        </p:nvSpPr>
        <p:spPr>
          <a:xfrm>
            <a:off x="4442302" y="6480795"/>
            <a:ext cx="2583856"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Fig.8. MS-GRS-</a:t>
            </a:r>
            <a:r>
              <a:rPr lang="en-IN" sz="1200" dirty="0" err="1">
                <a:latin typeface="Times New Roman" panose="02020603050405020304" pitchFamily="18" charset="0"/>
                <a:cs typeface="Times New Roman" panose="02020603050405020304" pitchFamily="18" charset="0"/>
              </a:rPr>
              <a:t>BiLSTM</a:t>
            </a:r>
            <a:r>
              <a:rPr lang="en-IN" sz="1200" dirty="0">
                <a:latin typeface="Times New Roman" panose="02020603050405020304" pitchFamily="18" charset="0"/>
                <a:cs typeface="Times New Roman" panose="02020603050405020304" pitchFamily="18" charset="0"/>
              </a:rPr>
              <a:t> Architecture</a:t>
            </a:r>
          </a:p>
        </p:txBody>
      </p:sp>
      <p:pic>
        <p:nvPicPr>
          <p:cNvPr id="4" name="Picture 3">
            <a:extLst>
              <a:ext uri="{FF2B5EF4-FFF2-40B4-BE49-F238E27FC236}">
                <a16:creationId xmlns:a16="http://schemas.microsoft.com/office/drawing/2014/main" id="{99204343-73A4-AE1A-4B0D-A5EDA0760B5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6796" y="927978"/>
            <a:ext cx="9734869" cy="5307575"/>
          </a:xfrm>
          <a:prstGeom prst="rect">
            <a:avLst/>
          </a:prstGeom>
          <a:noFill/>
          <a:ln>
            <a:noFill/>
          </a:ln>
        </p:spPr>
      </p:pic>
      <p:sp>
        <p:nvSpPr>
          <p:cNvPr id="5" name="Slide Number Placeholder 4">
            <a:extLst>
              <a:ext uri="{FF2B5EF4-FFF2-40B4-BE49-F238E27FC236}">
                <a16:creationId xmlns:a16="http://schemas.microsoft.com/office/drawing/2014/main" id="{3B6CE562-1153-DBD4-818D-B5AFC7EBE6F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20</a:t>
            </a:fld>
            <a:endParaRPr lang="en-IN"/>
          </a:p>
        </p:txBody>
      </p:sp>
    </p:spTree>
    <p:extLst>
      <p:ext uri="{BB962C8B-B14F-4D97-AF65-F5344CB8AC3E}">
        <p14:creationId xmlns:p14="http://schemas.microsoft.com/office/powerpoint/2010/main" val="1160658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879B54CC-CDF6-E43F-8AF6-A740C05DA052}"/>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Metrics Used in HAR</a:t>
            </a:r>
            <a:endParaRPr lang="en-IN" sz="2800" b="1" dirty="0">
              <a:solidFill>
                <a:srgbClr val="00206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399118CF-B023-FF15-71DE-BC2ED113B4E1}"/>
                  </a:ext>
                </a:extLst>
              </p:cNvPr>
              <p:cNvGraphicFramePr>
                <a:graphicFrameLocks noGrp="1"/>
              </p:cNvGraphicFramePr>
              <p:nvPr>
                <p:extLst>
                  <p:ext uri="{D42A27DB-BD31-4B8C-83A1-F6EECF244321}">
                    <p14:modId xmlns:p14="http://schemas.microsoft.com/office/powerpoint/2010/main" val="3179145277"/>
                  </p:ext>
                </p:extLst>
              </p:nvPr>
            </p:nvGraphicFramePr>
            <p:xfrm>
              <a:off x="216817" y="928847"/>
              <a:ext cx="11255604" cy="5583705"/>
            </p:xfrm>
            <a:graphic>
              <a:graphicData uri="http://schemas.openxmlformats.org/drawingml/2006/table">
                <a:tbl>
                  <a:tblPr>
                    <a:tableStyleId>{21E4AEA4-8DFA-4A89-87EB-49C32662AFE0}</a:tableStyleId>
                  </a:tblPr>
                  <a:tblGrid>
                    <a:gridCol w="1008479">
                      <a:extLst>
                        <a:ext uri="{9D8B030D-6E8A-4147-A177-3AD203B41FA5}">
                          <a16:colId xmlns:a16="http://schemas.microsoft.com/office/drawing/2014/main" val="1385591346"/>
                        </a:ext>
                      </a:extLst>
                    </a:gridCol>
                    <a:gridCol w="2167128">
                      <a:extLst>
                        <a:ext uri="{9D8B030D-6E8A-4147-A177-3AD203B41FA5}">
                          <a16:colId xmlns:a16="http://schemas.microsoft.com/office/drawing/2014/main" val="536659541"/>
                        </a:ext>
                      </a:extLst>
                    </a:gridCol>
                    <a:gridCol w="2569464">
                      <a:extLst>
                        <a:ext uri="{9D8B030D-6E8A-4147-A177-3AD203B41FA5}">
                          <a16:colId xmlns:a16="http://schemas.microsoft.com/office/drawing/2014/main" val="1648483843"/>
                        </a:ext>
                      </a:extLst>
                    </a:gridCol>
                    <a:gridCol w="2633472">
                      <a:extLst>
                        <a:ext uri="{9D8B030D-6E8A-4147-A177-3AD203B41FA5}">
                          <a16:colId xmlns:a16="http://schemas.microsoft.com/office/drawing/2014/main" val="4076832240"/>
                        </a:ext>
                      </a:extLst>
                    </a:gridCol>
                    <a:gridCol w="2877061">
                      <a:extLst>
                        <a:ext uri="{9D8B030D-6E8A-4147-A177-3AD203B41FA5}">
                          <a16:colId xmlns:a16="http://schemas.microsoft.com/office/drawing/2014/main" val="139714059"/>
                        </a:ext>
                      </a:extLst>
                    </a:gridCol>
                  </a:tblGrid>
                  <a:tr h="442149">
                    <a:tc>
                      <a:txBody>
                        <a:bodyPr/>
                        <a:lstStyle/>
                        <a:p>
                          <a:pPr algn="ctr">
                            <a:buNone/>
                          </a:pPr>
                          <a:r>
                            <a:rPr lang="en-IN" sz="1400" b="1" dirty="0"/>
                            <a:t>Metrics</a:t>
                          </a:r>
                          <a:endParaRPr lang="en-IN" sz="1400" dirty="0"/>
                        </a:p>
                      </a:txBody>
                      <a:tcPr marL="63063" marR="63063" marT="31531" marB="31531" anchor="ctr"/>
                    </a:tc>
                    <a:tc>
                      <a:txBody>
                        <a:bodyPr/>
                        <a:lstStyle/>
                        <a:p>
                          <a:pPr algn="ctr">
                            <a:buNone/>
                          </a:pPr>
                          <a:r>
                            <a:rPr lang="en-IN" sz="1400" b="1"/>
                            <a:t>Definition</a:t>
                          </a:r>
                          <a:endParaRPr lang="en-IN" sz="1400"/>
                        </a:p>
                      </a:txBody>
                      <a:tcPr marL="63063" marR="63063" marT="31531" marB="31531" anchor="ctr"/>
                    </a:tc>
                    <a:tc>
                      <a:txBody>
                        <a:bodyPr/>
                        <a:lstStyle/>
                        <a:p>
                          <a:pPr algn="ctr">
                            <a:buNone/>
                          </a:pPr>
                          <a:r>
                            <a:rPr lang="en-IN" sz="1400" b="1"/>
                            <a:t>Formula</a:t>
                          </a:r>
                          <a:endParaRPr lang="en-IN" sz="1400"/>
                        </a:p>
                      </a:txBody>
                      <a:tcPr marL="63063" marR="63063" marT="31531" marB="31531" anchor="ctr"/>
                    </a:tc>
                    <a:tc>
                      <a:txBody>
                        <a:bodyPr/>
                        <a:lstStyle/>
                        <a:p>
                          <a:pPr algn="ctr">
                            <a:buNone/>
                          </a:pPr>
                          <a:r>
                            <a:rPr lang="en-US" sz="1400" b="1" dirty="0"/>
                            <a:t>Usage in HAR</a:t>
                          </a:r>
                          <a:endParaRPr lang="en-US" sz="1400" dirty="0"/>
                        </a:p>
                      </a:txBody>
                      <a:tcPr marL="63063" marR="63063" marT="31531" marB="31531" anchor="ctr"/>
                    </a:tc>
                    <a:tc>
                      <a:txBody>
                        <a:bodyPr/>
                        <a:lstStyle/>
                        <a:p>
                          <a:pPr algn="l">
                            <a:buNone/>
                          </a:pPr>
                          <a:r>
                            <a:rPr lang="en-IN" sz="1400" b="1" dirty="0"/>
                            <a:t>Symbols &amp; Meaning</a:t>
                          </a:r>
                          <a:endParaRPr lang="en-IN" sz="1400" dirty="0"/>
                        </a:p>
                      </a:txBody>
                      <a:tcPr marL="63063" marR="63063" marT="31531" marB="31531" anchor="ctr"/>
                    </a:tc>
                    <a:extLst>
                      <a:ext uri="{0D108BD9-81ED-4DB2-BD59-A6C34878D82A}">
                        <a16:rowId xmlns:a16="http://schemas.microsoft.com/office/drawing/2014/main" val="4093125850"/>
                      </a:ext>
                    </a:extLst>
                  </a:tr>
                  <a:tr h="991676">
                    <a:tc>
                      <a:txBody>
                        <a:bodyPr/>
                        <a:lstStyle/>
                        <a:p>
                          <a:pPr algn="ctr">
                            <a:buNone/>
                          </a:pPr>
                          <a:r>
                            <a:rPr lang="en-IN" sz="1400" b="1"/>
                            <a:t>Precision</a:t>
                          </a:r>
                          <a:endParaRPr lang="en-IN" sz="1400"/>
                        </a:p>
                      </a:txBody>
                      <a:tcPr marL="63063" marR="63063" marT="31531" marB="31531" anchor="ctr"/>
                    </a:tc>
                    <a:tc>
                      <a:txBody>
                        <a:bodyPr/>
                        <a:lstStyle/>
                        <a:p>
                          <a:pPr>
                            <a:buNone/>
                          </a:pPr>
                          <a:r>
                            <a:rPr lang="en-US" sz="1400" dirty="0"/>
                            <a:t>Proportion of correctly predicted positives out of all predicted positives.</a:t>
                          </a:r>
                        </a:p>
                      </a:txBody>
                      <a:tcPr marL="63063" marR="63063" marT="31531" marB="31531" anchor="ctr"/>
                    </a:tc>
                    <a:tc>
                      <a:txBody>
                        <a:bodyPr/>
                        <a:lstStyle/>
                        <a:p>
                          <a:pPr algn="ctr">
                            <a:buNone/>
                          </a:pPr>
                          <a14:m>
                            <m:oMathPara xmlns:m="http://schemas.openxmlformats.org/officeDocument/2006/math">
                              <m:oMathParaPr>
                                <m:jc m:val="centerGroup"/>
                              </m:oMathParaPr>
                              <m:oMath xmlns:m="http://schemas.openxmlformats.org/officeDocument/2006/math">
                                <m:r>
                                  <m:rPr>
                                    <m:nor/>
                                  </m:rPr>
                                  <a:rPr lang="en-IN" sz="1400" dirty="0" smtClean="0"/>
                                  <m:t>Precision</m:t>
                                </m:r>
                                <m:r>
                                  <a:rPr lang="en-IN" sz="1400" dirty="0">
                                    <a:latin typeface="Cambria Math" panose="02040503050406030204" pitchFamily="18" charset="0"/>
                                  </a:rPr>
                                  <m:t>=</m:t>
                                </m:r>
                                <m:f>
                                  <m:fPr>
                                    <m:ctrlPr>
                                      <a:rPr lang="en-IN" sz="1400" i="1" dirty="0">
                                        <a:latin typeface="Cambria Math" panose="02040503050406030204" pitchFamily="18" charset="0"/>
                                      </a:rPr>
                                    </m:ctrlPr>
                                  </m:fPr>
                                  <m:num>
                                    <m:r>
                                      <a:rPr lang="en-IN" sz="1400" dirty="0">
                                        <a:latin typeface="Cambria Math" panose="02040503050406030204" pitchFamily="18" charset="0"/>
                                      </a:rPr>
                                      <m:t>𝑇𝑃</m:t>
                                    </m:r>
                                  </m:num>
                                  <m:den>
                                    <m:r>
                                      <a:rPr lang="en-IN" sz="1400" dirty="0">
                                        <a:latin typeface="Cambria Math" panose="02040503050406030204" pitchFamily="18" charset="0"/>
                                      </a:rPr>
                                      <m:t>𝑇𝑃</m:t>
                                    </m:r>
                                    <m:r>
                                      <a:rPr lang="en-IN" sz="1400" dirty="0">
                                        <a:latin typeface="Cambria Math" panose="02040503050406030204" pitchFamily="18" charset="0"/>
                                      </a:rPr>
                                      <m:t>+</m:t>
                                    </m:r>
                                    <m:r>
                                      <a:rPr lang="en-IN" sz="1400" dirty="0">
                                        <a:latin typeface="Cambria Math" panose="02040503050406030204" pitchFamily="18" charset="0"/>
                                      </a:rPr>
                                      <m:t>𝐹𝑃</m:t>
                                    </m:r>
                                  </m:den>
                                </m:f>
                              </m:oMath>
                            </m:oMathPara>
                          </a14:m>
                          <a:endParaRPr/>
                        </a:p>
                      </a:txBody>
                      <a:tcPr marL="63063" marR="63063" marT="31531" marB="31531" anchor="ctr"/>
                    </a:tc>
                    <a:tc>
                      <a:txBody>
                        <a:bodyPr/>
                        <a:lstStyle/>
                        <a:p>
                          <a:pPr>
                            <a:buNone/>
                          </a:pPr>
                          <a:r>
                            <a:rPr lang="en-US" sz="1400" dirty="0"/>
                            <a:t>Important when </a:t>
                          </a:r>
                          <a:r>
                            <a:rPr lang="en-US" sz="1400" b="1" dirty="0"/>
                            <a:t>false positives are costly</a:t>
                          </a:r>
                          <a:r>
                            <a:rPr lang="en-US" sz="1400" dirty="0"/>
                            <a:t> (e.g., detecting a fall when none occurred).</a:t>
                          </a:r>
                        </a:p>
                      </a:txBody>
                      <a:tcPr marL="63063" marR="63063" marT="31531" marB="31531" anchor="ctr"/>
                    </a:tc>
                    <a:tc>
                      <a:txBody>
                        <a:bodyPr/>
                        <a:lstStyle/>
                        <a:p>
                          <a:pPr algn="l">
                            <a:buNone/>
                          </a:pPr>
                          <a:r>
                            <a:rPr lang="en-IN" sz="1400" b="1" dirty="0"/>
                            <a:t>TP:</a:t>
                          </a:r>
                          <a:r>
                            <a:rPr lang="en-IN" sz="1400" dirty="0"/>
                            <a:t> True Positives (correct positive predictions)</a:t>
                          </a:r>
                        </a:p>
                        <a:p>
                          <a:pPr algn="l">
                            <a:buNone/>
                          </a:pPr>
                          <a:r>
                            <a:rPr lang="en-IN" sz="1400" b="1" dirty="0"/>
                            <a:t>FP:</a:t>
                          </a:r>
                          <a:r>
                            <a:rPr lang="en-IN" sz="1400" dirty="0"/>
                            <a:t> False Positives (incorrect positive predictions)</a:t>
                          </a:r>
                        </a:p>
                      </a:txBody>
                      <a:tcPr marL="63063" marR="63063" marT="31531" marB="31531" anchor="ctr"/>
                    </a:tc>
                    <a:extLst>
                      <a:ext uri="{0D108BD9-81ED-4DB2-BD59-A6C34878D82A}">
                        <a16:rowId xmlns:a16="http://schemas.microsoft.com/office/drawing/2014/main" val="4144166889"/>
                      </a:ext>
                    </a:extLst>
                  </a:tr>
                  <a:tr h="808500">
                    <a:tc>
                      <a:txBody>
                        <a:bodyPr/>
                        <a:lstStyle/>
                        <a:p>
                          <a:pPr algn="ctr">
                            <a:buNone/>
                          </a:pPr>
                          <a:r>
                            <a:rPr lang="en-IN" sz="1400" b="1"/>
                            <a:t>Recall</a:t>
                          </a:r>
                          <a:endParaRPr lang="en-IN" sz="1400"/>
                        </a:p>
                      </a:txBody>
                      <a:tcPr marL="63063" marR="63063" marT="31531" marB="31531" anchor="ctr"/>
                    </a:tc>
                    <a:tc>
                      <a:txBody>
                        <a:bodyPr/>
                        <a:lstStyle/>
                        <a:p>
                          <a:pPr>
                            <a:buNone/>
                          </a:pPr>
                          <a:r>
                            <a:rPr lang="en-US" sz="1400"/>
                            <a:t>Proportion of correctly predicted positives out of all actual positives.</a:t>
                          </a:r>
                        </a:p>
                      </a:txBody>
                      <a:tcPr marL="63063" marR="63063" marT="31531" marB="31531" anchor="ctr"/>
                    </a:tc>
                    <a:tc>
                      <a:txBody>
                        <a:bodyPr/>
                        <a:lstStyle/>
                        <a:p>
                          <a:pPr algn="ctr">
                            <a:buNone/>
                          </a:pPr>
                          <a:r>
                            <a:rPr lang="en-IN" sz="1400" dirty="0"/>
                            <a:t> </a:t>
                          </a:r>
                          <a14:m>
                            <m:oMath xmlns:m="http://schemas.openxmlformats.org/officeDocument/2006/math">
                              <m:r>
                                <m:rPr>
                                  <m:nor/>
                                </m:rPr>
                                <a:rPr lang="en-IN" sz="1400" dirty="0" smtClean="0"/>
                                <m:t>Recall</m:t>
                              </m:r>
                              <m:r>
                                <a:rPr lang="en-IN" sz="1400" dirty="0" smtClean="0">
                                  <a:latin typeface="Cambria Math" panose="02040503050406030204" pitchFamily="18" charset="0"/>
                                </a:rPr>
                                <m:t>=</m:t>
                              </m:r>
                              <m:f>
                                <m:fPr>
                                  <m:ctrlPr>
                                    <a:rPr lang="en-IN" sz="1400" i="1" dirty="0" smtClean="0">
                                      <a:latin typeface="Cambria Math" panose="02040503050406030204" pitchFamily="18" charset="0"/>
                                    </a:rPr>
                                  </m:ctrlPr>
                                </m:fPr>
                                <m:num>
                                  <m:r>
                                    <a:rPr lang="en-IN" sz="1400" dirty="0" smtClean="0">
                                      <a:latin typeface="Cambria Math" panose="02040503050406030204" pitchFamily="18" charset="0"/>
                                    </a:rPr>
                                    <m:t>𝑇𝑃</m:t>
                                  </m:r>
                                </m:num>
                                <m:den>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𝐹𝑁</m:t>
                                  </m:r>
                                </m:den>
                              </m:f>
                            </m:oMath>
                          </a14:m>
                          <a:endParaRPr lang="en-IN" sz="1400" dirty="0"/>
                        </a:p>
                      </a:txBody>
                      <a:tcPr marL="63063" marR="63063" marT="31531" marB="31531" anchor="ctr"/>
                    </a:tc>
                    <a:tc>
                      <a:txBody>
                        <a:bodyPr/>
                        <a:lstStyle/>
                        <a:p>
                          <a:pPr>
                            <a:buNone/>
                          </a:pPr>
                          <a:r>
                            <a:rPr lang="en-US" sz="1400"/>
                            <a:t>Key when </a:t>
                          </a:r>
                          <a:r>
                            <a:rPr lang="en-US" sz="1400" b="1"/>
                            <a:t>missing a positive is critical</a:t>
                          </a:r>
                          <a:r>
                            <a:rPr lang="en-US" sz="1400"/>
                            <a:t> (e.g., failing to detect a real fall).</a:t>
                          </a:r>
                        </a:p>
                      </a:txBody>
                      <a:tcPr marL="63063" marR="63063" marT="31531" marB="31531" anchor="ctr"/>
                    </a:tc>
                    <a:tc>
                      <a:txBody>
                        <a:bodyPr/>
                        <a:lstStyle/>
                        <a:p>
                          <a:pPr algn="l">
                            <a:buNone/>
                          </a:pPr>
                          <a:r>
                            <a:rPr lang="en-IN" sz="1400" b="1" dirty="0"/>
                            <a:t>FN:</a:t>
                          </a:r>
                          <a:r>
                            <a:rPr lang="en-IN" sz="1400" dirty="0"/>
                            <a:t> False Negatives (missed actual positives)</a:t>
                          </a:r>
                        </a:p>
                      </a:txBody>
                      <a:tcPr marL="63063" marR="63063" marT="31531" marB="31531" anchor="ctr"/>
                    </a:tc>
                    <a:extLst>
                      <a:ext uri="{0D108BD9-81ED-4DB2-BD59-A6C34878D82A}">
                        <a16:rowId xmlns:a16="http://schemas.microsoft.com/office/drawing/2014/main" val="1798312840"/>
                      </a:ext>
                    </a:extLst>
                  </a:tr>
                  <a:tr h="991676">
                    <a:tc>
                      <a:txBody>
                        <a:bodyPr/>
                        <a:lstStyle/>
                        <a:p>
                          <a:pPr algn="ctr">
                            <a:buNone/>
                          </a:pPr>
                          <a:r>
                            <a:rPr lang="en-IN" sz="1400" b="1"/>
                            <a:t>F1-Score</a:t>
                          </a:r>
                          <a:endParaRPr lang="en-IN" sz="1400"/>
                        </a:p>
                      </a:txBody>
                      <a:tcPr marL="63063" marR="63063" marT="31531" marB="31531" anchor="ctr"/>
                    </a:tc>
                    <a:tc>
                      <a:txBody>
                        <a:bodyPr/>
                        <a:lstStyle/>
                        <a:p>
                          <a:pPr>
                            <a:buNone/>
                          </a:pPr>
                          <a:r>
                            <a:rPr lang="en-US" sz="1400" dirty="0"/>
                            <a:t>Harmonic mean of Precision and Recall; balances false positives and false negatives.</a:t>
                          </a:r>
                        </a:p>
                      </a:txBody>
                      <a:tcPr marL="63063" marR="63063" marT="31531" marB="31531" anchor="ctr"/>
                    </a:tc>
                    <a:tc>
                      <a:txBody>
                        <a:bodyPr/>
                        <a:lstStyle/>
                        <a:p>
                          <a:pPr algn="ctr">
                            <a:buNone/>
                          </a:pPr>
                          <a14:m>
                            <m:oMathPara xmlns:m="http://schemas.openxmlformats.org/officeDocument/2006/math">
                              <m:oMathParaPr>
                                <m:jc m:val="centerGroup"/>
                              </m:oMathParaPr>
                              <m:oMath xmlns:m="http://schemas.openxmlformats.org/officeDocument/2006/math">
                                <m:r>
                                  <a:rPr lang="en-IN" sz="1400" dirty="0" smtClean="0">
                                    <a:latin typeface="Cambria Math" panose="02040503050406030204" pitchFamily="18" charset="0"/>
                                  </a:rPr>
                                  <m:t>𝐹</m:t>
                                </m:r>
                                <m:r>
                                  <a:rPr lang="en-IN" sz="1400" dirty="0" smtClean="0">
                                    <a:latin typeface="Cambria Math" panose="02040503050406030204" pitchFamily="18" charset="0"/>
                                  </a:rPr>
                                  <m:t>1=2×</m:t>
                                </m:r>
                                <m:f>
                                  <m:fPr>
                                    <m:ctrlPr>
                                      <a:rPr lang="en-IN" sz="1400" i="1" dirty="0">
                                        <a:latin typeface="Cambria Math" panose="02040503050406030204" pitchFamily="18" charset="0"/>
                                      </a:rPr>
                                    </m:ctrlPr>
                                  </m:fPr>
                                  <m:num>
                                    <m:r>
                                      <m:rPr>
                                        <m:nor/>
                                      </m:rPr>
                                      <a:rPr lang="en-IN" sz="1400" dirty="0"/>
                                      <m:t>Precision</m:t>
                                    </m:r>
                                    <m:r>
                                      <a:rPr lang="en-IN" sz="1400" dirty="0">
                                        <a:latin typeface="Cambria Math" panose="02040503050406030204" pitchFamily="18" charset="0"/>
                                      </a:rPr>
                                      <m:t>×</m:t>
                                    </m:r>
                                    <m:r>
                                      <m:rPr>
                                        <m:nor/>
                                      </m:rPr>
                                      <a:rPr lang="en-IN" sz="1400" dirty="0"/>
                                      <m:t>Recall</m:t>
                                    </m:r>
                                  </m:num>
                                  <m:den>
                                    <m:r>
                                      <m:rPr>
                                        <m:nor/>
                                      </m:rPr>
                                      <a:rPr lang="en-IN" sz="1400" dirty="0"/>
                                      <m:t>Precision</m:t>
                                    </m:r>
                                    <m:r>
                                      <a:rPr lang="en-IN" sz="1400" dirty="0">
                                        <a:latin typeface="Cambria Math" panose="02040503050406030204" pitchFamily="18" charset="0"/>
                                      </a:rPr>
                                      <m:t>+</m:t>
                                    </m:r>
                                    <m:r>
                                      <m:rPr>
                                        <m:nor/>
                                      </m:rPr>
                                      <a:rPr lang="en-IN" sz="1400" dirty="0"/>
                                      <m:t>Recall</m:t>
                                    </m:r>
                                  </m:den>
                                </m:f>
                              </m:oMath>
                            </m:oMathPara>
                          </a14:m>
                          <a:endParaRPr/>
                        </a:p>
                      </a:txBody>
                      <a:tcPr marL="63063" marR="63063" marT="31531" marB="31531" anchor="ctr"/>
                    </a:tc>
                    <a:tc>
                      <a:txBody>
                        <a:bodyPr/>
                        <a:lstStyle/>
                        <a:p>
                          <a:pPr>
                            <a:buNone/>
                          </a:pPr>
                          <a:r>
                            <a:rPr lang="en-US" sz="1400"/>
                            <a:t>Used when </a:t>
                          </a:r>
                          <a:r>
                            <a:rPr lang="en-US" sz="1400" b="1"/>
                            <a:t>both precision and recall matter</a:t>
                          </a:r>
                          <a:r>
                            <a:rPr lang="en-US" sz="1400"/>
                            <a:t>, e.g., imbalanced HAR activity classes.</a:t>
                          </a:r>
                        </a:p>
                      </a:txBody>
                      <a:tcPr marL="63063" marR="63063" marT="31531" marB="31531" anchor="ctr"/>
                    </a:tc>
                    <a:tc>
                      <a:txBody>
                        <a:bodyPr/>
                        <a:lstStyle/>
                        <a:p>
                          <a:pPr algn="l">
                            <a:buNone/>
                          </a:pPr>
                          <a:r>
                            <a:rPr lang="en-US" sz="1400" dirty="0"/>
                            <a:t>-</a:t>
                          </a:r>
                        </a:p>
                      </a:txBody>
                      <a:tcPr marL="63063" marR="63063" marT="31531" marB="31531" anchor="ctr"/>
                    </a:tc>
                    <a:extLst>
                      <a:ext uri="{0D108BD9-81ED-4DB2-BD59-A6C34878D82A}">
                        <a16:rowId xmlns:a16="http://schemas.microsoft.com/office/drawing/2014/main" val="2589191954"/>
                      </a:ext>
                    </a:extLst>
                  </a:tr>
                  <a:tr h="808500">
                    <a:tc>
                      <a:txBody>
                        <a:bodyPr/>
                        <a:lstStyle/>
                        <a:p>
                          <a:pPr algn="ctr">
                            <a:buNone/>
                          </a:pPr>
                          <a:r>
                            <a:rPr lang="en-IN" sz="1400" b="1"/>
                            <a:t>Accuracy</a:t>
                          </a:r>
                          <a:endParaRPr lang="en-IN" sz="1400"/>
                        </a:p>
                      </a:txBody>
                      <a:tcPr marL="63063" marR="63063" marT="31531" marB="31531" anchor="ctr"/>
                    </a:tc>
                    <a:tc>
                      <a:txBody>
                        <a:bodyPr/>
                        <a:lstStyle/>
                        <a:p>
                          <a:pPr>
                            <a:buNone/>
                          </a:pPr>
                          <a:r>
                            <a:rPr lang="en-US" sz="1400"/>
                            <a:t>Proportion of correctly predicted samples out of all samples.</a:t>
                          </a:r>
                        </a:p>
                      </a:txBody>
                      <a:tcPr marL="63063" marR="63063" marT="31531" marB="31531" anchor="ctr"/>
                    </a:tc>
                    <a:tc>
                      <a:txBody>
                        <a:bodyPr/>
                        <a:lstStyle/>
                        <a:p>
                          <a:pPr algn="ctr">
                            <a:buNone/>
                          </a:pPr>
                          <a:r>
                            <a:rPr lang="en-IN" sz="1400" dirty="0"/>
                            <a:t> </a:t>
                          </a:r>
                          <a14:m>
                            <m:oMath xmlns:m="http://schemas.openxmlformats.org/officeDocument/2006/math">
                              <m:r>
                                <m:rPr>
                                  <m:nor/>
                                </m:rPr>
                                <a:rPr lang="en-IN" sz="1400" dirty="0" smtClean="0"/>
                                <m:t>Accuracy</m:t>
                              </m:r>
                              <m:r>
                                <a:rPr lang="en-IN" sz="1400" dirty="0" smtClean="0">
                                  <a:latin typeface="Cambria Math" panose="02040503050406030204" pitchFamily="18" charset="0"/>
                                </a:rPr>
                                <m:t>=</m:t>
                              </m:r>
                              <m:f>
                                <m:fPr>
                                  <m:ctrlPr>
                                    <a:rPr lang="en-IN" sz="1400" i="1" dirty="0" smtClean="0">
                                      <a:latin typeface="Cambria Math" panose="02040503050406030204" pitchFamily="18" charset="0"/>
                                    </a:rPr>
                                  </m:ctrlPr>
                                </m:fPr>
                                <m:num>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𝑇𝑁</m:t>
                                  </m:r>
                                </m:num>
                                <m:den>
                                  <m:r>
                                    <a:rPr lang="en-IN" sz="1400" dirty="0" smtClean="0">
                                      <a:latin typeface="Cambria Math" panose="02040503050406030204" pitchFamily="18" charset="0"/>
                                    </a:rPr>
                                    <m:t>𝑇𝑃</m:t>
                                  </m:r>
                                  <m:r>
                                    <a:rPr lang="en-IN" sz="1400" dirty="0" smtClean="0">
                                      <a:latin typeface="Cambria Math" panose="02040503050406030204" pitchFamily="18" charset="0"/>
                                    </a:rPr>
                                    <m:t>+</m:t>
                                  </m:r>
                                  <m:r>
                                    <a:rPr lang="en-IN" sz="1400" dirty="0" smtClean="0">
                                      <a:latin typeface="Cambria Math" panose="02040503050406030204" pitchFamily="18" charset="0"/>
                                    </a:rPr>
                                    <m:t>𝑇𝑁</m:t>
                                  </m:r>
                                  <m:r>
                                    <a:rPr lang="en-IN" sz="1400" dirty="0" smtClean="0">
                                      <a:latin typeface="Cambria Math" panose="02040503050406030204" pitchFamily="18" charset="0"/>
                                    </a:rPr>
                                    <m:t>+</m:t>
                                  </m:r>
                                  <m:r>
                                    <a:rPr lang="en-IN" sz="1400" dirty="0" smtClean="0">
                                      <a:latin typeface="Cambria Math" panose="02040503050406030204" pitchFamily="18" charset="0"/>
                                    </a:rPr>
                                    <m:t>𝐹𝑃</m:t>
                                  </m:r>
                                  <m:r>
                                    <a:rPr lang="en-IN" sz="1400" dirty="0" smtClean="0">
                                      <a:latin typeface="Cambria Math" panose="02040503050406030204" pitchFamily="18" charset="0"/>
                                    </a:rPr>
                                    <m:t>+</m:t>
                                  </m:r>
                                  <m:r>
                                    <a:rPr lang="en-IN" sz="1400" dirty="0" smtClean="0">
                                      <a:latin typeface="Cambria Math" panose="02040503050406030204" pitchFamily="18" charset="0"/>
                                    </a:rPr>
                                    <m:t>𝐹𝑁</m:t>
                                  </m:r>
                                </m:den>
                              </m:f>
                            </m:oMath>
                          </a14:m>
                          <a:endParaRPr lang="en-IN" sz="1400" dirty="0"/>
                        </a:p>
                      </a:txBody>
                      <a:tcPr marL="63063" marR="63063" marT="31531" marB="31531" anchor="ctr"/>
                    </a:tc>
                    <a:tc>
                      <a:txBody>
                        <a:bodyPr/>
                        <a:lstStyle/>
                        <a:p>
                          <a:pPr>
                            <a:buNone/>
                          </a:pPr>
                          <a:r>
                            <a:rPr lang="en-US" sz="1400"/>
                            <a:t>General metric for overall performance; less reliable for </a:t>
                          </a:r>
                          <a:r>
                            <a:rPr lang="en-US" sz="1400" b="1"/>
                            <a:t>imbalanced datasets</a:t>
                          </a:r>
                          <a:r>
                            <a:rPr lang="en-US" sz="1400"/>
                            <a:t>.</a:t>
                          </a:r>
                        </a:p>
                      </a:txBody>
                      <a:tcPr marL="63063" marR="63063" marT="31531" marB="31531" anchor="ctr"/>
                    </a:tc>
                    <a:tc>
                      <a:txBody>
                        <a:bodyPr/>
                        <a:lstStyle/>
                        <a:p>
                          <a:pPr algn="l">
                            <a:buNone/>
                          </a:pPr>
                          <a:r>
                            <a:rPr lang="en-US" sz="1400" b="1"/>
                            <a:t>TN:</a:t>
                          </a:r>
                          <a:r>
                            <a:rPr lang="en-US" sz="1400"/>
                            <a:t> True Negatives (correct negative predictions)</a:t>
                          </a:r>
                        </a:p>
                      </a:txBody>
                      <a:tcPr marL="63063" marR="63063" marT="31531" marB="31531" anchor="ctr"/>
                    </a:tc>
                    <a:extLst>
                      <a:ext uri="{0D108BD9-81ED-4DB2-BD59-A6C34878D82A}">
                        <a16:rowId xmlns:a16="http://schemas.microsoft.com/office/drawing/2014/main" val="502368675"/>
                      </a:ext>
                    </a:extLst>
                  </a:tr>
                  <a:tr h="1541204">
                    <a:tc>
                      <a:txBody>
                        <a:bodyPr/>
                        <a:lstStyle/>
                        <a:p>
                          <a:pPr algn="ctr">
                            <a:buNone/>
                          </a:pPr>
                          <a:r>
                            <a:rPr lang="en-IN" sz="1400" b="1" dirty="0"/>
                            <a:t>Loss</a:t>
                          </a:r>
                          <a:endParaRPr lang="en-IN" sz="1400" dirty="0"/>
                        </a:p>
                      </a:txBody>
                      <a:tcPr marL="63063" marR="63063" marT="31531" marB="31531" anchor="ctr"/>
                    </a:tc>
                    <a:tc>
                      <a:txBody>
                        <a:bodyPr/>
                        <a:lstStyle/>
                        <a:p>
                          <a:pPr>
                            <a:buNone/>
                          </a:pPr>
                          <a:r>
                            <a:rPr lang="en-US" sz="1400"/>
                            <a:t>Measures prediction error during training; used to update network weights.</a:t>
                          </a:r>
                        </a:p>
                      </a:txBody>
                      <a:tcPr marL="63063" marR="63063" marT="31531" marB="31531" anchor="ctr"/>
                    </a:tc>
                    <a:tc>
                      <a:txBody>
                        <a:bodyPr/>
                        <a:lstStyle/>
                        <a:p>
                          <a:pPr algn="ctr">
                            <a:buNone/>
                          </a:pPr>
                          <a:r>
                            <a:rPr lang="en-IN" sz="1400" b="1" dirty="0"/>
                            <a:t>Categorical Cross-Entropy:</a:t>
                          </a:r>
                        </a:p>
                        <a:p>
                          <a:pPr algn="ctr">
                            <a:buNone/>
                          </a:pPr>
                          <a:r>
                            <a:rPr lang="en-IN" sz="1400" dirty="0"/>
                            <a:t> </a:t>
                          </a:r>
                          <a14:m>
                            <m:oMath xmlns:m="http://schemas.openxmlformats.org/officeDocument/2006/math">
                              <m:r>
                                <a:rPr lang="en-IN" sz="1400" dirty="0" smtClean="0">
                                  <a:latin typeface="Cambria Math" panose="02040503050406030204" pitchFamily="18" charset="0"/>
                                </a:rPr>
                                <m:t>ℒ</m:t>
                              </m:r>
                              <m:r>
                                <a:rPr lang="en-IN" sz="1400" dirty="0" smtClean="0">
                                  <a:latin typeface="Cambria Math" panose="02040503050406030204" pitchFamily="18" charset="0"/>
                                </a:rPr>
                                <m:t>=−</m:t>
                              </m:r>
                              <m:f>
                                <m:fPr>
                                  <m:ctrlPr>
                                    <a:rPr lang="en-IN" sz="1400" i="1" dirty="0">
                                      <a:latin typeface="Cambria Math" panose="02040503050406030204" pitchFamily="18" charset="0"/>
                                    </a:rPr>
                                  </m:ctrlPr>
                                </m:fPr>
                                <m:num>
                                  <m:r>
                                    <a:rPr lang="en-IN" sz="1400" dirty="0">
                                      <a:latin typeface="Cambria Math" panose="02040503050406030204" pitchFamily="18" charset="0"/>
                                    </a:rPr>
                                    <m:t>1</m:t>
                                  </m:r>
                                </m:num>
                                <m:den>
                                  <m:r>
                                    <a:rPr lang="en-IN" sz="1400" dirty="0">
                                      <a:latin typeface="Cambria Math" panose="02040503050406030204" pitchFamily="18" charset="0"/>
                                    </a:rPr>
                                    <m:t>𝑁</m:t>
                                  </m:r>
                                </m:den>
                              </m:f>
                              <m:nary>
                                <m:naryPr>
                                  <m:chr m:val="∑"/>
                                  <m:ctrlPr>
                                    <a:rPr lang="en-IN" sz="1400" i="1" dirty="0">
                                      <a:latin typeface="Cambria Math" panose="02040503050406030204" pitchFamily="18" charset="0"/>
                                    </a:rPr>
                                  </m:ctrlPr>
                                </m:naryPr>
                                <m:sub>
                                  <m:r>
                                    <a:rPr lang="en-IN" sz="1400" dirty="0" err="1">
                                      <a:latin typeface="Cambria Math" panose="02040503050406030204" pitchFamily="18" charset="0"/>
                                    </a:rPr>
                                    <m:t>𝑖</m:t>
                                  </m:r>
                                  <m:r>
                                    <a:rPr lang="en-IN" sz="1400" dirty="0">
                                      <a:latin typeface="Cambria Math" panose="02040503050406030204" pitchFamily="18" charset="0"/>
                                    </a:rPr>
                                    <m:t>=1</m:t>
                                  </m:r>
                                </m:sub>
                                <m:sup>
                                  <m:r>
                                    <a:rPr lang="en-IN" sz="1400" dirty="0">
                                      <a:latin typeface="Cambria Math" panose="02040503050406030204" pitchFamily="18" charset="0"/>
                                    </a:rPr>
                                    <m:t>𝑁</m:t>
                                  </m:r>
                                </m:sup>
                                <m:e>
                                  <m:nary>
                                    <m:naryPr>
                                      <m:chr m:val="∑"/>
                                      <m:ctrlPr>
                                        <a:rPr lang="en-IN" sz="1400" i="1" dirty="0">
                                          <a:latin typeface="Cambria Math" panose="02040503050406030204" pitchFamily="18" charset="0"/>
                                        </a:rPr>
                                      </m:ctrlPr>
                                    </m:naryPr>
                                    <m:sub>
                                      <m:r>
                                        <a:rPr lang="en-IN" sz="1400" dirty="0">
                                          <a:latin typeface="Cambria Math" panose="02040503050406030204" pitchFamily="18" charset="0"/>
                                        </a:rPr>
                                        <m:t>𝑐</m:t>
                                      </m:r>
                                      <m:r>
                                        <a:rPr lang="en-IN" sz="1400" dirty="0">
                                          <a:latin typeface="Cambria Math" panose="02040503050406030204" pitchFamily="18" charset="0"/>
                                        </a:rPr>
                                        <m:t>=1</m:t>
                                      </m:r>
                                    </m:sub>
                                    <m:sup>
                                      <m:r>
                                        <a:rPr lang="en-IN" sz="1400" dirty="0">
                                          <a:latin typeface="Cambria Math" panose="02040503050406030204" pitchFamily="18" charset="0"/>
                                        </a:rPr>
                                        <m:t>𝐶</m:t>
                                      </m:r>
                                    </m:sup>
                                    <m:e>
                                      <m:sSub>
                                        <m:sSubPr>
                                          <m:ctrlPr>
                                            <a:rPr lang="en-IN" sz="1400" i="1" dirty="0">
                                              <a:latin typeface="Cambria Math" panose="02040503050406030204" pitchFamily="18" charset="0"/>
                                            </a:rPr>
                                          </m:ctrlPr>
                                        </m:sSubPr>
                                        <m:e>
                                          <m:r>
                                            <a:rPr lang="en-IN" sz="1400" dirty="0">
                                              <a:latin typeface="Cambria Math" panose="02040503050406030204" pitchFamily="18" charset="0"/>
                                            </a:rPr>
                                            <m:t>𝑦</m:t>
                                          </m:r>
                                        </m:e>
                                        <m:sub>
                                          <m:r>
                                            <a:rPr lang="en-IN" sz="1400" dirty="0" err="1">
                                              <a:latin typeface="Cambria Math" panose="02040503050406030204" pitchFamily="18" charset="0"/>
                                            </a:rPr>
                                            <m:t>𝑖</m:t>
                                          </m:r>
                                          <m:r>
                                            <a:rPr lang="en-IN" sz="1400" dirty="0" err="1">
                                              <a:latin typeface="Cambria Math" panose="02040503050406030204" pitchFamily="18" charset="0"/>
                                            </a:rPr>
                                            <m:t>,</m:t>
                                          </m:r>
                                          <m:r>
                                            <a:rPr lang="en-IN" sz="1400" dirty="0" err="1">
                                              <a:latin typeface="Cambria Math" panose="02040503050406030204" pitchFamily="18" charset="0"/>
                                            </a:rPr>
                                            <m:t>𝑐</m:t>
                                          </m:r>
                                        </m:sub>
                                      </m:sSub>
                                    </m:e>
                                  </m:nary>
                                  <m:func>
                                    <m:funcPr>
                                      <m:ctrlPr>
                                        <a:rPr lang="en-IN" sz="1400" i="1" dirty="0">
                                          <a:latin typeface="Cambria Math" panose="02040503050406030204" pitchFamily="18" charset="0"/>
                                        </a:rPr>
                                      </m:ctrlPr>
                                    </m:funcPr>
                                    <m:fName>
                                      <m:r>
                                        <m:rPr>
                                          <m:sty m:val="p"/>
                                        </m:rPr>
                                        <a:rPr lang="en-IN" sz="1400" dirty="0">
                                          <a:latin typeface="Cambria Math" panose="02040503050406030204" pitchFamily="18" charset="0"/>
                                        </a:rPr>
                                        <m:t>log</m:t>
                                      </m:r>
                                    </m:fName>
                                    <m:e>
                                      <m:d>
                                        <m:dPr>
                                          <m:ctrlPr>
                                            <a:rPr lang="en-IN" sz="1400" i="1" dirty="0">
                                              <a:latin typeface="Cambria Math" panose="02040503050406030204" pitchFamily="18" charset="0"/>
                                            </a:rPr>
                                          </m:ctrlPr>
                                        </m:dPr>
                                        <m:e>
                                          <m:sSub>
                                            <m:sSubPr>
                                              <m:ctrlPr>
                                                <a:rPr lang="en-IN" sz="1400" i="1" dirty="0">
                                                  <a:latin typeface="Cambria Math" panose="02040503050406030204" pitchFamily="18" charset="0"/>
                                                </a:rPr>
                                              </m:ctrlPr>
                                            </m:sSubPr>
                                            <m:e>
                                              <m:r>
                                                <a:rPr lang="en-IN" sz="1400" dirty="0">
                                                  <a:latin typeface="Cambria Math" panose="02040503050406030204" pitchFamily="18" charset="0"/>
                                                </a:rPr>
                                                <m:t>𝑝</m:t>
                                              </m:r>
                                            </m:e>
                                            <m:sub>
                                              <m:r>
                                                <a:rPr lang="en-IN" sz="1400" dirty="0" err="1">
                                                  <a:latin typeface="Cambria Math" panose="02040503050406030204" pitchFamily="18" charset="0"/>
                                                </a:rPr>
                                                <m:t>𝑖</m:t>
                                              </m:r>
                                              <m:r>
                                                <a:rPr lang="en-IN" sz="1400" dirty="0" err="1">
                                                  <a:latin typeface="Cambria Math" panose="02040503050406030204" pitchFamily="18" charset="0"/>
                                                </a:rPr>
                                                <m:t>,</m:t>
                                              </m:r>
                                              <m:r>
                                                <a:rPr lang="en-IN" sz="1400" dirty="0" err="1">
                                                  <a:latin typeface="Cambria Math" panose="02040503050406030204" pitchFamily="18" charset="0"/>
                                                </a:rPr>
                                                <m:t>𝑐</m:t>
                                              </m:r>
                                            </m:sub>
                                          </m:sSub>
                                        </m:e>
                                      </m:d>
                                    </m:e>
                                  </m:func>
                                </m:e>
                              </m:nary>
                            </m:oMath>
                          </a14:m>
                          <a:endParaRPr lang="en-IN" sz="1400" dirty="0"/>
                        </a:p>
                      </a:txBody>
                      <a:tcPr marL="63063" marR="63063" marT="31531" marB="31531" anchor="ctr"/>
                    </a:tc>
                    <a:tc>
                      <a:txBody>
                        <a:bodyPr/>
                        <a:lstStyle/>
                        <a:p>
                          <a:pPr>
                            <a:buNone/>
                          </a:pPr>
                          <a:r>
                            <a:rPr lang="en-US" sz="1400"/>
                            <a:t>Guides </a:t>
                          </a:r>
                          <a:r>
                            <a:rPr lang="en-US" sz="1400" b="1"/>
                            <a:t>weight updates</a:t>
                          </a:r>
                          <a:r>
                            <a:rPr lang="en-US" sz="1400"/>
                            <a:t> in BiLSTM, helps learn sequential HAR patterns accurately.</a:t>
                          </a:r>
                        </a:p>
                      </a:txBody>
                      <a:tcPr marL="63063" marR="63063" marT="31531" marB="31531" anchor="ctr"/>
                    </a:tc>
                    <a:tc>
                      <a:txBody>
                        <a:bodyPr/>
                        <a:lstStyle/>
                        <a:p>
                          <a:pPr algn="l">
                            <a:buNone/>
                          </a:pPr>
                          <a:r>
                            <a:rPr lang="en-US" sz="1400" b="1" dirty="0"/>
                            <a:t>N:</a:t>
                          </a:r>
                          <a:r>
                            <a:rPr lang="en-US" sz="1400" dirty="0"/>
                            <a:t> Total samples</a:t>
                          </a:r>
                        </a:p>
                        <a:p>
                          <a:pPr algn="l">
                            <a:buNone/>
                          </a:pPr>
                          <a:r>
                            <a:rPr lang="en-US" sz="1400" b="1" dirty="0"/>
                            <a:t>C:</a:t>
                          </a:r>
                          <a:r>
                            <a:rPr lang="en-US" sz="1400" dirty="0"/>
                            <a:t> Number of classes</a:t>
                          </a:r>
                        </a:p>
                        <a:p>
                          <a:pPr algn="l">
                            <a:buNone/>
                          </a:pPr>
                          <a:r>
                            <a:rPr lang="en-US" sz="1400" b="1" dirty="0"/>
                            <a:t>y₍ᵢ,𝚌₎:</a:t>
                          </a:r>
                          <a:r>
                            <a:rPr lang="en-US" sz="1400" dirty="0"/>
                            <a:t> Ground-truth (1 if sample </a:t>
                          </a:r>
                          <a:r>
                            <a:rPr lang="en-US" sz="1400" dirty="0" err="1"/>
                            <a:t>i</a:t>
                          </a:r>
                          <a:r>
                            <a:rPr lang="en-US" sz="1400" dirty="0"/>
                            <a:t> belongs to class c, else 0)</a:t>
                          </a:r>
                        </a:p>
                        <a:p>
                          <a:pPr algn="l">
                            <a:buNone/>
                          </a:pPr>
                          <a:r>
                            <a:rPr lang="en-US" sz="1400" b="1" dirty="0"/>
                            <a:t>p₍ᵢ,𝚌₎:</a:t>
                          </a:r>
                          <a:r>
                            <a:rPr lang="en-US" sz="1400" dirty="0"/>
                            <a:t> Predicted probability for class c for sample </a:t>
                          </a:r>
                          <a:r>
                            <a:rPr lang="en-US" sz="1400" dirty="0" err="1"/>
                            <a:t>i</a:t>
                          </a:r>
                          <a:endParaRPr lang="en-US" sz="1400" dirty="0"/>
                        </a:p>
                      </a:txBody>
                      <a:tcPr marL="63063" marR="63063" marT="31531" marB="31531" anchor="ctr"/>
                    </a:tc>
                    <a:extLst>
                      <a:ext uri="{0D108BD9-81ED-4DB2-BD59-A6C34878D82A}">
                        <a16:rowId xmlns:a16="http://schemas.microsoft.com/office/drawing/2014/main" val="2498357744"/>
                      </a:ext>
                    </a:extLst>
                  </a:tr>
                </a:tbl>
              </a:graphicData>
            </a:graphic>
          </p:graphicFrame>
        </mc:Choice>
        <mc:Fallback xmlns="">
          <p:graphicFrame>
            <p:nvGraphicFramePr>
              <p:cNvPr id="7" name="Table 6">
                <a:extLst>
                  <a:ext uri="{FF2B5EF4-FFF2-40B4-BE49-F238E27FC236}">
                    <a16:creationId xmlns:a16="http://schemas.microsoft.com/office/drawing/2014/main" id="{399118CF-B023-FF15-71DE-BC2ED113B4E1}"/>
                  </a:ext>
                </a:extLst>
              </p:cNvPr>
              <p:cNvGraphicFramePr>
                <a:graphicFrameLocks noGrp="1"/>
              </p:cNvGraphicFramePr>
              <p:nvPr>
                <p:extLst>
                  <p:ext uri="{D42A27DB-BD31-4B8C-83A1-F6EECF244321}">
                    <p14:modId xmlns:p14="http://schemas.microsoft.com/office/powerpoint/2010/main" val="3179145277"/>
                  </p:ext>
                </p:extLst>
              </p:nvPr>
            </p:nvGraphicFramePr>
            <p:xfrm>
              <a:off x="216817" y="928847"/>
              <a:ext cx="11255604" cy="5583705"/>
            </p:xfrm>
            <a:graphic>
              <a:graphicData uri="http://schemas.openxmlformats.org/drawingml/2006/table">
                <a:tbl>
                  <a:tblPr>
                    <a:tableStyleId>{21E4AEA4-8DFA-4A89-87EB-49C32662AFE0}</a:tableStyleId>
                  </a:tblPr>
                  <a:tblGrid>
                    <a:gridCol w="1008479">
                      <a:extLst>
                        <a:ext uri="{9D8B030D-6E8A-4147-A177-3AD203B41FA5}">
                          <a16:colId xmlns:a16="http://schemas.microsoft.com/office/drawing/2014/main" val="1385591346"/>
                        </a:ext>
                      </a:extLst>
                    </a:gridCol>
                    <a:gridCol w="2167128">
                      <a:extLst>
                        <a:ext uri="{9D8B030D-6E8A-4147-A177-3AD203B41FA5}">
                          <a16:colId xmlns:a16="http://schemas.microsoft.com/office/drawing/2014/main" val="536659541"/>
                        </a:ext>
                      </a:extLst>
                    </a:gridCol>
                    <a:gridCol w="2569464">
                      <a:extLst>
                        <a:ext uri="{9D8B030D-6E8A-4147-A177-3AD203B41FA5}">
                          <a16:colId xmlns:a16="http://schemas.microsoft.com/office/drawing/2014/main" val="1648483843"/>
                        </a:ext>
                      </a:extLst>
                    </a:gridCol>
                    <a:gridCol w="2633472">
                      <a:extLst>
                        <a:ext uri="{9D8B030D-6E8A-4147-A177-3AD203B41FA5}">
                          <a16:colId xmlns:a16="http://schemas.microsoft.com/office/drawing/2014/main" val="4076832240"/>
                        </a:ext>
                      </a:extLst>
                    </a:gridCol>
                    <a:gridCol w="2877061">
                      <a:extLst>
                        <a:ext uri="{9D8B030D-6E8A-4147-A177-3AD203B41FA5}">
                          <a16:colId xmlns:a16="http://schemas.microsoft.com/office/drawing/2014/main" val="139714059"/>
                        </a:ext>
                      </a:extLst>
                    </a:gridCol>
                  </a:tblGrid>
                  <a:tr h="442149">
                    <a:tc>
                      <a:txBody>
                        <a:bodyPr/>
                        <a:lstStyle/>
                        <a:p>
                          <a:pPr algn="ctr">
                            <a:buNone/>
                          </a:pPr>
                          <a:r>
                            <a:rPr lang="en-IN" sz="1400" b="1" dirty="0"/>
                            <a:t>Metrics</a:t>
                          </a:r>
                          <a:endParaRPr lang="en-IN" sz="1400" dirty="0"/>
                        </a:p>
                      </a:txBody>
                      <a:tcPr marL="63063" marR="63063" marT="31531" marB="31531" anchor="ctr"/>
                    </a:tc>
                    <a:tc>
                      <a:txBody>
                        <a:bodyPr/>
                        <a:lstStyle/>
                        <a:p>
                          <a:pPr algn="ctr">
                            <a:buNone/>
                          </a:pPr>
                          <a:r>
                            <a:rPr lang="en-IN" sz="1400" b="1"/>
                            <a:t>Definition</a:t>
                          </a:r>
                          <a:endParaRPr lang="en-IN" sz="1400"/>
                        </a:p>
                      </a:txBody>
                      <a:tcPr marL="63063" marR="63063" marT="31531" marB="31531" anchor="ctr"/>
                    </a:tc>
                    <a:tc>
                      <a:txBody>
                        <a:bodyPr/>
                        <a:lstStyle/>
                        <a:p>
                          <a:pPr algn="ctr">
                            <a:buNone/>
                          </a:pPr>
                          <a:r>
                            <a:rPr lang="en-IN" sz="1400" b="1"/>
                            <a:t>Formula</a:t>
                          </a:r>
                          <a:endParaRPr lang="en-IN" sz="1400"/>
                        </a:p>
                      </a:txBody>
                      <a:tcPr marL="63063" marR="63063" marT="31531" marB="31531" anchor="ctr"/>
                    </a:tc>
                    <a:tc>
                      <a:txBody>
                        <a:bodyPr/>
                        <a:lstStyle/>
                        <a:p>
                          <a:pPr algn="ctr">
                            <a:buNone/>
                          </a:pPr>
                          <a:r>
                            <a:rPr lang="en-US" sz="1400" b="1" dirty="0"/>
                            <a:t>Usage in HAR</a:t>
                          </a:r>
                          <a:endParaRPr lang="en-US" sz="1400" dirty="0"/>
                        </a:p>
                      </a:txBody>
                      <a:tcPr marL="63063" marR="63063" marT="31531" marB="31531" anchor="ctr"/>
                    </a:tc>
                    <a:tc>
                      <a:txBody>
                        <a:bodyPr/>
                        <a:lstStyle/>
                        <a:p>
                          <a:pPr algn="l">
                            <a:buNone/>
                          </a:pPr>
                          <a:r>
                            <a:rPr lang="en-IN" sz="1400" b="1" dirty="0"/>
                            <a:t>Symbols &amp; Meaning</a:t>
                          </a:r>
                          <a:endParaRPr lang="en-IN" sz="1400" dirty="0"/>
                        </a:p>
                      </a:txBody>
                      <a:tcPr marL="63063" marR="63063" marT="31531" marB="31531" anchor="ctr"/>
                    </a:tc>
                    <a:extLst>
                      <a:ext uri="{0D108BD9-81ED-4DB2-BD59-A6C34878D82A}">
                        <a16:rowId xmlns:a16="http://schemas.microsoft.com/office/drawing/2014/main" val="4093125850"/>
                      </a:ext>
                    </a:extLst>
                  </a:tr>
                  <a:tr h="991676">
                    <a:tc>
                      <a:txBody>
                        <a:bodyPr/>
                        <a:lstStyle/>
                        <a:p>
                          <a:pPr algn="ctr">
                            <a:buNone/>
                          </a:pPr>
                          <a:r>
                            <a:rPr lang="en-IN" sz="1400" b="1"/>
                            <a:t>Precision</a:t>
                          </a:r>
                          <a:endParaRPr lang="en-IN" sz="1400"/>
                        </a:p>
                      </a:txBody>
                      <a:tcPr marL="63063" marR="63063" marT="31531" marB="31531" anchor="ctr"/>
                    </a:tc>
                    <a:tc>
                      <a:txBody>
                        <a:bodyPr/>
                        <a:lstStyle/>
                        <a:p>
                          <a:pPr>
                            <a:buNone/>
                          </a:pPr>
                          <a:r>
                            <a:rPr lang="en-US" sz="1400" dirty="0"/>
                            <a:t>Proportion of correctly predicted positives out of all predicted positives.</a:t>
                          </a:r>
                        </a:p>
                      </a:txBody>
                      <a:tcPr marL="63063" marR="63063" marT="31531" marB="31531" anchor="ctr"/>
                    </a:tc>
                    <a:tc>
                      <a:txBody>
                        <a:bodyPr/>
                        <a:lstStyle/>
                        <a:p>
                          <a:endParaRPr lang="en-US"/>
                        </a:p>
                      </a:txBody>
                      <a:tcPr marL="63063" marR="63063" marT="31531" marB="31531" anchor="ctr">
                        <a:blipFill>
                          <a:blip r:embed="rId2"/>
                          <a:stretch>
                            <a:fillRect l="-123697" t="-45679" r="-214929" b="-422222"/>
                          </a:stretch>
                        </a:blipFill>
                      </a:tcPr>
                    </a:tc>
                    <a:tc>
                      <a:txBody>
                        <a:bodyPr/>
                        <a:lstStyle/>
                        <a:p>
                          <a:pPr>
                            <a:buNone/>
                          </a:pPr>
                          <a:r>
                            <a:rPr lang="en-US" sz="1400" dirty="0"/>
                            <a:t>Important when </a:t>
                          </a:r>
                          <a:r>
                            <a:rPr lang="en-US" sz="1400" b="1" dirty="0"/>
                            <a:t>false positives are costly</a:t>
                          </a:r>
                          <a:r>
                            <a:rPr lang="en-US" sz="1400" dirty="0"/>
                            <a:t> (e.g., detecting a fall when none occurred).</a:t>
                          </a:r>
                        </a:p>
                      </a:txBody>
                      <a:tcPr marL="63063" marR="63063" marT="31531" marB="31531" anchor="ctr"/>
                    </a:tc>
                    <a:tc>
                      <a:txBody>
                        <a:bodyPr/>
                        <a:lstStyle/>
                        <a:p>
                          <a:pPr algn="l">
                            <a:buNone/>
                          </a:pPr>
                          <a:r>
                            <a:rPr lang="en-IN" sz="1400" b="1" dirty="0"/>
                            <a:t>TP:</a:t>
                          </a:r>
                          <a:r>
                            <a:rPr lang="en-IN" sz="1400" dirty="0"/>
                            <a:t> True Positives (correct positive predictions)</a:t>
                          </a:r>
                        </a:p>
                        <a:p>
                          <a:pPr algn="l">
                            <a:buNone/>
                          </a:pPr>
                          <a:r>
                            <a:rPr lang="en-IN" sz="1400" b="1" dirty="0"/>
                            <a:t>FP:</a:t>
                          </a:r>
                          <a:r>
                            <a:rPr lang="en-IN" sz="1400" dirty="0"/>
                            <a:t> False Positives (incorrect positive predictions)</a:t>
                          </a:r>
                        </a:p>
                      </a:txBody>
                      <a:tcPr marL="63063" marR="63063" marT="31531" marB="31531" anchor="ctr"/>
                    </a:tc>
                    <a:extLst>
                      <a:ext uri="{0D108BD9-81ED-4DB2-BD59-A6C34878D82A}">
                        <a16:rowId xmlns:a16="http://schemas.microsoft.com/office/drawing/2014/main" val="4144166889"/>
                      </a:ext>
                    </a:extLst>
                  </a:tr>
                  <a:tr h="808500">
                    <a:tc>
                      <a:txBody>
                        <a:bodyPr/>
                        <a:lstStyle/>
                        <a:p>
                          <a:pPr algn="ctr">
                            <a:buNone/>
                          </a:pPr>
                          <a:r>
                            <a:rPr lang="en-IN" sz="1400" b="1"/>
                            <a:t>Recall</a:t>
                          </a:r>
                          <a:endParaRPr lang="en-IN" sz="1400"/>
                        </a:p>
                      </a:txBody>
                      <a:tcPr marL="63063" marR="63063" marT="31531" marB="31531" anchor="ctr"/>
                    </a:tc>
                    <a:tc>
                      <a:txBody>
                        <a:bodyPr/>
                        <a:lstStyle/>
                        <a:p>
                          <a:pPr>
                            <a:buNone/>
                          </a:pPr>
                          <a:r>
                            <a:rPr lang="en-US" sz="1400"/>
                            <a:t>Proportion of correctly predicted positives out of all actual positives.</a:t>
                          </a:r>
                        </a:p>
                      </a:txBody>
                      <a:tcPr marL="63063" marR="63063" marT="31531" marB="31531" anchor="ctr"/>
                    </a:tc>
                    <a:tc>
                      <a:txBody>
                        <a:bodyPr/>
                        <a:lstStyle/>
                        <a:p>
                          <a:endParaRPr lang="en-US"/>
                        </a:p>
                      </a:txBody>
                      <a:tcPr marL="63063" marR="63063" marT="31531" marB="31531" anchor="ctr">
                        <a:blipFill>
                          <a:blip r:embed="rId2"/>
                          <a:stretch>
                            <a:fillRect l="-123697" t="-177444" r="-214929" b="-414286"/>
                          </a:stretch>
                        </a:blipFill>
                      </a:tcPr>
                    </a:tc>
                    <a:tc>
                      <a:txBody>
                        <a:bodyPr/>
                        <a:lstStyle/>
                        <a:p>
                          <a:pPr>
                            <a:buNone/>
                          </a:pPr>
                          <a:r>
                            <a:rPr lang="en-US" sz="1400"/>
                            <a:t>Key when </a:t>
                          </a:r>
                          <a:r>
                            <a:rPr lang="en-US" sz="1400" b="1"/>
                            <a:t>missing a positive is critical</a:t>
                          </a:r>
                          <a:r>
                            <a:rPr lang="en-US" sz="1400"/>
                            <a:t> (e.g., failing to detect a real fall).</a:t>
                          </a:r>
                        </a:p>
                      </a:txBody>
                      <a:tcPr marL="63063" marR="63063" marT="31531" marB="31531" anchor="ctr"/>
                    </a:tc>
                    <a:tc>
                      <a:txBody>
                        <a:bodyPr/>
                        <a:lstStyle/>
                        <a:p>
                          <a:pPr algn="l">
                            <a:buNone/>
                          </a:pPr>
                          <a:r>
                            <a:rPr lang="en-IN" sz="1400" b="1" dirty="0"/>
                            <a:t>FN:</a:t>
                          </a:r>
                          <a:r>
                            <a:rPr lang="en-IN" sz="1400" dirty="0"/>
                            <a:t> False Negatives (missed actual positives)</a:t>
                          </a:r>
                        </a:p>
                      </a:txBody>
                      <a:tcPr marL="63063" marR="63063" marT="31531" marB="31531" anchor="ctr"/>
                    </a:tc>
                    <a:extLst>
                      <a:ext uri="{0D108BD9-81ED-4DB2-BD59-A6C34878D82A}">
                        <a16:rowId xmlns:a16="http://schemas.microsoft.com/office/drawing/2014/main" val="1798312840"/>
                      </a:ext>
                    </a:extLst>
                  </a:tr>
                  <a:tr h="991676">
                    <a:tc>
                      <a:txBody>
                        <a:bodyPr/>
                        <a:lstStyle/>
                        <a:p>
                          <a:pPr algn="ctr">
                            <a:buNone/>
                          </a:pPr>
                          <a:r>
                            <a:rPr lang="en-IN" sz="1400" b="1"/>
                            <a:t>F1-Score</a:t>
                          </a:r>
                          <a:endParaRPr lang="en-IN" sz="1400"/>
                        </a:p>
                      </a:txBody>
                      <a:tcPr marL="63063" marR="63063" marT="31531" marB="31531" anchor="ctr"/>
                    </a:tc>
                    <a:tc>
                      <a:txBody>
                        <a:bodyPr/>
                        <a:lstStyle/>
                        <a:p>
                          <a:pPr>
                            <a:buNone/>
                          </a:pPr>
                          <a:r>
                            <a:rPr lang="en-US" sz="1400" dirty="0"/>
                            <a:t>Harmonic mean of Precision and Recall; balances false positives and false negatives.</a:t>
                          </a:r>
                        </a:p>
                      </a:txBody>
                      <a:tcPr marL="63063" marR="63063" marT="31531" marB="31531" anchor="ctr"/>
                    </a:tc>
                    <a:tc>
                      <a:txBody>
                        <a:bodyPr/>
                        <a:lstStyle/>
                        <a:p>
                          <a:endParaRPr lang="en-US"/>
                        </a:p>
                      </a:txBody>
                      <a:tcPr marL="63063" marR="63063" marT="31531" marB="31531" anchor="ctr">
                        <a:blipFill>
                          <a:blip r:embed="rId2"/>
                          <a:stretch>
                            <a:fillRect l="-123697" t="-226380" r="-214929" b="-238037"/>
                          </a:stretch>
                        </a:blipFill>
                      </a:tcPr>
                    </a:tc>
                    <a:tc>
                      <a:txBody>
                        <a:bodyPr/>
                        <a:lstStyle/>
                        <a:p>
                          <a:pPr>
                            <a:buNone/>
                          </a:pPr>
                          <a:r>
                            <a:rPr lang="en-US" sz="1400"/>
                            <a:t>Used when </a:t>
                          </a:r>
                          <a:r>
                            <a:rPr lang="en-US" sz="1400" b="1"/>
                            <a:t>both precision and recall matter</a:t>
                          </a:r>
                          <a:r>
                            <a:rPr lang="en-US" sz="1400"/>
                            <a:t>, e.g., imbalanced HAR activity classes.</a:t>
                          </a:r>
                        </a:p>
                      </a:txBody>
                      <a:tcPr marL="63063" marR="63063" marT="31531" marB="31531" anchor="ctr"/>
                    </a:tc>
                    <a:tc>
                      <a:txBody>
                        <a:bodyPr/>
                        <a:lstStyle/>
                        <a:p>
                          <a:pPr algn="l">
                            <a:buNone/>
                          </a:pPr>
                          <a:r>
                            <a:rPr lang="en-US" sz="1400" dirty="0"/>
                            <a:t>-</a:t>
                          </a:r>
                        </a:p>
                      </a:txBody>
                      <a:tcPr marL="63063" marR="63063" marT="31531" marB="31531" anchor="ctr"/>
                    </a:tc>
                    <a:extLst>
                      <a:ext uri="{0D108BD9-81ED-4DB2-BD59-A6C34878D82A}">
                        <a16:rowId xmlns:a16="http://schemas.microsoft.com/office/drawing/2014/main" val="2589191954"/>
                      </a:ext>
                    </a:extLst>
                  </a:tr>
                  <a:tr h="808500">
                    <a:tc>
                      <a:txBody>
                        <a:bodyPr/>
                        <a:lstStyle/>
                        <a:p>
                          <a:pPr algn="ctr">
                            <a:buNone/>
                          </a:pPr>
                          <a:r>
                            <a:rPr lang="en-IN" sz="1400" b="1"/>
                            <a:t>Accuracy</a:t>
                          </a:r>
                          <a:endParaRPr lang="en-IN" sz="1400"/>
                        </a:p>
                      </a:txBody>
                      <a:tcPr marL="63063" marR="63063" marT="31531" marB="31531" anchor="ctr"/>
                    </a:tc>
                    <a:tc>
                      <a:txBody>
                        <a:bodyPr/>
                        <a:lstStyle/>
                        <a:p>
                          <a:pPr>
                            <a:buNone/>
                          </a:pPr>
                          <a:r>
                            <a:rPr lang="en-US" sz="1400"/>
                            <a:t>Proportion of correctly predicted samples out of all samples.</a:t>
                          </a:r>
                        </a:p>
                      </a:txBody>
                      <a:tcPr marL="63063" marR="63063" marT="31531" marB="31531" anchor="ctr"/>
                    </a:tc>
                    <a:tc>
                      <a:txBody>
                        <a:bodyPr/>
                        <a:lstStyle/>
                        <a:p>
                          <a:endParaRPr lang="en-US"/>
                        </a:p>
                      </a:txBody>
                      <a:tcPr marL="63063" marR="63063" marT="31531" marB="31531" anchor="ctr">
                        <a:blipFill>
                          <a:blip r:embed="rId2"/>
                          <a:stretch>
                            <a:fillRect l="-123697" t="-400000" r="-214929" b="-191729"/>
                          </a:stretch>
                        </a:blipFill>
                      </a:tcPr>
                    </a:tc>
                    <a:tc>
                      <a:txBody>
                        <a:bodyPr/>
                        <a:lstStyle/>
                        <a:p>
                          <a:pPr>
                            <a:buNone/>
                          </a:pPr>
                          <a:r>
                            <a:rPr lang="en-US" sz="1400"/>
                            <a:t>General metric for overall performance; less reliable for </a:t>
                          </a:r>
                          <a:r>
                            <a:rPr lang="en-US" sz="1400" b="1"/>
                            <a:t>imbalanced datasets</a:t>
                          </a:r>
                          <a:r>
                            <a:rPr lang="en-US" sz="1400"/>
                            <a:t>.</a:t>
                          </a:r>
                        </a:p>
                      </a:txBody>
                      <a:tcPr marL="63063" marR="63063" marT="31531" marB="31531" anchor="ctr"/>
                    </a:tc>
                    <a:tc>
                      <a:txBody>
                        <a:bodyPr/>
                        <a:lstStyle/>
                        <a:p>
                          <a:pPr algn="l">
                            <a:buNone/>
                          </a:pPr>
                          <a:r>
                            <a:rPr lang="en-US" sz="1400" b="1"/>
                            <a:t>TN:</a:t>
                          </a:r>
                          <a:r>
                            <a:rPr lang="en-US" sz="1400"/>
                            <a:t> True Negatives (correct negative predictions)</a:t>
                          </a:r>
                        </a:p>
                      </a:txBody>
                      <a:tcPr marL="63063" marR="63063" marT="31531" marB="31531" anchor="ctr"/>
                    </a:tc>
                    <a:extLst>
                      <a:ext uri="{0D108BD9-81ED-4DB2-BD59-A6C34878D82A}">
                        <a16:rowId xmlns:a16="http://schemas.microsoft.com/office/drawing/2014/main" val="502368675"/>
                      </a:ext>
                    </a:extLst>
                  </a:tr>
                  <a:tr h="1541204">
                    <a:tc>
                      <a:txBody>
                        <a:bodyPr/>
                        <a:lstStyle/>
                        <a:p>
                          <a:pPr algn="ctr">
                            <a:buNone/>
                          </a:pPr>
                          <a:r>
                            <a:rPr lang="en-IN" sz="1400" b="1" dirty="0"/>
                            <a:t>Loss</a:t>
                          </a:r>
                          <a:endParaRPr lang="en-IN" sz="1400" dirty="0"/>
                        </a:p>
                      </a:txBody>
                      <a:tcPr marL="63063" marR="63063" marT="31531" marB="31531" anchor="ctr"/>
                    </a:tc>
                    <a:tc>
                      <a:txBody>
                        <a:bodyPr/>
                        <a:lstStyle/>
                        <a:p>
                          <a:pPr>
                            <a:buNone/>
                          </a:pPr>
                          <a:r>
                            <a:rPr lang="en-US" sz="1400"/>
                            <a:t>Measures prediction error during training; used to update network weights.</a:t>
                          </a:r>
                        </a:p>
                      </a:txBody>
                      <a:tcPr marL="63063" marR="63063" marT="31531" marB="31531" anchor="ctr"/>
                    </a:tc>
                    <a:tc>
                      <a:txBody>
                        <a:bodyPr/>
                        <a:lstStyle/>
                        <a:p>
                          <a:endParaRPr lang="en-US"/>
                        </a:p>
                      </a:txBody>
                      <a:tcPr marL="63063" marR="63063" marT="31531" marB="31531" anchor="ctr">
                        <a:blipFill>
                          <a:blip r:embed="rId2"/>
                          <a:stretch>
                            <a:fillRect l="-123697" t="-262846" r="-214929" b="-791"/>
                          </a:stretch>
                        </a:blipFill>
                      </a:tcPr>
                    </a:tc>
                    <a:tc>
                      <a:txBody>
                        <a:bodyPr/>
                        <a:lstStyle/>
                        <a:p>
                          <a:pPr>
                            <a:buNone/>
                          </a:pPr>
                          <a:r>
                            <a:rPr lang="en-US" sz="1400"/>
                            <a:t>Guides </a:t>
                          </a:r>
                          <a:r>
                            <a:rPr lang="en-US" sz="1400" b="1"/>
                            <a:t>weight updates</a:t>
                          </a:r>
                          <a:r>
                            <a:rPr lang="en-US" sz="1400"/>
                            <a:t> in BiLSTM, helps learn sequential HAR patterns accurately.</a:t>
                          </a:r>
                        </a:p>
                      </a:txBody>
                      <a:tcPr marL="63063" marR="63063" marT="31531" marB="31531" anchor="ctr"/>
                    </a:tc>
                    <a:tc>
                      <a:txBody>
                        <a:bodyPr/>
                        <a:lstStyle/>
                        <a:p>
                          <a:pPr algn="l">
                            <a:buNone/>
                          </a:pPr>
                          <a:r>
                            <a:rPr lang="en-US" sz="1400" b="1" dirty="0"/>
                            <a:t>N:</a:t>
                          </a:r>
                          <a:r>
                            <a:rPr lang="en-US" sz="1400" dirty="0"/>
                            <a:t> Total samples</a:t>
                          </a:r>
                        </a:p>
                        <a:p>
                          <a:pPr algn="l">
                            <a:buNone/>
                          </a:pPr>
                          <a:r>
                            <a:rPr lang="en-US" sz="1400" b="1" dirty="0"/>
                            <a:t>C:</a:t>
                          </a:r>
                          <a:r>
                            <a:rPr lang="en-US" sz="1400" dirty="0"/>
                            <a:t> Number of classes</a:t>
                          </a:r>
                        </a:p>
                        <a:p>
                          <a:pPr algn="l">
                            <a:buNone/>
                          </a:pPr>
                          <a:r>
                            <a:rPr lang="en-US" sz="1400" b="1" dirty="0"/>
                            <a:t>y₍ᵢ,𝚌₎:</a:t>
                          </a:r>
                          <a:r>
                            <a:rPr lang="en-US" sz="1400" dirty="0"/>
                            <a:t> Ground-truth (1 if sample </a:t>
                          </a:r>
                          <a:r>
                            <a:rPr lang="en-US" sz="1400" dirty="0" err="1"/>
                            <a:t>i</a:t>
                          </a:r>
                          <a:r>
                            <a:rPr lang="en-US" sz="1400" dirty="0"/>
                            <a:t> belongs to class c, else 0)</a:t>
                          </a:r>
                        </a:p>
                        <a:p>
                          <a:pPr algn="l">
                            <a:buNone/>
                          </a:pPr>
                          <a:r>
                            <a:rPr lang="en-US" sz="1400" b="1" dirty="0"/>
                            <a:t>p₍ᵢ,𝚌₎:</a:t>
                          </a:r>
                          <a:r>
                            <a:rPr lang="en-US" sz="1400" dirty="0"/>
                            <a:t> Predicted probability for class c for sample </a:t>
                          </a:r>
                          <a:r>
                            <a:rPr lang="en-US" sz="1400" dirty="0" err="1"/>
                            <a:t>i</a:t>
                          </a:r>
                          <a:endParaRPr lang="en-US" sz="1400" dirty="0"/>
                        </a:p>
                      </a:txBody>
                      <a:tcPr marL="63063" marR="63063" marT="31531" marB="31531" anchor="ctr"/>
                    </a:tc>
                    <a:extLst>
                      <a:ext uri="{0D108BD9-81ED-4DB2-BD59-A6C34878D82A}">
                        <a16:rowId xmlns:a16="http://schemas.microsoft.com/office/drawing/2014/main" val="2498357744"/>
                      </a:ext>
                    </a:extLst>
                  </a:tr>
                </a:tbl>
              </a:graphicData>
            </a:graphic>
          </p:graphicFrame>
        </mc:Fallback>
      </mc:AlternateContent>
      <p:pic>
        <p:nvPicPr>
          <p:cNvPr id="5" name="Google Shape;97;p14">
            <a:extLst>
              <a:ext uri="{FF2B5EF4-FFF2-40B4-BE49-F238E27FC236}">
                <a16:creationId xmlns:a16="http://schemas.microsoft.com/office/drawing/2014/main" id="{7AB6B90E-180B-FB92-3CB7-4406FA1AC68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9" name="Slide Number Placeholder 8">
            <a:extLst>
              <a:ext uri="{FF2B5EF4-FFF2-40B4-BE49-F238E27FC236}">
                <a16:creationId xmlns:a16="http://schemas.microsoft.com/office/drawing/2014/main" id="{B719EC53-A11E-B44E-D2D6-1FCFD46E162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21</a:t>
            </a:fld>
            <a:endParaRPr lang="en-IN" dirty="0"/>
          </a:p>
        </p:txBody>
      </p:sp>
    </p:spTree>
    <p:extLst>
      <p:ext uri="{BB962C8B-B14F-4D97-AF65-F5344CB8AC3E}">
        <p14:creationId xmlns:p14="http://schemas.microsoft.com/office/powerpoint/2010/main" val="2066701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6E6BA-8031-EC46-C59A-4C08EB2BC39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0B1176C-DAAA-0516-4233-5A1C686AC9A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on My Dataset using the Proposed Model</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53A1CAD-9DDD-D58A-267A-EE68B8EAB2E0}"/>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522AF93D-9CC8-C04D-1E23-AB894293363B}"/>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5" name="Picture 14">
            <a:extLst>
              <a:ext uri="{FF2B5EF4-FFF2-40B4-BE49-F238E27FC236}">
                <a16:creationId xmlns:a16="http://schemas.microsoft.com/office/drawing/2014/main" id="{CDAFF207-A217-A49F-5B5D-0A7BF87AD1F7}"/>
              </a:ext>
            </a:extLst>
          </p:cNvPr>
          <p:cNvPicPr>
            <a:picLocks noChangeAspect="1"/>
          </p:cNvPicPr>
          <p:nvPr/>
        </p:nvPicPr>
        <p:blipFill>
          <a:blip r:embed="rId4"/>
          <a:stretch>
            <a:fillRect/>
          </a:stretch>
        </p:blipFill>
        <p:spPr>
          <a:xfrm>
            <a:off x="6191469" y="1153972"/>
            <a:ext cx="5888866" cy="4416649"/>
          </a:xfrm>
          <a:prstGeom prst="rect">
            <a:avLst/>
          </a:prstGeom>
        </p:spPr>
      </p:pic>
      <p:graphicFrame>
        <p:nvGraphicFramePr>
          <p:cNvPr id="28" name="Table 27">
            <a:extLst>
              <a:ext uri="{FF2B5EF4-FFF2-40B4-BE49-F238E27FC236}">
                <a16:creationId xmlns:a16="http://schemas.microsoft.com/office/drawing/2014/main" id="{3467A4FC-EBB0-BE32-4CFC-A64C3BA7AC93}"/>
              </a:ext>
            </a:extLst>
          </p:cNvPr>
          <p:cNvGraphicFramePr>
            <a:graphicFrameLocks noGrp="1"/>
          </p:cNvGraphicFramePr>
          <p:nvPr>
            <p:extLst>
              <p:ext uri="{D42A27DB-BD31-4B8C-83A1-F6EECF244321}">
                <p14:modId xmlns:p14="http://schemas.microsoft.com/office/powerpoint/2010/main" val="1186801932"/>
              </p:ext>
            </p:extLst>
          </p:nvPr>
        </p:nvGraphicFramePr>
        <p:xfrm>
          <a:off x="310796" y="1398269"/>
          <a:ext cx="5531732" cy="4172352"/>
        </p:xfrm>
        <a:graphic>
          <a:graphicData uri="http://schemas.openxmlformats.org/drawingml/2006/table">
            <a:tbl>
              <a:tblPr firstRow="1" bandRow="1">
                <a:tableStyleId>{00A15C55-8517-42AA-B614-E9B94910E393}</a:tableStyleId>
              </a:tblPr>
              <a:tblGrid>
                <a:gridCol w="1382933">
                  <a:extLst>
                    <a:ext uri="{9D8B030D-6E8A-4147-A177-3AD203B41FA5}">
                      <a16:colId xmlns:a16="http://schemas.microsoft.com/office/drawing/2014/main" val="3187092594"/>
                    </a:ext>
                  </a:extLst>
                </a:gridCol>
                <a:gridCol w="1382933">
                  <a:extLst>
                    <a:ext uri="{9D8B030D-6E8A-4147-A177-3AD203B41FA5}">
                      <a16:colId xmlns:a16="http://schemas.microsoft.com/office/drawing/2014/main" val="3441527458"/>
                    </a:ext>
                  </a:extLst>
                </a:gridCol>
                <a:gridCol w="1382933">
                  <a:extLst>
                    <a:ext uri="{9D8B030D-6E8A-4147-A177-3AD203B41FA5}">
                      <a16:colId xmlns:a16="http://schemas.microsoft.com/office/drawing/2014/main" val="1498230877"/>
                    </a:ext>
                  </a:extLst>
                </a:gridCol>
                <a:gridCol w="1382933">
                  <a:extLst>
                    <a:ext uri="{9D8B030D-6E8A-4147-A177-3AD203B41FA5}">
                      <a16:colId xmlns:a16="http://schemas.microsoft.com/office/drawing/2014/main" val="3942958361"/>
                    </a:ext>
                  </a:extLst>
                </a:gridCol>
              </a:tblGrid>
              <a:tr h="319756">
                <a:tc>
                  <a:txBody>
                    <a:bodyPr/>
                    <a:lstStyle/>
                    <a:p>
                      <a:pPr algn="ctr">
                        <a:buNone/>
                      </a:pPr>
                      <a:r>
                        <a:rPr lang="en-IN" sz="1600" b="1" dirty="0"/>
                        <a:t>Class</a:t>
                      </a:r>
                    </a:p>
                  </a:txBody>
                  <a:tcPr anchor="ctr"/>
                </a:tc>
                <a:tc>
                  <a:txBody>
                    <a:bodyPr/>
                    <a:lstStyle/>
                    <a:p>
                      <a:pPr algn="ctr">
                        <a:buNone/>
                      </a:pPr>
                      <a:r>
                        <a:rPr lang="en-IN" sz="1600" b="1" dirty="0"/>
                        <a:t>Precision</a:t>
                      </a:r>
                    </a:p>
                  </a:txBody>
                  <a:tcPr anchor="ctr"/>
                </a:tc>
                <a:tc>
                  <a:txBody>
                    <a:bodyPr/>
                    <a:lstStyle/>
                    <a:p>
                      <a:pPr algn="ctr">
                        <a:buNone/>
                      </a:pPr>
                      <a:r>
                        <a:rPr lang="en-IN" sz="1600" b="1" dirty="0"/>
                        <a:t>Recall</a:t>
                      </a:r>
                    </a:p>
                  </a:txBody>
                  <a:tcPr anchor="ctr"/>
                </a:tc>
                <a:tc>
                  <a:txBody>
                    <a:bodyPr/>
                    <a:lstStyle/>
                    <a:p>
                      <a:pPr algn="ctr">
                        <a:buNone/>
                      </a:pPr>
                      <a:r>
                        <a:rPr lang="en-IN" sz="1600" b="1" dirty="0"/>
                        <a:t>F1-Score</a:t>
                      </a:r>
                    </a:p>
                  </a:txBody>
                  <a:tcPr anchor="ctr"/>
                </a:tc>
                <a:extLst>
                  <a:ext uri="{0D108BD9-81ED-4DB2-BD59-A6C34878D82A}">
                    <a16:rowId xmlns:a16="http://schemas.microsoft.com/office/drawing/2014/main" val="3222999003"/>
                  </a:ext>
                </a:extLst>
              </a:tr>
              <a:tr h="319756">
                <a:tc>
                  <a:txBody>
                    <a:bodyPr/>
                    <a:lstStyle/>
                    <a:p>
                      <a:pPr algn="ctr">
                        <a:buNone/>
                      </a:pPr>
                      <a:r>
                        <a:rPr lang="en-IN" sz="1400" dirty="0"/>
                        <a:t>Bending</a:t>
                      </a:r>
                    </a:p>
                  </a:txBody>
                  <a:tcPr anchor="ctr"/>
                </a:tc>
                <a:tc>
                  <a:txBody>
                    <a:bodyPr/>
                    <a:lstStyle/>
                    <a:p>
                      <a:pPr algn="ctr">
                        <a:buNone/>
                      </a:pPr>
                      <a:r>
                        <a:rPr lang="en-IN" sz="1400" dirty="0"/>
                        <a:t>0.9982</a:t>
                      </a:r>
                    </a:p>
                  </a:txBody>
                  <a:tcPr anchor="ctr"/>
                </a:tc>
                <a:tc>
                  <a:txBody>
                    <a:bodyPr/>
                    <a:lstStyle/>
                    <a:p>
                      <a:pPr algn="ctr">
                        <a:buNone/>
                      </a:pPr>
                      <a:r>
                        <a:rPr lang="en-IN" sz="1400" dirty="0"/>
                        <a:t>0.9972</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72507151"/>
                  </a:ext>
                </a:extLst>
              </a:tr>
              <a:tr h="319756">
                <a:tc>
                  <a:txBody>
                    <a:bodyPr/>
                    <a:lstStyle/>
                    <a:p>
                      <a:pPr algn="ctr">
                        <a:buNone/>
                      </a:pPr>
                      <a:r>
                        <a:rPr lang="en-IN" sz="1400" dirty="0"/>
                        <a:t>Jumping</a:t>
                      </a:r>
                    </a:p>
                  </a:txBody>
                  <a:tcPr anchor="ctr"/>
                </a:tc>
                <a:tc>
                  <a:txBody>
                    <a:bodyPr/>
                    <a:lstStyle/>
                    <a:p>
                      <a:pPr algn="ctr">
                        <a:buNone/>
                      </a:pPr>
                      <a:r>
                        <a:rPr lang="en-IN" sz="1400" dirty="0"/>
                        <a:t>0.9344</a:t>
                      </a:r>
                    </a:p>
                  </a:txBody>
                  <a:tcPr anchor="ctr"/>
                </a:tc>
                <a:tc>
                  <a:txBody>
                    <a:bodyPr/>
                    <a:lstStyle/>
                    <a:p>
                      <a:pPr algn="ctr">
                        <a:buNone/>
                      </a:pPr>
                      <a:r>
                        <a:rPr lang="en-IN" sz="1400" dirty="0"/>
                        <a:t>0.9597</a:t>
                      </a:r>
                    </a:p>
                  </a:txBody>
                  <a:tcPr anchor="ctr"/>
                </a:tc>
                <a:tc>
                  <a:txBody>
                    <a:bodyPr/>
                    <a:lstStyle/>
                    <a:p>
                      <a:pPr algn="ctr">
                        <a:buNone/>
                      </a:pPr>
                      <a:r>
                        <a:rPr lang="en-IN" sz="1400" dirty="0"/>
                        <a:t>0.9469</a:t>
                      </a:r>
                    </a:p>
                  </a:txBody>
                  <a:tcPr anchor="ctr"/>
                </a:tc>
                <a:extLst>
                  <a:ext uri="{0D108BD9-81ED-4DB2-BD59-A6C34878D82A}">
                    <a16:rowId xmlns:a16="http://schemas.microsoft.com/office/drawing/2014/main" val="2651611495"/>
                  </a:ext>
                </a:extLst>
              </a:tr>
              <a:tr h="319756">
                <a:tc>
                  <a:txBody>
                    <a:bodyPr/>
                    <a:lstStyle/>
                    <a:p>
                      <a:pPr algn="ctr">
                        <a:buNone/>
                      </a:pPr>
                      <a:r>
                        <a:rPr lang="en-IN" sz="1400" dirty="0"/>
                        <a:t>Running</a:t>
                      </a:r>
                    </a:p>
                  </a:txBody>
                  <a:tcPr anchor="ctr"/>
                </a:tc>
                <a:tc>
                  <a:txBody>
                    <a:bodyPr/>
                    <a:lstStyle/>
                    <a:p>
                      <a:pPr algn="ctr">
                        <a:buNone/>
                      </a:pPr>
                      <a:r>
                        <a:rPr lang="en-IN" sz="1400" dirty="0"/>
                        <a:t>0.9571</a:t>
                      </a:r>
                    </a:p>
                  </a:txBody>
                  <a:tcPr anchor="ctr"/>
                </a:tc>
                <a:tc>
                  <a:txBody>
                    <a:bodyPr/>
                    <a:lstStyle/>
                    <a:p>
                      <a:pPr algn="ctr">
                        <a:buNone/>
                      </a:pPr>
                      <a:r>
                        <a:rPr lang="en-IN" sz="1400" dirty="0"/>
                        <a:t>0.9365</a:t>
                      </a:r>
                    </a:p>
                  </a:txBody>
                  <a:tcPr anchor="ctr"/>
                </a:tc>
                <a:tc>
                  <a:txBody>
                    <a:bodyPr/>
                    <a:lstStyle/>
                    <a:p>
                      <a:pPr algn="ctr">
                        <a:buNone/>
                      </a:pPr>
                      <a:r>
                        <a:rPr lang="en-IN" sz="1400" dirty="0"/>
                        <a:t>0.9467</a:t>
                      </a:r>
                    </a:p>
                  </a:txBody>
                  <a:tcPr anchor="ctr"/>
                </a:tc>
                <a:extLst>
                  <a:ext uri="{0D108BD9-81ED-4DB2-BD59-A6C34878D82A}">
                    <a16:rowId xmlns:a16="http://schemas.microsoft.com/office/drawing/2014/main" val="2876726538"/>
                  </a:ext>
                </a:extLst>
              </a:tr>
              <a:tr h="319756">
                <a:tc>
                  <a:txBody>
                    <a:bodyPr/>
                    <a:lstStyle/>
                    <a:p>
                      <a:pPr algn="ctr">
                        <a:buNone/>
                      </a:pPr>
                      <a:r>
                        <a:rPr lang="en-IN" sz="1400" dirty="0"/>
                        <a:t>Sitting</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extLst>
                  <a:ext uri="{0D108BD9-81ED-4DB2-BD59-A6C34878D82A}">
                    <a16:rowId xmlns:a16="http://schemas.microsoft.com/office/drawing/2014/main" val="1129984714"/>
                  </a:ext>
                </a:extLst>
              </a:tr>
              <a:tr h="319756">
                <a:tc>
                  <a:txBody>
                    <a:bodyPr/>
                    <a:lstStyle/>
                    <a:p>
                      <a:pPr algn="ctr">
                        <a:buNone/>
                      </a:pPr>
                      <a:r>
                        <a:rPr lang="en-IN" sz="1400" dirty="0"/>
                        <a:t>Squat</a:t>
                      </a:r>
                    </a:p>
                  </a:txBody>
                  <a:tcPr anchor="ctr"/>
                </a:tc>
                <a:tc>
                  <a:txBody>
                    <a:bodyPr/>
                    <a:lstStyle/>
                    <a:p>
                      <a:pPr algn="ctr">
                        <a:buNone/>
                      </a:pPr>
                      <a:r>
                        <a:rPr lang="en-IN" sz="1400" dirty="0"/>
                        <a:t>1.0000</a:t>
                      </a:r>
                    </a:p>
                  </a:txBody>
                  <a:tcPr anchor="ctr"/>
                </a:tc>
                <a:tc>
                  <a:txBody>
                    <a:bodyPr/>
                    <a:lstStyle/>
                    <a:p>
                      <a:pPr algn="ctr">
                        <a:buNone/>
                      </a:pPr>
                      <a:r>
                        <a:rPr lang="en-IN" sz="1400" dirty="0"/>
                        <a:t>0.9952</a:t>
                      </a:r>
                    </a:p>
                  </a:txBody>
                  <a:tcPr anchor="ctr"/>
                </a:tc>
                <a:tc>
                  <a:txBody>
                    <a:bodyPr/>
                    <a:lstStyle/>
                    <a:p>
                      <a:pPr algn="ctr">
                        <a:buNone/>
                      </a:pPr>
                      <a:r>
                        <a:rPr lang="en-IN" sz="1400" dirty="0"/>
                        <a:t>0.9976</a:t>
                      </a:r>
                    </a:p>
                  </a:txBody>
                  <a:tcPr anchor="ctr"/>
                </a:tc>
                <a:extLst>
                  <a:ext uri="{0D108BD9-81ED-4DB2-BD59-A6C34878D82A}">
                    <a16:rowId xmlns:a16="http://schemas.microsoft.com/office/drawing/2014/main" val="2945523780"/>
                  </a:ext>
                </a:extLst>
              </a:tr>
              <a:tr h="319756">
                <a:tc>
                  <a:txBody>
                    <a:bodyPr/>
                    <a:lstStyle/>
                    <a:p>
                      <a:pPr algn="ctr">
                        <a:buNone/>
                      </a:pPr>
                      <a:r>
                        <a:rPr lang="en-IN" sz="1400" dirty="0"/>
                        <a:t>Standing</a:t>
                      </a:r>
                    </a:p>
                  </a:txBody>
                  <a:tcPr anchor="ctr"/>
                </a:tc>
                <a:tc>
                  <a:txBody>
                    <a:bodyPr/>
                    <a:lstStyle/>
                    <a:p>
                      <a:pPr algn="ctr">
                        <a:buNone/>
                      </a:pPr>
                      <a:r>
                        <a:rPr lang="en-IN" sz="1400" dirty="0"/>
                        <a:t>0.9955</a:t>
                      </a:r>
                    </a:p>
                  </a:txBody>
                  <a:tcPr anchor="ctr"/>
                </a:tc>
                <a:tc>
                  <a:txBody>
                    <a:bodyPr/>
                    <a:lstStyle/>
                    <a:p>
                      <a:pPr algn="ctr">
                        <a:buNone/>
                      </a:pPr>
                      <a:r>
                        <a:rPr lang="en-IN" sz="1400" dirty="0"/>
                        <a:t>1.0000</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901727970"/>
                  </a:ext>
                </a:extLst>
              </a:tr>
              <a:tr h="319756">
                <a:tc>
                  <a:txBody>
                    <a:bodyPr/>
                    <a:lstStyle/>
                    <a:p>
                      <a:pPr algn="ctr">
                        <a:buNone/>
                      </a:pPr>
                      <a:r>
                        <a:rPr lang="en-IN" sz="1400" dirty="0"/>
                        <a:t>Walking</a:t>
                      </a:r>
                    </a:p>
                  </a:txBody>
                  <a:tcPr anchor="ctr"/>
                </a:tc>
                <a:tc>
                  <a:txBody>
                    <a:bodyPr/>
                    <a:lstStyle/>
                    <a:p>
                      <a:pPr algn="ctr">
                        <a:buNone/>
                      </a:pPr>
                      <a:r>
                        <a:rPr lang="en-IN" sz="1400" dirty="0"/>
                        <a:t>1.0000</a:t>
                      </a:r>
                    </a:p>
                  </a:txBody>
                  <a:tcPr anchor="ctr"/>
                </a:tc>
                <a:tc>
                  <a:txBody>
                    <a:bodyPr/>
                    <a:lstStyle/>
                    <a:p>
                      <a:pPr algn="ctr">
                        <a:buNone/>
                      </a:pPr>
                      <a:r>
                        <a:rPr lang="en-IN" sz="1400" dirty="0"/>
                        <a:t>0.9942</a:t>
                      </a:r>
                    </a:p>
                  </a:txBody>
                  <a:tcPr anchor="ctr"/>
                </a:tc>
                <a:tc>
                  <a:txBody>
                    <a:bodyPr/>
                    <a:lstStyle/>
                    <a:p>
                      <a:pPr algn="ctr">
                        <a:buNone/>
                      </a:pPr>
                      <a:r>
                        <a:rPr lang="en-IN" sz="1400" dirty="0"/>
                        <a:t>0.9971</a:t>
                      </a:r>
                    </a:p>
                  </a:txBody>
                  <a:tcPr anchor="ctr"/>
                </a:tc>
                <a:extLst>
                  <a:ext uri="{0D108BD9-81ED-4DB2-BD59-A6C34878D82A}">
                    <a16:rowId xmlns:a16="http://schemas.microsoft.com/office/drawing/2014/main" val="1823142717"/>
                  </a:ext>
                </a:extLst>
              </a:tr>
              <a:tr h="319756">
                <a:tc>
                  <a:txBody>
                    <a:bodyPr/>
                    <a:lstStyle/>
                    <a:p>
                      <a:pPr algn="ctr"/>
                      <a:endParaRPr lang="en-IN" sz="1400"/>
                    </a:p>
                  </a:txBody>
                  <a:tcPr/>
                </a:tc>
                <a:tc>
                  <a:txBody>
                    <a:bodyPr/>
                    <a:lstStyle/>
                    <a:p>
                      <a:pPr algn="ctr"/>
                      <a:endParaRPr lang="en-IN" sz="1400"/>
                    </a:p>
                  </a:txBody>
                  <a:tcPr/>
                </a:tc>
                <a:tc>
                  <a:txBody>
                    <a:bodyPr/>
                    <a:lstStyle/>
                    <a:p>
                      <a:pPr algn="ctr"/>
                      <a:endParaRPr lang="en-IN" sz="1400"/>
                    </a:p>
                  </a:txBody>
                  <a:tcPr/>
                </a:tc>
                <a:tc>
                  <a:txBody>
                    <a:bodyPr/>
                    <a:lstStyle/>
                    <a:p>
                      <a:pPr algn="ctr"/>
                      <a:endParaRPr lang="en-IN" sz="1400" dirty="0"/>
                    </a:p>
                  </a:txBody>
                  <a:tcPr/>
                </a:tc>
                <a:extLst>
                  <a:ext uri="{0D108BD9-81ED-4DB2-BD59-A6C34878D82A}">
                    <a16:rowId xmlns:a16="http://schemas.microsoft.com/office/drawing/2014/main" val="212715257"/>
                  </a:ext>
                </a:extLst>
              </a:tr>
              <a:tr h="319756">
                <a:tc>
                  <a:txBody>
                    <a:bodyPr/>
                    <a:lstStyle/>
                    <a:p>
                      <a:pPr algn="ctr">
                        <a:buNone/>
                      </a:pPr>
                      <a:r>
                        <a:rPr lang="en-IN" sz="1400" b="1" dirty="0"/>
                        <a:t>Overall Metric</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extLst>
                  <a:ext uri="{0D108BD9-81ED-4DB2-BD59-A6C34878D82A}">
                    <a16:rowId xmlns:a16="http://schemas.microsoft.com/office/drawing/2014/main" val="1242013638"/>
                  </a:ext>
                </a:extLst>
              </a:tr>
              <a:tr h="319756">
                <a:tc>
                  <a:txBody>
                    <a:bodyPr/>
                    <a:lstStyle/>
                    <a:p>
                      <a:pPr algn="ctr">
                        <a:buNone/>
                      </a:pPr>
                      <a:r>
                        <a:rPr lang="en-IN" sz="1400"/>
                        <a:t>Accuracy</a:t>
                      </a:r>
                    </a:p>
                  </a:txBody>
                  <a:tcPr anchor="ctr"/>
                </a:tc>
                <a:tc>
                  <a:txBody>
                    <a:bodyPr/>
                    <a:lstStyle/>
                    <a:p>
                      <a:pPr algn="ctr">
                        <a:buNone/>
                      </a:pPr>
                      <a:r>
                        <a:rPr lang="en-US" sz="1400" dirty="0"/>
                        <a:t>-</a:t>
                      </a:r>
                      <a:endParaRPr lang="en-IN" sz="1400" dirty="0"/>
                    </a:p>
                  </a:txBody>
                  <a:tcPr anchor="ctr"/>
                </a:tc>
                <a:tc>
                  <a:txBody>
                    <a:bodyPr/>
                    <a:lstStyle/>
                    <a:p>
                      <a:pPr algn="ctr">
                        <a:buNone/>
                      </a:pPr>
                      <a:r>
                        <a:rPr lang="en-IN" sz="14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400" dirty="0"/>
                        <a:t>0.9835</a:t>
                      </a:r>
                    </a:p>
                  </a:txBody>
                  <a:tcPr anchor="ctr"/>
                </a:tc>
                <a:extLst>
                  <a:ext uri="{0D108BD9-81ED-4DB2-BD59-A6C34878D82A}">
                    <a16:rowId xmlns:a16="http://schemas.microsoft.com/office/drawing/2014/main" val="1701912023"/>
                  </a:ext>
                </a:extLst>
              </a:tr>
              <a:tr h="319756">
                <a:tc>
                  <a:txBody>
                    <a:bodyPr/>
                    <a:lstStyle/>
                    <a:p>
                      <a:pPr algn="ctr">
                        <a:buNone/>
                      </a:pPr>
                      <a:r>
                        <a:rPr lang="en-IN" sz="1400"/>
                        <a:t>Macro Avg</a:t>
                      </a:r>
                    </a:p>
                  </a:txBody>
                  <a:tcPr anchor="ctr"/>
                </a:tc>
                <a:tc>
                  <a:txBody>
                    <a:bodyPr/>
                    <a:lstStyle/>
                    <a:p>
                      <a:pPr algn="ctr">
                        <a:buNone/>
                      </a:pPr>
                      <a:r>
                        <a:rPr lang="en-IN" sz="1400" dirty="0"/>
                        <a:t>0.9836</a:t>
                      </a:r>
                    </a:p>
                  </a:txBody>
                  <a:tcPr anchor="ctr"/>
                </a:tc>
                <a:tc>
                  <a:txBody>
                    <a:bodyPr/>
                    <a:lstStyle/>
                    <a:p>
                      <a:pPr algn="ctr">
                        <a:buNone/>
                      </a:pPr>
                      <a:r>
                        <a:rPr lang="en-IN" sz="1400" dirty="0"/>
                        <a:t>0.9833</a:t>
                      </a:r>
                    </a:p>
                  </a:txBody>
                  <a:tcPr anchor="ctr"/>
                </a:tc>
                <a:tc>
                  <a:txBody>
                    <a:bodyPr/>
                    <a:lstStyle/>
                    <a:p>
                      <a:pPr algn="ctr">
                        <a:buNone/>
                      </a:pPr>
                      <a:r>
                        <a:rPr lang="en-IN" sz="1400" dirty="0"/>
                        <a:t>0.9834</a:t>
                      </a:r>
                    </a:p>
                  </a:txBody>
                  <a:tcPr anchor="ctr"/>
                </a:tc>
                <a:extLst>
                  <a:ext uri="{0D108BD9-81ED-4DB2-BD59-A6C34878D82A}">
                    <a16:rowId xmlns:a16="http://schemas.microsoft.com/office/drawing/2014/main" val="2204205540"/>
                  </a:ext>
                </a:extLst>
              </a:tr>
              <a:tr h="319756">
                <a:tc>
                  <a:txBody>
                    <a:bodyPr/>
                    <a:lstStyle/>
                    <a:p>
                      <a:pPr algn="ctr">
                        <a:buNone/>
                      </a:pPr>
                      <a:r>
                        <a:rPr lang="en-IN" sz="1400" dirty="0"/>
                        <a:t>Weighted </a:t>
                      </a:r>
                      <a:r>
                        <a:rPr lang="en-IN" sz="1400" dirty="0" err="1"/>
                        <a:t>Avg</a:t>
                      </a:r>
                      <a:endParaRPr lang="en-IN" sz="1400" dirty="0"/>
                    </a:p>
                  </a:txBody>
                  <a:tcPr anchor="ctr"/>
                </a:tc>
                <a:tc>
                  <a:txBody>
                    <a:bodyPr/>
                    <a:lstStyle/>
                    <a:p>
                      <a:pPr algn="ctr">
                        <a:buNone/>
                      </a:pPr>
                      <a:r>
                        <a:rPr lang="en-IN" sz="1400" dirty="0"/>
                        <a:t>0.9836</a:t>
                      </a:r>
                    </a:p>
                  </a:txBody>
                  <a:tcPr anchor="ctr"/>
                </a:tc>
                <a:tc>
                  <a:txBody>
                    <a:bodyPr/>
                    <a:lstStyle/>
                    <a:p>
                      <a:pPr algn="ctr">
                        <a:buNone/>
                      </a:pPr>
                      <a:r>
                        <a:rPr lang="en-IN" sz="1400" dirty="0"/>
                        <a:t>0.9835</a:t>
                      </a:r>
                    </a:p>
                  </a:txBody>
                  <a:tcPr anchor="ctr"/>
                </a:tc>
                <a:tc>
                  <a:txBody>
                    <a:bodyPr/>
                    <a:lstStyle/>
                    <a:p>
                      <a:pPr algn="ctr">
                        <a:buNone/>
                      </a:pPr>
                      <a:r>
                        <a:rPr lang="en-IN" sz="1400" dirty="0"/>
                        <a:t>0.9835</a:t>
                      </a:r>
                    </a:p>
                  </a:txBody>
                  <a:tcPr anchor="ctr"/>
                </a:tc>
                <a:extLst>
                  <a:ext uri="{0D108BD9-81ED-4DB2-BD59-A6C34878D82A}">
                    <a16:rowId xmlns:a16="http://schemas.microsoft.com/office/drawing/2014/main" val="1763151371"/>
                  </a:ext>
                </a:extLst>
              </a:tr>
            </a:tbl>
          </a:graphicData>
        </a:graphic>
      </p:graphicFrame>
      <p:sp>
        <p:nvSpPr>
          <p:cNvPr id="14" name="TextBox 13">
            <a:extLst>
              <a:ext uri="{FF2B5EF4-FFF2-40B4-BE49-F238E27FC236}">
                <a16:creationId xmlns:a16="http://schemas.microsoft.com/office/drawing/2014/main" id="{98A7801A-C59A-F0EE-FC60-120137B2CB6D}"/>
              </a:ext>
            </a:extLst>
          </p:cNvPr>
          <p:cNvSpPr txBox="1"/>
          <p:nvPr/>
        </p:nvSpPr>
        <p:spPr>
          <a:xfrm>
            <a:off x="7542788" y="5474552"/>
            <a:ext cx="290890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Fig.9. Confusion Matrix on Skeletal Dataset</a:t>
            </a:r>
          </a:p>
        </p:txBody>
      </p:sp>
      <p:sp>
        <p:nvSpPr>
          <p:cNvPr id="16" name="Slide Number Placeholder 15">
            <a:extLst>
              <a:ext uri="{FF2B5EF4-FFF2-40B4-BE49-F238E27FC236}">
                <a16:creationId xmlns:a16="http://schemas.microsoft.com/office/drawing/2014/main" id="{2E9BE006-6FFB-25A5-E4C6-73CF11F025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22</a:t>
            </a:fld>
            <a:endParaRPr lang="en-IN"/>
          </a:p>
        </p:txBody>
      </p:sp>
    </p:spTree>
    <p:extLst>
      <p:ext uri="{BB962C8B-B14F-4D97-AF65-F5344CB8AC3E}">
        <p14:creationId xmlns:p14="http://schemas.microsoft.com/office/powerpoint/2010/main" val="598752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9B6CD-1FE9-D3E3-55EA-5C4EF6744812}"/>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10F129D1-FB48-E382-160E-3A48D08728F2}"/>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on Online Dataset (KARD) using the Proposed Model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5" name="Google Shape;97;p14">
            <a:extLst>
              <a:ext uri="{FF2B5EF4-FFF2-40B4-BE49-F238E27FC236}">
                <a16:creationId xmlns:a16="http://schemas.microsoft.com/office/drawing/2014/main" id="{89D95B9A-DEC1-BA37-507D-BFF815C3D2A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2" name="Table 1">
            <a:extLst>
              <a:ext uri="{FF2B5EF4-FFF2-40B4-BE49-F238E27FC236}">
                <a16:creationId xmlns:a16="http://schemas.microsoft.com/office/drawing/2014/main" id="{F73DC211-33EB-1D3C-199F-0B905DAE9EED}"/>
              </a:ext>
            </a:extLst>
          </p:cNvPr>
          <p:cNvGraphicFramePr>
            <a:graphicFrameLocks noGrp="1"/>
          </p:cNvGraphicFramePr>
          <p:nvPr>
            <p:extLst>
              <p:ext uri="{D42A27DB-BD31-4B8C-83A1-F6EECF244321}">
                <p14:modId xmlns:p14="http://schemas.microsoft.com/office/powerpoint/2010/main" val="3274117289"/>
              </p:ext>
            </p:extLst>
          </p:nvPr>
        </p:nvGraphicFramePr>
        <p:xfrm>
          <a:off x="328662" y="967444"/>
          <a:ext cx="5470560" cy="5532120"/>
        </p:xfrm>
        <a:graphic>
          <a:graphicData uri="http://schemas.openxmlformats.org/drawingml/2006/table">
            <a:tbl>
              <a:tblPr firstRow="1" bandRow="1">
                <a:tableStyleId>{00A15C55-8517-42AA-B614-E9B94910E393}</a:tableStyleId>
              </a:tblPr>
              <a:tblGrid>
                <a:gridCol w="1367640">
                  <a:extLst>
                    <a:ext uri="{9D8B030D-6E8A-4147-A177-3AD203B41FA5}">
                      <a16:colId xmlns:a16="http://schemas.microsoft.com/office/drawing/2014/main" val="2245271657"/>
                    </a:ext>
                  </a:extLst>
                </a:gridCol>
                <a:gridCol w="1367640">
                  <a:extLst>
                    <a:ext uri="{9D8B030D-6E8A-4147-A177-3AD203B41FA5}">
                      <a16:colId xmlns:a16="http://schemas.microsoft.com/office/drawing/2014/main" val="2100777284"/>
                    </a:ext>
                  </a:extLst>
                </a:gridCol>
                <a:gridCol w="1367640">
                  <a:extLst>
                    <a:ext uri="{9D8B030D-6E8A-4147-A177-3AD203B41FA5}">
                      <a16:colId xmlns:a16="http://schemas.microsoft.com/office/drawing/2014/main" val="748139408"/>
                    </a:ext>
                  </a:extLst>
                </a:gridCol>
                <a:gridCol w="1367640">
                  <a:extLst>
                    <a:ext uri="{9D8B030D-6E8A-4147-A177-3AD203B41FA5}">
                      <a16:colId xmlns:a16="http://schemas.microsoft.com/office/drawing/2014/main" val="886052029"/>
                    </a:ext>
                  </a:extLst>
                </a:gridCol>
              </a:tblGrid>
              <a:tr h="236969">
                <a:tc>
                  <a:txBody>
                    <a:bodyPr/>
                    <a:lstStyle/>
                    <a:p>
                      <a:pPr algn="ctr">
                        <a:buNone/>
                      </a:pPr>
                      <a:r>
                        <a:rPr lang="en-IN" sz="1050" b="1" dirty="0"/>
                        <a:t>Class</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2554357604"/>
                  </a:ext>
                </a:extLst>
              </a:tr>
              <a:tr h="236969">
                <a:tc>
                  <a:txBody>
                    <a:bodyPr/>
                    <a:lstStyle/>
                    <a:p>
                      <a:pPr algn="ctr">
                        <a:buNone/>
                      </a:pPr>
                      <a:r>
                        <a:rPr lang="en-IN" sz="1050"/>
                        <a:t>Action_0</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236827511"/>
                  </a:ext>
                </a:extLst>
              </a:tr>
              <a:tr h="236969">
                <a:tc>
                  <a:txBody>
                    <a:bodyPr/>
                    <a:lstStyle/>
                    <a:p>
                      <a:pPr algn="ctr">
                        <a:buNone/>
                      </a:pPr>
                      <a:r>
                        <a:rPr lang="en-IN" sz="1050"/>
                        <a:t>Action_1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106112958"/>
                  </a:ext>
                </a:extLst>
              </a:tr>
              <a:tr h="236969">
                <a:tc>
                  <a:txBody>
                    <a:bodyPr/>
                    <a:lstStyle/>
                    <a:p>
                      <a:pPr algn="ctr">
                        <a:buNone/>
                      </a:pPr>
                      <a:r>
                        <a:rPr lang="en-IN" sz="1050"/>
                        <a:t>Action_2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842835753"/>
                  </a:ext>
                </a:extLst>
              </a:tr>
              <a:tr h="236969">
                <a:tc>
                  <a:txBody>
                    <a:bodyPr/>
                    <a:lstStyle/>
                    <a:p>
                      <a:pPr algn="ctr">
                        <a:buNone/>
                      </a:pPr>
                      <a:r>
                        <a:rPr lang="en-IN" sz="1050"/>
                        <a:t>Action_3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56362032"/>
                  </a:ext>
                </a:extLst>
              </a:tr>
              <a:tr h="236969">
                <a:tc>
                  <a:txBody>
                    <a:bodyPr/>
                    <a:lstStyle/>
                    <a:p>
                      <a:pPr algn="ctr">
                        <a:buNone/>
                      </a:pPr>
                      <a:r>
                        <a:rPr lang="en-IN" sz="1050"/>
                        <a:t>Action_4</a:t>
                      </a:r>
                      <a:endParaRPr lang="en-IN" sz="1050" dirty="0"/>
                    </a:p>
                  </a:txBody>
                  <a:tcPr anchor="ctr"/>
                </a:tc>
                <a:tc>
                  <a:txBody>
                    <a:bodyPr/>
                    <a:lstStyle/>
                    <a:p>
                      <a:pPr algn="ctr">
                        <a:buNone/>
                      </a:pPr>
                      <a:r>
                        <a:rPr lang="en-IN" sz="1050"/>
                        <a:t>0.8333</a:t>
                      </a:r>
                    </a:p>
                  </a:txBody>
                  <a:tcPr anchor="ctr"/>
                </a:tc>
                <a:tc>
                  <a:txBody>
                    <a:bodyPr/>
                    <a:lstStyle/>
                    <a:p>
                      <a:pPr algn="ctr">
                        <a:buNone/>
                      </a:pPr>
                      <a:r>
                        <a:rPr lang="en-IN" sz="1050" dirty="0"/>
                        <a:t>1.0000</a:t>
                      </a:r>
                    </a:p>
                  </a:txBody>
                  <a:tcPr anchor="ctr"/>
                </a:tc>
                <a:tc>
                  <a:txBody>
                    <a:bodyPr/>
                    <a:lstStyle/>
                    <a:p>
                      <a:pPr algn="ctr">
                        <a:buNone/>
                      </a:pPr>
                      <a:r>
                        <a:rPr lang="en-IN" sz="1050"/>
                        <a:t>0.9091</a:t>
                      </a:r>
                    </a:p>
                  </a:txBody>
                  <a:tcPr anchor="ctr"/>
                </a:tc>
                <a:extLst>
                  <a:ext uri="{0D108BD9-81ED-4DB2-BD59-A6C34878D82A}">
                    <a16:rowId xmlns:a16="http://schemas.microsoft.com/office/drawing/2014/main" val="2773665488"/>
                  </a:ext>
                </a:extLst>
              </a:tr>
              <a:tr h="236969">
                <a:tc>
                  <a:txBody>
                    <a:bodyPr/>
                    <a:lstStyle/>
                    <a:p>
                      <a:pPr algn="ctr">
                        <a:buNone/>
                      </a:pPr>
                      <a:r>
                        <a:rPr lang="en-IN" sz="1050"/>
                        <a:t>Action_5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706022754"/>
                  </a:ext>
                </a:extLst>
              </a:tr>
              <a:tr h="236969">
                <a:tc>
                  <a:txBody>
                    <a:bodyPr/>
                    <a:lstStyle/>
                    <a:p>
                      <a:pPr algn="ctr">
                        <a:buNone/>
                      </a:pPr>
                      <a:r>
                        <a:rPr lang="en-IN" sz="1050"/>
                        <a:t>Action_6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94397843"/>
                  </a:ext>
                </a:extLst>
              </a:tr>
              <a:tr h="236969">
                <a:tc>
                  <a:txBody>
                    <a:bodyPr/>
                    <a:lstStyle/>
                    <a:p>
                      <a:pPr algn="ctr">
                        <a:buNone/>
                      </a:pPr>
                      <a:r>
                        <a:rPr lang="en-IN" sz="1050"/>
                        <a:t>Action_7</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979852858"/>
                  </a:ext>
                </a:extLst>
              </a:tr>
              <a:tr h="236969">
                <a:tc>
                  <a:txBody>
                    <a:bodyPr/>
                    <a:lstStyle/>
                    <a:p>
                      <a:pPr algn="ctr">
                        <a:buNone/>
                      </a:pPr>
                      <a:r>
                        <a:rPr lang="en-IN" sz="1050"/>
                        <a:t>Action_8</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60584728"/>
                  </a:ext>
                </a:extLst>
              </a:tr>
              <a:tr h="236969">
                <a:tc>
                  <a:txBody>
                    <a:bodyPr/>
                    <a:lstStyle/>
                    <a:p>
                      <a:pPr algn="ctr">
                        <a:buNone/>
                      </a:pPr>
                      <a:r>
                        <a:rPr lang="en-IN" sz="1050"/>
                        <a:t>Action_9</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4013809071"/>
                  </a:ext>
                </a:extLst>
              </a:tr>
              <a:tr h="236969">
                <a:tc>
                  <a:txBody>
                    <a:bodyPr/>
                    <a:lstStyle/>
                    <a:p>
                      <a:pPr algn="ctr">
                        <a:buNone/>
                      </a:pPr>
                      <a:r>
                        <a:rPr lang="en-IN" sz="1050"/>
                        <a:t>Action_10</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338143951"/>
                  </a:ext>
                </a:extLst>
              </a:tr>
              <a:tr h="236969">
                <a:tc>
                  <a:txBody>
                    <a:bodyPr/>
                    <a:lstStyle/>
                    <a:p>
                      <a:pPr algn="ctr">
                        <a:buNone/>
                      </a:pPr>
                      <a:r>
                        <a:rPr lang="en-IN" sz="1050"/>
                        <a:t>Action_11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139975371"/>
                  </a:ext>
                </a:extLst>
              </a:tr>
              <a:tr h="236969">
                <a:tc>
                  <a:txBody>
                    <a:bodyPr/>
                    <a:lstStyle/>
                    <a:p>
                      <a:pPr algn="ctr">
                        <a:buNone/>
                      </a:pPr>
                      <a:r>
                        <a:rPr lang="en-IN" sz="1050"/>
                        <a:t>Action_12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3983775"/>
                  </a:ext>
                </a:extLst>
              </a:tr>
              <a:tr h="236969">
                <a:tc>
                  <a:txBody>
                    <a:bodyPr/>
                    <a:lstStyle/>
                    <a:p>
                      <a:pPr algn="ctr">
                        <a:buNone/>
                      </a:pPr>
                      <a:r>
                        <a:rPr lang="en-IN" sz="1050"/>
                        <a:t>Action_13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860594054"/>
                  </a:ext>
                </a:extLst>
              </a:tr>
              <a:tr h="236969">
                <a:tc>
                  <a:txBody>
                    <a:bodyPr/>
                    <a:lstStyle/>
                    <a:p>
                      <a:pPr algn="ctr">
                        <a:buNone/>
                      </a:pPr>
                      <a:r>
                        <a:rPr lang="en-IN" sz="1050"/>
                        <a:t>Action_14</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8009860"/>
                  </a:ext>
                </a:extLst>
              </a:tr>
              <a:tr h="236969">
                <a:tc>
                  <a:txBody>
                    <a:bodyPr/>
                    <a:lstStyle/>
                    <a:p>
                      <a:pPr algn="ctr">
                        <a:buNone/>
                      </a:pPr>
                      <a:r>
                        <a:rPr lang="en-IN" sz="1050"/>
                        <a:t>Action_15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0.7500</a:t>
                      </a:r>
                    </a:p>
                  </a:txBody>
                  <a:tcPr anchor="ctr"/>
                </a:tc>
                <a:tc>
                  <a:txBody>
                    <a:bodyPr/>
                    <a:lstStyle/>
                    <a:p>
                      <a:pPr algn="ctr">
                        <a:buNone/>
                      </a:pPr>
                      <a:r>
                        <a:rPr lang="en-IN" sz="1050" dirty="0"/>
                        <a:t>0.8571</a:t>
                      </a:r>
                    </a:p>
                  </a:txBody>
                  <a:tcPr anchor="ctr"/>
                </a:tc>
                <a:extLst>
                  <a:ext uri="{0D108BD9-81ED-4DB2-BD59-A6C34878D82A}">
                    <a16:rowId xmlns:a16="http://schemas.microsoft.com/office/drawing/2014/main" val="3447037345"/>
                  </a:ext>
                </a:extLst>
              </a:tr>
              <a:tr h="236969">
                <a:tc>
                  <a:txBody>
                    <a:bodyPr/>
                    <a:lstStyle/>
                    <a:p>
                      <a:pPr algn="ctr">
                        <a:buNone/>
                      </a:pPr>
                      <a:r>
                        <a:rPr lang="en-IN" sz="1050"/>
                        <a:t>Action_16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807781498"/>
                  </a:ext>
                </a:extLst>
              </a:tr>
              <a:tr h="236969">
                <a:tc>
                  <a:txBody>
                    <a:bodyPr/>
                    <a:lstStyle/>
                    <a:p>
                      <a:pPr algn="ctr">
                        <a:buNone/>
                      </a:pPr>
                      <a:r>
                        <a:rPr lang="en-IN" sz="1050" dirty="0"/>
                        <a:t>Action_17</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593030063"/>
                  </a:ext>
                </a:extLst>
              </a:tr>
              <a:tr h="236969">
                <a:tc>
                  <a:txBody>
                    <a:bodyPr/>
                    <a:lstStyle/>
                    <a:p>
                      <a:pPr algn="ctr">
                        <a:buNone/>
                      </a:pPr>
                      <a:r>
                        <a:rPr lang="en-IN" sz="1050" b="1" dirty="0"/>
                        <a:t>Overall Metric</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731962766"/>
                  </a:ext>
                </a:extLst>
              </a:tr>
              <a:tr h="236969">
                <a:tc>
                  <a:txBody>
                    <a:bodyPr/>
                    <a:lstStyle/>
                    <a:p>
                      <a:pPr algn="ctr">
                        <a:buNone/>
                      </a:pPr>
                      <a:r>
                        <a:rPr lang="en-IN" sz="1050" dirty="0"/>
                        <a:t>Macro </a:t>
                      </a:r>
                      <a:r>
                        <a:rPr lang="en-IN" sz="1050" dirty="0" err="1"/>
                        <a:t>Avg</a:t>
                      </a:r>
                      <a:endParaRPr lang="en-IN" sz="1050" dirty="0"/>
                    </a:p>
                  </a:txBody>
                  <a:tcPr anchor="ctr"/>
                </a:tc>
                <a:tc>
                  <a:txBody>
                    <a:bodyPr/>
                    <a:lstStyle/>
                    <a:p>
                      <a:pPr algn="ctr">
                        <a:buNone/>
                      </a:pPr>
                      <a:r>
                        <a:rPr lang="en-IN" sz="1050"/>
                        <a:t>0.9907</a:t>
                      </a:r>
                    </a:p>
                  </a:txBody>
                  <a:tcPr anchor="ctr"/>
                </a:tc>
                <a:tc>
                  <a:txBody>
                    <a:bodyPr/>
                    <a:lstStyle/>
                    <a:p>
                      <a:pPr algn="ctr">
                        <a:buNone/>
                      </a:pPr>
                      <a:r>
                        <a:rPr lang="en-IN" sz="1050"/>
                        <a:t>0.9861</a:t>
                      </a:r>
                    </a:p>
                  </a:txBody>
                  <a:tcPr anchor="ctr"/>
                </a:tc>
                <a:tc>
                  <a:txBody>
                    <a:bodyPr/>
                    <a:lstStyle/>
                    <a:p>
                      <a:pPr algn="ctr">
                        <a:buNone/>
                      </a:pPr>
                      <a:r>
                        <a:rPr lang="en-IN" sz="1050" dirty="0"/>
                        <a:t>0.9870</a:t>
                      </a:r>
                    </a:p>
                  </a:txBody>
                  <a:tcPr anchor="ctr"/>
                </a:tc>
                <a:extLst>
                  <a:ext uri="{0D108BD9-81ED-4DB2-BD59-A6C34878D82A}">
                    <a16:rowId xmlns:a16="http://schemas.microsoft.com/office/drawing/2014/main" val="124298948"/>
                  </a:ext>
                </a:extLst>
              </a:tr>
              <a:tr h="236969">
                <a:tc>
                  <a:txBody>
                    <a:bodyPr/>
                    <a:lstStyle/>
                    <a:p>
                      <a:pPr algn="ctr">
                        <a:buNone/>
                      </a:pPr>
                      <a:r>
                        <a:rPr lang="en-IN" sz="1050" dirty="0"/>
                        <a:t>Weighted </a:t>
                      </a:r>
                      <a:r>
                        <a:rPr lang="en-IN" sz="1050" dirty="0" err="1"/>
                        <a:t>Avg</a:t>
                      </a:r>
                      <a:endParaRPr lang="en-IN" sz="1050" dirty="0"/>
                    </a:p>
                  </a:txBody>
                  <a:tcPr anchor="ctr"/>
                </a:tc>
                <a:tc>
                  <a:txBody>
                    <a:bodyPr/>
                    <a:lstStyle/>
                    <a:p>
                      <a:pPr algn="ctr">
                        <a:buNone/>
                      </a:pPr>
                      <a:r>
                        <a:rPr lang="en-IN" sz="1050" dirty="0"/>
                        <a:t>0.9897</a:t>
                      </a:r>
                    </a:p>
                  </a:txBody>
                  <a:tcPr anchor="ctr"/>
                </a:tc>
                <a:tc>
                  <a:txBody>
                    <a:bodyPr/>
                    <a:lstStyle/>
                    <a:p>
                      <a:pPr algn="ctr"/>
                      <a:r>
                        <a:rPr lang="en-US" sz="1050" dirty="0"/>
                        <a:t>0.9877</a:t>
                      </a:r>
                      <a:endParaRPr lang="en-IN" sz="1050" dirty="0"/>
                    </a:p>
                  </a:txBody>
                  <a:tcPr/>
                </a:tc>
                <a:tc>
                  <a:txBody>
                    <a:bodyPr/>
                    <a:lstStyle/>
                    <a:p>
                      <a:pPr algn="ctr"/>
                      <a:r>
                        <a:rPr lang="en-US" sz="1050" dirty="0"/>
                        <a:t>0.9833</a:t>
                      </a:r>
                      <a:endParaRPr lang="en-IN" sz="1050" dirty="0"/>
                    </a:p>
                  </a:txBody>
                  <a:tcPr/>
                </a:tc>
                <a:extLst>
                  <a:ext uri="{0D108BD9-81ED-4DB2-BD59-A6C34878D82A}">
                    <a16:rowId xmlns:a16="http://schemas.microsoft.com/office/drawing/2014/main" val="3270983080"/>
                  </a:ext>
                </a:extLst>
              </a:tr>
            </a:tbl>
          </a:graphicData>
        </a:graphic>
      </p:graphicFrame>
      <p:pic>
        <p:nvPicPr>
          <p:cNvPr id="12" name="Picture 11">
            <a:extLst>
              <a:ext uri="{FF2B5EF4-FFF2-40B4-BE49-F238E27FC236}">
                <a16:creationId xmlns:a16="http://schemas.microsoft.com/office/drawing/2014/main" id="{22DDCDBE-2329-89AF-6422-51E400E21449}"/>
              </a:ext>
            </a:extLst>
          </p:cNvPr>
          <p:cNvPicPr>
            <a:picLocks noChangeAspect="1"/>
          </p:cNvPicPr>
          <p:nvPr/>
        </p:nvPicPr>
        <p:blipFill>
          <a:blip r:embed="rId4"/>
          <a:srcRect r="8168"/>
          <a:stretch>
            <a:fillRect/>
          </a:stretch>
        </p:blipFill>
        <p:spPr>
          <a:xfrm>
            <a:off x="5874601" y="1019764"/>
            <a:ext cx="6230172" cy="5161580"/>
          </a:xfrm>
          <a:prstGeom prst="rect">
            <a:avLst/>
          </a:prstGeom>
        </p:spPr>
      </p:pic>
      <p:sp>
        <p:nvSpPr>
          <p:cNvPr id="15" name="TextBox 14">
            <a:extLst>
              <a:ext uri="{FF2B5EF4-FFF2-40B4-BE49-F238E27FC236}">
                <a16:creationId xmlns:a16="http://schemas.microsoft.com/office/drawing/2014/main" id="{D0576E0E-7D30-E34D-C1AD-2D74DD704F04}"/>
              </a:ext>
            </a:extLst>
          </p:cNvPr>
          <p:cNvSpPr txBox="1"/>
          <p:nvPr/>
        </p:nvSpPr>
        <p:spPr>
          <a:xfrm>
            <a:off x="7535236" y="6148808"/>
            <a:ext cx="2908902"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Fig.10. Confusion Matrix on KARD Dataset</a:t>
            </a:r>
          </a:p>
        </p:txBody>
      </p:sp>
      <p:sp>
        <p:nvSpPr>
          <p:cNvPr id="16" name="Slide Number Placeholder 15">
            <a:extLst>
              <a:ext uri="{FF2B5EF4-FFF2-40B4-BE49-F238E27FC236}">
                <a16:creationId xmlns:a16="http://schemas.microsoft.com/office/drawing/2014/main" id="{B4544303-F6F6-C57D-199A-D7A2428662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23</a:t>
            </a:fld>
            <a:endParaRPr lang="en-IN"/>
          </a:p>
        </p:txBody>
      </p:sp>
    </p:spTree>
    <p:extLst>
      <p:ext uri="{BB962C8B-B14F-4D97-AF65-F5344CB8AC3E}">
        <p14:creationId xmlns:p14="http://schemas.microsoft.com/office/powerpoint/2010/main" val="32658157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Rounded Corners 9">
            <a:extLst>
              <a:ext uri="{FF2B5EF4-FFF2-40B4-BE49-F238E27FC236}">
                <a16:creationId xmlns:a16="http://schemas.microsoft.com/office/drawing/2014/main" id="{2FABD49D-5098-396A-040F-C0333A5D31EB}"/>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of Accuracies of Models on My Dataset   </a:t>
            </a:r>
          </a:p>
        </p:txBody>
      </p:sp>
      <p:pic>
        <p:nvPicPr>
          <p:cNvPr id="11" name="Google Shape;97;p14">
            <a:extLst>
              <a:ext uri="{FF2B5EF4-FFF2-40B4-BE49-F238E27FC236}">
                <a16:creationId xmlns:a16="http://schemas.microsoft.com/office/drawing/2014/main" id="{0F201838-F4CC-7C75-2815-8EF7F9E5D0A4}"/>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9" name="Chart 8">
            <a:extLst>
              <a:ext uri="{FF2B5EF4-FFF2-40B4-BE49-F238E27FC236}">
                <a16:creationId xmlns:a16="http://schemas.microsoft.com/office/drawing/2014/main" id="{DFE59110-FC01-4E2B-A0F1-129EA62DA47D}"/>
              </a:ext>
            </a:extLst>
          </p:cNvPr>
          <p:cNvGraphicFramePr>
            <a:graphicFrameLocks/>
          </p:cNvGraphicFramePr>
          <p:nvPr>
            <p:extLst>
              <p:ext uri="{D42A27DB-BD31-4B8C-83A1-F6EECF244321}">
                <p14:modId xmlns:p14="http://schemas.microsoft.com/office/powerpoint/2010/main" val="4189529395"/>
              </p:ext>
            </p:extLst>
          </p:nvPr>
        </p:nvGraphicFramePr>
        <p:xfrm>
          <a:off x="5633165" y="1153972"/>
          <a:ext cx="6428874" cy="407870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11">
            <a:extLst>
              <a:ext uri="{FF2B5EF4-FFF2-40B4-BE49-F238E27FC236}">
                <a16:creationId xmlns:a16="http://schemas.microsoft.com/office/drawing/2014/main" id="{2C087B83-0F27-A501-D9B2-A4686440FF41}"/>
              </a:ext>
            </a:extLst>
          </p:cNvPr>
          <p:cNvGraphicFramePr>
            <a:graphicFrameLocks noGrp="1"/>
          </p:cNvGraphicFramePr>
          <p:nvPr>
            <p:extLst>
              <p:ext uri="{D42A27DB-BD31-4B8C-83A1-F6EECF244321}">
                <p14:modId xmlns:p14="http://schemas.microsoft.com/office/powerpoint/2010/main" val="2691500263"/>
              </p:ext>
            </p:extLst>
          </p:nvPr>
        </p:nvGraphicFramePr>
        <p:xfrm>
          <a:off x="89894" y="1463040"/>
          <a:ext cx="5413310" cy="3246346"/>
        </p:xfrm>
        <a:graphic>
          <a:graphicData uri="http://schemas.openxmlformats.org/drawingml/2006/table">
            <a:tbl>
              <a:tblPr firstRow="1" bandRow="1">
                <a:tableStyleId>{00A15C55-8517-42AA-B614-E9B94910E393}</a:tableStyleId>
              </a:tblPr>
              <a:tblGrid>
                <a:gridCol w="1082662">
                  <a:extLst>
                    <a:ext uri="{9D8B030D-6E8A-4147-A177-3AD203B41FA5}">
                      <a16:colId xmlns:a16="http://schemas.microsoft.com/office/drawing/2014/main" val="2867144366"/>
                    </a:ext>
                  </a:extLst>
                </a:gridCol>
                <a:gridCol w="1082662">
                  <a:extLst>
                    <a:ext uri="{9D8B030D-6E8A-4147-A177-3AD203B41FA5}">
                      <a16:colId xmlns:a16="http://schemas.microsoft.com/office/drawing/2014/main" val="118019708"/>
                    </a:ext>
                  </a:extLst>
                </a:gridCol>
                <a:gridCol w="1082662">
                  <a:extLst>
                    <a:ext uri="{9D8B030D-6E8A-4147-A177-3AD203B41FA5}">
                      <a16:colId xmlns:a16="http://schemas.microsoft.com/office/drawing/2014/main" val="28157161"/>
                    </a:ext>
                  </a:extLst>
                </a:gridCol>
                <a:gridCol w="1082662">
                  <a:extLst>
                    <a:ext uri="{9D8B030D-6E8A-4147-A177-3AD203B41FA5}">
                      <a16:colId xmlns:a16="http://schemas.microsoft.com/office/drawing/2014/main" val="372070279"/>
                    </a:ext>
                  </a:extLst>
                </a:gridCol>
                <a:gridCol w="1082662">
                  <a:extLst>
                    <a:ext uri="{9D8B030D-6E8A-4147-A177-3AD203B41FA5}">
                      <a16:colId xmlns:a16="http://schemas.microsoft.com/office/drawing/2014/main" val="351420326"/>
                    </a:ext>
                  </a:extLst>
                </a:gridCol>
              </a:tblGrid>
              <a:tr h="650466">
                <a:tc>
                  <a:txBody>
                    <a:bodyPr/>
                    <a:lstStyle/>
                    <a:p>
                      <a:pPr algn="ctr" fontAlgn="b">
                        <a:buNone/>
                      </a:pPr>
                      <a:r>
                        <a:rPr lang="en-IN" sz="1400" b="1" u="none" strike="noStrike" dirty="0">
                          <a:solidFill>
                            <a:schemeClr val="bg1"/>
                          </a:solidFill>
                          <a:effectLst/>
                        </a:rPr>
                        <a:t>Activities / Models </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LSTM</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GRS-BiLSTM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Proposed Model</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583110051"/>
                  </a:ext>
                </a:extLst>
              </a:tr>
              <a:tr h="370840">
                <a:tc>
                  <a:txBody>
                    <a:bodyPr/>
                    <a:lstStyle/>
                    <a:p>
                      <a:pPr algn="ctr" rtl="0" fontAlgn="ctr">
                        <a:buNone/>
                      </a:pPr>
                      <a:r>
                        <a:rPr lang="en-IN" sz="1400" b="0" u="none" strike="noStrike">
                          <a:solidFill>
                            <a:srgbClr val="000000"/>
                          </a:solidFill>
                          <a:effectLst/>
                        </a:rPr>
                        <a:t>Bending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0.9091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63246838"/>
                  </a:ext>
                </a:extLst>
              </a:tr>
              <a:tr h="370840">
                <a:tc>
                  <a:txBody>
                    <a:bodyPr/>
                    <a:lstStyle/>
                    <a:p>
                      <a:pPr algn="ctr" rtl="0" fontAlgn="ctr">
                        <a:buNone/>
                      </a:pPr>
                      <a:r>
                        <a:rPr lang="en-IN" sz="1400" b="0" u="none" strike="noStrike">
                          <a:solidFill>
                            <a:srgbClr val="000000"/>
                          </a:solidFill>
                          <a:effectLst/>
                        </a:rPr>
                        <a:t>Jumping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0.8571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0.4900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0.7300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0.9469</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468370675"/>
                  </a:ext>
                </a:extLst>
              </a:tr>
              <a:tr h="370840">
                <a:tc>
                  <a:txBody>
                    <a:bodyPr/>
                    <a:lstStyle/>
                    <a:p>
                      <a:pPr algn="ctr" rtl="0" fontAlgn="ctr">
                        <a:buNone/>
                      </a:pPr>
                      <a:r>
                        <a:rPr lang="en-IN" sz="1400" b="0" u="none" strike="noStrike">
                          <a:solidFill>
                            <a:srgbClr val="000000"/>
                          </a:solidFill>
                          <a:effectLst/>
                        </a:rPr>
                        <a:t>Running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0.7692</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0.7400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884887689"/>
                  </a:ext>
                </a:extLst>
              </a:tr>
              <a:tr h="370840">
                <a:tc>
                  <a:txBody>
                    <a:bodyPr/>
                    <a:lstStyle/>
                    <a:p>
                      <a:pPr algn="ctr" rtl="0" fontAlgn="ctr">
                        <a:buNone/>
                      </a:pPr>
                      <a:r>
                        <a:rPr lang="en-IN" sz="1400" b="0" u="none" strike="noStrike">
                          <a:solidFill>
                            <a:srgbClr val="000000"/>
                          </a:solidFill>
                          <a:effectLst/>
                        </a:rPr>
                        <a:t>Sitting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323744355"/>
                  </a:ext>
                </a:extLst>
              </a:tr>
              <a:tr h="370840">
                <a:tc>
                  <a:txBody>
                    <a:bodyPr/>
                    <a:lstStyle/>
                    <a:p>
                      <a:pPr algn="ctr" rtl="0" fontAlgn="ctr">
                        <a:buNone/>
                      </a:pPr>
                      <a:r>
                        <a:rPr lang="en-IN" sz="1400" b="0" u="none" strike="noStrike">
                          <a:solidFill>
                            <a:srgbClr val="000000"/>
                          </a:solidFill>
                          <a:effectLst/>
                        </a:rPr>
                        <a:t>Squat</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0.9976</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809729832"/>
                  </a:ext>
                </a:extLst>
              </a:tr>
              <a:tr h="370840">
                <a:tc>
                  <a:txBody>
                    <a:bodyPr/>
                    <a:lstStyle/>
                    <a:p>
                      <a:pPr algn="ctr" rtl="0" fontAlgn="ctr">
                        <a:buNone/>
                      </a:pPr>
                      <a:r>
                        <a:rPr lang="en-IN" sz="1400" b="0" u="none" strike="noStrike">
                          <a:solidFill>
                            <a:srgbClr val="000000"/>
                          </a:solidFill>
                          <a:effectLst/>
                        </a:rPr>
                        <a:t>Standing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0.5000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4185383768"/>
                  </a:ext>
                </a:extLst>
              </a:tr>
              <a:tr h="370840">
                <a:tc>
                  <a:txBody>
                    <a:bodyPr/>
                    <a:lstStyle/>
                    <a:p>
                      <a:pPr algn="ctr" rtl="0" fontAlgn="ctr">
                        <a:buNone/>
                      </a:pPr>
                      <a:r>
                        <a:rPr lang="en-IN" sz="1400" b="0" u="none" strike="noStrike">
                          <a:solidFill>
                            <a:srgbClr val="000000"/>
                          </a:solidFill>
                          <a:effectLst/>
                        </a:rPr>
                        <a:t>Walking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0.8333</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0.9700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0.9971</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83692192"/>
                  </a:ext>
                </a:extLst>
              </a:tr>
            </a:tbl>
          </a:graphicData>
        </a:graphic>
      </p:graphicFrame>
      <p:sp>
        <p:nvSpPr>
          <p:cNvPr id="15" name="TextBox 14">
            <a:extLst>
              <a:ext uri="{FF2B5EF4-FFF2-40B4-BE49-F238E27FC236}">
                <a16:creationId xmlns:a16="http://schemas.microsoft.com/office/drawing/2014/main" id="{881D3FD5-F201-58C2-E89D-1AEA0CEB5D27}"/>
              </a:ext>
            </a:extLst>
          </p:cNvPr>
          <p:cNvSpPr txBox="1"/>
          <p:nvPr/>
        </p:nvSpPr>
        <p:spPr>
          <a:xfrm>
            <a:off x="7004580" y="5119422"/>
            <a:ext cx="368604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Fig.11. Accuracy amongst different Activity and Models</a:t>
            </a:r>
          </a:p>
        </p:txBody>
      </p:sp>
      <p:sp>
        <p:nvSpPr>
          <p:cNvPr id="16" name="Slide Number Placeholder 15">
            <a:extLst>
              <a:ext uri="{FF2B5EF4-FFF2-40B4-BE49-F238E27FC236}">
                <a16:creationId xmlns:a16="http://schemas.microsoft.com/office/drawing/2014/main" id="{F90CD13D-816B-CCD5-F4C7-A2FDE5EC99D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24</a:t>
            </a:fld>
            <a:endParaRPr lang="en-IN"/>
          </a:p>
        </p:txBody>
      </p:sp>
    </p:spTree>
    <p:extLst>
      <p:ext uri="{BB962C8B-B14F-4D97-AF65-F5344CB8AC3E}">
        <p14:creationId xmlns:p14="http://schemas.microsoft.com/office/powerpoint/2010/main" val="888711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45D58188-8B5D-BF08-2A63-633F6A33FF2F}"/>
              </a:ext>
            </a:extLst>
          </p:cNvPr>
          <p:cNvGraphicFramePr>
            <a:graphicFrameLocks noGrp="1"/>
          </p:cNvGraphicFramePr>
          <p:nvPr>
            <p:extLst>
              <p:ext uri="{D42A27DB-BD31-4B8C-83A1-F6EECF244321}">
                <p14:modId xmlns:p14="http://schemas.microsoft.com/office/powerpoint/2010/main" val="2123950579"/>
              </p:ext>
            </p:extLst>
          </p:nvPr>
        </p:nvGraphicFramePr>
        <p:xfrm>
          <a:off x="653143" y="1208659"/>
          <a:ext cx="10506269" cy="5100952"/>
        </p:xfrm>
        <a:graphic>
          <a:graphicData uri="http://schemas.openxmlformats.org/drawingml/2006/table">
            <a:tbl>
              <a:tblPr firstRow="1" firstCol="1" bandRow="1">
                <a:tableStyleId>{FF129BD1-FC92-40F7-9949-7B2696B6D511}</a:tableStyleId>
              </a:tblPr>
              <a:tblGrid>
                <a:gridCol w="5280867">
                  <a:extLst>
                    <a:ext uri="{9D8B030D-6E8A-4147-A177-3AD203B41FA5}">
                      <a16:colId xmlns:a16="http://schemas.microsoft.com/office/drawing/2014/main" val="3334980696"/>
                    </a:ext>
                  </a:extLst>
                </a:gridCol>
                <a:gridCol w="5225402">
                  <a:extLst>
                    <a:ext uri="{9D8B030D-6E8A-4147-A177-3AD203B41FA5}">
                      <a16:colId xmlns:a16="http://schemas.microsoft.com/office/drawing/2014/main" val="2353683280"/>
                    </a:ext>
                  </a:extLst>
                </a:gridCol>
              </a:tblGrid>
              <a:tr h="2414699">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3224030"/>
                  </a:ext>
                </a:extLst>
              </a:tr>
              <a:tr h="250609">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LSTM</a:t>
                      </a:r>
                    </a:p>
                  </a:txBody>
                  <a:tcPr marL="68580" marR="68580" marT="0" marB="0"/>
                </a:tc>
                <a:tc>
                  <a:txBody>
                    <a:bodyPr/>
                    <a:lstStyle/>
                    <a:p>
                      <a:pPr algn="ctr">
                        <a:lnSpc>
                          <a:spcPct val="115000"/>
                        </a:lnSpc>
                        <a:spcAft>
                          <a:spcPts val="800"/>
                        </a:spcAft>
                        <a:buNone/>
                      </a:pP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88281472"/>
                  </a:ext>
                </a:extLst>
              </a:tr>
              <a:tr h="2185035">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6736101"/>
                  </a:ext>
                </a:extLst>
              </a:tr>
              <a:tr h="250609">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MS-GRS-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9503512"/>
                  </a:ext>
                </a:extLst>
              </a:tr>
            </a:tbl>
          </a:graphicData>
        </a:graphic>
      </p:graphicFrame>
      <p:sp>
        <p:nvSpPr>
          <p:cNvPr id="4" name="Rectangle 9">
            <a:extLst>
              <a:ext uri="{FF2B5EF4-FFF2-40B4-BE49-F238E27FC236}">
                <a16:creationId xmlns:a16="http://schemas.microsoft.com/office/drawing/2014/main" id="{A1F5D76B-0176-E5AF-E994-7153E514C919}"/>
              </a:ext>
            </a:extLst>
          </p:cNvPr>
          <p:cNvSpPr>
            <a:spLocks noChangeArrowheads="1"/>
          </p:cNvSpPr>
          <p:nvPr/>
        </p:nvSpPr>
        <p:spPr bwMode="auto">
          <a:xfrm>
            <a:off x="3181966" y="142662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grpSp>
        <p:nvGrpSpPr>
          <p:cNvPr id="9" name="Group 8">
            <a:extLst>
              <a:ext uri="{FF2B5EF4-FFF2-40B4-BE49-F238E27FC236}">
                <a16:creationId xmlns:a16="http://schemas.microsoft.com/office/drawing/2014/main" id="{BC7FE572-C0F2-566C-16B6-0A061AA6C741}"/>
              </a:ext>
            </a:extLst>
          </p:cNvPr>
          <p:cNvGrpSpPr/>
          <p:nvPr/>
        </p:nvGrpSpPr>
        <p:grpSpPr>
          <a:xfrm>
            <a:off x="855306" y="1208659"/>
            <a:ext cx="10157740" cy="4797610"/>
            <a:chOff x="1268271" y="987873"/>
            <a:chExt cx="10157740" cy="4797610"/>
          </a:xfrm>
        </p:grpSpPr>
        <p:pic>
          <p:nvPicPr>
            <p:cNvPr id="5" name="Picture 4">
              <a:extLst>
                <a:ext uri="{FF2B5EF4-FFF2-40B4-BE49-F238E27FC236}">
                  <a16:creationId xmlns:a16="http://schemas.microsoft.com/office/drawing/2014/main" id="{9B59431D-B732-A916-1B87-C232FF31E4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68271" y="1066838"/>
              <a:ext cx="4736215" cy="2275468"/>
            </a:xfrm>
            <a:prstGeom prst="rect">
              <a:avLst/>
            </a:prstGeom>
          </p:spPr>
        </p:pic>
        <p:pic>
          <p:nvPicPr>
            <p:cNvPr id="6" name="Picture 5">
              <a:extLst>
                <a:ext uri="{FF2B5EF4-FFF2-40B4-BE49-F238E27FC236}">
                  <a16:creationId xmlns:a16="http://schemas.microsoft.com/office/drawing/2014/main" id="{B26C0A97-CC80-FDEA-4052-AD445F31DCC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08728" y="987873"/>
              <a:ext cx="4917283" cy="2355028"/>
            </a:xfrm>
            <a:prstGeom prst="rect">
              <a:avLst/>
            </a:prstGeom>
          </p:spPr>
        </p:pic>
        <p:pic>
          <p:nvPicPr>
            <p:cNvPr id="7" name="Picture 6">
              <a:extLst>
                <a:ext uri="{FF2B5EF4-FFF2-40B4-BE49-F238E27FC236}">
                  <a16:creationId xmlns:a16="http://schemas.microsoft.com/office/drawing/2014/main" id="{C1888F07-D790-439B-B53E-12924A603F3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68271" y="3721300"/>
              <a:ext cx="4736215" cy="2064183"/>
            </a:xfrm>
            <a:prstGeom prst="rect">
              <a:avLst/>
            </a:prstGeom>
          </p:spPr>
        </p:pic>
        <p:pic>
          <p:nvPicPr>
            <p:cNvPr id="8" name="Picture 7">
              <a:extLst>
                <a:ext uri="{FF2B5EF4-FFF2-40B4-BE49-F238E27FC236}">
                  <a16:creationId xmlns:a16="http://schemas.microsoft.com/office/drawing/2014/main" id="{D450A474-262F-DAAC-AE38-048B4248D27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508729" y="3721300"/>
              <a:ext cx="4917282" cy="2018942"/>
            </a:xfrm>
            <a:prstGeom prst="rect">
              <a:avLst/>
            </a:prstGeom>
          </p:spPr>
        </p:pic>
      </p:grpSp>
      <p:sp>
        <p:nvSpPr>
          <p:cNvPr id="10" name="Rectangle: Rounded Corners 9">
            <a:extLst>
              <a:ext uri="{FF2B5EF4-FFF2-40B4-BE49-F238E27FC236}">
                <a16:creationId xmlns:a16="http://schemas.microsoft.com/office/drawing/2014/main" id="{C445B8D7-8E27-1776-6652-8D0F285780FC}"/>
              </a:ext>
            </a:extLst>
          </p:cNvPr>
          <p:cNvSpPr/>
          <p:nvPr/>
        </p:nvSpPr>
        <p:spPr>
          <a:xfrm>
            <a:off x="328662" y="169785"/>
            <a:ext cx="10609007" cy="908255"/>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of Accuracy/Loss over Epochs of Models on My Dataset   </a:t>
            </a:r>
          </a:p>
        </p:txBody>
      </p:sp>
      <p:pic>
        <p:nvPicPr>
          <p:cNvPr id="11" name="Google Shape;97;p14">
            <a:extLst>
              <a:ext uri="{FF2B5EF4-FFF2-40B4-BE49-F238E27FC236}">
                <a16:creationId xmlns:a16="http://schemas.microsoft.com/office/drawing/2014/main" id="{DBB47346-A861-93D6-FC3E-1C9379AC8B6A}"/>
              </a:ext>
            </a:extLst>
          </p:cNvPr>
          <p:cNvPicPr preferRelativeResize="0"/>
          <p:nvPr/>
        </p:nvPicPr>
        <p:blipFill rotWithShape="1">
          <a:blip r:embed="rId6">
            <a:alphaModFix/>
          </a:blip>
          <a:srcRect/>
          <a:stretch/>
        </p:blipFill>
        <p:spPr>
          <a:xfrm>
            <a:off x="11013048" y="0"/>
            <a:ext cx="1178952" cy="1153972"/>
          </a:xfrm>
          <a:prstGeom prst="rect">
            <a:avLst/>
          </a:prstGeom>
          <a:noFill/>
          <a:ln>
            <a:noFill/>
          </a:ln>
        </p:spPr>
      </p:pic>
      <p:sp>
        <p:nvSpPr>
          <p:cNvPr id="2" name="Slide Number Placeholder 1">
            <a:extLst>
              <a:ext uri="{FF2B5EF4-FFF2-40B4-BE49-F238E27FC236}">
                <a16:creationId xmlns:a16="http://schemas.microsoft.com/office/drawing/2014/main" id="{D7B41ED3-59BD-8D27-0C2E-321BC3D4730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25</a:t>
            </a:fld>
            <a:endParaRPr lang="en-IN"/>
          </a:p>
        </p:txBody>
      </p:sp>
    </p:spTree>
    <p:extLst>
      <p:ext uri="{BB962C8B-B14F-4D97-AF65-F5344CB8AC3E}">
        <p14:creationId xmlns:p14="http://schemas.microsoft.com/office/powerpoint/2010/main" val="27519572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FA8DAFD-B12D-BEF1-2516-AB92425B30CF}"/>
              </a:ext>
            </a:extLst>
          </p:cNvPr>
          <p:cNvGraphicFramePr>
            <a:graphicFrameLocks noGrp="1"/>
          </p:cNvGraphicFramePr>
          <p:nvPr>
            <p:extLst>
              <p:ext uri="{D42A27DB-BD31-4B8C-83A1-F6EECF244321}">
                <p14:modId xmlns:p14="http://schemas.microsoft.com/office/powerpoint/2010/main" val="222903379"/>
              </p:ext>
            </p:extLst>
          </p:nvPr>
        </p:nvGraphicFramePr>
        <p:xfrm>
          <a:off x="653143" y="1208659"/>
          <a:ext cx="10506269" cy="5100952"/>
        </p:xfrm>
        <a:graphic>
          <a:graphicData uri="http://schemas.openxmlformats.org/drawingml/2006/table">
            <a:tbl>
              <a:tblPr firstRow="1" firstCol="1" bandRow="1">
                <a:tableStyleId>{FF129BD1-FC92-40F7-9949-7B2696B6D511}</a:tableStyleId>
              </a:tblPr>
              <a:tblGrid>
                <a:gridCol w="5280867">
                  <a:extLst>
                    <a:ext uri="{9D8B030D-6E8A-4147-A177-3AD203B41FA5}">
                      <a16:colId xmlns:a16="http://schemas.microsoft.com/office/drawing/2014/main" val="3334980696"/>
                    </a:ext>
                  </a:extLst>
                </a:gridCol>
                <a:gridCol w="5225402">
                  <a:extLst>
                    <a:ext uri="{9D8B030D-6E8A-4147-A177-3AD203B41FA5}">
                      <a16:colId xmlns:a16="http://schemas.microsoft.com/office/drawing/2014/main" val="2353683280"/>
                    </a:ext>
                  </a:extLst>
                </a:gridCol>
              </a:tblGrid>
              <a:tr h="2414699">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3224030"/>
                  </a:ext>
                </a:extLst>
              </a:tr>
              <a:tr h="250609">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LSTM</a:t>
                      </a:r>
                    </a:p>
                  </a:txBody>
                  <a:tcPr marL="68580" marR="68580" marT="0" marB="0"/>
                </a:tc>
                <a:tc>
                  <a:txBody>
                    <a:bodyPr/>
                    <a:lstStyle/>
                    <a:p>
                      <a:pPr algn="ctr">
                        <a:lnSpc>
                          <a:spcPct val="115000"/>
                        </a:lnSpc>
                        <a:spcAft>
                          <a:spcPts val="800"/>
                        </a:spcAft>
                        <a:buNone/>
                      </a:pP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88281472"/>
                  </a:ext>
                </a:extLst>
              </a:tr>
              <a:tr h="2185035">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6736101"/>
                  </a:ext>
                </a:extLst>
              </a:tr>
              <a:tr h="250609">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MS-GRS-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9503512"/>
                  </a:ext>
                </a:extLst>
              </a:tr>
            </a:tbl>
          </a:graphicData>
        </a:graphic>
      </p:graphicFrame>
      <p:sp>
        <p:nvSpPr>
          <p:cNvPr id="3" name="Rectangle 9">
            <a:extLst>
              <a:ext uri="{FF2B5EF4-FFF2-40B4-BE49-F238E27FC236}">
                <a16:creationId xmlns:a16="http://schemas.microsoft.com/office/drawing/2014/main" id="{9E858E5A-CA5D-FAA9-B993-5497E17C56A1}"/>
              </a:ext>
            </a:extLst>
          </p:cNvPr>
          <p:cNvSpPr>
            <a:spLocks noChangeArrowheads="1"/>
          </p:cNvSpPr>
          <p:nvPr/>
        </p:nvSpPr>
        <p:spPr bwMode="auto">
          <a:xfrm>
            <a:off x="3181966" y="142662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9" name="Rectangle: Rounded Corners 8">
            <a:extLst>
              <a:ext uri="{FF2B5EF4-FFF2-40B4-BE49-F238E27FC236}">
                <a16:creationId xmlns:a16="http://schemas.microsoft.com/office/drawing/2014/main" id="{D15CE7F3-D9DE-484E-554C-0374A30DC152}"/>
              </a:ext>
            </a:extLst>
          </p:cNvPr>
          <p:cNvSpPr/>
          <p:nvPr/>
        </p:nvSpPr>
        <p:spPr>
          <a:xfrm>
            <a:off x="328662" y="169785"/>
            <a:ext cx="10609007" cy="908255"/>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of Accuracy/Loss over Epochs of Models on KARD Dataset   </a:t>
            </a:r>
          </a:p>
        </p:txBody>
      </p:sp>
      <p:pic>
        <p:nvPicPr>
          <p:cNvPr id="10" name="Google Shape;97;p14">
            <a:extLst>
              <a:ext uri="{FF2B5EF4-FFF2-40B4-BE49-F238E27FC236}">
                <a16:creationId xmlns:a16="http://schemas.microsoft.com/office/drawing/2014/main" id="{7E449B0B-0271-3D5B-1D31-204FCD87C7BB}"/>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17" name="Picture 16">
            <a:extLst>
              <a:ext uri="{FF2B5EF4-FFF2-40B4-BE49-F238E27FC236}">
                <a16:creationId xmlns:a16="http://schemas.microsoft.com/office/drawing/2014/main" id="{8334C9DA-CC06-56E0-AF9F-2FF5ADD9BC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32588" y="1258300"/>
            <a:ext cx="4519125" cy="2255841"/>
          </a:xfrm>
          <a:prstGeom prst="rect">
            <a:avLst/>
          </a:prstGeom>
        </p:spPr>
      </p:pic>
      <p:pic>
        <p:nvPicPr>
          <p:cNvPr id="18" name="Picture 17">
            <a:extLst>
              <a:ext uri="{FF2B5EF4-FFF2-40B4-BE49-F238E27FC236}">
                <a16:creationId xmlns:a16="http://schemas.microsoft.com/office/drawing/2014/main" id="{C4DE4AA5-E625-C778-848D-DFCE9952539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40289" y="1291266"/>
            <a:ext cx="4135551" cy="2255841"/>
          </a:xfrm>
          <a:prstGeom prst="rect">
            <a:avLst/>
          </a:prstGeom>
        </p:spPr>
      </p:pic>
      <p:pic>
        <p:nvPicPr>
          <p:cNvPr id="19" name="Picture 18">
            <a:extLst>
              <a:ext uri="{FF2B5EF4-FFF2-40B4-BE49-F238E27FC236}">
                <a16:creationId xmlns:a16="http://schemas.microsoft.com/office/drawing/2014/main" id="{7C59D42D-24DE-6A5B-07F6-713A63F7B6B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2588" y="3899283"/>
            <a:ext cx="4519124" cy="2086125"/>
          </a:xfrm>
          <a:prstGeom prst="rect">
            <a:avLst/>
          </a:prstGeom>
        </p:spPr>
      </p:pic>
      <p:pic>
        <p:nvPicPr>
          <p:cNvPr id="20" name="Picture 19">
            <a:extLst>
              <a:ext uri="{FF2B5EF4-FFF2-40B4-BE49-F238E27FC236}">
                <a16:creationId xmlns:a16="http://schemas.microsoft.com/office/drawing/2014/main" id="{62A41F4F-2A91-108E-B68A-BD4A6755DEB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40290" y="3897645"/>
            <a:ext cx="4135550" cy="2087764"/>
          </a:xfrm>
          <a:prstGeom prst="rect">
            <a:avLst/>
          </a:prstGeom>
        </p:spPr>
      </p:pic>
      <p:sp>
        <p:nvSpPr>
          <p:cNvPr id="21" name="Slide Number Placeholder 20">
            <a:extLst>
              <a:ext uri="{FF2B5EF4-FFF2-40B4-BE49-F238E27FC236}">
                <a16:creationId xmlns:a16="http://schemas.microsoft.com/office/drawing/2014/main" id="{81B28F45-E4D6-7A1D-9AB1-B76E2D8D5E2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26</a:t>
            </a:fld>
            <a:endParaRPr lang="en-IN"/>
          </a:p>
        </p:txBody>
      </p:sp>
    </p:spTree>
    <p:extLst>
      <p:ext uri="{BB962C8B-B14F-4D97-AF65-F5344CB8AC3E}">
        <p14:creationId xmlns:p14="http://schemas.microsoft.com/office/powerpoint/2010/main" val="15396496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4322240-3FAF-02BC-B9F1-F0CE1B29039F}"/>
              </a:ext>
            </a:extLst>
          </p:cNvPr>
          <p:cNvGraphicFramePr>
            <a:graphicFrameLocks noGrp="1"/>
          </p:cNvGraphicFramePr>
          <p:nvPr>
            <p:extLst>
              <p:ext uri="{D42A27DB-BD31-4B8C-83A1-F6EECF244321}">
                <p14:modId xmlns:p14="http://schemas.microsoft.com/office/powerpoint/2010/main" val="2491363632"/>
              </p:ext>
            </p:extLst>
          </p:nvPr>
        </p:nvGraphicFramePr>
        <p:xfrm>
          <a:off x="653143" y="1026366"/>
          <a:ext cx="10506269" cy="5523723"/>
        </p:xfrm>
        <a:graphic>
          <a:graphicData uri="http://schemas.openxmlformats.org/drawingml/2006/table">
            <a:tbl>
              <a:tblPr firstRow="1" firstCol="1" bandRow="1">
                <a:tableStyleId>{FF129BD1-FC92-40F7-9949-7B2696B6D511}</a:tableStyleId>
              </a:tblPr>
              <a:tblGrid>
                <a:gridCol w="5280867">
                  <a:extLst>
                    <a:ext uri="{9D8B030D-6E8A-4147-A177-3AD203B41FA5}">
                      <a16:colId xmlns:a16="http://schemas.microsoft.com/office/drawing/2014/main" val="3334980696"/>
                    </a:ext>
                  </a:extLst>
                </a:gridCol>
                <a:gridCol w="5225402">
                  <a:extLst>
                    <a:ext uri="{9D8B030D-6E8A-4147-A177-3AD203B41FA5}">
                      <a16:colId xmlns:a16="http://schemas.microsoft.com/office/drawing/2014/main" val="2353683280"/>
                    </a:ext>
                  </a:extLst>
                </a:gridCol>
              </a:tblGrid>
              <a:tr h="2614831">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3224030"/>
                  </a:ext>
                </a:extLst>
              </a:tr>
              <a:tr h="271380">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LSTM</a:t>
                      </a:r>
                    </a:p>
                  </a:txBody>
                  <a:tcPr marL="68580" marR="68580" marT="0" marB="0"/>
                </a:tc>
                <a:tc>
                  <a:txBody>
                    <a:bodyPr/>
                    <a:lstStyle/>
                    <a:p>
                      <a:pPr algn="ctr">
                        <a:lnSpc>
                          <a:spcPct val="115000"/>
                        </a:lnSpc>
                        <a:spcAft>
                          <a:spcPts val="800"/>
                        </a:spcAft>
                        <a:buNone/>
                      </a:pP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88281472"/>
                  </a:ext>
                </a:extLst>
              </a:tr>
              <a:tr h="2366132">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6736101"/>
                  </a:ext>
                </a:extLst>
              </a:tr>
              <a:tr h="271380">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MS-GRS-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9503512"/>
                  </a:ext>
                </a:extLst>
              </a:tr>
            </a:tbl>
          </a:graphicData>
        </a:graphic>
      </p:graphicFrame>
      <p:sp>
        <p:nvSpPr>
          <p:cNvPr id="3" name="Rectangle 9">
            <a:extLst>
              <a:ext uri="{FF2B5EF4-FFF2-40B4-BE49-F238E27FC236}">
                <a16:creationId xmlns:a16="http://schemas.microsoft.com/office/drawing/2014/main" id="{4B19C2C8-0E33-E4C8-D80E-E8A6444065C0}"/>
              </a:ext>
            </a:extLst>
          </p:cNvPr>
          <p:cNvSpPr>
            <a:spLocks noChangeArrowheads="1"/>
          </p:cNvSpPr>
          <p:nvPr/>
        </p:nvSpPr>
        <p:spPr bwMode="auto">
          <a:xfrm>
            <a:off x="3181966" y="142662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10" name="Google Shape;97;p14">
            <a:extLst>
              <a:ext uri="{FF2B5EF4-FFF2-40B4-BE49-F238E27FC236}">
                <a16:creationId xmlns:a16="http://schemas.microsoft.com/office/drawing/2014/main" id="{F711F156-84D3-D898-35DC-AA36A3A43CB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15" name="Rectangle: Rounded Corners 14">
            <a:extLst>
              <a:ext uri="{FF2B5EF4-FFF2-40B4-BE49-F238E27FC236}">
                <a16:creationId xmlns:a16="http://schemas.microsoft.com/office/drawing/2014/main" id="{193FE480-06FC-A5B7-707D-F93800818182}"/>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of Confusion Metrics of Models on My Dataset   </a:t>
            </a:r>
          </a:p>
        </p:txBody>
      </p:sp>
      <p:pic>
        <p:nvPicPr>
          <p:cNvPr id="16" name="Picture 15">
            <a:extLst>
              <a:ext uri="{FF2B5EF4-FFF2-40B4-BE49-F238E27FC236}">
                <a16:creationId xmlns:a16="http://schemas.microsoft.com/office/drawing/2014/main" id="{6A396964-CF52-FF0A-8BB3-1FA097EA06E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75657" y="1044249"/>
            <a:ext cx="4124131" cy="2527936"/>
          </a:xfrm>
          <a:prstGeom prst="rect">
            <a:avLst/>
          </a:prstGeom>
        </p:spPr>
      </p:pic>
      <p:pic>
        <p:nvPicPr>
          <p:cNvPr id="17" name="Picture 16">
            <a:extLst>
              <a:ext uri="{FF2B5EF4-FFF2-40B4-BE49-F238E27FC236}">
                <a16:creationId xmlns:a16="http://schemas.microsoft.com/office/drawing/2014/main" id="{6953A7D5-2252-D9BE-AFB0-A365F873BE0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32428" y="1044249"/>
            <a:ext cx="4004469" cy="2501716"/>
          </a:xfrm>
          <a:prstGeom prst="rect">
            <a:avLst/>
          </a:prstGeom>
        </p:spPr>
      </p:pic>
      <p:pic>
        <p:nvPicPr>
          <p:cNvPr id="18" name="Picture 17">
            <a:extLst>
              <a:ext uri="{FF2B5EF4-FFF2-40B4-BE49-F238E27FC236}">
                <a16:creationId xmlns:a16="http://schemas.microsoft.com/office/drawing/2014/main" id="{0C866C9E-BE51-6D2F-C330-472EB7D49EB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75656" y="3949811"/>
            <a:ext cx="4124131" cy="2249184"/>
          </a:xfrm>
          <a:prstGeom prst="rect">
            <a:avLst/>
          </a:prstGeom>
        </p:spPr>
      </p:pic>
      <p:pic>
        <p:nvPicPr>
          <p:cNvPr id="19" name="Picture 18">
            <a:extLst>
              <a:ext uri="{FF2B5EF4-FFF2-40B4-BE49-F238E27FC236}">
                <a16:creationId xmlns:a16="http://schemas.microsoft.com/office/drawing/2014/main" id="{D59BE3A4-D9AF-D5B1-52DE-ACFA913B3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892215" y="3949812"/>
            <a:ext cx="3464765" cy="2239658"/>
          </a:xfrm>
          <a:prstGeom prst="rect">
            <a:avLst/>
          </a:prstGeom>
        </p:spPr>
      </p:pic>
      <p:sp>
        <p:nvSpPr>
          <p:cNvPr id="20" name="Slide Number Placeholder 19">
            <a:extLst>
              <a:ext uri="{FF2B5EF4-FFF2-40B4-BE49-F238E27FC236}">
                <a16:creationId xmlns:a16="http://schemas.microsoft.com/office/drawing/2014/main" id="{FE8AD134-4FBF-443A-97F0-46B09BED495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27</a:t>
            </a:fld>
            <a:endParaRPr lang="en-IN"/>
          </a:p>
        </p:txBody>
      </p:sp>
    </p:spTree>
    <p:extLst>
      <p:ext uri="{BB962C8B-B14F-4D97-AF65-F5344CB8AC3E}">
        <p14:creationId xmlns:p14="http://schemas.microsoft.com/office/powerpoint/2010/main" val="24985776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9BDCE40-BFA8-03BF-5FE3-078990D9318A}"/>
              </a:ext>
            </a:extLst>
          </p:cNvPr>
          <p:cNvGraphicFramePr>
            <a:graphicFrameLocks noGrp="1"/>
          </p:cNvGraphicFramePr>
          <p:nvPr>
            <p:extLst>
              <p:ext uri="{D42A27DB-BD31-4B8C-83A1-F6EECF244321}">
                <p14:modId xmlns:p14="http://schemas.microsoft.com/office/powerpoint/2010/main" val="1791691575"/>
              </p:ext>
            </p:extLst>
          </p:nvPr>
        </p:nvGraphicFramePr>
        <p:xfrm>
          <a:off x="653143" y="1026366"/>
          <a:ext cx="10506269" cy="5523723"/>
        </p:xfrm>
        <a:graphic>
          <a:graphicData uri="http://schemas.openxmlformats.org/drawingml/2006/table">
            <a:tbl>
              <a:tblPr firstRow="1" firstCol="1" bandRow="1">
                <a:tableStyleId>{FF129BD1-FC92-40F7-9949-7B2696B6D511}</a:tableStyleId>
              </a:tblPr>
              <a:tblGrid>
                <a:gridCol w="5280867">
                  <a:extLst>
                    <a:ext uri="{9D8B030D-6E8A-4147-A177-3AD203B41FA5}">
                      <a16:colId xmlns:a16="http://schemas.microsoft.com/office/drawing/2014/main" val="3334980696"/>
                    </a:ext>
                  </a:extLst>
                </a:gridCol>
                <a:gridCol w="5225402">
                  <a:extLst>
                    <a:ext uri="{9D8B030D-6E8A-4147-A177-3AD203B41FA5}">
                      <a16:colId xmlns:a16="http://schemas.microsoft.com/office/drawing/2014/main" val="2353683280"/>
                    </a:ext>
                  </a:extLst>
                </a:gridCol>
              </a:tblGrid>
              <a:tr h="2614831">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3224030"/>
                  </a:ext>
                </a:extLst>
              </a:tr>
              <a:tr h="271380">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LSTM</a:t>
                      </a:r>
                    </a:p>
                  </a:txBody>
                  <a:tcPr marL="68580" marR="68580" marT="0" marB="0"/>
                </a:tc>
                <a:tc>
                  <a:txBody>
                    <a:bodyPr/>
                    <a:lstStyle/>
                    <a:p>
                      <a:pPr algn="ctr">
                        <a:lnSpc>
                          <a:spcPct val="115000"/>
                        </a:lnSpc>
                        <a:spcAft>
                          <a:spcPts val="800"/>
                        </a:spcAft>
                        <a:buNone/>
                      </a:pP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88281472"/>
                  </a:ext>
                </a:extLst>
              </a:tr>
              <a:tr h="2366132">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tc>
                  <a:txBody>
                    <a:bodyPr/>
                    <a:lstStyle/>
                    <a:p>
                      <a:pPr algn="l">
                        <a:buNone/>
                      </a:pPr>
                      <a:endParaRPr lang="en-IN" sz="1200" kern="100" dirty="0">
                        <a:effectLst/>
                        <a:latin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6736101"/>
                  </a:ext>
                </a:extLst>
              </a:tr>
              <a:tr h="271380">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1200" kern="100" dirty="0">
                          <a:effectLst/>
                          <a:latin typeface="Calibri" panose="020F0502020204030204" pitchFamily="34" charset="0"/>
                          <a:ea typeface="Calibri" panose="020F0502020204030204" pitchFamily="34" charset="0"/>
                          <a:cs typeface="Times New Roman" panose="02020603050405020304" pitchFamily="18" charset="0"/>
                        </a:rPr>
                        <a:t>MS-GRS-</a:t>
                      </a:r>
                      <a:r>
                        <a:rPr lang="en-IN" sz="1200" kern="100" dirty="0" err="1">
                          <a:effectLst/>
                          <a:latin typeface="Calibri" panose="020F0502020204030204" pitchFamily="34" charset="0"/>
                          <a:ea typeface="Calibri" panose="020F0502020204030204" pitchFamily="34" charset="0"/>
                          <a:cs typeface="Times New Roman" panose="02020603050405020304" pitchFamily="18" charset="0"/>
                        </a:rPr>
                        <a:t>BiLSTM</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9503512"/>
                  </a:ext>
                </a:extLst>
              </a:tr>
            </a:tbl>
          </a:graphicData>
        </a:graphic>
      </p:graphicFrame>
      <p:sp>
        <p:nvSpPr>
          <p:cNvPr id="3" name="Rectangle 9">
            <a:extLst>
              <a:ext uri="{FF2B5EF4-FFF2-40B4-BE49-F238E27FC236}">
                <a16:creationId xmlns:a16="http://schemas.microsoft.com/office/drawing/2014/main" id="{6E5EA598-6842-EE5C-644E-F4E75B668D98}"/>
              </a:ext>
            </a:extLst>
          </p:cNvPr>
          <p:cNvSpPr>
            <a:spLocks noChangeArrowheads="1"/>
          </p:cNvSpPr>
          <p:nvPr/>
        </p:nvSpPr>
        <p:spPr bwMode="auto">
          <a:xfrm>
            <a:off x="3181966" y="142662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4" name="Google Shape;97;p14">
            <a:extLst>
              <a:ext uri="{FF2B5EF4-FFF2-40B4-BE49-F238E27FC236}">
                <a16:creationId xmlns:a16="http://schemas.microsoft.com/office/drawing/2014/main" id="{D9249B9F-9CBF-794C-08EA-F6C3AB01F46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9" name="Rectangle: Rounded Corners 8">
            <a:extLst>
              <a:ext uri="{FF2B5EF4-FFF2-40B4-BE49-F238E27FC236}">
                <a16:creationId xmlns:a16="http://schemas.microsoft.com/office/drawing/2014/main" id="{F26C8A51-A773-5AB8-5179-0D9F49D34453}"/>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of Confusion Metrics of Models on My Dataset   </a:t>
            </a:r>
          </a:p>
        </p:txBody>
      </p:sp>
      <p:pic>
        <p:nvPicPr>
          <p:cNvPr id="14" name="Picture 13">
            <a:extLst>
              <a:ext uri="{FF2B5EF4-FFF2-40B4-BE49-F238E27FC236}">
                <a16:creationId xmlns:a16="http://schemas.microsoft.com/office/drawing/2014/main" id="{3AC64546-D613-8AEF-727E-2CC5A4532DA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32588" y="1083405"/>
            <a:ext cx="4791952" cy="2516773"/>
          </a:xfrm>
          <a:prstGeom prst="rect">
            <a:avLst/>
          </a:prstGeom>
        </p:spPr>
      </p:pic>
      <p:pic>
        <p:nvPicPr>
          <p:cNvPr id="15" name="Picture 14">
            <a:extLst>
              <a:ext uri="{FF2B5EF4-FFF2-40B4-BE49-F238E27FC236}">
                <a16:creationId xmlns:a16="http://schemas.microsoft.com/office/drawing/2014/main" id="{45CAE273-C431-C26C-662C-DBB4F300660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88148" y="1083405"/>
            <a:ext cx="4776076" cy="2513826"/>
          </a:xfrm>
          <a:prstGeom prst="rect">
            <a:avLst/>
          </a:prstGeom>
        </p:spPr>
      </p:pic>
      <p:pic>
        <p:nvPicPr>
          <p:cNvPr id="16" name="Picture 15">
            <a:extLst>
              <a:ext uri="{FF2B5EF4-FFF2-40B4-BE49-F238E27FC236}">
                <a16:creationId xmlns:a16="http://schemas.microsoft.com/office/drawing/2014/main" id="{7175E616-CB21-C9A2-F2E6-ABE597EE3D4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32587" y="4000434"/>
            <a:ext cx="4791951" cy="2213753"/>
          </a:xfrm>
          <a:prstGeom prst="rect">
            <a:avLst/>
          </a:prstGeom>
        </p:spPr>
      </p:pic>
      <p:pic>
        <p:nvPicPr>
          <p:cNvPr id="17" name="Picture 16">
            <a:extLst>
              <a:ext uri="{FF2B5EF4-FFF2-40B4-BE49-F238E27FC236}">
                <a16:creationId xmlns:a16="http://schemas.microsoft.com/office/drawing/2014/main" id="{1700D6DF-E200-5C0E-171D-99929756598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88147" y="3997487"/>
            <a:ext cx="4649521" cy="2204053"/>
          </a:xfrm>
          <a:prstGeom prst="rect">
            <a:avLst/>
          </a:prstGeom>
        </p:spPr>
      </p:pic>
      <p:sp>
        <p:nvSpPr>
          <p:cNvPr id="18" name="Slide Number Placeholder 17">
            <a:extLst>
              <a:ext uri="{FF2B5EF4-FFF2-40B4-BE49-F238E27FC236}">
                <a16:creationId xmlns:a16="http://schemas.microsoft.com/office/drawing/2014/main" id="{5BE05DDA-F060-D325-2A76-5122FA1206F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28</a:t>
            </a:fld>
            <a:endParaRPr lang="en-IN"/>
          </a:p>
        </p:txBody>
      </p:sp>
    </p:spTree>
    <p:extLst>
      <p:ext uri="{BB962C8B-B14F-4D97-AF65-F5344CB8AC3E}">
        <p14:creationId xmlns:p14="http://schemas.microsoft.com/office/powerpoint/2010/main" val="31211571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BD7D3-B9A0-0F5C-9A19-6A681C7DDADE}"/>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6A056C29-86C9-7293-F2D4-2C0BF666C5F3}"/>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Comparison of Models Performance between Dataset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59725ED-2363-B3CB-D65D-E5516F658EFF}"/>
              </a:ext>
            </a:extLst>
          </p:cNvPr>
          <p:cNvSpPr txBox="1"/>
          <p:nvPr/>
        </p:nvSpPr>
        <p:spPr>
          <a:xfrm>
            <a:off x="306968" y="1120878"/>
            <a:ext cx="3756798"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2AC535D-E1AB-F8E1-0456-7DF79EA2726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12" name="Table 11">
            <a:extLst>
              <a:ext uri="{FF2B5EF4-FFF2-40B4-BE49-F238E27FC236}">
                <a16:creationId xmlns:a16="http://schemas.microsoft.com/office/drawing/2014/main" id="{EA13F258-5B78-6D9A-012E-226739B9C488}"/>
              </a:ext>
            </a:extLst>
          </p:cNvPr>
          <p:cNvGraphicFramePr>
            <a:graphicFrameLocks noGrp="1"/>
          </p:cNvGraphicFramePr>
          <p:nvPr>
            <p:extLst>
              <p:ext uri="{D42A27DB-BD31-4B8C-83A1-F6EECF244321}">
                <p14:modId xmlns:p14="http://schemas.microsoft.com/office/powerpoint/2010/main" val="2794183513"/>
              </p:ext>
            </p:extLst>
          </p:nvPr>
        </p:nvGraphicFramePr>
        <p:xfrm>
          <a:off x="497445" y="1466166"/>
          <a:ext cx="11483881" cy="1962834"/>
        </p:xfrm>
        <a:graphic>
          <a:graphicData uri="http://schemas.openxmlformats.org/drawingml/2006/table">
            <a:tbl>
              <a:tblPr>
                <a:tableStyleId>{00A15C55-8517-42AA-B614-E9B94910E393}</a:tableStyleId>
              </a:tblPr>
              <a:tblGrid>
                <a:gridCol w="1435485">
                  <a:extLst>
                    <a:ext uri="{9D8B030D-6E8A-4147-A177-3AD203B41FA5}">
                      <a16:colId xmlns:a16="http://schemas.microsoft.com/office/drawing/2014/main" val="3807800342"/>
                    </a:ext>
                  </a:extLst>
                </a:gridCol>
                <a:gridCol w="1435485">
                  <a:extLst>
                    <a:ext uri="{9D8B030D-6E8A-4147-A177-3AD203B41FA5}">
                      <a16:colId xmlns:a16="http://schemas.microsoft.com/office/drawing/2014/main" val="550465063"/>
                    </a:ext>
                  </a:extLst>
                </a:gridCol>
                <a:gridCol w="1435485">
                  <a:extLst>
                    <a:ext uri="{9D8B030D-6E8A-4147-A177-3AD203B41FA5}">
                      <a16:colId xmlns:a16="http://schemas.microsoft.com/office/drawing/2014/main" val="2859664045"/>
                    </a:ext>
                  </a:extLst>
                </a:gridCol>
                <a:gridCol w="1435485">
                  <a:extLst>
                    <a:ext uri="{9D8B030D-6E8A-4147-A177-3AD203B41FA5}">
                      <a16:colId xmlns:a16="http://schemas.microsoft.com/office/drawing/2014/main" val="848835103"/>
                    </a:ext>
                  </a:extLst>
                </a:gridCol>
                <a:gridCol w="1435485">
                  <a:extLst>
                    <a:ext uri="{9D8B030D-6E8A-4147-A177-3AD203B41FA5}">
                      <a16:colId xmlns:a16="http://schemas.microsoft.com/office/drawing/2014/main" val="2754493910"/>
                    </a:ext>
                  </a:extLst>
                </a:gridCol>
                <a:gridCol w="1435485">
                  <a:extLst>
                    <a:ext uri="{9D8B030D-6E8A-4147-A177-3AD203B41FA5}">
                      <a16:colId xmlns:a16="http://schemas.microsoft.com/office/drawing/2014/main" val="1876569640"/>
                    </a:ext>
                  </a:extLst>
                </a:gridCol>
                <a:gridCol w="1093702">
                  <a:extLst>
                    <a:ext uri="{9D8B030D-6E8A-4147-A177-3AD203B41FA5}">
                      <a16:colId xmlns:a16="http://schemas.microsoft.com/office/drawing/2014/main" val="17690054"/>
                    </a:ext>
                  </a:extLst>
                </a:gridCol>
                <a:gridCol w="1777269">
                  <a:extLst>
                    <a:ext uri="{9D8B030D-6E8A-4147-A177-3AD203B41FA5}">
                      <a16:colId xmlns:a16="http://schemas.microsoft.com/office/drawing/2014/main" val="1695417567"/>
                    </a:ext>
                  </a:extLst>
                </a:gridCol>
              </a:tblGrid>
              <a:tr h="530274">
                <a:tc>
                  <a:txBody>
                    <a:bodyPr/>
                    <a:lstStyle/>
                    <a:p>
                      <a:pPr algn="ctr">
                        <a:buNone/>
                      </a:pPr>
                      <a:r>
                        <a:rPr lang="en-IN" sz="1400" b="1" dirty="0"/>
                        <a:t>Model</a:t>
                      </a:r>
                    </a:p>
                  </a:txBody>
                  <a:tcPr anchor="ctr"/>
                </a:tc>
                <a:tc>
                  <a:txBody>
                    <a:bodyPr/>
                    <a:lstStyle/>
                    <a:p>
                      <a:pPr algn="ctr">
                        <a:buNone/>
                      </a:pPr>
                      <a:r>
                        <a:rPr lang="en-US" sz="1400" b="1" dirty="0"/>
                        <a:t>Test Loss</a:t>
                      </a:r>
                      <a:endParaRPr lang="en-IN" sz="1400" b="1" dirty="0"/>
                    </a:p>
                  </a:txBody>
                  <a:tcPr anchor="ctr"/>
                </a:tc>
                <a:tc>
                  <a:txBody>
                    <a:bodyPr/>
                    <a:lstStyle/>
                    <a:p>
                      <a:pPr algn="ctr">
                        <a:buNone/>
                      </a:pPr>
                      <a:r>
                        <a:rPr lang="en-IN" sz="1400" b="1" dirty="0"/>
                        <a:t>Test Accuracy</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tc>
                  <a:txBody>
                    <a:bodyPr/>
                    <a:lstStyle/>
                    <a:p>
                      <a:pPr algn="ctr">
                        <a:buNone/>
                      </a:pPr>
                      <a:r>
                        <a:rPr lang="en-IN" sz="1400" b="1"/>
                        <a:t>Model Size</a:t>
                      </a:r>
                    </a:p>
                  </a:txBody>
                  <a:tcPr anchor="ctr"/>
                </a:tc>
                <a:tc>
                  <a:txBody>
                    <a:bodyPr/>
                    <a:lstStyle/>
                    <a:p>
                      <a:pPr algn="ctr">
                        <a:buNone/>
                      </a:pPr>
                      <a:r>
                        <a:rPr lang="en-US" sz="1400" b="1" dirty="0"/>
                        <a:t>Avg Inference Time per Sample</a:t>
                      </a:r>
                    </a:p>
                  </a:txBody>
                  <a:tcPr anchor="ctr"/>
                </a:tc>
                <a:extLst>
                  <a:ext uri="{0D108BD9-81ED-4DB2-BD59-A6C34878D82A}">
                    <a16:rowId xmlns:a16="http://schemas.microsoft.com/office/drawing/2014/main" val="3339355786"/>
                  </a:ext>
                </a:extLst>
              </a:tr>
              <a:tr h="283633">
                <a:tc>
                  <a:txBody>
                    <a:bodyPr/>
                    <a:lstStyle/>
                    <a:p>
                      <a:pPr algn="ctr">
                        <a:buNone/>
                      </a:pPr>
                      <a:r>
                        <a:rPr lang="en-IN" sz="1400" b="1" dirty="0"/>
                        <a:t>LSTM</a:t>
                      </a:r>
                      <a:endParaRPr lang="en-IN" sz="1400" dirty="0"/>
                    </a:p>
                  </a:txBody>
                  <a:tcPr anchor="ctr"/>
                </a:tc>
                <a:tc>
                  <a:txBody>
                    <a:bodyPr/>
                    <a:lstStyle/>
                    <a:p>
                      <a:pPr algn="ctr">
                        <a:buNone/>
                      </a:pPr>
                      <a:r>
                        <a:rPr lang="en-US" sz="1400" dirty="0"/>
                        <a:t>1.3108</a:t>
                      </a:r>
                      <a:endParaRPr lang="en-IN" sz="1400" dirty="0"/>
                    </a:p>
                  </a:txBody>
                  <a:tcPr anchor="ctr"/>
                </a:tc>
                <a:tc>
                  <a:txBody>
                    <a:bodyPr/>
                    <a:lstStyle/>
                    <a:p>
                      <a:pPr algn="ctr">
                        <a:buNone/>
                      </a:pPr>
                      <a:r>
                        <a:rPr lang="en-IN" sz="1400" b="0" dirty="0"/>
                        <a:t>76.19%</a:t>
                      </a:r>
                    </a:p>
                  </a:txBody>
                  <a:tcPr anchor="ctr"/>
                </a:tc>
                <a:tc>
                  <a:txBody>
                    <a:bodyPr/>
                    <a:lstStyle/>
                    <a:p>
                      <a:pPr algn="ctr">
                        <a:buNone/>
                      </a:pPr>
                      <a:r>
                        <a:rPr lang="en-IN" sz="1400"/>
                        <a:t>0.7568</a:t>
                      </a:r>
                    </a:p>
                  </a:txBody>
                  <a:tcPr anchor="ctr"/>
                </a:tc>
                <a:tc>
                  <a:txBody>
                    <a:bodyPr/>
                    <a:lstStyle/>
                    <a:p>
                      <a:pPr algn="ctr">
                        <a:buNone/>
                      </a:pPr>
                      <a:r>
                        <a:rPr lang="en-IN" sz="1400"/>
                        <a:t>0.7619</a:t>
                      </a:r>
                    </a:p>
                  </a:txBody>
                  <a:tcPr anchor="ctr"/>
                </a:tc>
                <a:tc>
                  <a:txBody>
                    <a:bodyPr/>
                    <a:lstStyle/>
                    <a:p>
                      <a:pPr algn="ctr">
                        <a:buNone/>
                      </a:pPr>
                      <a:r>
                        <a:rPr lang="en-IN" sz="1400"/>
                        <a:t>0.7527</a:t>
                      </a:r>
                    </a:p>
                  </a:txBody>
                  <a:tcPr anchor="ctr"/>
                </a:tc>
                <a:tc>
                  <a:txBody>
                    <a:bodyPr/>
                    <a:lstStyle/>
                    <a:p>
                      <a:pPr algn="ctr">
                        <a:buNone/>
                      </a:pPr>
                      <a:r>
                        <a:rPr lang="en-IN" sz="1400" b="0"/>
                        <a:t>1.86 MB</a:t>
                      </a:r>
                    </a:p>
                  </a:txBody>
                  <a:tcPr anchor="ctr"/>
                </a:tc>
                <a:tc>
                  <a:txBody>
                    <a:bodyPr/>
                    <a:lstStyle/>
                    <a:p>
                      <a:pPr algn="ctr">
                        <a:buNone/>
                      </a:pPr>
                      <a:r>
                        <a:rPr lang="en-IN" sz="1400" b="0"/>
                        <a:t>31.01 ms</a:t>
                      </a:r>
                    </a:p>
                  </a:txBody>
                  <a:tcPr anchor="ctr"/>
                </a:tc>
                <a:extLst>
                  <a:ext uri="{0D108BD9-81ED-4DB2-BD59-A6C34878D82A}">
                    <a16:rowId xmlns:a16="http://schemas.microsoft.com/office/drawing/2014/main" val="4122507044"/>
                  </a:ext>
                </a:extLst>
              </a:tr>
              <a:tr h="283633">
                <a:tc>
                  <a:txBody>
                    <a:bodyPr/>
                    <a:lstStyle/>
                    <a:p>
                      <a:pPr algn="ctr">
                        <a:buNone/>
                      </a:pPr>
                      <a:r>
                        <a:rPr lang="en-IN" sz="1400" b="1"/>
                        <a:t>BiLSTM</a:t>
                      </a:r>
                      <a:endParaRPr lang="en-IN" sz="1400"/>
                    </a:p>
                  </a:txBody>
                  <a:tcPr anchor="ctr"/>
                </a:tc>
                <a:tc>
                  <a:txBody>
                    <a:bodyPr/>
                    <a:lstStyle/>
                    <a:p>
                      <a:pPr algn="ctr">
                        <a:buNone/>
                      </a:pPr>
                      <a:r>
                        <a:rPr lang="en-US" sz="1400" dirty="0"/>
                        <a:t>0.3456</a:t>
                      </a:r>
                      <a:endParaRPr lang="en-IN" sz="1400" dirty="0"/>
                    </a:p>
                  </a:txBody>
                  <a:tcPr anchor="ctr"/>
                </a:tc>
                <a:tc>
                  <a:txBody>
                    <a:bodyPr/>
                    <a:lstStyle/>
                    <a:p>
                      <a:pPr algn="ctr">
                        <a:buNone/>
                      </a:pPr>
                      <a:r>
                        <a:rPr lang="en-IN" sz="1400" b="0" dirty="0"/>
                        <a:t>88.10%</a:t>
                      </a:r>
                    </a:p>
                  </a:txBody>
                  <a:tcPr anchor="ctr"/>
                </a:tc>
                <a:tc>
                  <a:txBody>
                    <a:bodyPr/>
                    <a:lstStyle/>
                    <a:p>
                      <a:pPr algn="ctr">
                        <a:buNone/>
                      </a:pPr>
                      <a:r>
                        <a:rPr lang="en-IN" sz="1400" dirty="0"/>
                        <a:t>0.8900</a:t>
                      </a:r>
                    </a:p>
                  </a:txBody>
                  <a:tcPr anchor="ctr"/>
                </a:tc>
                <a:tc>
                  <a:txBody>
                    <a:bodyPr/>
                    <a:lstStyle/>
                    <a:p>
                      <a:pPr algn="ctr">
                        <a:buNone/>
                      </a:pPr>
                      <a:r>
                        <a:rPr lang="en-IN" sz="1400" dirty="0"/>
                        <a:t>0.8800</a:t>
                      </a:r>
                    </a:p>
                  </a:txBody>
                  <a:tcPr anchor="ctr"/>
                </a:tc>
                <a:tc>
                  <a:txBody>
                    <a:bodyPr/>
                    <a:lstStyle/>
                    <a:p>
                      <a:pPr algn="ctr">
                        <a:buNone/>
                      </a:pPr>
                      <a:r>
                        <a:rPr lang="en-IN" sz="1400" dirty="0"/>
                        <a:t>0.8700</a:t>
                      </a:r>
                    </a:p>
                  </a:txBody>
                  <a:tcPr anchor="ctr"/>
                </a:tc>
                <a:tc>
                  <a:txBody>
                    <a:bodyPr/>
                    <a:lstStyle/>
                    <a:p>
                      <a:pPr algn="ctr">
                        <a:buNone/>
                      </a:pPr>
                      <a:r>
                        <a:rPr lang="en-IN" sz="1400" b="1" dirty="0"/>
                        <a:t>1.43</a:t>
                      </a:r>
                      <a:r>
                        <a:rPr lang="en-IN" sz="1400" b="0" dirty="0"/>
                        <a:t> </a:t>
                      </a:r>
                      <a:r>
                        <a:rPr lang="en-IN" sz="1400" b="1" dirty="0"/>
                        <a:t>MB</a:t>
                      </a:r>
                    </a:p>
                  </a:txBody>
                  <a:tcPr anchor="ctr"/>
                </a:tc>
                <a:tc>
                  <a:txBody>
                    <a:bodyPr/>
                    <a:lstStyle/>
                    <a:p>
                      <a:pPr algn="ctr">
                        <a:buNone/>
                      </a:pPr>
                      <a:r>
                        <a:rPr lang="en-IN" sz="1400" b="0"/>
                        <a:t>27.03 ms</a:t>
                      </a:r>
                    </a:p>
                  </a:txBody>
                  <a:tcPr anchor="ctr"/>
                </a:tc>
                <a:extLst>
                  <a:ext uri="{0D108BD9-81ED-4DB2-BD59-A6C34878D82A}">
                    <a16:rowId xmlns:a16="http://schemas.microsoft.com/office/drawing/2014/main" val="2188487179"/>
                  </a:ext>
                </a:extLst>
              </a:tr>
              <a:tr h="283633">
                <a:tc>
                  <a:txBody>
                    <a:bodyPr/>
                    <a:lstStyle/>
                    <a:p>
                      <a:pPr algn="ctr">
                        <a:buNone/>
                      </a:pPr>
                      <a:r>
                        <a:rPr lang="en-IN" sz="1400" b="1"/>
                        <a:t>GRS-BiLSTM</a:t>
                      </a:r>
                      <a:endParaRPr lang="en-IN" sz="1400"/>
                    </a:p>
                  </a:txBody>
                  <a:tcPr anchor="ctr"/>
                </a:tc>
                <a:tc>
                  <a:txBody>
                    <a:bodyPr/>
                    <a:lstStyle/>
                    <a:p>
                      <a:pPr algn="ctr">
                        <a:buNone/>
                      </a:pPr>
                      <a:r>
                        <a:rPr lang="en-US" sz="1400" dirty="0"/>
                        <a:t>0.1671</a:t>
                      </a:r>
                      <a:endParaRPr lang="en-IN" sz="1400" dirty="0"/>
                    </a:p>
                  </a:txBody>
                  <a:tcPr anchor="ctr"/>
                </a:tc>
                <a:tc>
                  <a:txBody>
                    <a:bodyPr/>
                    <a:lstStyle/>
                    <a:p>
                      <a:pPr algn="ctr">
                        <a:buNone/>
                      </a:pPr>
                      <a:r>
                        <a:rPr lang="en-IN" sz="1400" b="0" dirty="0"/>
                        <a:t>93.33%</a:t>
                      </a:r>
                    </a:p>
                  </a:txBody>
                  <a:tcPr anchor="ctr"/>
                </a:tc>
                <a:tc>
                  <a:txBody>
                    <a:bodyPr/>
                    <a:lstStyle/>
                    <a:p>
                      <a:pPr algn="ctr">
                        <a:buNone/>
                      </a:pPr>
                      <a:r>
                        <a:rPr lang="en-IN" sz="1400" dirty="0"/>
                        <a:t>0.9400</a:t>
                      </a:r>
                    </a:p>
                  </a:txBody>
                  <a:tcPr anchor="ctr"/>
                </a:tc>
                <a:tc>
                  <a:txBody>
                    <a:bodyPr/>
                    <a:lstStyle/>
                    <a:p>
                      <a:pPr algn="ctr">
                        <a:buNone/>
                      </a:pPr>
                      <a:r>
                        <a:rPr lang="en-IN" sz="1400" dirty="0"/>
                        <a:t>0.9300</a:t>
                      </a:r>
                    </a:p>
                  </a:txBody>
                  <a:tcPr anchor="ctr"/>
                </a:tc>
                <a:tc>
                  <a:txBody>
                    <a:bodyPr/>
                    <a:lstStyle/>
                    <a:p>
                      <a:pPr algn="ctr">
                        <a:buNone/>
                      </a:pPr>
                      <a:r>
                        <a:rPr lang="en-IN" sz="1400" dirty="0"/>
                        <a:t>0.9300</a:t>
                      </a:r>
                    </a:p>
                  </a:txBody>
                  <a:tcPr anchor="ctr"/>
                </a:tc>
                <a:tc>
                  <a:txBody>
                    <a:bodyPr/>
                    <a:lstStyle/>
                    <a:p>
                      <a:pPr algn="ctr">
                        <a:buNone/>
                      </a:pPr>
                      <a:r>
                        <a:rPr lang="en-IN" sz="1400" b="0"/>
                        <a:t>22.56 MB</a:t>
                      </a:r>
                    </a:p>
                  </a:txBody>
                  <a:tcPr anchor="ctr"/>
                </a:tc>
                <a:tc>
                  <a:txBody>
                    <a:bodyPr/>
                    <a:lstStyle/>
                    <a:p>
                      <a:pPr algn="ctr">
                        <a:buNone/>
                      </a:pPr>
                      <a:r>
                        <a:rPr lang="en-IN" sz="1400" b="0"/>
                        <a:t>31.86 ms</a:t>
                      </a:r>
                    </a:p>
                  </a:txBody>
                  <a:tcPr anchor="ctr"/>
                </a:tc>
                <a:extLst>
                  <a:ext uri="{0D108BD9-81ED-4DB2-BD59-A6C34878D82A}">
                    <a16:rowId xmlns:a16="http://schemas.microsoft.com/office/drawing/2014/main" val="4177892918"/>
                  </a:ext>
                </a:extLst>
              </a:tr>
              <a:tr h="482177">
                <a:tc>
                  <a:txBody>
                    <a:bodyPr/>
                    <a:lstStyle/>
                    <a:p>
                      <a:pPr algn="ctr">
                        <a:buNone/>
                      </a:pPr>
                      <a:r>
                        <a:rPr lang="en-IN" sz="1400" b="1"/>
                        <a:t>MS-GRS-BiLSTM</a:t>
                      </a:r>
                      <a:endParaRPr lang="en-IN" sz="1400"/>
                    </a:p>
                  </a:txBody>
                  <a:tcPr anchor="ctr"/>
                </a:tc>
                <a:tc>
                  <a:txBody>
                    <a:bodyPr/>
                    <a:lstStyle/>
                    <a:p>
                      <a:pPr algn="ctr">
                        <a:buNone/>
                      </a:pPr>
                      <a:r>
                        <a:rPr lang="en-US" sz="1400" b="1" dirty="0"/>
                        <a:t>0.0516</a:t>
                      </a:r>
                      <a:endParaRPr lang="en-IN" sz="1400" b="1" dirty="0"/>
                    </a:p>
                  </a:txBody>
                  <a:tcPr anchor="ctr"/>
                </a:tc>
                <a:tc>
                  <a:txBody>
                    <a:bodyPr/>
                    <a:lstStyle/>
                    <a:p>
                      <a:pPr algn="ctr">
                        <a:buNone/>
                      </a:pPr>
                      <a:r>
                        <a:rPr lang="en-IN" sz="1400" b="1" dirty="0"/>
                        <a:t>98.35%</a:t>
                      </a:r>
                      <a:endParaRPr lang="en-IN" sz="1400" dirty="0"/>
                    </a:p>
                  </a:txBody>
                  <a:tcPr anchor="ctr"/>
                </a:tc>
                <a:tc>
                  <a:txBody>
                    <a:bodyPr/>
                    <a:lstStyle/>
                    <a:p>
                      <a:pPr algn="ctr">
                        <a:buNone/>
                      </a:pPr>
                      <a:r>
                        <a:rPr lang="en-IN" sz="1400" b="1" dirty="0"/>
                        <a:t>0.9836</a:t>
                      </a:r>
                    </a:p>
                  </a:txBody>
                  <a:tcPr anchor="ctr"/>
                </a:tc>
                <a:tc>
                  <a:txBody>
                    <a:bodyPr/>
                    <a:lstStyle/>
                    <a:p>
                      <a:pPr algn="ctr">
                        <a:buNone/>
                      </a:pPr>
                      <a:r>
                        <a:rPr lang="en-IN" sz="1400" b="1" dirty="0"/>
                        <a:t>0.9833</a:t>
                      </a:r>
                    </a:p>
                  </a:txBody>
                  <a:tcPr anchor="ctr"/>
                </a:tc>
                <a:tc>
                  <a:txBody>
                    <a:bodyPr/>
                    <a:lstStyle/>
                    <a:p>
                      <a:pPr algn="ctr">
                        <a:buNone/>
                      </a:pPr>
                      <a:r>
                        <a:rPr lang="en-IN" sz="1400" b="1" dirty="0"/>
                        <a:t>0.9834</a:t>
                      </a:r>
                    </a:p>
                  </a:txBody>
                  <a:tcPr anchor="ctr"/>
                </a:tc>
                <a:tc>
                  <a:txBody>
                    <a:bodyPr/>
                    <a:lstStyle/>
                    <a:p>
                      <a:pPr algn="ctr">
                        <a:buNone/>
                      </a:pPr>
                      <a:r>
                        <a:rPr lang="en-IN" sz="1400" b="0" dirty="0"/>
                        <a:t>6.82 MB</a:t>
                      </a:r>
                    </a:p>
                  </a:txBody>
                  <a:tcPr anchor="ctr"/>
                </a:tc>
                <a:tc>
                  <a:txBody>
                    <a:bodyPr/>
                    <a:lstStyle/>
                    <a:p>
                      <a:pPr algn="ctr">
                        <a:buNone/>
                      </a:pPr>
                      <a:r>
                        <a:rPr lang="en-IN" sz="1400" b="1" dirty="0"/>
                        <a:t>1.857 </a:t>
                      </a:r>
                      <a:r>
                        <a:rPr lang="en-IN" sz="1400" b="1" dirty="0" err="1"/>
                        <a:t>ms</a:t>
                      </a:r>
                      <a:endParaRPr lang="en-IN" sz="1400" b="1" dirty="0"/>
                    </a:p>
                  </a:txBody>
                  <a:tcPr anchor="ctr"/>
                </a:tc>
                <a:extLst>
                  <a:ext uri="{0D108BD9-81ED-4DB2-BD59-A6C34878D82A}">
                    <a16:rowId xmlns:a16="http://schemas.microsoft.com/office/drawing/2014/main" val="1384092186"/>
                  </a:ext>
                </a:extLst>
              </a:tr>
            </a:tbl>
          </a:graphicData>
        </a:graphic>
      </p:graphicFrame>
      <p:sp>
        <p:nvSpPr>
          <p:cNvPr id="8" name="TextBox 7">
            <a:extLst>
              <a:ext uri="{FF2B5EF4-FFF2-40B4-BE49-F238E27FC236}">
                <a16:creationId xmlns:a16="http://schemas.microsoft.com/office/drawing/2014/main" id="{5234FB94-0CED-B3FB-762C-63CA99FDF6F7}"/>
              </a:ext>
            </a:extLst>
          </p:cNvPr>
          <p:cNvSpPr txBox="1"/>
          <p:nvPr/>
        </p:nvSpPr>
        <p:spPr>
          <a:xfrm>
            <a:off x="306967" y="1050748"/>
            <a:ext cx="3807453" cy="369332"/>
          </a:xfrm>
          <a:prstGeom prst="rect">
            <a:avLst/>
          </a:prstGeom>
          <a:noFill/>
        </p:spPr>
        <p:txBody>
          <a:bodyPr wrap="none" rtlCol="0">
            <a:spAutoFit/>
          </a:bodyPr>
          <a:lstStyle/>
          <a:p>
            <a:r>
              <a:rPr lang="en-US" sz="1800" b="1" dirty="0">
                <a:latin typeface="Times New Roman" panose="02020603050405020304" pitchFamily="18" charset="0"/>
                <a:cs typeface="Times New Roman" panose="02020603050405020304" pitchFamily="18" charset="0"/>
              </a:rPr>
              <a:t>Skeletal Joint Dataset (My Dataset) :</a:t>
            </a:r>
            <a:endParaRPr lang="en-IN" sz="1800" b="1"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603DC70-93E7-8AE5-B906-7F8BCB4BAA83}"/>
              </a:ext>
            </a:extLst>
          </p:cNvPr>
          <p:cNvGraphicFramePr>
            <a:graphicFrameLocks noGrp="1"/>
          </p:cNvGraphicFramePr>
          <p:nvPr>
            <p:extLst>
              <p:ext uri="{D42A27DB-BD31-4B8C-83A1-F6EECF244321}">
                <p14:modId xmlns:p14="http://schemas.microsoft.com/office/powerpoint/2010/main" val="2968187073"/>
              </p:ext>
            </p:extLst>
          </p:nvPr>
        </p:nvGraphicFramePr>
        <p:xfrm>
          <a:off x="497445" y="4171092"/>
          <a:ext cx="11483880" cy="1950720"/>
        </p:xfrm>
        <a:graphic>
          <a:graphicData uri="http://schemas.openxmlformats.org/drawingml/2006/table">
            <a:tbl>
              <a:tblPr>
                <a:tableStyleId>{00A15C55-8517-42AA-B614-E9B94910E393}</a:tableStyleId>
              </a:tblPr>
              <a:tblGrid>
                <a:gridCol w="1435485">
                  <a:extLst>
                    <a:ext uri="{9D8B030D-6E8A-4147-A177-3AD203B41FA5}">
                      <a16:colId xmlns:a16="http://schemas.microsoft.com/office/drawing/2014/main" val="2800960220"/>
                    </a:ext>
                  </a:extLst>
                </a:gridCol>
                <a:gridCol w="1435485">
                  <a:extLst>
                    <a:ext uri="{9D8B030D-6E8A-4147-A177-3AD203B41FA5}">
                      <a16:colId xmlns:a16="http://schemas.microsoft.com/office/drawing/2014/main" val="3028676109"/>
                    </a:ext>
                  </a:extLst>
                </a:gridCol>
                <a:gridCol w="1435485">
                  <a:extLst>
                    <a:ext uri="{9D8B030D-6E8A-4147-A177-3AD203B41FA5}">
                      <a16:colId xmlns:a16="http://schemas.microsoft.com/office/drawing/2014/main" val="2767206013"/>
                    </a:ext>
                  </a:extLst>
                </a:gridCol>
                <a:gridCol w="1475876">
                  <a:extLst>
                    <a:ext uri="{9D8B030D-6E8A-4147-A177-3AD203B41FA5}">
                      <a16:colId xmlns:a16="http://schemas.microsoft.com/office/drawing/2014/main" val="2020800586"/>
                    </a:ext>
                  </a:extLst>
                </a:gridCol>
                <a:gridCol w="1395094">
                  <a:extLst>
                    <a:ext uri="{9D8B030D-6E8A-4147-A177-3AD203B41FA5}">
                      <a16:colId xmlns:a16="http://schemas.microsoft.com/office/drawing/2014/main" val="2914819183"/>
                    </a:ext>
                  </a:extLst>
                </a:gridCol>
                <a:gridCol w="1435485">
                  <a:extLst>
                    <a:ext uri="{9D8B030D-6E8A-4147-A177-3AD203B41FA5}">
                      <a16:colId xmlns:a16="http://schemas.microsoft.com/office/drawing/2014/main" val="2799420857"/>
                    </a:ext>
                  </a:extLst>
                </a:gridCol>
                <a:gridCol w="1163198">
                  <a:extLst>
                    <a:ext uri="{9D8B030D-6E8A-4147-A177-3AD203B41FA5}">
                      <a16:colId xmlns:a16="http://schemas.microsoft.com/office/drawing/2014/main" val="2097584480"/>
                    </a:ext>
                  </a:extLst>
                </a:gridCol>
                <a:gridCol w="1707772">
                  <a:extLst>
                    <a:ext uri="{9D8B030D-6E8A-4147-A177-3AD203B41FA5}">
                      <a16:colId xmlns:a16="http://schemas.microsoft.com/office/drawing/2014/main" val="4277978900"/>
                    </a:ext>
                  </a:extLst>
                </a:gridCol>
              </a:tblGrid>
              <a:tr h="0">
                <a:tc>
                  <a:txBody>
                    <a:bodyPr/>
                    <a:lstStyle/>
                    <a:p>
                      <a:pPr algn="ctr">
                        <a:buNone/>
                      </a:pPr>
                      <a:r>
                        <a:rPr lang="en-IN" b="1" dirty="0"/>
                        <a:t>Model</a:t>
                      </a:r>
                    </a:p>
                  </a:txBody>
                  <a:tcPr anchor="ctr"/>
                </a:tc>
                <a:tc>
                  <a:txBody>
                    <a:bodyPr/>
                    <a:lstStyle/>
                    <a:p>
                      <a:pPr algn="ctr">
                        <a:buNone/>
                      </a:pPr>
                      <a:r>
                        <a:rPr lang="en-IN" b="1"/>
                        <a:t>Test Loss</a:t>
                      </a:r>
                    </a:p>
                  </a:txBody>
                  <a:tcPr anchor="ctr"/>
                </a:tc>
                <a:tc>
                  <a:txBody>
                    <a:bodyPr/>
                    <a:lstStyle/>
                    <a:p>
                      <a:pPr algn="ctr">
                        <a:buNone/>
                      </a:pPr>
                      <a:r>
                        <a:rPr lang="en-IN" b="1"/>
                        <a:t>Test Accuracy</a:t>
                      </a:r>
                    </a:p>
                  </a:txBody>
                  <a:tcPr anchor="ctr"/>
                </a:tc>
                <a:tc>
                  <a:txBody>
                    <a:bodyPr/>
                    <a:lstStyle/>
                    <a:p>
                      <a:pPr algn="ctr">
                        <a:buNone/>
                      </a:pPr>
                      <a:r>
                        <a:rPr lang="en-IN" b="1" dirty="0"/>
                        <a:t>Precision</a:t>
                      </a:r>
                    </a:p>
                  </a:txBody>
                  <a:tcPr anchor="ctr"/>
                </a:tc>
                <a:tc>
                  <a:txBody>
                    <a:bodyPr/>
                    <a:lstStyle/>
                    <a:p>
                      <a:pPr algn="ctr">
                        <a:buNone/>
                      </a:pPr>
                      <a:r>
                        <a:rPr lang="en-IN" b="1" dirty="0"/>
                        <a:t>Recall</a:t>
                      </a:r>
                    </a:p>
                  </a:txBody>
                  <a:tcPr anchor="ctr"/>
                </a:tc>
                <a:tc>
                  <a:txBody>
                    <a:bodyPr/>
                    <a:lstStyle/>
                    <a:p>
                      <a:pPr algn="ctr">
                        <a:buNone/>
                      </a:pPr>
                      <a:r>
                        <a:rPr lang="en-IN" b="1" dirty="0"/>
                        <a:t>F1-Score</a:t>
                      </a:r>
                    </a:p>
                  </a:txBody>
                  <a:tcPr anchor="ctr"/>
                </a:tc>
                <a:tc>
                  <a:txBody>
                    <a:bodyPr/>
                    <a:lstStyle/>
                    <a:p>
                      <a:pPr algn="ctr">
                        <a:buNone/>
                      </a:pPr>
                      <a:r>
                        <a:rPr lang="en-IN" b="1"/>
                        <a:t>Model Size</a:t>
                      </a:r>
                    </a:p>
                  </a:txBody>
                  <a:tcPr anchor="ctr"/>
                </a:tc>
                <a:tc>
                  <a:txBody>
                    <a:bodyPr/>
                    <a:lstStyle/>
                    <a:p>
                      <a:pPr algn="ctr">
                        <a:buNone/>
                      </a:pPr>
                      <a:r>
                        <a:rPr lang="en-IN" b="1" dirty="0"/>
                        <a:t>Inference Time per Sample</a:t>
                      </a:r>
                    </a:p>
                  </a:txBody>
                  <a:tcPr anchor="ctr"/>
                </a:tc>
                <a:extLst>
                  <a:ext uri="{0D108BD9-81ED-4DB2-BD59-A6C34878D82A}">
                    <a16:rowId xmlns:a16="http://schemas.microsoft.com/office/drawing/2014/main" val="1938012026"/>
                  </a:ext>
                </a:extLst>
              </a:tr>
              <a:tr h="0">
                <a:tc>
                  <a:txBody>
                    <a:bodyPr/>
                    <a:lstStyle/>
                    <a:p>
                      <a:pPr algn="ctr">
                        <a:buNone/>
                      </a:pPr>
                      <a:r>
                        <a:rPr lang="en-IN" b="1"/>
                        <a:t>LSTM</a:t>
                      </a:r>
                      <a:endParaRPr lang="en-IN"/>
                    </a:p>
                  </a:txBody>
                  <a:tcPr anchor="ctr"/>
                </a:tc>
                <a:tc>
                  <a:txBody>
                    <a:bodyPr/>
                    <a:lstStyle/>
                    <a:p>
                      <a:pPr algn="ctr">
                        <a:buNone/>
                      </a:pPr>
                      <a:r>
                        <a:rPr lang="en-IN"/>
                        <a:t>0.9281</a:t>
                      </a:r>
                    </a:p>
                  </a:txBody>
                  <a:tcPr anchor="ctr"/>
                </a:tc>
                <a:tc>
                  <a:txBody>
                    <a:bodyPr/>
                    <a:lstStyle/>
                    <a:p>
                      <a:pPr algn="ctr">
                        <a:buNone/>
                      </a:pPr>
                      <a:r>
                        <a:rPr lang="en-IN" b="0" dirty="0"/>
                        <a:t>77.78%</a:t>
                      </a:r>
                    </a:p>
                  </a:txBody>
                  <a:tcPr anchor="ctr"/>
                </a:tc>
                <a:tc>
                  <a:txBody>
                    <a:bodyPr/>
                    <a:lstStyle/>
                    <a:p>
                      <a:pPr algn="ctr">
                        <a:buNone/>
                      </a:pPr>
                      <a:r>
                        <a:rPr lang="en-IN"/>
                        <a:t>0.7792</a:t>
                      </a:r>
                    </a:p>
                  </a:txBody>
                  <a:tcPr anchor="ctr"/>
                </a:tc>
                <a:tc>
                  <a:txBody>
                    <a:bodyPr/>
                    <a:lstStyle/>
                    <a:p>
                      <a:pPr algn="ctr">
                        <a:buNone/>
                      </a:pPr>
                      <a:r>
                        <a:rPr lang="en-IN"/>
                        <a:t>0.7750</a:t>
                      </a:r>
                    </a:p>
                  </a:txBody>
                  <a:tcPr anchor="ctr"/>
                </a:tc>
                <a:tc>
                  <a:txBody>
                    <a:bodyPr/>
                    <a:lstStyle/>
                    <a:p>
                      <a:pPr algn="ctr">
                        <a:buNone/>
                      </a:pPr>
                      <a:r>
                        <a:rPr lang="en-IN"/>
                        <a:t>0.7587</a:t>
                      </a:r>
                    </a:p>
                  </a:txBody>
                  <a:tcPr anchor="ctr"/>
                </a:tc>
                <a:tc>
                  <a:txBody>
                    <a:bodyPr/>
                    <a:lstStyle/>
                    <a:p>
                      <a:pPr algn="ctr">
                        <a:buNone/>
                      </a:pPr>
                      <a:r>
                        <a:rPr lang="en-IN" b="1" dirty="0"/>
                        <a:t>0.04</a:t>
                      </a:r>
                      <a:r>
                        <a:rPr lang="en-IN" b="0" dirty="0"/>
                        <a:t> </a:t>
                      </a:r>
                      <a:r>
                        <a:rPr lang="en-IN" b="1" dirty="0"/>
                        <a:t>MB</a:t>
                      </a:r>
                    </a:p>
                  </a:txBody>
                  <a:tcPr anchor="ctr"/>
                </a:tc>
                <a:tc>
                  <a:txBody>
                    <a:bodyPr/>
                    <a:lstStyle/>
                    <a:p>
                      <a:pPr algn="ctr">
                        <a:buNone/>
                      </a:pPr>
                      <a:r>
                        <a:rPr lang="en-IN" b="1" dirty="0"/>
                        <a:t>0.015 </a:t>
                      </a:r>
                      <a:r>
                        <a:rPr lang="en-IN" b="1" dirty="0" err="1"/>
                        <a:t>ms</a:t>
                      </a:r>
                      <a:endParaRPr lang="en-IN" b="1" dirty="0"/>
                    </a:p>
                  </a:txBody>
                  <a:tcPr anchor="ctr"/>
                </a:tc>
                <a:extLst>
                  <a:ext uri="{0D108BD9-81ED-4DB2-BD59-A6C34878D82A}">
                    <a16:rowId xmlns:a16="http://schemas.microsoft.com/office/drawing/2014/main" val="3362802690"/>
                  </a:ext>
                </a:extLst>
              </a:tr>
              <a:tr h="0">
                <a:tc>
                  <a:txBody>
                    <a:bodyPr/>
                    <a:lstStyle/>
                    <a:p>
                      <a:pPr algn="ctr">
                        <a:buNone/>
                      </a:pPr>
                      <a:r>
                        <a:rPr lang="en-IN" b="1"/>
                        <a:t>BiLSTM</a:t>
                      </a:r>
                      <a:endParaRPr lang="en-IN"/>
                    </a:p>
                  </a:txBody>
                  <a:tcPr anchor="ctr"/>
                </a:tc>
                <a:tc>
                  <a:txBody>
                    <a:bodyPr/>
                    <a:lstStyle/>
                    <a:p>
                      <a:pPr algn="ctr">
                        <a:buNone/>
                      </a:pPr>
                      <a:r>
                        <a:rPr lang="en-IN" dirty="0"/>
                        <a:t>0.5001</a:t>
                      </a:r>
                    </a:p>
                  </a:txBody>
                  <a:tcPr anchor="ctr"/>
                </a:tc>
                <a:tc>
                  <a:txBody>
                    <a:bodyPr/>
                    <a:lstStyle/>
                    <a:p>
                      <a:pPr algn="ctr">
                        <a:buNone/>
                      </a:pPr>
                      <a:r>
                        <a:rPr lang="en-IN" b="0" dirty="0"/>
                        <a:t>87.65%</a:t>
                      </a:r>
                    </a:p>
                  </a:txBody>
                  <a:tcPr anchor="ctr"/>
                </a:tc>
                <a:tc>
                  <a:txBody>
                    <a:bodyPr/>
                    <a:lstStyle/>
                    <a:p>
                      <a:pPr algn="ctr">
                        <a:buNone/>
                      </a:pPr>
                      <a:r>
                        <a:rPr lang="en-IN" dirty="0"/>
                        <a:t>0.8896</a:t>
                      </a:r>
                    </a:p>
                  </a:txBody>
                  <a:tcPr anchor="ctr"/>
                </a:tc>
                <a:tc>
                  <a:txBody>
                    <a:bodyPr/>
                    <a:lstStyle/>
                    <a:p>
                      <a:pPr algn="ctr">
                        <a:buNone/>
                      </a:pPr>
                      <a:r>
                        <a:rPr lang="en-IN" dirty="0"/>
                        <a:t>0.8750</a:t>
                      </a:r>
                    </a:p>
                  </a:txBody>
                  <a:tcPr anchor="ctr"/>
                </a:tc>
                <a:tc>
                  <a:txBody>
                    <a:bodyPr/>
                    <a:lstStyle/>
                    <a:p>
                      <a:pPr algn="ctr">
                        <a:buNone/>
                      </a:pPr>
                      <a:r>
                        <a:rPr lang="en-IN" dirty="0"/>
                        <a:t>0.8740</a:t>
                      </a:r>
                    </a:p>
                  </a:txBody>
                  <a:tcPr anchor="ctr"/>
                </a:tc>
                <a:tc>
                  <a:txBody>
                    <a:bodyPr/>
                    <a:lstStyle/>
                    <a:p>
                      <a:pPr algn="ctr">
                        <a:buNone/>
                      </a:pPr>
                      <a:r>
                        <a:rPr lang="en-IN" b="0" dirty="0"/>
                        <a:t>0.09 MB</a:t>
                      </a:r>
                    </a:p>
                  </a:txBody>
                  <a:tcPr anchor="ctr"/>
                </a:tc>
                <a:tc>
                  <a:txBody>
                    <a:bodyPr/>
                    <a:lstStyle/>
                    <a:p>
                      <a:pPr algn="ctr">
                        <a:buNone/>
                      </a:pPr>
                      <a:r>
                        <a:rPr lang="en-IN" b="0" dirty="0"/>
                        <a:t>0.077 </a:t>
                      </a:r>
                      <a:r>
                        <a:rPr lang="en-IN" b="0" dirty="0" err="1"/>
                        <a:t>ms</a:t>
                      </a:r>
                      <a:endParaRPr lang="en-IN" b="0" dirty="0"/>
                    </a:p>
                  </a:txBody>
                  <a:tcPr anchor="ctr"/>
                </a:tc>
                <a:extLst>
                  <a:ext uri="{0D108BD9-81ED-4DB2-BD59-A6C34878D82A}">
                    <a16:rowId xmlns:a16="http://schemas.microsoft.com/office/drawing/2014/main" val="2293623893"/>
                  </a:ext>
                </a:extLst>
              </a:tr>
              <a:tr h="0">
                <a:tc>
                  <a:txBody>
                    <a:bodyPr/>
                    <a:lstStyle/>
                    <a:p>
                      <a:pPr algn="ctr">
                        <a:buNone/>
                      </a:pPr>
                      <a:r>
                        <a:rPr lang="en-IN" b="1"/>
                        <a:t>GRS-BiLSTM</a:t>
                      </a:r>
                      <a:endParaRPr lang="en-IN"/>
                    </a:p>
                  </a:txBody>
                  <a:tcPr anchor="ctr"/>
                </a:tc>
                <a:tc>
                  <a:txBody>
                    <a:bodyPr/>
                    <a:lstStyle/>
                    <a:p>
                      <a:pPr algn="ctr">
                        <a:buNone/>
                      </a:pPr>
                      <a:r>
                        <a:rPr lang="en-IN"/>
                        <a:t>0.3790</a:t>
                      </a:r>
                    </a:p>
                  </a:txBody>
                  <a:tcPr anchor="ctr"/>
                </a:tc>
                <a:tc>
                  <a:txBody>
                    <a:bodyPr/>
                    <a:lstStyle/>
                    <a:p>
                      <a:pPr algn="ctr">
                        <a:buNone/>
                      </a:pPr>
                      <a:r>
                        <a:rPr lang="en-IN" b="0" dirty="0"/>
                        <a:t>92.59%</a:t>
                      </a:r>
                    </a:p>
                  </a:txBody>
                  <a:tcPr anchor="ctr"/>
                </a:tc>
                <a:tc>
                  <a:txBody>
                    <a:bodyPr/>
                    <a:lstStyle/>
                    <a:p>
                      <a:pPr algn="ctr">
                        <a:buNone/>
                      </a:pPr>
                      <a:r>
                        <a:rPr lang="en-IN"/>
                        <a:t>0.9697</a:t>
                      </a:r>
                    </a:p>
                  </a:txBody>
                  <a:tcPr anchor="ctr"/>
                </a:tc>
                <a:tc>
                  <a:txBody>
                    <a:bodyPr/>
                    <a:lstStyle/>
                    <a:p>
                      <a:pPr algn="ctr">
                        <a:buNone/>
                      </a:pPr>
                      <a:r>
                        <a:rPr lang="en-IN"/>
                        <a:t>0.9222</a:t>
                      </a:r>
                    </a:p>
                  </a:txBody>
                  <a:tcPr anchor="ctr"/>
                </a:tc>
                <a:tc>
                  <a:txBody>
                    <a:bodyPr/>
                    <a:lstStyle/>
                    <a:p>
                      <a:pPr algn="ctr">
                        <a:buNone/>
                      </a:pPr>
                      <a:r>
                        <a:rPr lang="en-IN"/>
                        <a:t>0.9240</a:t>
                      </a:r>
                    </a:p>
                  </a:txBody>
                  <a:tcPr anchor="ctr"/>
                </a:tc>
                <a:tc>
                  <a:txBody>
                    <a:bodyPr/>
                    <a:lstStyle/>
                    <a:p>
                      <a:pPr algn="ctr">
                        <a:buNone/>
                      </a:pPr>
                      <a:r>
                        <a:rPr lang="en-IN" b="0"/>
                        <a:t>0.29 MB</a:t>
                      </a:r>
                    </a:p>
                  </a:txBody>
                  <a:tcPr anchor="ctr"/>
                </a:tc>
                <a:tc>
                  <a:txBody>
                    <a:bodyPr/>
                    <a:lstStyle/>
                    <a:p>
                      <a:pPr algn="ctr">
                        <a:buNone/>
                      </a:pPr>
                      <a:r>
                        <a:rPr lang="en-IN" b="0"/>
                        <a:t>0.037 ms</a:t>
                      </a:r>
                    </a:p>
                  </a:txBody>
                  <a:tcPr anchor="ctr"/>
                </a:tc>
                <a:extLst>
                  <a:ext uri="{0D108BD9-81ED-4DB2-BD59-A6C34878D82A}">
                    <a16:rowId xmlns:a16="http://schemas.microsoft.com/office/drawing/2014/main" val="2916494980"/>
                  </a:ext>
                </a:extLst>
              </a:tr>
              <a:tr h="0">
                <a:tc>
                  <a:txBody>
                    <a:bodyPr/>
                    <a:lstStyle/>
                    <a:p>
                      <a:pPr algn="ctr">
                        <a:buNone/>
                      </a:pPr>
                      <a:r>
                        <a:rPr lang="en-IN" b="1" dirty="0"/>
                        <a:t>MS-GRS-</a:t>
                      </a:r>
                      <a:r>
                        <a:rPr lang="en-IN" b="1" dirty="0" err="1"/>
                        <a:t>BiLSTM</a:t>
                      </a:r>
                      <a:endParaRPr lang="en-IN" dirty="0"/>
                    </a:p>
                  </a:txBody>
                  <a:tcPr anchor="ctr"/>
                </a:tc>
                <a:tc>
                  <a:txBody>
                    <a:bodyPr/>
                    <a:lstStyle/>
                    <a:p>
                      <a:pPr algn="ctr">
                        <a:buNone/>
                      </a:pPr>
                      <a:r>
                        <a:rPr lang="en-IN" b="1" dirty="0"/>
                        <a:t>0.0573</a:t>
                      </a:r>
                    </a:p>
                  </a:txBody>
                  <a:tcPr anchor="ctr"/>
                </a:tc>
                <a:tc>
                  <a:txBody>
                    <a:bodyPr/>
                    <a:lstStyle/>
                    <a:p>
                      <a:pPr algn="ctr">
                        <a:buNone/>
                      </a:pPr>
                      <a:r>
                        <a:rPr lang="en-IN" b="1" dirty="0"/>
                        <a:t>98.77%</a:t>
                      </a:r>
                    </a:p>
                  </a:txBody>
                  <a:tcPr anchor="ctr"/>
                </a:tc>
                <a:tc>
                  <a:txBody>
                    <a:bodyPr/>
                    <a:lstStyle/>
                    <a:p>
                      <a:pPr algn="ctr">
                        <a:buNone/>
                      </a:pPr>
                      <a:r>
                        <a:rPr lang="en-IN" b="1" dirty="0"/>
                        <a:t>0.9907</a:t>
                      </a:r>
                    </a:p>
                  </a:txBody>
                  <a:tcPr anchor="ctr"/>
                </a:tc>
                <a:tc>
                  <a:txBody>
                    <a:bodyPr/>
                    <a:lstStyle/>
                    <a:p>
                      <a:pPr algn="ctr">
                        <a:buNone/>
                      </a:pPr>
                      <a:r>
                        <a:rPr lang="en-IN" b="1" dirty="0"/>
                        <a:t>0.9861</a:t>
                      </a:r>
                    </a:p>
                  </a:txBody>
                  <a:tcPr anchor="ctr"/>
                </a:tc>
                <a:tc>
                  <a:txBody>
                    <a:bodyPr/>
                    <a:lstStyle/>
                    <a:p>
                      <a:pPr algn="ctr">
                        <a:buNone/>
                      </a:pPr>
                      <a:r>
                        <a:rPr lang="en-IN" b="1" dirty="0"/>
                        <a:t>0.9870</a:t>
                      </a:r>
                    </a:p>
                  </a:txBody>
                  <a:tcPr anchor="ctr"/>
                </a:tc>
                <a:tc>
                  <a:txBody>
                    <a:bodyPr/>
                    <a:lstStyle/>
                    <a:p>
                      <a:pPr algn="ctr">
                        <a:buNone/>
                      </a:pPr>
                      <a:r>
                        <a:rPr lang="en-IN" b="0" dirty="0"/>
                        <a:t>3.58 MB</a:t>
                      </a:r>
                    </a:p>
                  </a:txBody>
                  <a:tcPr anchor="ctr"/>
                </a:tc>
                <a:tc>
                  <a:txBody>
                    <a:bodyPr/>
                    <a:lstStyle/>
                    <a:p>
                      <a:pPr algn="ctr">
                        <a:buNone/>
                      </a:pPr>
                      <a:r>
                        <a:rPr lang="en-IN" b="0" dirty="0"/>
                        <a:t>0.020 </a:t>
                      </a:r>
                      <a:r>
                        <a:rPr lang="en-IN" b="0" dirty="0" err="1"/>
                        <a:t>ms</a:t>
                      </a:r>
                      <a:endParaRPr lang="en-IN" b="0" dirty="0"/>
                    </a:p>
                  </a:txBody>
                  <a:tcPr anchor="ctr"/>
                </a:tc>
                <a:extLst>
                  <a:ext uri="{0D108BD9-81ED-4DB2-BD59-A6C34878D82A}">
                    <a16:rowId xmlns:a16="http://schemas.microsoft.com/office/drawing/2014/main" val="1746726239"/>
                  </a:ext>
                </a:extLst>
              </a:tr>
            </a:tbl>
          </a:graphicData>
        </a:graphic>
      </p:graphicFrame>
      <p:sp>
        <p:nvSpPr>
          <p:cNvPr id="14" name="TextBox 13">
            <a:extLst>
              <a:ext uri="{FF2B5EF4-FFF2-40B4-BE49-F238E27FC236}">
                <a16:creationId xmlns:a16="http://schemas.microsoft.com/office/drawing/2014/main" id="{3699BA6E-1C5F-A572-6570-5FE09160E3E8}"/>
              </a:ext>
            </a:extLst>
          </p:cNvPr>
          <p:cNvSpPr txBox="1"/>
          <p:nvPr/>
        </p:nvSpPr>
        <p:spPr>
          <a:xfrm>
            <a:off x="306967" y="3696905"/>
            <a:ext cx="1717137" cy="369332"/>
          </a:xfrm>
          <a:prstGeom prst="rect">
            <a:avLst/>
          </a:prstGeom>
          <a:noFill/>
        </p:spPr>
        <p:txBody>
          <a:bodyPr wrap="none" rtlCol="0">
            <a:spAutoFit/>
          </a:bodyPr>
          <a:lstStyle/>
          <a:p>
            <a:r>
              <a:rPr lang="en-US" sz="1600" b="1" dirty="0">
                <a:latin typeface="Times New Roman" panose="02020603050405020304" pitchFamily="18" charset="0"/>
                <a:cs typeface="Times New Roman" panose="02020603050405020304" pitchFamily="18" charset="0"/>
              </a:rPr>
              <a:t>KARD</a:t>
            </a:r>
            <a:r>
              <a:rPr lang="en-US" sz="16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Dataset :</a:t>
            </a:r>
            <a:endParaRPr lang="en-IN" sz="1600" b="1" dirty="0">
              <a:latin typeface="Times New Roman" panose="02020603050405020304" pitchFamily="18" charset="0"/>
              <a:cs typeface="Times New Roman" panose="02020603050405020304" pitchFamily="18" charset="0"/>
            </a:endParaRPr>
          </a:p>
        </p:txBody>
      </p:sp>
      <p:sp>
        <p:nvSpPr>
          <p:cNvPr id="18" name="Slide Number Placeholder 17">
            <a:extLst>
              <a:ext uri="{FF2B5EF4-FFF2-40B4-BE49-F238E27FC236}">
                <a16:creationId xmlns:a16="http://schemas.microsoft.com/office/drawing/2014/main" id="{3FAD7C0F-8E65-AD11-D3DD-4DFBEE1773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29</a:t>
            </a:fld>
            <a:endParaRPr lang="en-IN"/>
          </a:p>
        </p:txBody>
      </p:sp>
    </p:spTree>
    <p:extLst>
      <p:ext uri="{BB962C8B-B14F-4D97-AF65-F5344CB8AC3E}">
        <p14:creationId xmlns:p14="http://schemas.microsoft.com/office/powerpoint/2010/main" val="24057400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oogle Shape;97;p14">
            <a:extLst>
              <a:ext uri="{FF2B5EF4-FFF2-40B4-BE49-F238E27FC236}">
                <a16:creationId xmlns:a16="http://schemas.microsoft.com/office/drawing/2014/main" id="{25FF7F8A-64B5-51D6-4C58-15A23F44B8EF}"/>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7" name="Rectangle: Rounded Corners 6">
            <a:extLst>
              <a:ext uri="{FF2B5EF4-FFF2-40B4-BE49-F238E27FC236}">
                <a16:creationId xmlns:a16="http://schemas.microsoft.com/office/drawing/2014/main" id="{2538CD03-95D1-B86E-7D07-6D1391B85AE9}"/>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Sample Dataset : (a) Custom Dataset  </a:t>
            </a:r>
          </a:p>
        </p:txBody>
      </p:sp>
      <p:pic>
        <p:nvPicPr>
          <p:cNvPr id="9" name="Picture 8">
            <a:extLst>
              <a:ext uri="{FF2B5EF4-FFF2-40B4-BE49-F238E27FC236}">
                <a16:creationId xmlns:a16="http://schemas.microsoft.com/office/drawing/2014/main" id="{1D84E2E6-098D-23B4-8E38-A506C4D2CF86}"/>
              </a:ext>
            </a:extLst>
          </p:cNvPr>
          <p:cNvPicPr>
            <a:picLocks noChangeAspect="1"/>
          </p:cNvPicPr>
          <p:nvPr/>
        </p:nvPicPr>
        <p:blipFill>
          <a:blip r:embed="rId3"/>
          <a:stretch>
            <a:fillRect/>
          </a:stretch>
        </p:blipFill>
        <p:spPr>
          <a:xfrm>
            <a:off x="0" y="1226816"/>
            <a:ext cx="12192000" cy="4404368"/>
          </a:xfrm>
          <a:prstGeom prst="rect">
            <a:avLst/>
          </a:prstGeom>
        </p:spPr>
      </p:pic>
      <p:sp>
        <p:nvSpPr>
          <p:cNvPr id="10" name="Slide Number Placeholder 9">
            <a:extLst>
              <a:ext uri="{FF2B5EF4-FFF2-40B4-BE49-F238E27FC236}">
                <a16:creationId xmlns:a16="http://schemas.microsoft.com/office/drawing/2014/main" id="{F14CAAE0-B291-F758-66DC-78529C8B0F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30</a:t>
            </a:fld>
            <a:endParaRPr lang="en-IN"/>
          </a:p>
        </p:txBody>
      </p:sp>
    </p:spTree>
    <p:extLst>
      <p:ext uri="{BB962C8B-B14F-4D97-AF65-F5344CB8AC3E}">
        <p14:creationId xmlns:p14="http://schemas.microsoft.com/office/powerpoint/2010/main" val="26882685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oogle Shape;97;p14">
            <a:extLst>
              <a:ext uri="{FF2B5EF4-FFF2-40B4-BE49-F238E27FC236}">
                <a16:creationId xmlns:a16="http://schemas.microsoft.com/office/drawing/2014/main" id="{77559E4F-84F9-AD0B-9619-E20797066A0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7" name="Rectangle: Rounded Corners 6">
            <a:extLst>
              <a:ext uri="{FF2B5EF4-FFF2-40B4-BE49-F238E27FC236}">
                <a16:creationId xmlns:a16="http://schemas.microsoft.com/office/drawing/2014/main" id="{F3951609-43B1-B8ED-E160-6268241FC280}"/>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Sample Dataset : (b) KARD Dataset  </a:t>
            </a:r>
          </a:p>
        </p:txBody>
      </p:sp>
      <p:pic>
        <p:nvPicPr>
          <p:cNvPr id="9" name="Picture 8">
            <a:extLst>
              <a:ext uri="{FF2B5EF4-FFF2-40B4-BE49-F238E27FC236}">
                <a16:creationId xmlns:a16="http://schemas.microsoft.com/office/drawing/2014/main" id="{1B915543-ADA5-C106-42E2-0C42A56706B4}"/>
              </a:ext>
            </a:extLst>
          </p:cNvPr>
          <p:cNvPicPr>
            <a:picLocks noChangeAspect="1"/>
          </p:cNvPicPr>
          <p:nvPr/>
        </p:nvPicPr>
        <p:blipFill>
          <a:blip r:embed="rId3"/>
          <a:stretch>
            <a:fillRect/>
          </a:stretch>
        </p:blipFill>
        <p:spPr>
          <a:xfrm>
            <a:off x="1900719" y="1005840"/>
            <a:ext cx="6744641" cy="5504927"/>
          </a:xfrm>
          <a:prstGeom prst="rect">
            <a:avLst/>
          </a:prstGeom>
        </p:spPr>
      </p:pic>
      <p:sp>
        <p:nvSpPr>
          <p:cNvPr id="12" name="Slide Number Placeholder 11">
            <a:extLst>
              <a:ext uri="{FF2B5EF4-FFF2-40B4-BE49-F238E27FC236}">
                <a16:creationId xmlns:a16="http://schemas.microsoft.com/office/drawing/2014/main" id="{95C4D172-17A8-BEB7-6F24-9CFBDD7C8F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31</a:t>
            </a:fld>
            <a:endParaRPr lang="en-IN"/>
          </a:p>
        </p:txBody>
      </p:sp>
    </p:spTree>
    <p:extLst>
      <p:ext uri="{BB962C8B-B14F-4D97-AF65-F5344CB8AC3E}">
        <p14:creationId xmlns:p14="http://schemas.microsoft.com/office/powerpoint/2010/main" val="25350690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AD4707-6CAE-A634-2F77-48529ABE0A82}"/>
              </a:ext>
            </a:extLst>
          </p:cNvPr>
          <p:cNvSpPr txBox="1"/>
          <p:nvPr/>
        </p:nvSpPr>
        <p:spPr>
          <a:xfrm>
            <a:off x="8773297" y="568411"/>
            <a:ext cx="184731" cy="307777"/>
          </a:xfrm>
          <a:prstGeom prst="rect">
            <a:avLst/>
          </a:prstGeom>
          <a:noFill/>
        </p:spPr>
        <p:txBody>
          <a:bodyPr wrap="none" rtlCol="0">
            <a:spAutoFit/>
          </a:bodyPr>
          <a:lstStyle/>
          <a:p>
            <a:endParaRPr lang="en-IN" dirty="0"/>
          </a:p>
        </p:txBody>
      </p:sp>
      <p:pic>
        <p:nvPicPr>
          <p:cNvPr id="6" name="Google Shape;97;p14">
            <a:extLst>
              <a:ext uri="{FF2B5EF4-FFF2-40B4-BE49-F238E27FC236}">
                <a16:creationId xmlns:a16="http://schemas.microsoft.com/office/drawing/2014/main" id="{A7102F04-7FA6-646E-9EB5-007A88C6EDCF}"/>
              </a:ext>
            </a:extLst>
          </p:cNvPr>
          <p:cNvPicPr preferRelativeResize="0"/>
          <p:nvPr/>
        </p:nvPicPr>
        <p:blipFill rotWithShape="1">
          <a:blip r:embed="rId4">
            <a:alphaModFix/>
          </a:blip>
          <a:srcRect/>
          <a:stretch/>
        </p:blipFill>
        <p:spPr>
          <a:xfrm>
            <a:off x="11013048" y="0"/>
            <a:ext cx="1178952" cy="1153972"/>
          </a:xfrm>
          <a:prstGeom prst="rect">
            <a:avLst/>
          </a:prstGeom>
          <a:noFill/>
          <a:ln>
            <a:noFill/>
          </a:ln>
        </p:spPr>
      </p:pic>
      <p:sp>
        <p:nvSpPr>
          <p:cNvPr id="4" name="Rectangle: Rounded Corners 3">
            <a:extLst>
              <a:ext uri="{FF2B5EF4-FFF2-40B4-BE49-F238E27FC236}">
                <a16:creationId xmlns:a16="http://schemas.microsoft.com/office/drawing/2014/main" id="{D3ADF678-75BE-F87C-17E9-4CC614DBC84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Prediction of Activity using Proposed Model</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18" name="prediction_skeleton_new">
            <a:hlinkClick r:id="" action="ppaction://media"/>
            <a:extLst>
              <a:ext uri="{FF2B5EF4-FFF2-40B4-BE49-F238E27FC236}">
                <a16:creationId xmlns:a16="http://schemas.microsoft.com/office/drawing/2014/main" id="{6063BC97-F863-D99A-72A9-FA6BDADA7BBD}"/>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968310" y="1047300"/>
            <a:ext cx="6989718" cy="5242289"/>
          </a:xfrm>
          <a:prstGeom prst="rect">
            <a:avLst/>
          </a:prstGeom>
        </p:spPr>
      </p:pic>
      <p:sp>
        <p:nvSpPr>
          <p:cNvPr id="9" name="TextBox 8">
            <a:extLst>
              <a:ext uri="{FF2B5EF4-FFF2-40B4-BE49-F238E27FC236}">
                <a16:creationId xmlns:a16="http://schemas.microsoft.com/office/drawing/2014/main" id="{D79B68EA-BE2D-2EBE-D783-5A4217DA6876}"/>
              </a:ext>
            </a:extLst>
          </p:cNvPr>
          <p:cNvSpPr txBox="1"/>
          <p:nvPr/>
        </p:nvSpPr>
        <p:spPr>
          <a:xfrm>
            <a:off x="4351532" y="5895306"/>
            <a:ext cx="2771644" cy="276999"/>
          </a:xfrm>
          <a:prstGeom prst="rect">
            <a:avLst/>
          </a:prstGeom>
          <a:noFill/>
        </p:spPr>
        <p:txBody>
          <a:bodyPr wrap="square">
            <a:spAutoFit/>
          </a:bodyPr>
          <a:lstStyle/>
          <a:p>
            <a:pPr algn="ctr"/>
            <a:r>
              <a:rPr lang="en-IN" sz="1200" dirty="0">
                <a:latin typeface="Times New Roman" panose="02020603050405020304" pitchFamily="18" charset="0"/>
                <a:cs typeface="Times New Roman" panose="02020603050405020304" pitchFamily="18" charset="0"/>
              </a:rPr>
              <a:t>Fig.12. Prediction on different activities</a:t>
            </a:r>
          </a:p>
        </p:txBody>
      </p:sp>
      <p:sp>
        <p:nvSpPr>
          <p:cNvPr id="10" name="Slide Number Placeholder 9">
            <a:extLst>
              <a:ext uri="{FF2B5EF4-FFF2-40B4-BE49-F238E27FC236}">
                <a16:creationId xmlns:a16="http://schemas.microsoft.com/office/drawing/2014/main" id="{47232F29-1617-F59F-2C6B-77370CCD761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32</a:t>
            </a:fld>
            <a:endParaRPr lang="en-IN"/>
          </a:p>
        </p:txBody>
      </p:sp>
    </p:spTree>
    <p:extLst>
      <p:ext uri="{BB962C8B-B14F-4D97-AF65-F5344CB8AC3E}">
        <p14:creationId xmlns:p14="http://schemas.microsoft.com/office/powerpoint/2010/main" val="3086978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7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8"/>
                </p:tgtEl>
              </p:cMediaNode>
            </p:video>
            <p:seq concurrent="1" nextAc="seek">
              <p:cTn id="8" restart="whenNotActive" fill="hold" evtFilter="cancelBubble" nodeType="interactiveSeq">
                <p:stCondLst>
                  <p:cond evt="onClick" delay="0">
                    <p:tgtEl>
                      <p:spTgt spid="1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8"/>
                                        </p:tgtEl>
                                      </p:cBhvr>
                                    </p:cmd>
                                  </p:childTnLst>
                                </p:cTn>
                              </p:par>
                            </p:childTnLst>
                          </p:cTn>
                        </p:par>
                      </p:childTnLst>
                    </p:cTn>
                  </p:par>
                </p:childTnLst>
              </p:cTn>
              <p:nextCondLst>
                <p:cond evt="onClick" delay="0">
                  <p:tgtEl>
                    <p:spTgt spid="18"/>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A1D43055-FDFB-FDAE-908E-20BB12BD1DBD}"/>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FC674249-1290-445D-3FCC-6DE4FCAA0F5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5" name="Rectangle 1">
            <a:extLst>
              <a:ext uri="{FF2B5EF4-FFF2-40B4-BE49-F238E27FC236}">
                <a16:creationId xmlns:a16="http://schemas.microsoft.com/office/drawing/2014/main" id="{3234A137-97AD-E7C7-9A22-5C006B0FFC3F}"/>
              </a:ext>
            </a:extLst>
          </p:cNvPr>
          <p:cNvSpPr>
            <a:spLocks noGrp="1" noChangeArrowheads="1"/>
          </p:cNvSpPr>
          <p:nvPr>
            <p:ph type="body" idx="1"/>
          </p:nvPr>
        </p:nvSpPr>
        <p:spPr bwMode="auto">
          <a:xfrm>
            <a:off x="472205" y="1337381"/>
            <a:ext cx="11247120" cy="4739759"/>
          </a:xfrm>
          <a:prstGeom prst="rect">
            <a:avLst/>
          </a:prstGeom>
          <a:solidFill>
            <a:schemeClr val="bg1"/>
          </a:solidFill>
          <a:ln>
            <a:solidFill>
              <a:schemeClr val="bg1"/>
            </a:solid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Gupta, S. Deep learning based human activity recognition (HAR) using wearable sensor data. Int. J. Inf. Manag. Data Insights 2021, 1, 100046.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Diraco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G.;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Rescio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G.;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Caroppo</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A.; Manni, A.; Leone, A. Human Action Recognition in Smart Living Services and Applications: Context Awareness, Data Availability, Personalization, and Privacy. Sensors 2023, 23, 6040.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Shuvo, M.M.H.; Ahmed, N.;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Nouduri</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K.; Palaniappan, K. A Hybrid Approach for Human Activity Recognition with Support Vector Machine and 1D Convolutional Neural Network. In Proceedings of the 2020 IEEE Applied Imagery Pattern Recognition Workshop (AIPR), Washington, DC, USA, 13–15 October 2020; pp. 1–5.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Rojanavasu</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P.;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Jantawong</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P.;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Jitpattanakul</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A.;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Mekruksavanich</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S. Improving Inertial Sensor-based Human Activity Recognition using Ensemble Deep Learning. In Proceedings of the 2023 Joint International Conference on Digital Arts, Media and Technology with ECTI Northern Section Conference on Electrical, Electronics, Computer and Telecommunications Engineering (ECTI DAMT &amp; NCON), Phuket, Thailand, 22–25 March 2023; pp. 488–492. </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Muhoza, A.C.;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Bergeret</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Brdys</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C.; Gary, F. Multi-Position Human Activity Recognition using a Multi-Modal Deep Convolutional Neural Network. In Proceedings of the 2023 8th International Conference on Smart and Sustainable Technologies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SpliTech</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Split, Croatia, 20–23 June 2023; pp. 1–5.</a:t>
            </a:r>
          </a:p>
          <a:p>
            <a:pPr marL="342900" marR="0" lvl="0" algn="l" defTabSz="914400" rtl="0" eaLnBrk="0" fontAlgn="base" latinLnBrk="0" hangingPunct="0">
              <a:lnSpc>
                <a:spcPct val="100000"/>
              </a:lnSpc>
              <a:spcBef>
                <a:spcPts val="600"/>
              </a:spcBef>
              <a:spcAft>
                <a:spcPct val="0"/>
              </a:spcAft>
              <a:buClrTx/>
              <a:buSzTx/>
              <a:buFont typeface="+mj-lt"/>
              <a:buAutoNum type="arabicPeriod"/>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Tao, S.; Goh, W.L.; Gao, Y. A Convolved Self-Attention Model for IMU-based Gait Detection and Human Activity Recognition. In Proceedings of the 2023 IEEE 5th International Conference on Artificial Intelligence Circuits and Systems (AICAS), Hangzhou, China, 11–13 June 2023; pp. 1–5.</a:t>
            </a:r>
          </a:p>
        </p:txBody>
      </p:sp>
      <p:sp>
        <p:nvSpPr>
          <p:cNvPr id="13" name="Slide Number Placeholder 12">
            <a:extLst>
              <a:ext uri="{FF2B5EF4-FFF2-40B4-BE49-F238E27FC236}">
                <a16:creationId xmlns:a16="http://schemas.microsoft.com/office/drawing/2014/main" id="{D858F202-4292-E933-263A-B74A950EB7B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33</a:t>
            </a:fld>
            <a:endParaRPr lang="en-I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7"/>
          <p:cNvSpPr txBox="1">
            <a:spLocks noGrp="1"/>
          </p:cNvSpPr>
          <p:nvPr>
            <p:ph type="body" idx="1"/>
          </p:nvPr>
        </p:nvSpPr>
        <p:spPr>
          <a:xfrm>
            <a:off x="838200" y="1070519"/>
            <a:ext cx="10515600" cy="4434170"/>
          </a:xfrm>
          <a:prstGeom prst="rect">
            <a:avLst/>
          </a:prstGeom>
          <a:noFill/>
          <a:ln>
            <a:noFill/>
          </a:ln>
        </p:spPr>
        <p:txBody>
          <a:bodyPr spcFirstLastPara="1" wrap="square" lIns="91425" tIns="45700" rIns="91425" bIns="45700" anchor="t" anchorCtr="0">
            <a:normAutofit/>
          </a:bodyPr>
          <a:lstStyle/>
          <a:p>
            <a:pPr marL="0" lvl="0" indent="0" algn="just" rtl="0">
              <a:lnSpc>
                <a:spcPct val="107000"/>
              </a:lnSpc>
              <a:spcBef>
                <a:spcPts val="0"/>
              </a:spcBef>
              <a:spcAft>
                <a:spcPts val="0"/>
              </a:spcAft>
              <a:buClr>
                <a:schemeClr val="dk1"/>
              </a:buClr>
              <a:buSzPct val="100000"/>
              <a:buNone/>
            </a:pPr>
            <a:endParaRPr sz="1800" dirty="0">
              <a:latin typeface="Calibri"/>
              <a:ea typeface="Calibri"/>
              <a:cs typeface="Calibri"/>
              <a:sym typeface="Calibri"/>
            </a:endParaRPr>
          </a:p>
          <a:p>
            <a:pPr marL="0" lvl="0" indent="0" algn="l" rtl="0">
              <a:lnSpc>
                <a:spcPct val="107000"/>
              </a:lnSpc>
              <a:spcBef>
                <a:spcPts val="1800"/>
              </a:spcBef>
              <a:spcAft>
                <a:spcPts val="0"/>
              </a:spcAft>
              <a:buClr>
                <a:schemeClr val="dk1"/>
              </a:buClr>
              <a:buSzPct val="1000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ct val="100000"/>
              <a:buNone/>
            </a:pPr>
            <a:endParaRPr sz="1800" dirty="0">
              <a:latin typeface="Calibri"/>
              <a:ea typeface="Calibri"/>
              <a:cs typeface="Calibri"/>
              <a:sym typeface="Calibri"/>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p:txBody>
      </p:sp>
      <p:sp>
        <p:nvSpPr>
          <p:cNvPr id="4" name="Rectangle: Rounded Corners 3">
            <a:extLst>
              <a:ext uri="{FF2B5EF4-FFF2-40B4-BE49-F238E27FC236}">
                <a16:creationId xmlns:a16="http://schemas.microsoft.com/office/drawing/2014/main" id="{CE5EBE0F-5D2C-E72C-2138-AD0354DE8BFA}"/>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D75A51C-A5BB-40F3-C159-3508CDD2452B}"/>
              </a:ext>
            </a:extLst>
          </p:cNvPr>
          <p:cNvSpPr txBox="1"/>
          <p:nvPr/>
        </p:nvSpPr>
        <p:spPr>
          <a:xfrm>
            <a:off x="837965" y="1153972"/>
            <a:ext cx="10515600" cy="4247317"/>
          </a:xfrm>
          <a:prstGeom prst="rect">
            <a:avLst/>
          </a:prstGeom>
          <a:noFill/>
        </p:spPr>
        <p:txBody>
          <a:bodyPr wrap="square">
            <a:spAutoFit/>
          </a:bodyPr>
          <a:lstStyle/>
          <a:p>
            <a:pPr marL="342900" indent="-342900" eaLnBrk="0" fontAlgn="base" hangingPunct="0">
              <a:spcBef>
                <a:spcPts val="600"/>
              </a:spcBef>
              <a:spcAft>
                <a:spcPct val="0"/>
              </a:spcAft>
              <a:buClrTx/>
              <a:buFont typeface="+mj-lt"/>
              <a:buAutoNum type="arabicPeriod" startAt="7"/>
            </a:pPr>
            <a:r>
              <a:rPr lang="en-US" altLang="en-US" sz="1600" dirty="0">
                <a:latin typeface="Times New Roman" panose="02020603050405020304" pitchFamily="18" charset="0"/>
                <a:cs typeface="Times New Roman" panose="02020603050405020304" pitchFamily="18" charset="0"/>
              </a:rPr>
              <a:t>Hassler, A.P.; </a:t>
            </a:r>
            <a:r>
              <a:rPr lang="en-US" altLang="en-US" sz="1600" dirty="0" err="1">
                <a:latin typeface="Times New Roman" panose="02020603050405020304" pitchFamily="18" charset="0"/>
                <a:cs typeface="Times New Roman" panose="02020603050405020304" pitchFamily="18" charset="0"/>
              </a:rPr>
              <a:t>Menasalvas</a:t>
            </a:r>
            <a:r>
              <a:rPr lang="en-US" altLang="en-US" sz="1600" dirty="0">
                <a:latin typeface="Times New Roman" panose="02020603050405020304" pitchFamily="18" charset="0"/>
                <a:cs typeface="Times New Roman" panose="02020603050405020304" pitchFamily="18" charset="0"/>
              </a:rPr>
              <a:t>, E.; García-García, F.J.; Rodríguez-Mañas, L.; Holzinger, A. Importance of medical data preprocessing in predictive modeling and risk factor discovery for the frailty syndrome. BMC Med. Inform. </a:t>
            </a:r>
            <a:r>
              <a:rPr lang="en-US" altLang="en-US" sz="1600" dirty="0" err="1">
                <a:latin typeface="Times New Roman" panose="02020603050405020304" pitchFamily="18" charset="0"/>
                <a:cs typeface="Times New Roman" panose="02020603050405020304" pitchFamily="18" charset="0"/>
              </a:rPr>
              <a:t>Decis</a:t>
            </a:r>
            <a:r>
              <a:rPr lang="en-US" altLang="en-US" sz="1600" dirty="0">
                <a:latin typeface="Times New Roman" panose="02020603050405020304" pitchFamily="18" charset="0"/>
                <a:cs typeface="Times New Roman" panose="02020603050405020304" pitchFamily="18" charset="0"/>
              </a:rPr>
              <a:t>. Mak. 2019, 19, 33. </a:t>
            </a:r>
            <a:endParaRPr lang="en-US" altLang="en-US" sz="1600" dirty="0">
              <a:solidFill>
                <a:schemeClr val="tx1"/>
              </a:solidFill>
              <a:latin typeface="Times New Roman" panose="02020603050405020304" pitchFamily="18" charset="0"/>
              <a:cs typeface="Times New Roman" panose="02020603050405020304" pitchFamily="18" charset="0"/>
            </a:endParaRP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Xu, S.; Zhang, L.; Huang, W.; Wu, H.; Song, A. Deformable convolutional networks for multimodal human activity recognition using wearable sensors. IEEE Trans. </a:t>
            </a:r>
            <a:r>
              <a:rPr lang="en-US" altLang="en-US" sz="1600" dirty="0" err="1">
                <a:solidFill>
                  <a:schemeClr val="tx1"/>
                </a:solidFill>
                <a:latin typeface="Times New Roman" panose="02020603050405020304" pitchFamily="18" charset="0"/>
                <a:cs typeface="Times New Roman" panose="02020603050405020304" pitchFamily="18" charset="0"/>
              </a:rPr>
              <a:t>Instrum</a:t>
            </a:r>
            <a:r>
              <a:rPr lang="en-US" altLang="en-US" sz="1600" dirty="0">
                <a:solidFill>
                  <a:schemeClr val="tx1"/>
                </a:solidFill>
                <a:latin typeface="Times New Roman" panose="02020603050405020304" pitchFamily="18" charset="0"/>
                <a:cs typeface="Times New Roman" panose="02020603050405020304" pitchFamily="18" charset="0"/>
              </a:rPr>
              <a:t>. Meas. 2022, 71, 2505414.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Beddiar, D.R.; Nini, B.; </a:t>
            </a:r>
            <a:r>
              <a:rPr lang="en-US" altLang="en-US" sz="1600" dirty="0" err="1">
                <a:solidFill>
                  <a:schemeClr val="tx1"/>
                </a:solidFill>
                <a:latin typeface="Times New Roman" panose="02020603050405020304" pitchFamily="18" charset="0"/>
                <a:cs typeface="Times New Roman" panose="02020603050405020304" pitchFamily="18" charset="0"/>
              </a:rPr>
              <a:t>Sabokrou</a:t>
            </a:r>
            <a:r>
              <a:rPr lang="en-US" altLang="en-US" sz="1600" dirty="0">
                <a:solidFill>
                  <a:schemeClr val="tx1"/>
                </a:solidFill>
                <a:latin typeface="Times New Roman" panose="02020603050405020304" pitchFamily="18" charset="0"/>
                <a:cs typeface="Times New Roman" panose="02020603050405020304" pitchFamily="18" charset="0"/>
              </a:rPr>
              <a:t>, M.; Hadid, A. Vision-based human activity recognition: A survey. </a:t>
            </a:r>
            <a:r>
              <a:rPr lang="en-US" altLang="en-US" sz="1600" dirty="0" err="1">
                <a:solidFill>
                  <a:schemeClr val="tx1"/>
                </a:solidFill>
                <a:latin typeface="Times New Roman" panose="02020603050405020304" pitchFamily="18" charset="0"/>
                <a:cs typeface="Times New Roman" panose="02020603050405020304" pitchFamily="18" charset="0"/>
              </a:rPr>
              <a:t>Multimed</a:t>
            </a:r>
            <a:r>
              <a:rPr lang="en-US" altLang="en-US" sz="1600" dirty="0">
                <a:solidFill>
                  <a:schemeClr val="tx1"/>
                </a:solidFill>
                <a:latin typeface="Times New Roman" panose="02020603050405020304" pitchFamily="18" charset="0"/>
                <a:cs typeface="Times New Roman" panose="02020603050405020304" pitchFamily="18" charset="0"/>
              </a:rPr>
              <a:t>. Tools Appl. 2020, 79, 30509–30555.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Lara, O.D.; Labrador, M.A. A survey on human activity recognition using wearable sensors. IEEE Commun. </a:t>
            </a:r>
            <a:r>
              <a:rPr lang="en-US" altLang="en-US" sz="1600" dirty="0" err="1">
                <a:solidFill>
                  <a:schemeClr val="tx1"/>
                </a:solidFill>
                <a:latin typeface="Times New Roman" panose="02020603050405020304" pitchFamily="18" charset="0"/>
                <a:cs typeface="Times New Roman" panose="02020603050405020304" pitchFamily="18" charset="0"/>
              </a:rPr>
              <a:t>Surv</a:t>
            </a:r>
            <a:r>
              <a:rPr lang="en-US" altLang="en-US" sz="1600" dirty="0">
                <a:solidFill>
                  <a:schemeClr val="tx1"/>
                </a:solidFill>
                <a:latin typeface="Times New Roman" panose="02020603050405020304" pitchFamily="18" charset="0"/>
                <a:cs typeface="Times New Roman" panose="02020603050405020304" pitchFamily="18" charset="0"/>
              </a:rPr>
              <a:t>. Tutorials 2012, 15, 1192–1209.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Ke, S.R.; Thuc, H.L.U.; Lee, Y.J.; Hwang, J.N.; Yoo, J.H.; Choi, K.H. A review on video-based human activity recognition. Computers 2013, 2, 88–131. </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Ray, A.; Kolekar, M.H.; Balasubramanian, R.; Hafiane, A. Transfer learning enhanced vision-based human activity recognition: A decade-long analysis. Int. J. Inf. Manag. Data Insights 2023, 3, 100142. [</a:t>
            </a:r>
            <a:r>
              <a:rPr lang="en-US" altLang="en-US" sz="1600" dirty="0" err="1">
                <a:solidFill>
                  <a:schemeClr val="tx1"/>
                </a:solidFill>
                <a:latin typeface="Times New Roman" panose="02020603050405020304" pitchFamily="18" charset="0"/>
                <a:cs typeface="Times New Roman" panose="02020603050405020304" pitchFamily="18" charset="0"/>
              </a:rPr>
              <a:t>CrossRef</a:t>
            </a:r>
            <a:r>
              <a:rPr lang="en-US" altLang="en-US" sz="16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ts val="600"/>
              </a:spcBef>
              <a:spcAft>
                <a:spcPct val="0"/>
              </a:spcAft>
              <a:buClrTx/>
              <a:buFont typeface="+mj-lt"/>
              <a:buAutoNum type="arabicPeriod" startAt="7"/>
            </a:pPr>
            <a:r>
              <a:rPr lang="en-US" altLang="en-US" sz="1600" dirty="0">
                <a:solidFill>
                  <a:schemeClr val="tx1"/>
                </a:solidFill>
                <a:latin typeface="Times New Roman" panose="02020603050405020304" pitchFamily="18" charset="0"/>
                <a:cs typeface="Times New Roman" panose="02020603050405020304" pitchFamily="18" charset="0"/>
              </a:rPr>
              <a:t>Singh, R.; Kushwaha, A.K.S.; Srivastava, R. Recent trends in human activity recognition–A comparative study. </a:t>
            </a:r>
            <a:r>
              <a:rPr lang="en-US" altLang="en-US" sz="1600" dirty="0" err="1">
                <a:solidFill>
                  <a:schemeClr val="tx1"/>
                </a:solidFill>
                <a:latin typeface="Times New Roman" panose="02020603050405020304" pitchFamily="18" charset="0"/>
                <a:cs typeface="Times New Roman" panose="02020603050405020304" pitchFamily="18" charset="0"/>
              </a:rPr>
              <a:t>Cogn</a:t>
            </a:r>
            <a:r>
              <a:rPr lang="en-US" altLang="en-US" sz="1600" dirty="0">
                <a:solidFill>
                  <a:schemeClr val="tx1"/>
                </a:solidFill>
                <a:latin typeface="Times New Roman" panose="02020603050405020304" pitchFamily="18" charset="0"/>
                <a:cs typeface="Times New Roman" panose="02020603050405020304" pitchFamily="18" charset="0"/>
              </a:rPr>
              <a:t>. Syst. Res. 2023, 77, 30–44. </a:t>
            </a:r>
            <a:endParaRPr lang="en-US" altLang="en-US" sz="1600" dirty="0">
              <a:solidFill>
                <a:schemeClr val="tx1"/>
              </a:solidFill>
              <a:latin typeface="Arial" panose="020B0604020202020204" pitchFamily="34" charset="0"/>
            </a:endParaRPr>
          </a:p>
        </p:txBody>
      </p:sp>
      <p:pic>
        <p:nvPicPr>
          <p:cNvPr id="9" name="Google Shape;97;p14">
            <a:extLst>
              <a:ext uri="{FF2B5EF4-FFF2-40B4-BE49-F238E27FC236}">
                <a16:creationId xmlns:a16="http://schemas.microsoft.com/office/drawing/2014/main" id="{8E5F4357-2B7C-4446-2AD9-63C6C1520DB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4" name="Slide Number Placeholder 13">
            <a:extLst>
              <a:ext uri="{FF2B5EF4-FFF2-40B4-BE49-F238E27FC236}">
                <a16:creationId xmlns:a16="http://schemas.microsoft.com/office/drawing/2014/main" id="{AB65ED32-86F3-53E6-053E-B357105C17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34</a:t>
            </a:fld>
            <a:endParaRPr lang="en-I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43">
          <a:extLst>
            <a:ext uri="{FF2B5EF4-FFF2-40B4-BE49-F238E27FC236}">
              <a16:creationId xmlns:a16="http://schemas.microsoft.com/office/drawing/2014/main" id="{609DAD76-3DC3-8DD1-A800-56CD865A9B9F}"/>
            </a:ext>
          </a:extLst>
        </p:cNvPr>
        <p:cNvGrpSpPr/>
        <p:nvPr/>
      </p:nvGrpSpPr>
      <p:grpSpPr>
        <a:xfrm>
          <a:off x="0" y="0"/>
          <a:ext cx="0" cy="0"/>
          <a:chOff x="0" y="0"/>
          <a:chExt cx="0" cy="0"/>
        </a:xfrm>
      </p:grpSpPr>
      <p:sp>
        <p:nvSpPr>
          <p:cNvPr id="244" name="Google Shape;244;p29">
            <a:extLst>
              <a:ext uri="{FF2B5EF4-FFF2-40B4-BE49-F238E27FC236}">
                <a16:creationId xmlns:a16="http://schemas.microsoft.com/office/drawing/2014/main" id="{4D465C3C-6EFC-022F-F708-E501D5594AA4}"/>
              </a:ext>
            </a:extLst>
          </p:cNvPr>
          <p:cNvSpPr txBox="1">
            <a:spLocks noGrp="1"/>
          </p:cNvSpPr>
          <p:nvPr>
            <p:ph type="title"/>
          </p:nvPr>
        </p:nvSpPr>
        <p:spPr>
          <a:xfrm>
            <a:off x="3078976" y="2847321"/>
            <a:ext cx="7492109" cy="149765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B0F0"/>
              </a:buClr>
              <a:buSzPct val="100000"/>
              <a:buFont typeface="Arial Black"/>
              <a:buNone/>
            </a:pPr>
            <a:r>
              <a:rPr lang="en-IN" sz="7200" b="1" dirty="0">
                <a:solidFill>
                  <a:srgbClr val="3333FF"/>
                </a:solidFill>
                <a:latin typeface="Times New Roman" panose="02020603050405020304" pitchFamily="18" charset="0"/>
                <a:ea typeface="Arial Black"/>
                <a:cs typeface="Times New Roman" panose="02020603050405020304" pitchFamily="18" charset="0"/>
                <a:sym typeface="Arial Black"/>
              </a:rPr>
              <a:t>THANK YOU </a:t>
            </a:r>
            <a:endParaRPr sz="7200" dirty="0">
              <a:solidFill>
                <a:srgbClr val="3333FF"/>
              </a:solidFill>
              <a:latin typeface="Times New Roman" panose="02020603050405020304" pitchFamily="18" charset="0"/>
              <a:cs typeface="Times New Roman" panose="02020603050405020304" pitchFamily="18" charset="0"/>
            </a:endParaRPr>
          </a:p>
        </p:txBody>
      </p:sp>
      <p:pic>
        <p:nvPicPr>
          <p:cNvPr id="2" name="Google Shape;97;p14">
            <a:extLst>
              <a:ext uri="{FF2B5EF4-FFF2-40B4-BE49-F238E27FC236}">
                <a16:creationId xmlns:a16="http://schemas.microsoft.com/office/drawing/2014/main" id="{A3951444-4617-0ACC-7DBB-14228F849F1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3" name="Slide Number Placeholder 2">
            <a:extLst>
              <a:ext uri="{FF2B5EF4-FFF2-40B4-BE49-F238E27FC236}">
                <a16:creationId xmlns:a16="http://schemas.microsoft.com/office/drawing/2014/main" id="{8A66CD97-3EB6-35C7-44EF-6C18151BBDA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IN" smtClean="0"/>
              <a:t>35</a:t>
            </a:fld>
            <a:endParaRPr lang="en-IN"/>
          </a:p>
        </p:txBody>
      </p:sp>
    </p:spTree>
    <p:extLst>
      <p:ext uri="{BB962C8B-B14F-4D97-AF65-F5344CB8AC3E}">
        <p14:creationId xmlns:p14="http://schemas.microsoft.com/office/powerpoint/2010/main" val="200568859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TM10001115[[fn=Parcel]]</Template>
  <TotalTime>5648</TotalTime>
  <Words>3343</Words>
  <Application>Microsoft Office PowerPoint</Application>
  <PresentationFormat>Widescreen</PresentationFormat>
  <Paragraphs>640</Paragraphs>
  <Slides>35</Slides>
  <Notes>22</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Times New Roman</vt:lpstr>
      <vt:lpstr>Calibri</vt:lpstr>
      <vt:lpstr>Arial</vt:lpstr>
      <vt:lpstr>Cambria Math</vt:lpstr>
      <vt:lpstr>Noto Sans Symbols</vt:lpstr>
      <vt:lpstr>Wingdings</vt:lpstr>
      <vt:lpstr>Arial Black</vt:lpstr>
      <vt:lpstr>Courier New</vt:lpstr>
      <vt:lpstr>Office Theme</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 based Robotic Wire Arc Additive Manufacturing of Nickel based Alloy  Mr. V V D Praveen Kalepu Research Scholar    Under the supervision of</dc:title>
  <dc:creator>IIITM KURNOOL</dc:creator>
  <cp:lastModifiedBy>Rishit Maurya</cp:lastModifiedBy>
  <cp:revision>374</cp:revision>
  <dcterms:modified xsi:type="dcterms:W3CDTF">2026-03-04T14:57:54Z</dcterms:modified>
</cp:coreProperties>
</file>