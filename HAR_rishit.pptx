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1"/>
  </p:notesMasterIdLst>
  <p:handoutMasterIdLst>
    <p:handoutMasterId r:id="rId32"/>
  </p:handoutMasterIdLst>
  <p:sldIdLst>
    <p:sldId id="256" r:id="rId2"/>
    <p:sldId id="257" r:id="rId3"/>
    <p:sldId id="284" r:id="rId4"/>
    <p:sldId id="334" r:id="rId5"/>
    <p:sldId id="335" r:id="rId6"/>
    <p:sldId id="286" r:id="rId7"/>
    <p:sldId id="326" r:id="rId8"/>
    <p:sldId id="327" r:id="rId9"/>
    <p:sldId id="331" r:id="rId10"/>
    <p:sldId id="332" r:id="rId11"/>
    <p:sldId id="310" r:id="rId12"/>
    <p:sldId id="305" r:id="rId13"/>
    <p:sldId id="312" r:id="rId14"/>
    <p:sldId id="290" r:id="rId15"/>
    <p:sldId id="336" r:id="rId16"/>
    <p:sldId id="291" r:id="rId17"/>
    <p:sldId id="299" r:id="rId18"/>
    <p:sldId id="311" r:id="rId19"/>
    <p:sldId id="318" r:id="rId20"/>
    <p:sldId id="278" r:id="rId21"/>
    <p:sldId id="333" r:id="rId22"/>
    <p:sldId id="317" r:id="rId23"/>
    <p:sldId id="330" r:id="rId24"/>
    <p:sldId id="301" r:id="rId25"/>
    <p:sldId id="321" r:id="rId26"/>
    <p:sldId id="322" r:id="rId27"/>
    <p:sldId id="294" r:id="rId28"/>
    <p:sldId id="295" r:id="rId29"/>
    <p:sldId id="315" r:id="rId30"/>
  </p:sldIdLst>
  <p:sldSz cx="12192000" cy="6858000"/>
  <p:notesSz cx="6858000" cy="9144000"/>
  <p:embeddedFontLst>
    <p:embeddedFont>
      <p:font typeface="Arial Black" panose="020B0A04020102020204" pitchFamily="34" charset="0"/>
      <p:regular r:id="rId33"/>
      <p:bold r:id="rId34"/>
    </p:embeddedFont>
    <p:embeddedFont>
      <p:font typeface="Cambria Math" panose="02040503050406030204" pitchFamily="18" charset="0"/>
      <p:regular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66"/>
    <a:srgbClr val="0000FF"/>
    <a:srgbClr val="FA3D0A"/>
    <a:srgbClr val="CC0000"/>
    <a:srgbClr val="1552DB"/>
    <a:srgbClr val="FF6600"/>
    <a:srgbClr val="3333FF"/>
    <a:srgbClr val="00FF00"/>
    <a:srgbClr val="FFFF99"/>
    <a:srgbClr val="3DF55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F129BD1-FC92-40F7-9949-7B2696B6D511}">
  <a:tblStyle styleId="{FF129BD1-FC92-40F7-9949-7B2696B6D51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6548CB8-554B-47B1-B464-9B95B1BBCFA0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32" autoAdjust="0"/>
    <p:restoredTop sz="94660"/>
  </p:normalViewPr>
  <p:slideViewPr>
    <p:cSldViewPr snapToGrid="0">
      <p:cViewPr varScale="1">
        <p:scale>
          <a:sx n="71" d="100"/>
          <a:sy n="71" d="100"/>
        </p:scale>
        <p:origin x="66" y="8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aveen K" userId="c82aea2e5423fcf6" providerId="LiveId" clId="{95EEA42B-6BC1-48B9-A686-38EA1E396BB3}"/>
    <pc:docChg chg="undo custSel addSld modSld sldOrd">
      <pc:chgData name="Praveen K" userId="c82aea2e5423fcf6" providerId="LiveId" clId="{95EEA42B-6BC1-48B9-A686-38EA1E396BB3}" dt="2025-07-13T07:43:30.190" v="167" actId="478"/>
      <pc:docMkLst>
        <pc:docMk/>
      </pc:docMkLst>
      <pc:sldChg chg="addSp delSp modSp mod ord">
        <pc:chgData name="Praveen K" userId="c82aea2e5423fcf6" providerId="LiveId" clId="{95EEA42B-6BC1-48B9-A686-38EA1E396BB3}" dt="2025-07-13T06:48:00.759" v="53" actId="1076"/>
        <pc:sldMkLst>
          <pc:docMk/>
          <pc:sldMk cId="1160658422" sldId="278"/>
        </pc:sldMkLst>
        <pc:spChg chg="mod">
          <ac:chgData name="Praveen K" userId="c82aea2e5423fcf6" providerId="LiveId" clId="{95EEA42B-6BC1-48B9-A686-38EA1E396BB3}" dt="2025-07-13T06:47:55.239" v="52" actId="1076"/>
          <ac:spMkLst>
            <pc:docMk/>
            <pc:sldMk cId="1160658422" sldId="278"/>
            <ac:spMk id="10" creationId="{0F834F8E-C008-BBE8-AA05-B1AB9AA42869}"/>
          </ac:spMkLst>
        </pc:spChg>
        <pc:spChg chg="del mod">
          <ac:chgData name="Praveen K" userId="c82aea2e5423fcf6" providerId="LiveId" clId="{95EEA42B-6BC1-48B9-A686-38EA1E396BB3}" dt="2025-07-13T06:44:56.243" v="42" actId="478"/>
          <ac:spMkLst>
            <pc:docMk/>
            <pc:sldMk cId="1160658422" sldId="278"/>
            <ac:spMk id="12" creationId="{D87A59D2-8DAA-73DD-2BA5-EF1E5BEA12B4}"/>
          </ac:spMkLst>
        </pc:spChg>
        <pc:spChg chg="del mod">
          <ac:chgData name="Praveen K" userId="c82aea2e5423fcf6" providerId="LiveId" clId="{95EEA42B-6BC1-48B9-A686-38EA1E396BB3}" dt="2025-07-13T06:44:55.126" v="41" actId="478"/>
          <ac:spMkLst>
            <pc:docMk/>
            <pc:sldMk cId="1160658422" sldId="278"/>
            <ac:spMk id="13" creationId="{457CCA23-41E5-1A82-7D7E-0703A52010C2}"/>
          </ac:spMkLst>
        </pc:spChg>
        <pc:spChg chg="del">
          <ac:chgData name="Praveen K" userId="c82aea2e5423fcf6" providerId="LiveId" clId="{95EEA42B-6BC1-48B9-A686-38EA1E396BB3}" dt="2025-07-13T06:47:44.157" v="47" actId="478"/>
          <ac:spMkLst>
            <pc:docMk/>
            <pc:sldMk cId="1160658422" sldId="278"/>
            <ac:spMk id="14" creationId="{9C0717F9-D8FA-852D-3E32-3AC46DA3D5CF}"/>
          </ac:spMkLst>
        </pc:spChg>
        <pc:spChg chg="mod">
          <ac:chgData name="Praveen K" userId="c82aea2e5423fcf6" providerId="LiveId" clId="{95EEA42B-6BC1-48B9-A686-38EA1E396BB3}" dt="2025-07-13T06:48:00.759" v="53" actId="1076"/>
          <ac:spMkLst>
            <pc:docMk/>
            <pc:sldMk cId="1160658422" sldId="278"/>
            <ac:spMk id="19" creationId="{C8CB01CD-21A8-CD3D-20BE-489208119169}"/>
          </ac:spMkLst>
        </pc:spChg>
        <pc:picChg chg="del mod">
          <ac:chgData name="Praveen K" userId="c82aea2e5423fcf6" providerId="LiveId" clId="{95EEA42B-6BC1-48B9-A686-38EA1E396BB3}" dt="2025-07-13T06:44:05.764" v="8" actId="478"/>
          <ac:picMkLst>
            <pc:docMk/>
            <pc:sldMk cId="1160658422" sldId="278"/>
            <ac:picMk id="3" creationId="{7C3C4ED8-84FB-2D06-7953-77C9009CD680}"/>
          </ac:picMkLst>
        </pc:picChg>
        <pc:picChg chg="mod">
          <ac:chgData name="Praveen K" userId="c82aea2e5423fcf6" providerId="LiveId" clId="{95EEA42B-6BC1-48B9-A686-38EA1E396BB3}" dt="2025-07-13T06:45:07.388" v="44" actId="14100"/>
          <ac:picMkLst>
            <pc:docMk/>
            <pc:sldMk cId="1160658422" sldId="278"/>
            <ac:picMk id="5" creationId="{94252598-E9E4-DD4C-1736-7CA5BEB5E57F}"/>
          </ac:picMkLst>
        </pc:picChg>
        <pc:picChg chg="del">
          <ac:chgData name="Praveen K" userId="c82aea2e5423fcf6" providerId="LiveId" clId="{95EEA42B-6BC1-48B9-A686-38EA1E396BB3}" dt="2025-07-13T06:47:42.009" v="46" actId="478"/>
          <ac:picMkLst>
            <pc:docMk/>
            <pc:sldMk cId="1160658422" sldId="278"/>
            <ac:picMk id="7" creationId="{1CF4768E-F9B8-AB6A-FC17-E3E25E95BB39}"/>
          </ac:picMkLst>
        </pc:picChg>
        <pc:picChg chg="add mod">
          <ac:chgData name="Praveen K" userId="c82aea2e5423fcf6" providerId="LiveId" clId="{95EEA42B-6BC1-48B9-A686-38EA1E396BB3}" dt="2025-07-13T06:44:50.925" v="40" actId="14100"/>
          <ac:picMkLst>
            <pc:docMk/>
            <pc:sldMk cId="1160658422" sldId="278"/>
            <ac:picMk id="16" creationId="{0F51AA4A-820A-C53E-36D8-EF20002FF147}"/>
          </ac:picMkLst>
        </pc:picChg>
        <pc:picChg chg="add mod">
          <ac:chgData name="Praveen K" userId="c82aea2e5423fcf6" providerId="LiveId" clId="{95EEA42B-6BC1-48B9-A686-38EA1E396BB3}" dt="2025-07-13T06:47:51.235" v="51" actId="1076"/>
          <ac:picMkLst>
            <pc:docMk/>
            <pc:sldMk cId="1160658422" sldId="278"/>
            <ac:picMk id="18" creationId="{54C6711E-6C02-3E1B-78BD-BAA9EF686049}"/>
          </ac:picMkLst>
        </pc:picChg>
      </pc:sldChg>
      <pc:sldChg chg="modSp mod">
        <pc:chgData name="Praveen K" userId="c82aea2e5423fcf6" providerId="LiveId" clId="{95EEA42B-6BC1-48B9-A686-38EA1E396BB3}" dt="2025-07-13T06:38:12.828" v="3" actId="20577"/>
        <pc:sldMkLst>
          <pc:docMk/>
          <pc:sldMk cId="1538997592" sldId="290"/>
        </pc:sldMkLst>
        <pc:spChg chg="mod">
          <ac:chgData name="Praveen K" userId="c82aea2e5423fcf6" providerId="LiveId" clId="{95EEA42B-6BC1-48B9-A686-38EA1E396BB3}" dt="2025-07-13T06:38:12.828" v="3" actId="20577"/>
          <ac:spMkLst>
            <pc:docMk/>
            <pc:sldMk cId="1538997592" sldId="290"/>
            <ac:spMk id="8" creationId="{68B470CE-78F6-CA8C-A694-B0BEE64081E7}"/>
          </ac:spMkLst>
        </pc:spChg>
      </pc:sldChg>
      <pc:sldChg chg="delSp mod">
        <pc:chgData name="Praveen K" userId="c82aea2e5423fcf6" providerId="LiveId" clId="{95EEA42B-6BC1-48B9-A686-38EA1E396BB3}" dt="2025-07-13T06:52:27.865" v="65" actId="478"/>
        <pc:sldMkLst>
          <pc:docMk/>
          <pc:sldMk cId="3427646999" sldId="291"/>
        </pc:sldMkLst>
        <pc:picChg chg="del">
          <ac:chgData name="Praveen K" userId="c82aea2e5423fcf6" providerId="LiveId" clId="{95EEA42B-6BC1-48B9-A686-38EA1E396BB3}" dt="2025-07-13T06:52:27.865" v="65" actId="478"/>
          <ac:picMkLst>
            <pc:docMk/>
            <pc:sldMk cId="3427646999" sldId="291"/>
            <ac:picMk id="11" creationId="{86F501B8-BAFE-C61C-55A0-B764AAD0D38E}"/>
          </ac:picMkLst>
        </pc:picChg>
      </pc:sldChg>
      <pc:sldChg chg="modSp mod ord">
        <pc:chgData name="Praveen K" userId="c82aea2e5423fcf6" providerId="LiveId" clId="{95EEA42B-6BC1-48B9-A686-38EA1E396BB3}" dt="2025-07-13T06:52:12.377" v="64"/>
        <pc:sldMkLst>
          <pc:docMk/>
          <pc:sldMk cId="3342246145" sldId="298"/>
        </pc:sldMkLst>
        <pc:graphicFrameChg chg="mod modGraphic">
          <ac:chgData name="Praveen K" userId="c82aea2e5423fcf6" providerId="LiveId" clId="{95EEA42B-6BC1-48B9-A686-38EA1E396BB3}" dt="2025-07-13T06:51:09.490" v="62" actId="122"/>
          <ac:graphicFrameMkLst>
            <pc:docMk/>
            <pc:sldMk cId="3342246145" sldId="298"/>
            <ac:graphicFrameMk id="12" creationId="{6C0C1FFE-37D8-2E7F-7FBA-D60F6A966B58}"/>
          </ac:graphicFrameMkLst>
        </pc:graphicFrameChg>
      </pc:sldChg>
      <pc:sldChg chg="modSp">
        <pc:chgData name="Praveen K" userId="c82aea2e5423fcf6" providerId="LiveId" clId="{95EEA42B-6BC1-48B9-A686-38EA1E396BB3}" dt="2025-07-13T06:49:02.633" v="54"/>
        <pc:sldMkLst>
          <pc:docMk/>
          <pc:sldMk cId="2618844330" sldId="299"/>
        </pc:sldMkLst>
        <pc:graphicFrameChg chg="mod">
          <ac:chgData name="Praveen K" userId="c82aea2e5423fcf6" providerId="LiveId" clId="{95EEA42B-6BC1-48B9-A686-38EA1E396BB3}" dt="2025-07-13T06:49:02.633" v="54"/>
          <ac:graphicFrameMkLst>
            <pc:docMk/>
            <pc:sldMk cId="2618844330" sldId="299"/>
            <ac:graphicFrameMk id="16" creationId="{ACFA7B29-4BC9-8B4B-E439-CE727E228226}"/>
          </ac:graphicFrameMkLst>
        </pc:graphicFrameChg>
      </pc:sldChg>
      <pc:sldChg chg="addSp modSp mod">
        <pc:chgData name="Praveen K" userId="c82aea2e5423fcf6" providerId="LiveId" clId="{95EEA42B-6BC1-48B9-A686-38EA1E396BB3}" dt="2025-07-13T06:54:22.448" v="78" actId="14100"/>
        <pc:sldMkLst>
          <pc:docMk/>
          <pc:sldMk cId="269477701" sldId="311"/>
        </pc:sldMkLst>
        <pc:spChg chg="add mod">
          <ac:chgData name="Praveen K" userId="c82aea2e5423fcf6" providerId="LiveId" clId="{95EEA42B-6BC1-48B9-A686-38EA1E396BB3}" dt="2025-07-13T06:54:08.586" v="74" actId="14100"/>
          <ac:spMkLst>
            <pc:docMk/>
            <pc:sldMk cId="269477701" sldId="311"/>
            <ac:spMk id="13" creationId="{57CE106E-DD0A-7E36-932C-1A75F49F1F33}"/>
          </ac:spMkLst>
        </pc:spChg>
        <pc:picChg chg="add mod">
          <ac:chgData name="Praveen K" userId="c82aea2e5423fcf6" providerId="LiveId" clId="{95EEA42B-6BC1-48B9-A686-38EA1E396BB3}" dt="2025-07-13T06:54:15.955" v="75" actId="14100"/>
          <ac:picMkLst>
            <pc:docMk/>
            <pc:sldMk cId="269477701" sldId="311"/>
            <ac:picMk id="10" creationId="{5772E801-11B1-4AD9-30C8-F6A8AD1F8B91}"/>
          </ac:picMkLst>
        </pc:picChg>
        <pc:picChg chg="add mod">
          <ac:chgData name="Praveen K" userId="c82aea2e5423fcf6" providerId="LiveId" clId="{95EEA42B-6BC1-48B9-A686-38EA1E396BB3}" dt="2025-07-13T06:54:22.448" v="78" actId="14100"/>
          <ac:picMkLst>
            <pc:docMk/>
            <pc:sldMk cId="269477701" sldId="311"/>
            <ac:picMk id="11" creationId="{20AF9E4E-30DA-7D20-181D-C739E44F136A}"/>
          </ac:picMkLst>
        </pc:picChg>
      </pc:sldChg>
      <pc:sldChg chg="addSp modSp mod ord">
        <pc:chgData name="Praveen K" userId="c82aea2e5423fcf6" providerId="LiveId" clId="{95EEA42B-6BC1-48B9-A686-38EA1E396BB3}" dt="2025-07-13T07:12:31.146" v="123"/>
        <pc:sldMkLst>
          <pc:docMk/>
          <pc:sldMk cId="4007068481" sldId="312"/>
        </pc:sldMkLst>
        <pc:graphicFrameChg chg="add mod">
          <ac:chgData name="Praveen K" userId="c82aea2e5423fcf6" providerId="LiveId" clId="{95EEA42B-6BC1-48B9-A686-38EA1E396BB3}" dt="2025-07-13T06:55:25.501" v="83" actId="1076"/>
          <ac:graphicFrameMkLst>
            <pc:docMk/>
            <pc:sldMk cId="4007068481" sldId="312"/>
            <ac:graphicFrameMk id="10" creationId="{AB2AD162-0A21-C666-7F87-1EFFE890F554}"/>
          </ac:graphicFrameMkLst>
        </pc:graphicFrameChg>
        <pc:graphicFrameChg chg="add mod modGraphic">
          <ac:chgData name="Praveen K" userId="c82aea2e5423fcf6" providerId="LiveId" clId="{95EEA42B-6BC1-48B9-A686-38EA1E396BB3}" dt="2025-07-13T06:55:56.328" v="86" actId="14100"/>
          <ac:graphicFrameMkLst>
            <pc:docMk/>
            <pc:sldMk cId="4007068481" sldId="312"/>
            <ac:graphicFrameMk id="11" creationId="{D3186CB4-FAB1-CC9F-73DD-DF72F84EC20B}"/>
          </ac:graphicFrameMkLst>
        </pc:graphicFrameChg>
      </pc:sldChg>
      <pc:sldChg chg="ord">
        <pc:chgData name="Praveen K" userId="c82aea2e5423fcf6" providerId="LiveId" clId="{95EEA42B-6BC1-48B9-A686-38EA1E396BB3}" dt="2025-07-13T07:12:19.183" v="121"/>
        <pc:sldMkLst>
          <pc:docMk/>
          <pc:sldMk cId="2963145662" sldId="313"/>
        </pc:sldMkLst>
      </pc:sldChg>
      <pc:sldChg chg="addSp delSp modSp mod">
        <pc:chgData name="Praveen K" userId="c82aea2e5423fcf6" providerId="LiveId" clId="{95EEA42B-6BC1-48B9-A686-38EA1E396BB3}" dt="2025-07-13T07:43:30.190" v="167" actId="478"/>
        <pc:sldMkLst>
          <pc:docMk/>
          <pc:sldMk cId="960604607" sldId="314"/>
        </pc:sldMkLst>
        <pc:picChg chg="add del mod">
          <ac:chgData name="Praveen K" userId="c82aea2e5423fcf6" providerId="LiveId" clId="{95EEA42B-6BC1-48B9-A686-38EA1E396BB3}" dt="2025-07-13T07:43:30.190" v="167" actId="478"/>
          <ac:picMkLst>
            <pc:docMk/>
            <pc:sldMk cId="960604607" sldId="314"/>
            <ac:picMk id="10" creationId="{213179B5-37D3-5C8A-5956-5F28D9DFC990}"/>
          </ac:picMkLst>
        </pc:picChg>
      </pc:sldChg>
      <pc:sldChg chg="addSp delSp modSp add mod">
        <pc:chgData name="Praveen K" userId="c82aea2e5423fcf6" providerId="LiveId" clId="{95EEA42B-6BC1-48B9-A686-38EA1E396BB3}" dt="2025-07-13T07:36:14.335" v="154" actId="21"/>
        <pc:sldMkLst>
          <pc:docMk/>
          <pc:sldMk cId="1284348459" sldId="316"/>
        </pc:sldMkLst>
        <pc:graphicFrameChg chg="add mod modGraphic">
          <ac:chgData name="Praveen K" userId="c82aea2e5423fcf6" providerId="LiveId" clId="{95EEA42B-6BC1-48B9-A686-38EA1E396BB3}" dt="2025-07-13T07:22:05.782" v="131" actId="1076"/>
          <ac:graphicFrameMkLst>
            <pc:docMk/>
            <pc:sldMk cId="1284348459" sldId="316"/>
            <ac:graphicFrameMk id="10" creationId="{22E2F4F1-441F-4638-F871-DFEDFC762EE8}"/>
          </ac:graphicFrameMkLst>
        </pc:graphicFrameChg>
        <pc:graphicFrameChg chg="add mod modGraphic">
          <ac:chgData name="Praveen K" userId="c82aea2e5423fcf6" providerId="LiveId" clId="{95EEA42B-6BC1-48B9-A686-38EA1E396BB3}" dt="2025-07-13T07:25:01.614" v="137" actId="14100"/>
          <ac:graphicFrameMkLst>
            <pc:docMk/>
            <pc:sldMk cId="1284348459" sldId="316"/>
            <ac:graphicFrameMk id="11" creationId="{3BC75F41-6357-23E1-FFE6-68C7F5CA6678}"/>
          </ac:graphicFrameMkLst>
        </pc:graphicFrameChg>
        <pc:graphicFrameChg chg="add del mod">
          <ac:chgData name="Praveen K" userId="c82aea2e5423fcf6" providerId="LiveId" clId="{95EEA42B-6BC1-48B9-A686-38EA1E396BB3}" dt="2025-07-13T07:36:14.335" v="154" actId="21"/>
          <ac:graphicFrameMkLst>
            <pc:docMk/>
            <pc:sldMk cId="1284348459" sldId="316"/>
            <ac:graphicFrameMk id="12" creationId="{22193D58-A329-4DA7-68CE-36D36D89050A}"/>
          </ac:graphicFrameMkLst>
        </pc:graphicFrameChg>
      </pc:sldChg>
      <pc:sldChg chg="addSp modSp add mod">
        <pc:chgData name="Praveen K" userId="c82aea2e5423fcf6" providerId="LiveId" clId="{95EEA42B-6BC1-48B9-A686-38EA1E396BB3}" dt="2025-07-13T07:13:11.428" v="124" actId="14100"/>
        <pc:sldMkLst>
          <pc:docMk/>
          <pc:sldMk cId="598752059" sldId="317"/>
        </pc:sldMkLst>
        <pc:picChg chg="add mod">
          <ac:chgData name="Praveen K" userId="c82aea2e5423fcf6" providerId="LiveId" clId="{95EEA42B-6BC1-48B9-A686-38EA1E396BB3}" dt="2025-07-13T07:02:29.604" v="105" actId="14100"/>
          <ac:picMkLst>
            <pc:docMk/>
            <pc:sldMk cId="598752059" sldId="317"/>
            <ac:picMk id="11" creationId="{E8E670B3-2EA0-CFDF-CCE6-80EB13C6A822}"/>
          </ac:picMkLst>
        </pc:picChg>
        <pc:picChg chg="add mod">
          <ac:chgData name="Praveen K" userId="c82aea2e5423fcf6" providerId="LiveId" clId="{95EEA42B-6BC1-48B9-A686-38EA1E396BB3}" dt="2025-07-13T07:13:11.428" v="124" actId="14100"/>
          <ac:picMkLst>
            <pc:docMk/>
            <pc:sldMk cId="598752059" sldId="317"/>
            <ac:picMk id="13" creationId="{69E735CB-2D39-8BFD-80A7-9E2CB847E072}"/>
          </ac:picMkLst>
        </pc:picChg>
      </pc:sldChg>
      <pc:sldChg chg="addSp modSp add mod">
        <pc:chgData name="Praveen K" userId="c82aea2e5423fcf6" providerId="LiveId" clId="{95EEA42B-6BC1-48B9-A686-38EA1E396BB3}" dt="2025-07-13T07:02:47.064" v="106" actId="14100"/>
        <pc:sldMkLst>
          <pc:docMk/>
          <pc:sldMk cId="1897366662" sldId="318"/>
        </pc:sldMkLst>
        <pc:picChg chg="add mod">
          <ac:chgData name="Praveen K" userId="c82aea2e5423fcf6" providerId="LiveId" clId="{95EEA42B-6BC1-48B9-A686-38EA1E396BB3}" dt="2025-07-13T06:56:37.792" v="88" actId="1076"/>
          <ac:picMkLst>
            <pc:docMk/>
            <pc:sldMk cId="1897366662" sldId="318"/>
            <ac:picMk id="10" creationId="{7B5AF747-3119-2605-1F35-164D4D2D6BB7}"/>
          </ac:picMkLst>
        </pc:picChg>
        <pc:picChg chg="add mod">
          <ac:chgData name="Praveen K" userId="c82aea2e5423fcf6" providerId="LiveId" clId="{95EEA42B-6BC1-48B9-A686-38EA1E396BB3}" dt="2025-07-13T07:02:47.064" v="106" actId="14100"/>
          <ac:picMkLst>
            <pc:docMk/>
            <pc:sldMk cId="1897366662" sldId="318"/>
            <ac:picMk id="11" creationId="{69107D98-5C35-83FC-9560-3335DEA77320}"/>
          </ac:picMkLst>
        </pc:picChg>
      </pc:sldChg>
      <pc:sldChg chg="addSp modSp add mod">
        <pc:chgData name="Praveen K" userId="c82aea2e5423fcf6" providerId="LiveId" clId="{95EEA42B-6BC1-48B9-A686-38EA1E396BB3}" dt="2025-07-13T07:35:43.274" v="153" actId="14100"/>
        <pc:sldMkLst>
          <pc:docMk/>
          <pc:sldMk cId="4036846086" sldId="319"/>
        </pc:sldMkLst>
        <pc:spChg chg="add mod">
          <ac:chgData name="Praveen K" userId="c82aea2e5423fcf6" providerId="LiveId" clId="{95EEA42B-6BC1-48B9-A686-38EA1E396BB3}" dt="2025-07-13T07:35:43.274" v="153" actId="14100"/>
          <ac:spMkLst>
            <pc:docMk/>
            <pc:sldMk cId="4036846086" sldId="319"/>
            <ac:spMk id="11" creationId="{F48266FE-AD9A-487D-EA9A-790A20560AC2}"/>
          </ac:spMkLst>
        </pc:spChg>
      </pc:sldChg>
      <pc:sldChg chg="addSp modSp add mod">
        <pc:chgData name="Praveen K" userId="c82aea2e5423fcf6" providerId="LiveId" clId="{95EEA42B-6BC1-48B9-A686-38EA1E396BB3}" dt="2025-07-13T07:39:42.581" v="160" actId="14100"/>
        <pc:sldMkLst>
          <pc:docMk/>
          <pc:sldMk cId="1043010034" sldId="320"/>
        </pc:sldMkLst>
        <pc:graphicFrameChg chg="add mod modGraphic">
          <ac:chgData name="Praveen K" userId="c82aea2e5423fcf6" providerId="LiveId" clId="{95EEA42B-6BC1-48B9-A686-38EA1E396BB3}" dt="2025-07-13T07:39:42.581" v="160" actId="14100"/>
          <ac:graphicFrameMkLst>
            <pc:docMk/>
            <pc:sldMk cId="1043010034" sldId="320"/>
            <ac:graphicFrameMk id="12" creationId="{22193D58-A329-4DA7-68CE-36D36D89050A}"/>
          </ac:graphicFrameMkLst>
        </pc:graphicFrameChg>
      </pc:sldChg>
      <pc:sldChg chg="addSp modSp add mod ord">
        <pc:chgData name="Praveen K" userId="c82aea2e5423fcf6" providerId="LiveId" clId="{95EEA42B-6BC1-48B9-A686-38EA1E396BB3}" dt="2025-07-13T07:12:07.430" v="119"/>
        <pc:sldMkLst>
          <pc:docMk/>
          <pc:sldMk cId="2405740053" sldId="321"/>
        </pc:sldMkLst>
        <pc:graphicFrameChg chg="add mod modGraphic">
          <ac:chgData name="Praveen K" userId="c82aea2e5423fcf6" providerId="LiveId" clId="{95EEA42B-6BC1-48B9-A686-38EA1E396BB3}" dt="2025-07-13T07:03:31.266" v="112" actId="14100"/>
          <ac:graphicFrameMkLst>
            <pc:docMk/>
            <pc:sldMk cId="2405740053" sldId="321"/>
            <ac:graphicFrameMk id="10" creationId="{80618F3C-A265-7DEC-CE49-2E8D5B1047D6}"/>
          </ac:graphicFrameMkLst>
        </pc:graphicFrameChg>
        <pc:graphicFrameChg chg="add mod modGraphic">
          <ac:chgData name="Praveen K" userId="c82aea2e5423fcf6" providerId="LiveId" clId="{95EEA42B-6BC1-48B9-A686-38EA1E396BB3}" dt="2025-07-13T07:11:53.698" v="117" actId="14100"/>
          <ac:graphicFrameMkLst>
            <pc:docMk/>
            <pc:sldMk cId="2405740053" sldId="321"/>
            <ac:graphicFrameMk id="11" creationId="{6EA89658-8CF7-019A-CA69-40227BF41CE4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F1-Score</a:t>
            </a:r>
            <a:r>
              <a:rPr lang="en-IN" baseline="0"/>
              <a:t>  </a:t>
            </a:r>
            <a:endParaRPr lang="en-IN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IN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LSTM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Bending</c:v>
                </c:pt>
                <c:pt idx="1">
                  <c:v>Jumping</c:v>
                </c:pt>
                <c:pt idx="2">
                  <c:v>Running</c:v>
                </c:pt>
                <c:pt idx="3">
                  <c:v>Sitting</c:v>
                </c:pt>
                <c:pt idx="4">
                  <c:v>Squat</c:v>
                </c:pt>
                <c:pt idx="5">
                  <c:v>Standing</c:v>
                </c:pt>
                <c:pt idx="6">
                  <c:v>Walking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0.90910000000000002</c:v>
                </c:pt>
                <c:pt idx="1">
                  <c:v>0.85709999999999997</c:v>
                </c:pt>
                <c:pt idx="2">
                  <c:v>0.76919999999999999</c:v>
                </c:pt>
                <c:pt idx="3">
                  <c:v>0.4</c:v>
                </c:pt>
                <c:pt idx="4">
                  <c:v>1</c:v>
                </c:pt>
                <c:pt idx="5">
                  <c:v>0.5</c:v>
                </c:pt>
                <c:pt idx="6">
                  <c:v>0.83330000000000004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688-4E16-8596-41F39496E71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BiLSTM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Bending</c:v>
                </c:pt>
                <c:pt idx="1">
                  <c:v>Jumping</c:v>
                </c:pt>
                <c:pt idx="2">
                  <c:v>Running</c:v>
                </c:pt>
                <c:pt idx="3">
                  <c:v>Sitting</c:v>
                </c:pt>
                <c:pt idx="4">
                  <c:v>Squat</c:v>
                </c:pt>
                <c:pt idx="5">
                  <c:v>Standing</c:v>
                </c:pt>
                <c:pt idx="6">
                  <c:v>Walking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0.98</c:v>
                </c:pt>
                <c:pt idx="1">
                  <c:v>0.49</c:v>
                </c:pt>
                <c:pt idx="2">
                  <c:v>0.74</c:v>
                </c:pt>
                <c:pt idx="3">
                  <c:v>1</c:v>
                </c:pt>
                <c:pt idx="4">
                  <c:v>1</c:v>
                </c:pt>
                <c:pt idx="5">
                  <c:v>0.92</c:v>
                </c:pt>
                <c:pt idx="6">
                  <c:v>0.97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688-4E16-8596-41F39496E71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GRS-BiLSTM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Bending</c:v>
                </c:pt>
                <c:pt idx="1">
                  <c:v>Jumping</c:v>
                </c:pt>
                <c:pt idx="2">
                  <c:v>Running</c:v>
                </c:pt>
                <c:pt idx="3">
                  <c:v>Sitting</c:v>
                </c:pt>
                <c:pt idx="4">
                  <c:v>Squat</c:v>
                </c:pt>
                <c:pt idx="5">
                  <c:v>Standing</c:v>
                </c:pt>
                <c:pt idx="6">
                  <c:v>Walking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</c:v>
                </c:pt>
                <c:pt idx="1">
                  <c:v>0.73</c:v>
                </c:pt>
                <c:pt idx="2">
                  <c:v>0.82</c:v>
                </c:pt>
                <c:pt idx="3">
                  <c:v>0.98</c:v>
                </c:pt>
                <c:pt idx="4">
                  <c:v>1</c:v>
                </c:pt>
                <c:pt idx="5">
                  <c:v>0.98</c:v>
                </c:pt>
                <c:pt idx="6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688-4E16-8596-41F39496E71A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MS-GRS-BiLSTM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Bending</c:v>
                </c:pt>
                <c:pt idx="1">
                  <c:v>Jumping</c:v>
                </c:pt>
                <c:pt idx="2">
                  <c:v>Running</c:v>
                </c:pt>
                <c:pt idx="3">
                  <c:v>Sitting</c:v>
                </c:pt>
                <c:pt idx="4">
                  <c:v>Squat</c:v>
                </c:pt>
                <c:pt idx="5">
                  <c:v>Standing</c:v>
                </c:pt>
                <c:pt idx="6">
                  <c:v>Walking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0.99770000000000003</c:v>
                </c:pt>
                <c:pt idx="1">
                  <c:v>0.94689999999999996</c:v>
                </c:pt>
                <c:pt idx="2">
                  <c:v>0.94669999999999999</c:v>
                </c:pt>
                <c:pt idx="3">
                  <c:v>1</c:v>
                </c:pt>
                <c:pt idx="4">
                  <c:v>0.99760000000000004</c:v>
                </c:pt>
                <c:pt idx="5">
                  <c:v>0.99770000000000003</c:v>
                </c:pt>
                <c:pt idx="6">
                  <c:v>0.99709999999999999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688-4E16-8596-41F39496E7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584436463"/>
        <c:axId val="1584435023"/>
      </c:barChart>
      <c:catAx>
        <c:axId val="158443646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84435023"/>
        <c:crosses val="autoZero"/>
        <c:auto val="1"/>
        <c:lblAlgn val="ctr"/>
        <c:lblOffset val="100"/>
        <c:noMultiLvlLbl val="0"/>
      </c:catAx>
      <c:valAx>
        <c:axId val="15844350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8443646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E9E2144-ABF7-FC5E-ED89-9A76B261493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961EEC-296A-B5E7-9043-E6B7E3A751A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E972EF-3B25-4F57-BDC1-D6C50E71D74B}" type="datetimeFigureOut">
              <a:rPr lang="en-IN" smtClean="0"/>
              <a:t>11-11-2025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7F3424-F753-8583-02FA-CEFA0AC579C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27C41D-6412-F492-0E38-018A8A5AAF7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F98A50-B566-49AB-A9EF-92D99604F2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0722482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C22DC9A-63C2-A0FC-F295-FB0864F20AD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lang="en-IN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90FE900-524E-1562-ABCF-DD8BC14C4E7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lang="en-IN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lang="en-IN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518137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lang="en-IN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758544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>
          <a:extLst>
            <a:ext uri="{FF2B5EF4-FFF2-40B4-BE49-F238E27FC236}">
              <a16:creationId xmlns:a16="http://schemas.microsoft.com/office/drawing/2014/main" id="{6668E3C3-F301-BDD2-717D-7CCFF59E9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7:notes">
            <a:extLst>
              <a:ext uri="{FF2B5EF4-FFF2-40B4-BE49-F238E27FC236}">
                <a16:creationId xmlns:a16="http://schemas.microsoft.com/office/drawing/2014/main" id="{9D2CFAC4-64A9-5AF8-DFE7-A31F09FDB1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3" name="Google Shape;143;p7:notes">
            <a:extLst>
              <a:ext uri="{FF2B5EF4-FFF2-40B4-BE49-F238E27FC236}">
                <a16:creationId xmlns:a16="http://schemas.microsoft.com/office/drawing/2014/main" id="{76F528CB-45D7-36B8-489C-92D90D3370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2407DC4-26B3-DFB8-1A18-B3350DB46C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lang="en-IN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91280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>
          <a:extLst>
            <a:ext uri="{FF2B5EF4-FFF2-40B4-BE49-F238E27FC236}">
              <a16:creationId xmlns:a16="http://schemas.microsoft.com/office/drawing/2014/main" id="{C3F06951-156F-B7B1-AF68-E271F5D95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7:notes">
            <a:extLst>
              <a:ext uri="{FF2B5EF4-FFF2-40B4-BE49-F238E27FC236}">
                <a16:creationId xmlns:a16="http://schemas.microsoft.com/office/drawing/2014/main" id="{1608774B-6D7F-4C7F-C87B-BE5F87996F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3" name="Google Shape;143;p7:notes">
            <a:extLst>
              <a:ext uri="{FF2B5EF4-FFF2-40B4-BE49-F238E27FC236}">
                <a16:creationId xmlns:a16="http://schemas.microsoft.com/office/drawing/2014/main" id="{050F1DCE-8CE4-97A3-8C6A-BC96463BE9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C5BD1B-7DBB-CA86-B042-AD511B2D728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lang="en-IN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130921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9F401-D131-745C-337E-FDDB921C3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E0D24F-468A-975D-0D86-C21B7CCC99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E6127C-46C2-FC24-8C21-46CE578772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108ACE-2333-4A2F-C6B0-008E05AE063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lang="en-IN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806348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23091-CE89-3831-E5BA-AE84DDBD2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146883-B267-E841-0AB2-3ADDD964B2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F6919F-2F4F-1B6A-9877-3B2E4DE122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C0E969-588D-F272-0F47-DC1BCDBD8AA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lang="en-IN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144908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95A1A-2DC4-BA32-C2FC-A36B4B373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44346E-D2EF-8EEF-7CB8-1B08FE8731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31EEE7-379F-063D-0AC8-2851AE6F51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5F6AA7-EFD5-D0C8-B075-7BBE981733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13</a:t>
            </a:fld>
            <a:endParaRPr lang="en-IN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82455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14</a:t>
            </a:fld>
            <a:endParaRPr lang="en-IN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985242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16</a:t>
            </a:fld>
            <a:endParaRPr lang="en-IN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992137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2E4AC-018C-21C2-5698-85E5A296E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FBAEA8-3751-F72F-883D-B595254960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54ECCC-A0A6-6D09-3D47-BB3E69D3B2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9764BE-6140-8137-37DB-983ED03C6FC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</a:t>
            </a:fld>
            <a:endParaRPr lang="en-IN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760337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05318-92D3-5EE2-F350-EC2F7EE08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191AF9-3637-27C5-7666-F687043EAF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65BD15-19BA-4D6F-2DE7-E7813EAC62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7B8737-2C2B-1694-05CA-5E14814103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</a:t>
            </a:fld>
            <a:endParaRPr lang="en-IN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038832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A8333-3A89-C570-E010-979FC1E16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D288CF-2305-12CC-05EC-25C001DF04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AED489-7A38-4458-F47A-56334D8074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F01C55-E568-1B9B-6766-4A9474676BC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</a:t>
            </a:fld>
            <a:endParaRPr lang="en-IN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380890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</a:t>
            </a:fld>
            <a:endParaRPr lang="en-IN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4737345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A102F-164E-DA18-394B-603D1929B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48794C-70F5-E632-611F-827F7B4265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6B2700-5E38-B87F-EF81-B2FD200E25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4AE2BA-A980-ABD7-5EEC-8D634DDBF08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22</a:t>
            </a:fld>
            <a:endParaRPr lang="en-IN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266360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788CB-86E9-ED10-5CB1-3099072BE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ACB368-B158-0087-4988-0464A1D171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395B94-4F98-C6E2-05ED-F46F2D8DCA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490099-30B4-F68B-4BB0-8D8FB25CFD3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23</a:t>
            </a:fld>
            <a:endParaRPr lang="en-IN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694452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24</a:t>
            </a:fld>
            <a:endParaRPr lang="en-IN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1894047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613CB-29FD-EA0F-FF23-F72E2073B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AAE9C5-D95D-1A6A-713A-5F92948D3A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9E60D4-67C9-CED1-2FF0-AED33780E8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0C4400-9DD1-31A0-73BD-E4E33E44768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25</a:t>
            </a:fld>
            <a:endParaRPr lang="en-IN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5542720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95F629D-73C0-FDFD-3F11-817A22DA023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27</a:t>
            </a:fld>
            <a:endParaRPr lang="en-IN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8" name="Google Shape;228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38560B1-027F-20B1-4A74-E7C804FD5AC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28</a:t>
            </a:fld>
            <a:endParaRPr lang="en-IN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>
          <a:extLst>
            <a:ext uri="{FF2B5EF4-FFF2-40B4-BE49-F238E27FC236}">
              <a16:creationId xmlns:a16="http://schemas.microsoft.com/office/drawing/2014/main" id="{DF0EBE14-23E7-552C-A113-21DC43E1C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7:notes">
            <a:extLst>
              <a:ext uri="{FF2B5EF4-FFF2-40B4-BE49-F238E27FC236}">
                <a16:creationId xmlns:a16="http://schemas.microsoft.com/office/drawing/2014/main" id="{B7FB23CD-DD2E-C6D4-74E5-7A704D7E1C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17:notes">
            <a:extLst>
              <a:ext uri="{FF2B5EF4-FFF2-40B4-BE49-F238E27FC236}">
                <a16:creationId xmlns:a16="http://schemas.microsoft.com/office/drawing/2014/main" id="{287A140C-CBD5-B146-AD32-DB13BA6FB4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BCAC45A-1F4D-600F-13C3-6E029AEEFFD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29</a:t>
            </a:fld>
            <a:endParaRPr lang="en-IN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501658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4" name="Google Shape;54;p8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.gif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27.png"/><Relationship Id="rId4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367184" y="4234898"/>
            <a:ext cx="1530182" cy="1344991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3"/>
          <p:cNvSpPr txBox="1">
            <a:spLocks noGrp="1"/>
          </p:cNvSpPr>
          <p:nvPr>
            <p:ph type="ctrTitle"/>
          </p:nvPr>
        </p:nvSpPr>
        <p:spPr>
          <a:xfrm>
            <a:off x="3575133" y="6007509"/>
            <a:ext cx="5149887" cy="7374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>
              <a:lnSpc>
                <a:spcPct val="120000"/>
              </a:lnSpc>
            </a:pPr>
            <a:b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600" b="1" dirty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br>
              <a:rPr lang="en-IN" sz="1600" b="1" dirty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en-IN" sz="1600" dirty="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en-IN" sz="160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en-IN" sz="1600" dirty="0">
                <a:solidFill>
                  <a:srgbClr val="00B0F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en-IN" sz="160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en-IN" sz="1600" dirty="0">
                <a:solidFill>
                  <a:srgbClr val="FF0000"/>
                </a:solidFill>
              </a:rPr>
            </a:br>
            <a:br>
              <a:rPr lang="en-IN" dirty="0"/>
            </a:br>
            <a:r>
              <a:rPr lang="en-IN" dirty="0"/>
              <a:t> </a:t>
            </a:r>
            <a:endParaRPr dirty="0"/>
          </a:p>
        </p:txBody>
      </p:sp>
      <p:sp>
        <p:nvSpPr>
          <p:cNvPr id="90" name="Google Shape;90;p13"/>
          <p:cNvSpPr txBox="1">
            <a:spLocks noGrp="1"/>
          </p:cNvSpPr>
          <p:nvPr>
            <p:ph type="subTitle" idx="1"/>
          </p:nvPr>
        </p:nvSpPr>
        <p:spPr>
          <a:xfrm>
            <a:off x="3303639" y="5771535"/>
            <a:ext cx="1248696" cy="471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25000" lnSpcReduction="20000"/>
          </a:bodyPr>
          <a:lstStyle/>
          <a:p>
            <a:pPr marL="0" lvl="0" indent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sz="8600" b="1" dirty="0"/>
          </a:p>
          <a:p>
            <a:pPr marL="0" lvl="0" indent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IN" sz="8600" b="1" dirty="0"/>
              <a:t> </a:t>
            </a:r>
            <a:endParaRPr dirty="0"/>
          </a:p>
          <a:p>
            <a:pPr marL="0" lvl="0" indent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b="1" dirty="0"/>
          </a:p>
          <a:p>
            <a:pPr marL="0" lvl="0" indent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  <a:p>
            <a:pPr marL="0" lvl="0" indent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CCED5C-C3A4-0155-4AA2-FC7361DDB4AE}"/>
              </a:ext>
            </a:extLst>
          </p:cNvPr>
          <p:cNvSpPr txBox="1"/>
          <p:nvPr/>
        </p:nvSpPr>
        <p:spPr>
          <a:xfrm>
            <a:off x="4393292" y="44077"/>
            <a:ext cx="34054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Ph.D. Registration Seminar </a:t>
            </a:r>
          </a:p>
          <a:p>
            <a:pPr algn="ctr"/>
            <a:r>
              <a:rPr lang="en-US" sz="18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  <a:endParaRPr lang="en-IN" sz="1800" b="1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A6C846C-173E-F9E2-24CD-A70C10ABCE4F}"/>
              </a:ext>
            </a:extLst>
          </p:cNvPr>
          <p:cNvSpPr/>
          <p:nvPr/>
        </p:nvSpPr>
        <p:spPr>
          <a:xfrm>
            <a:off x="1239919" y="755251"/>
            <a:ext cx="9655278" cy="930277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7F41A4-A27E-9F5D-9B84-D85494C4C715}"/>
              </a:ext>
            </a:extLst>
          </p:cNvPr>
          <p:cNvSpPr txBox="1"/>
          <p:nvPr/>
        </p:nvSpPr>
        <p:spPr>
          <a:xfrm>
            <a:off x="1392687" y="739761"/>
            <a:ext cx="94791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dirty="0">
                <a:solidFill>
                  <a:srgbClr val="1552D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based Robotic Wire Arc Additive Manufacturing for Inconel 617 Alloy</a:t>
            </a:r>
            <a:endParaRPr lang="en-IN" sz="2800" dirty="0">
              <a:solidFill>
                <a:srgbClr val="1552DB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C004A5-0AFF-DC86-9DBD-29950DA922B5}"/>
              </a:ext>
            </a:extLst>
          </p:cNvPr>
          <p:cNvSpPr txBox="1"/>
          <p:nvPr/>
        </p:nvSpPr>
        <p:spPr>
          <a:xfrm>
            <a:off x="3303639" y="2936013"/>
            <a:ext cx="5657275" cy="11680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20000"/>
              </a:lnSpc>
              <a:spcBef>
                <a:spcPts val="600"/>
              </a:spcBef>
              <a:buNone/>
            </a:pPr>
            <a:r>
              <a:rPr lang="en-IN" sz="2000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Supervisor</a:t>
            </a:r>
          </a:p>
          <a:p>
            <a:pPr algn="ctr">
              <a:lnSpc>
                <a:spcPct val="120000"/>
              </a:lnSpc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IN" sz="2000" b="1" dirty="0" err="1">
                <a:solidFill>
                  <a:srgbClr val="FF0066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Dr.</a:t>
            </a:r>
            <a:r>
              <a:rPr lang="en-IN" sz="2000" b="1" dirty="0">
                <a:solidFill>
                  <a:srgbClr val="FF0066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Ravi Kumar Mandava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20000"/>
              </a:lnSpc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Asst. Professor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FC0554-60DA-232A-46D9-E2E7BF056493}"/>
              </a:ext>
            </a:extLst>
          </p:cNvPr>
          <p:cNvSpPr txBox="1"/>
          <p:nvPr/>
        </p:nvSpPr>
        <p:spPr>
          <a:xfrm>
            <a:off x="2968171" y="1760206"/>
            <a:ext cx="625565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</a:t>
            </a:r>
            <a:b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Mr. V </a:t>
            </a:r>
            <a:r>
              <a:rPr lang="en-IN" sz="2000" b="1" dirty="0" err="1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</a:t>
            </a:r>
            <a:r>
              <a:rPr lang="en-IN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 Praveen </a:t>
            </a:r>
            <a:r>
              <a:rPr lang="en-IN" sz="2000" b="1" dirty="0" err="1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Kalepu</a:t>
            </a:r>
            <a:r>
              <a:rPr lang="en-IN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20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(323ME0003)</a:t>
            </a:r>
            <a:br>
              <a:rPr lang="en-IN" sz="2000" b="1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000" b="1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Research Scholar </a:t>
            </a:r>
            <a:b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767398-3D18-E3C5-1F6F-AD21BA9C23E5}"/>
              </a:ext>
            </a:extLst>
          </p:cNvPr>
          <p:cNvSpPr txBox="1"/>
          <p:nvPr/>
        </p:nvSpPr>
        <p:spPr>
          <a:xfrm>
            <a:off x="3127828" y="5710698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Mechanical Engineering</a:t>
            </a:r>
            <a:b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IIITDM Kurnool</a:t>
            </a:r>
            <a:endParaRPr lang="en-IN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>
            <a:spLocks noGrp="1"/>
          </p:cNvSpPr>
          <p:nvPr>
            <p:ph type="subTitle" idx="1"/>
          </p:nvPr>
        </p:nvSpPr>
        <p:spPr>
          <a:xfrm>
            <a:off x="1028393" y="951470"/>
            <a:ext cx="9777259" cy="5449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25000" lnSpcReduction="20000"/>
          </a:bodyPr>
          <a:lstStyle/>
          <a:p>
            <a:pPr marL="342900" lvl="0" indent="-342900" algn="just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Wingdings" panose="05000000000000000000" pitchFamily="2" charset="2"/>
              <a:buChar char="Ø"/>
            </a:pPr>
            <a:r>
              <a:rPr lang="en-IN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</a:t>
            </a:r>
          </a:p>
          <a:p>
            <a:pPr marL="342900" lvl="0" indent="-342900" algn="just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Wingdings" panose="05000000000000000000" pitchFamily="2" charset="2"/>
              <a:buChar char="Ø"/>
            </a:pPr>
            <a:r>
              <a:rPr lang="en-IN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</a:t>
            </a:r>
          </a:p>
          <a:p>
            <a:pPr marL="342900" lvl="0" indent="-342900" algn="just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Wingdings" panose="05000000000000000000" pitchFamily="2" charset="2"/>
              <a:buChar char="Ø"/>
            </a:pPr>
            <a:r>
              <a:rPr lang="en-IN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marL="342900" lvl="0" indent="-342900" algn="just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</a:p>
          <a:p>
            <a:pPr marL="342900" indent="-342900" algn="just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Gaps</a:t>
            </a:r>
          </a:p>
          <a:p>
            <a:pPr marL="342900" lvl="0" indent="-342900" algn="just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 </a:t>
            </a:r>
          </a:p>
          <a:p>
            <a:pPr marL="342900" lvl="0" indent="-342900" algn="just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 done so far</a:t>
            </a:r>
          </a:p>
          <a:p>
            <a:pPr marL="342900" lvl="0" indent="-342900" algn="just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Experimentation </a:t>
            </a:r>
          </a:p>
          <a:p>
            <a:pPr marL="342900" lvl="0" indent="-342900" algn="just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ML optimization</a:t>
            </a:r>
          </a:p>
          <a:p>
            <a:pPr marL="342900" lvl="0" indent="-342900" algn="just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and discussion</a:t>
            </a:r>
          </a:p>
          <a:p>
            <a:pPr marL="342900" lvl="0" indent="-342900" algn="just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⮚"/>
            </a:pPr>
            <a:r>
              <a:rPr lang="en-US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 </a:t>
            </a:r>
          </a:p>
          <a:p>
            <a:pPr marL="342900" lvl="0" indent="-342900" algn="just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⮚"/>
            </a:pPr>
            <a:r>
              <a:rPr lang="en-US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  <a:p>
            <a:pPr marL="342900" lvl="0" indent="-342900" algn="just" rtl="0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⮚"/>
            </a:pP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 rtl="0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⮚"/>
            </a:pP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 rtl="0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⮚"/>
            </a:pP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just" rtl="0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</a:pPr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dirty="0"/>
          </a:p>
        </p:txBody>
      </p:sp>
      <p:pic>
        <p:nvPicPr>
          <p:cNvPr id="97" name="Google Shape;97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13048" y="0"/>
            <a:ext cx="1178952" cy="115397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" name="object 17">
            <a:extLst>
              <a:ext uri="{FF2B5EF4-FFF2-40B4-BE49-F238E27FC236}">
                <a16:creationId xmlns:a16="http://schemas.microsoft.com/office/drawing/2014/main" id="{D1269BEE-8A68-3224-4271-C22FD69B7AD2}"/>
              </a:ext>
            </a:extLst>
          </p:cNvPr>
          <p:cNvGrpSpPr/>
          <p:nvPr/>
        </p:nvGrpSpPr>
        <p:grpSpPr>
          <a:xfrm>
            <a:off x="0" y="6512552"/>
            <a:ext cx="12192000" cy="345448"/>
            <a:chOff x="0" y="3346348"/>
            <a:chExt cx="4608195" cy="109855"/>
          </a:xfrm>
        </p:grpSpPr>
        <p:sp>
          <p:nvSpPr>
            <p:cNvPr id="3" name="object 18">
              <a:extLst>
                <a:ext uri="{FF2B5EF4-FFF2-40B4-BE49-F238E27FC236}">
                  <a16:creationId xmlns:a16="http://schemas.microsoft.com/office/drawing/2014/main" id="{312833CE-F70A-5506-16E1-3AE7562C31AC}"/>
                </a:ext>
              </a:extLst>
            </p:cNvPr>
            <p:cNvSpPr/>
            <p:nvPr/>
          </p:nvSpPr>
          <p:spPr>
            <a:xfrm>
              <a:off x="0" y="3346348"/>
              <a:ext cx="1535976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 </a:t>
              </a:r>
              <a:r>
                <a:rPr lang="en-US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</a:t>
              </a:r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D Praveen Kalepu (IIITDM Kurnool)</a:t>
              </a:r>
              <a:endPara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19">
              <a:extLst>
                <a:ext uri="{FF2B5EF4-FFF2-40B4-BE49-F238E27FC236}">
                  <a16:creationId xmlns:a16="http://schemas.microsoft.com/office/drawing/2014/main" id="{72BA5081-D254-7B6C-7D48-E412477DF91B}"/>
                </a:ext>
              </a:extLst>
            </p:cNvPr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Ph.D</a:t>
              </a:r>
              <a:r>
                <a:rPr lang="en-US" b="1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. </a:t>
              </a: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Registration seminar </a:t>
              </a:r>
            </a:p>
          </p:txBody>
        </p:sp>
        <p:sp>
          <p:nvSpPr>
            <p:cNvPr id="5" name="object 20">
              <a:extLst>
                <a:ext uri="{FF2B5EF4-FFF2-40B4-BE49-F238E27FC236}">
                  <a16:creationId xmlns:a16="http://schemas.microsoft.com/office/drawing/2014/main" id="{C562C708-10AC-A7B4-9C76-94CFD29FA7B0}"/>
                </a:ext>
              </a:extLst>
            </p:cNvPr>
            <p:cNvSpPr/>
            <p:nvPr/>
          </p:nvSpPr>
          <p:spPr>
            <a:xfrm>
              <a:off x="307213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July 2025                        </a:t>
              </a:r>
              <a:r>
                <a:rPr lang="en-US" dirty="0"/>
                <a:t>2/30</a:t>
              </a:r>
              <a:endParaRPr dirty="0"/>
            </a:p>
          </p:txBody>
        </p:sp>
      </p:grp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E256D97-30D6-7F20-C9ED-6FD17A1AAD18}"/>
              </a:ext>
            </a:extLst>
          </p:cNvPr>
          <p:cNvSpPr/>
          <p:nvPr/>
        </p:nvSpPr>
        <p:spPr>
          <a:xfrm>
            <a:off x="992459" y="188267"/>
            <a:ext cx="9360910" cy="63909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Contents</a:t>
            </a:r>
            <a:endParaRPr lang="en-IN" sz="2800" b="1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5189E0D-6448-1C2E-0EEB-19FD96C81A1D}"/>
              </a:ext>
            </a:extLst>
          </p:cNvPr>
          <p:cNvSpPr/>
          <p:nvPr/>
        </p:nvSpPr>
        <p:spPr>
          <a:xfrm>
            <a:off x="306967" y="173322"/>
            <a:ext cx="10144723" cy="790239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about Human Activity Recognition</a:t>
            </a:r>
            <a:endParaRPr lang="en-IN" sz="2800" b="1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55BCA3-D4C5-E9B1-7B4B-4203C0399228}"/>
              </a:ext>
            </a:extLst>
          </p:cNvPr>
          <p:cNvSpPr txBox="1"/>
          <p:nvPr/>
        </p:nvSpPr>
        <p:spPr>
          <a:xfrm>
            <a:off x="155742" y="1036037"/>
            <a:ext cx="7735655" cy="4462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Human Activity Recognition (HAR)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refers to automatically identifying and classifying human actions from sensor or motion data.</a:t>
            </a:r>
          </a:p>
          <a:p>
            <a:pPr marL="342900" lvl="0" indent="-342900" eaLnBrk="0" fontAlgn="base" hangingPunct="0">
              <a:spcBef>
                <a:spcPts val="600"/>
              </a:spcBef>
              <a:spcAft>
                <a:spcPct val="0"/>
              </a:spcAft>
              <a:buClrTx/>
              <a:buFont typeface="Wingdings" panose="05000000000000000000" pitchFamily="2" charset="2"/>
              <a:buChar char="q"/>
            </a:pP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 analyzes </a:t>
            </a:r>
            <a:r>
              <a:rPr lang="en-US" alt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body movement patterns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to identify activities like walking, sitting, standing, and climbing stairs.</a:t>
            </a:r>
          </a:p>
          <a:p>
            <a:pPr marL="342900" lvl="0" indent="-342900" eaLnBrk="0" fontAlgn="base" hangingPunct="0">
              <a:spcBef>
                <a:spcPts val="600"/>
              </a:spcBef>
              <a:spcAft>
                <a:spcPct val="0"/>
              </a:spcAft>
              <a:buClrTx/>
              <a:buFont typeface="Wingdings" panose="05000000000000000000" pitchFamily="2" charset="2"/>
              <a:buChar char="q"/>
            </a:pP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Accurate HAR supports </a:t>
            </a:r>
            <a:r>
              <a:rPr lang="en-US" alt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abnormal behavior detection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recovery monitoring, and safety for independent living.</a:t>
            </a:r>
          </a:p>
          <a:p>
            <a:pPr lvl="0" eaLnBrk="0" fontAlgn="base" hangingPunct="0">
              <a:spcBef>
                <a:spcPts val="600"/>
              </a:spcBef>
              <a:spcAft>
                <a:spcPct val="0"/>
              </a:spcAft>
              <a:buClrTx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spcBef>
                <a:spcPts val="600"/>
              </a:spcBef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HAR is needed ?</a:t>
            </a:r>
          </a:p>
          <a:p>
            <a:pPr marL="342900" indent="-342900" algn="just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Monitor patient movements for rehabilitation and recovery progress.</a:t>
            </a:r>
          </a:p>
          <a:p>
            <a:pPr marL="342900" indent="-342900" algn="just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Enhance surveillance systems with automatic threat detection.</a:t>
            </a:r>
          </a:p>
          <a:p>
            <a:pPr marL="342900" indent="-342900" algn="just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 robots to understand and respond to human actions.</a:t>
            </a:r>
          </a:p>
          <a:p>
            <a:pPr marL="342900" indent="-342900" algn="just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interaction, navigation, and task coordination with humans.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1798EBA-61CB-8BFB-0478-7AFB01E152CD}"/>
              </a:ext>
            </a:extLst>
          </p:cNvPr>
          <p:cNvGrpSpPr/>
          <p:nvPr/>
        </p:nvGrpSpPr>
        <p:grpSpPr>
          <a:xfrm>
            <a:off x="0" y="6515452"/>
            <a:ext cx="12192000" cy="387879"/>
            <a:chOff x="0" y="6470121"/>
            <a:chExt cx="12192000" cy="387879"/>
          </a:xfrm>
        </p:grpSpPr>
        <p:grpSp>
          <p:nvGrpSpPr>
            <p:cNvPr id="22" name="object 17">
              <a:extLst>
                <a:ext uri="{FF2B5EF4-FFF2-40B4-BE49-F238E27FC236}">
                  <a16:creationId xmlns:a16="http://schemas.microsoft.com/office/drawing/2014/main" id="{571F77DF-10D7-2F75-A5E6-35D39089473D}"/>
                </a:ext>
              </a:extLst>
            </p:cNvPr>
            <p:cNvGrpSpPr/>
            <p:nvPr/>
          </p:nvGrpSpPr>
          <p:grpSpPr>
            <a:xfrm>
              <a:off x="0" y="6470121"/>
              <a:ext cx="12192000" cy="345448"/>
              <a:chOff x="0" y="3346348"/>
              <a:chExt cx="4608195" cy="109855"/>
            </a:xfrm>
          </p:grpSpPr>
          <p:sp>
            <p:nvSpPr>
              <p:cNvPr id="24" name="object 18">
                <a:extLst>
                  <a:ext uri="{FF2B5EF4-FFF2-40B4-BE49-F238E27FC236}">
                    <a16:creationId xmlns:a16="http://schemas.microsoft.com/office/drawing/2014/main" id="{7FB4F393-FECD-DAD5-996E-017984D17E89}"/>
                  </a:ext>
                </a:extLst>
              </p:cNvPr>
              <p:cNvSpPr/>
              <p:nvPr/>
            </p:nvSpPr>
            <p:spPr>
              <a:xfrm>
                <a:off x="0" y="3346348"/>
                <a:ext cx="1535976" cy="109855"/>
              </a:xfrm>
              <a:custGeom>
                <a:avLst/>
                <a:gdLst/>
                <a:ahLst/>
                <a:cxnLst/>
                <a:rect l="l" t="t" r="r" b="b"/>
                <a:pathLst>
                  <a:path w="1536065" h="109854">
                    <a:moveTo>
                      <a:pt x="1535976" y="0"/>
                    </a:moveTo>
                    <a:lnTo>
                      <a:pt x="0" y="0"/>
                    </a:lnTo>
                    <a:lnTo>
                      <a:pt x="0" y="109651"/>
                    </a:lnTo>
                    <a:lnTo>
                      <a:pt x="1535976" y="109651"/>
                    </a:lnTo>
                    <a:lnTo>
                      <a:pt x="1535976" y="0"/>
                    </a:lnTo>
                    <a:close/>
                  </a:path>
                </a:pathLst>
              </a:custGeom>
              <a:solidFill>
                <a:schemeClr val="accent5">
                  <a:lumMod val="40000"/>
                  <a:lumOff val="60000"/>
                </a:schemeClr>
              </a:solidFill>
            </p:spPr>
            <p:txBody>
              <a:bodyPr wrap="square" lIns="0" tIns="0" rIns="0" bIns="0" rtlCol="0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 </a:t>
                </a:r>
                <a:r>
                  <a:rPr lang="en-US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 Praveen Kalepu (IIITDM Kurnool)</a:t>
                </a:r>
                <a:endParaRPr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5" name="object 19">
                <a:extLst>
                  <a:ext uri="{FF2B5EF4-FFF2-40B4-BE49-F238E27FC236}">
                    <a16:creationId xmlns:a16="http://schemas.microsoft.com/office/drawing/2014/main" id="{18CC83C8-AE92-C7BF-D700-9F0028DD8916}"/>
                  </a:ext>
                </a:extLst>
              </p:cNvPr>
              <p:cNvSpPr/>
              <p:nvPr/>
            </p:nvSpPr>
            <p:spPr>
              <a:xfrm>
                <a:off x="1535976" y="3346348"/>
                <a:ext cx="1536065" cy="109855"/>
              </a:xfrm>
              <a:custGeom>
                <a:avLst/>
                <a:gdLst/>
                <a:ahLst/>
                <a:cxnLst/>
                <a:rect l="l" t="t" r="r" b="b"/>
                <a:pathLst>
                  <a:path w="1536064" h="109854">
                    <a:moveTo>
                      <a:pt x="1535976" y="0"/>
                    </a:moveTo>
                    <a:lnTo>
                      <a:pt x="0" y="0"/>
                    </a:lnTo>
                    <a:lnTo>
                      <a:pt x="0" y="109651"/>
                    </a:lnTo>
                    <a:lnTo>
                      <a:pt x="1535976" y="109651"/>
                    </a:lnTo>
                    <a:lnTo>
                      <a:pt x="1535976" y="0"/>
                    </a:lnTo>
                    <a:close/>
                  </a:path>
                </a:pathLst>
              </a:custGeom>
              <a:solidFill>
                <a:schemeClr val="accent4">
                  <a:lumMod val="40000"/>
                  <a:lumOff val="60000"/>
                </a:schemeClr>
              </a:solidFill>
            </p:spPr>
            <p:txBody>
              <a:bodyPr wrap="square" lIns="0" tIns="0" rIns="0" bIns="0" rtlCol="0"/>
              <a:lstStyle/>
              <a:p>
                <a:pPr algn="ctr"/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Progressive seminar </a:t>
                </a:r>
                <a:endParaRPr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object 20">
                <a:extLst>
                  <a:ext uri="{FF2B5EF4-FFF2-40B4-BE49-F238E27FC236}">
                    <a16:creationId xmlns:a16="http://schemas.microsoft.com/office/drawing/2014/main" id="{E22B19AF-17BD-55E5-B681-E5A2C367A8B4}"/>
                  </a:ext>
                </a:extLst>
              </p:cNvPr>
              <p:cNvSpPr/>
              <p:nvPr/>
            </p:nvSpPr>
            <p:spPr>
              <a:xfrm>
                <a:off x="3072130" y="3346348"/>
                <a:ext cx="1536065" cy="109855"/>
              </a:xfrm>
              <a:custGeom>
                <a:avLst/>
                <a:gdLst/>
                <a:ahLst/>
                <a:cxnLst/>
                <a:rect l="l" t="t" r="r" b="b"/>
                <a:pathLst>
                  <a:path w="1536064" h="109854">
                    <a:moveTo>
                      <a:pt x="1535976" y="0"/>
                    </a:moveTo>
                    <a:lnTo>
                      <a:pt x="0" y="0"/>
                    </a:lnTo>
                    <a:lnTo>
                      <a:pt x="0" y="109651"/>
                    </a:lnTo>
                    <a:lnTo>
                      <a:pt x="1535976" y="109651"/>
                    </a:lnTo>
                    <a:lnTo>
                      <a:pt x="1535976" y="0"/>
                    </a:lnTo>
                    <a:close/>
                  </a:path>
                </a:pathLst>
              </a:cu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lIns="0" tIns="0" rIns="0" bIns="0" rtlCol="0"/>
              <a:lstStyle/>
              <a:p>
                <a:pPr algn="ctr"/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July 2025		3/30                        </a:t>
                </a:r>
                <a:endParaRPr dirty="0"/>
              </a:p>
            </p:txBody>
          </p:sp>
        </p:grpSp>
        <p:sp>
          <p:nvSpPr>
            <p:cNvPr id="23" name="object 19">
              <a:extLst>
                <a:ext uri="{FF2B5EF4-FFF2-40B4-BE49-F238E27FC236}">
                  <a16:creationId xmlns:a16="http://schemas.microsoft.com/office/drawing/2014/main" id="{E4B04FCE-3535-7E2A-C9F3-B17AF8188310}"/>
                </a:ext>
              </a:extLst>
            </p:cNvPr>
            <p:cNvSpPr/>
            <p:nvPr/>
          </p:nvSpPr>
          <p:spPr>
            <a:xfrm>
              <a:off x="4063765" y="6512552"/>
              <a:ext cx="4064000" cy="345448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Ph.D</a:t>
              </a:r>
              <a:r>
                <a:rPr 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. </a:t>
              </a: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Registration seminar </a:t>
              </a: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4" name="Google Shape;97;p14">
            <a:extLst>
              <a:ext uri="{FF2B5EF4-FFF2-40B4-BE49-F238E27FC236}">
                <a16:creationId xmlns:a16="http://schemas.microsoft.com/office/drawing/2014/main" id="{0391E1C4-F12F-8680-787F-98050260B6A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13048" y="0"/>
            <a:ext cx="1178952" cy="1153972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52CE074-1755-9FDE-138A-5393748214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0732" y="1272329"/>
            <a:ext cx="3838536" cy="4611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2591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31A98E9-AD47-0CE4-C7B9-7E54BFB61AA4}"/>
              </a:ext>
            </a:extLst>
          </p:cNvPr>
          <p:cNvSpPr/>
          <p:nvPr/>
        </p:nvSpPr>
        <p:spPr>
          <a:xfrm>
            <a:off x="306967" y="173322"/>
            <a:ext cx="10144723" cy="790239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Applications of Human Activity Recognition</a:t>
            </a:r>
            <a:endParaRPr lang="en-IN" sz="2800" b="1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Google Shape;97;p14">
            <a:extLst>
              <a:ext uri="{FF2B5EF4-FFF2-40B4-BE49-F238E27FC236}">
                <a16:creationId xmlns:a16="http://schemas.microsoft.com/office/drawing/2014/main" id="{17A7E052-D967-5F19-4597-CD676186DF8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13048" y="0"/>
            <a:ext cx="1178952" cy="1153972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C73D5F0-B7F3-DE50-8CFB-84FCCD1EFB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66" t="4385" r="2783" b="6483"/>
          <a:stretch>
            <a:fillRect/>
          </a:stretch>
        </p:blipFill>
        <p:spPr>
          <a:xfrm>
            <a:off x="824023" y="1064713"/>
            <a:ext cx="9908346" cy="5793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2588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3A705EC-C901-9416-D908-2E6D5195AAB7}"/>
              </a:ext>
            </a:extLst>
          </p:cNvPr>
          <p:cNvSpPr/>
          <p:nvPr/>
        </p:nvSpPr>
        <p:spPr>
          <a:xfrm>
            <a:off x="306967" y="173322"/>
            <a:ext cx="10144723" cy="790239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Sensor Classification for Human Activity Recognition</a:t>
            </a:r>
            <a:endParaRPr lang="en-IN" sz="2800" b="1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Google Shape;97;p14">
            <a:extLst>
              <a:ext uri="{FF2B5EF4-FFF2-40B4-BE49-F238E27FC236}">
                <a16:creationId xmlns:a16="http://schemas.microsoft.com/office/drawing/2014/main" id="{38540121-723E-AFE9-8197-7A85999C6C7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13048" y="0"/>
            <a:ext cx="1178952" cy="1153972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4E03B2A-5B7E-D8EE-C2BA-644AE6D2FFE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57" t="4017" r="692" b="5814"/>
          <a:stretch>
            <a:fillRect/>
          </a:stretch>
        </p:blipFill>
        <p:spPr>
          <a:xfrm>
            <a:off x="0" y="963561"/>
            <a:ext cx="12288032" cy="5374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9402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3AF45-51E3-C82C-DF05-241E9A30B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4A2D9A6-2C88-6E43-2980-C3F673F70A03}"/>
              </a:ext>
            </a:extLst>
          </p:cNvPr>
          <p:cNvSpPr/>
          <p:nvPr/>
        </p:nvSpPr>
        <p:spPr>
          <a:xfrm>
            <a:off x="89899" y="109580"/>
            <a:ext cx="10332295" cy="790239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Different Approaches to Data Collection</a:t>
            </a:r>
            <a:endParaRPr lang="en-IN" sz="2800" b="1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5" name="object 17">
            <a:extLst>
              <a:ext uri="{FF2B5EF4-FFF2-40B4-BE49-F238E27FC236}">
                <a16:creationId xmlns:a16="http://schemas.microsoft.com/office/drawing/2014/main" id="{B02D4B01-710A-86C5-A0CB-81CC8560DFAB}"/>
              </a:ext>
            </a:extLst>
          </p:cNvPr>
          <p:cNvGrpSpPr/>
          <p:nvPr/>
        </p:nvGrpSpPr>
        <p:grpSpPr>
          <a:xfrm>
            <a:off x="0" y="6521507"/>
            <a:ext cx="12233562" cy="336508"/>
            <a:chOff x="0" y="3458426"/>
            <a:chExt cx="4623904" cy="109855"/>
          </a:xfrm>
        </p:grpSpPr>
        <p:sp>
          <p:nvSpPr>
            <p:cNvPr id="17" name="object 18">
              <a:extLst>
                <a:ext uri="{FF2B5EF4-FFF2-40B4-BE49-F238E27FC236}">
                  <a16:creationId xmlns:a16="http://schemas.microsoft.com/office/drawing/2014/main" id="{E8BCA60C-96D3-4416-AA7B-B29B2352EAD1}"/>
                </a:ext>
              </a:extLst>
            </p:cNvPr>
            <p:cNvSpPr/>
            <p:nvPr/>
          </p:nvSpPr>
          <p:spPr>
            <a:xfrm>
              <a:off x="0" y="3458426"/>
              <a:ext cx="1568890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 </a:t>
              </a:r>
              <a:r>
                <a:rPr lang="en-US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</a:t>
              </a:r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D Praveen Kalepu (IIITDM Kurnool)</a:t>
              </a:r>
              <a:endPara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" name="object 20">
              <a:extLst>
                <a:ext uri="{FF2B5EF4-FFF2-40B4-BE49-F238E27FC236}">
                  <a16:creationId xmlns:a16="http://schemas.microsoft.com/office/drawing/2014/main" id="{1351B9FD-352E-2A60-DD63-6CA89A4F8B2E}"/>
                </a:ext>
              </a:extLst>
            </p:cNvPr>
            <p:cNvSpPr/>
            <p:nvPr/>
          </p:nvSpPr>
          <p:spPr>
            <a:xfrm>
              <a:off x="3087839" y="3458426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July 2025                        6/30</a:t>
              </a:r>
              <a:endParaRPr dirty="0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35A6BCE2-AB64-24CC-6FF4-2397CC1B198A}"/>
              </a:ext>
            </a:extLst>
          </p:cNvPr>
          <p:cNvSpPr txBox="1"/>
          <p:nvPr/>
        </p:nvSpPr>
        <p:spPr>
          <a:xfrm>
            <a:off x="1843750" y="5519240"/>
            <a:ext cx="797125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Fig.1. Figure (a) Data collection using Kinect sensor and figure (b) Data collection using wearable sensors </a:t>
            </a:r>
          </a:p>
        </p:txBody>
      </p:sp>
      <p:sp>
        <p:nvSpPr>
          <p:cNvPr id="4" name="object 19">
            <a:extLst>
              <a:ext uri="{FF2B5EF4-FFF2-40B4-BE49-F238E27FC236}">
                <a16:creationId xmlns:a16="http://schemas.microsoft.com/office/drawing/2014/main" id="{00621A7D-E8CD-0F2D-AD6D-6EEEE81060C7}"/>
              </a:ext>
            </a:extLst>
          </p:cNvPr>
          <p:cNvSpPr/>
          <p:nvPr/>
        </p:nvSpPr>
        <p:spPr>
          <a:xfrm>
            <a:off x="4150846" y="6514836"/>
            <a:ext cx="4064000" cy="345448"/>
          </a:xfrm>
          <a:custGeom>
            <a:avLst/>
            <a:gdLst/>
            <a:ahLst/>
            <a:cxnLst/>
            <a:rect l="l" t="t" r="r" b="b"/>
            <a:pathLst>
              <a:path w="1536064" h="109854">
                <a:moveTo>
                  <a:pt x="1535976" y="0"/>
                </a:moveTo>
                <a:lnTo>
                  <a:pt x="0" y="0"/>
                </a:lnTo>
                <a:lnTo>
                  <a:pt x="0" y="109651"/>
                </a:lnTo>
                <a:lnTo>
                  <a:pt x="1535976" y="109651"/>
                </a:lnTo>
                <a:lnTo>
                  <a:pt x="1535976" y="0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</a:schemeClr>
          </a:solidFill>
        </p:spPr>
        <p:txBody>
          <a:bodyPr wrap="square" lIns="0" tIns="0" rIns="0" bIns="0" rtlCol="0"/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Ph.D</a:t>
            </a:r>
            <a:r>
              <a:rPr lang="en-US" sz="14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egistration seminar 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AC412BF-FDE0-F4A6-F26C-9768BA118978}"/>
              </a:ext>
            </a:extLst>
          </p:cNvPr>
          <p:cNvGrpSpPr/>
          <p:nvPr/>
        </p:nvGrpSpPr>
        <p:grpSpPr>
          <a:xfrm>
            <a:off x="0" y="1015594"/>
            <a:ext cx="7854696" cy="4079242"/>
            <a:chOff x="219074" y="1008923"/>
            <a:chExt cx="8303134" cy="4276725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3E1896B6-3F5D-3C72-1701-46022E8658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9074" y="1008923"/>
              <a:ext cx="8303134" cy="4276725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D4A0178F-F01E-DE2D-C58A-C0883155A5F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6867" y="1322814"/>
              <a:ext cx="2733533" cy="3648942"/>
            </a:xfrm>
            <a:prstGeom prst="rect">
              <a:avLst/>
            </a:prstGeom>
          </p:spPr>
        </p:pic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1F0ABAB3-D2BE-157C-1118-7417F0275FCE}"/>
                </a:ext>
              </a:extLst>
            </p:cNvPr>
            <p:cNvSpPr/>
            <p:nvPr/>
          </p:nvSpPr>
          <p:spPr>
            <a:xfrm>
              <a:off x="1543574" y="5036075"/>
              <a:ext cx="246888" cy="24730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39DCA23E-4775-5BD5-7E3B-4D7A7C561A77}"/>
                </a:ext>
              </a:extLst>
            </p:cNvPr>
            <p:cNvSpPr/>
            <p:nvPr/>
          </p:nvSpPr>
          <p:spPr>
            <a:xfrm>
              <a:off x="4909447" y="4971756"/>
              <a:ext cx="246888" cy="24730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pic>
        <p:nvPicPr>
          <p:cNvPr id="41" name="Picture 40">
            <a:extLst>
              <a:ext uri="{FF2B5EF4-FFF2-40B4-BE49-F238E27FC236}">
                <a16:creationId xmlns:a16="http://schemas.microsoft.com/office/drawing/2014/main" id="{12D580C9-8802-D887-9401-8093BB6A11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501" y="1380923"/>
            <a:ext cx="4368327" cy="3529723"/>
          </a:xfrm>
          <a:prstGeom prst="rect">
            <a:avLst/>
          </a:prstGeom>
        </p:spPr>
      </p:pic>
      <p:pic>
        <p:nvPicPr>
          <p:cNvPr id="37" name="Google Shape;97;p14">
            <a:extLst>
              <a:ext uri="{FF2B5EF4-FFF2-40B4-BE49-F238E27FC236}">
                <a16:creationId xmlns:a16="http://schemas.microsoft.com/office/drawing/2014/main" id="{FE359CE8-2A05-AE67-6BCF-028CC1ABCE6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013048" y="0"/>
            <a:ext cx="1178952" cy="1153972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739B237E-7FC2-D5F1-2382-92BA6EEA784A}"/>
              </a:ext>
            </a:extLst>
          </p:cNvPr>
          <p:cNvSpPr txBox="1"/>
          <p:nvPr/>
        </p:nvSpPr>
        <p:spPr>
          <a:xfrm>
            <a:off x="3726011" y="5092670"/>
            <a:ext cx="4026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(a)</a:t>
            </a:r>
            <a:endParaRPr lang="en-IN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4169F07-788A-A455-DAD3-B167B678EFCD}"/>
              </a:ext>
            </a:extLst>
          </p:cNvPr>
          <p:cNvSpPr txBox="1"/>
          <p:nvPr/>
        </p:nvSpPr>
        <p:spPr>
          <a:xfrm>
            <a:off x="9412327" y="5092670"/>
            <a:ext cx="4026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(b)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005731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>
          <a:extLst>
            <a:ext uri="{FF2B5EF4-FFF2-40B4-BE49-F238E27FC236}">
              <a16:creationId xmlns:a16="http://schemas.microsoft.com/office/drawing/2014/main" id="{1E1CB984-8B57-D1F7-6C63-42B2270C1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28BB712-2AAC-736B-21C4-8DF39F02AA1B}"/>
              </a:ext>
            </a:extLst>
          </p:cNvPr>
          <p:cNvSpPr/>
          <p:nvPr/>
        </p:nvSpPr>
        <p:spPr>
          <a:xfrm>
            <a:off x="89899" y="46377"/>
            <a:ext cx="10687665" cy="790239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  <a:endParaRPr lang="en-IN" sz="2800" b="1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4CE9EAC-4EF0-A101-F976-7E438BA29523}"/>
              </a:ext>
            </a:extLst>
          </p:cNvPr>
          <p:cNvGrpSpPr/>
          <p:nvPr/>
        </p:nvGrpSpPr>
        <p:grpSpPr>
          <a:xfrm>
            <a:off x="0" y="6512552"/>
            <a:ext cx="12102101" cy="351456"/>
            <a:chOff x="0" y="6512552"/>
            <a:chExt cx="12102101" cy="351456"/>
          </a:xfrm>
        </p:grpSpPr>
        <p:grpSp>
          <p:nvGrpSpPr>
            <p:cNvPr id="2" name="object 17">
              <a:extLst>
                <a:ext uri="{FF2B5EF4-FFF2-40B4-BE49-F238E27FC236}">
                  <a16:creationId xmlns:a16="http://schemas.microsoft.com/office/drawing/2014/main" id="{B4E9C99D-C726-F7EB-F99E-612100BEF8EE}"/>
                </a:ext>
              </a:extLst>
            </p:cNvPr>
            <p:cNvGrpSpPr/>
            <p:nvPr/>
          </p:nvGrpSpPr>
          <p:grpSpPr>
            <a:xfrm>
              <a:off x="0" y="6518560"/>
              <a:ext cx="12102101" cy="345448"/>
              <a:chOff x="0" y="3346348"/>
              <a:chExt cx="4608195" cy="109855"/>
            </a:xfrm>
          </p:grpSpPr>
          <p:sp>
            <p:nvSpPr>
              <p:cNvPr id="3" name="object 18">
                <a:extLst>
                  <a:ext uri="{FF2B5EF4-FFF2-40B4-BE49-F238E27FC236}">
                    <a16:creationId xmlns:a16="http://schemas.microsoft.com/office/drawing/2014/main" id="{C8EBB60D-1CFB-0B4D-211F-E07A98C8AFA6}"/>
                  </a:ext>
                </a:extLst>
              </p:cNvPr>
              <p:cNvSpPr/>
              <p:nvPr/>
            </p:nvSpPr>
            <p:spPr>
              <a:xfrm>
                <a:off x="0" y="3346348"/>
                <a:ext cx="1535976" cy="109855"/>
              </a:xfrm>
              <a:custGeom>
                <a:avLst/>
                <a:gdLst/>
                <a:ahLst/>
                <a:cxnLst/>
                <a:rect l="l" t="t" r="r" b="b"/>
                <a:pathLst>
                  <a:path w="1536065" h="109854">
                    <a:moveTo>
                      <a:pt x="1535976" y="0"/>
                    </a:moveTo>
                    <a:lnTo>
                      <a:pt x="0" y="0"/>
                    </a:lnTo>
                    <a:lnTo>
                      <a:pt x="0" y="109651"/>
                    </a:lnTo>
                    <a:lnTo>
                      <a:pt x="1535976" y="109651"/>
                    </a:lnTo>
                    <a:lnTo>
                      <a:pt x="1535976" y="0"/>
                    </a:lnTo>
                    <a:close/>
                  </a:path>
                </a:pathLst>
              </a:custGeom>
              <a:solidFill>
                <a:schemeClr val="accent5">
                  <a:lumMod val="40000"/>
                  <a:lumOff val="60000"/>
                </a:schemeClr>
              </a:solidFill>
            </p:spPr>
            <p:txBody>
              <a:bodyPr wrap="square" lIns="0" tIns="0" rIns="0" bIns="0" rtlCol="0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 </a:t>
                </a:r>
                <a:r>
                  <a:rPr lang="en-US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 Praveen Kalepu (IIITDM Kurnool)</a:t>
                </a:r>
                <a:endParaRPr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" name="object 20">
                <a:extLst>
                  <a:ext uri="{FF2B5EF4-FFF2-40B4-BE49-F238E27FC236}">
                    <a16:creationId xmlns:a16="http://schemas.microsoft.com/office/drawing/2014/main" id="{112B5C85-FEA9-4F10-FDAB-26C16558DB88}"/>
                  </a:ext>
                </a:extLst>
              </p:cNvPr>
              <p:cNvSpPr/>
              <p:nvPr/>
            </p:nvSpPr>
            <p:spPr>
              <a:xfrm>
                <a:off x="3072130" y="3346348"/>
                <a:ext cx="1536065" cy="109855"/>
              </a:xfrm>
              <a:custGeom>
                <a:avLst/>
                <a:gdLst/>
                <a:ahLst/>
                <a:cxnLst/>
                <a:rect l="l" t="t" r="r" b="b"/>
                <a:pathLst>
                  <a:path w="1536064" h="109854">
                    <a:moveTo>
                      <a:pt x="1535976" y="0"/>
                    </a:moveTo>
                    <a:lnTo>
                      <a:pt x="0" y="0"/>
                    </a:lnTo>
                    <a:lnTo>
                      <a:pt x="0" y="109651"/>
                    </a:lnTo>
                    <a:lnTo>
                      <a:pt x="1535976" y="109651"/>
                    </a:lnTo>
                    <a:lnTo>
                      <a:pt x="1535976" y="0"/>
                    </a:lnTo>
                    <a:close/>
                  </a:path>
                </a:pathLst>
              </a:cu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lIns="0" tIns="0" rIns="0" bIns="0" rtlCol="0"/>
              <a:lstStyle/>
              <a:p>
                <a:pPr algn="ctr"/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July 2025                        7/30</a:t>
                </a:r>
                <a:endParaRPr dirty="0"/>
              </a:p>
            </p:txBody>
          </p:sp>
        </p:grpSp>
        <p:sp>
          <p:nvSpPr>
            <p:cNvPr id="9" name="object 19">
              <a:extLst>
                <a:ext uri="{FF2B5EF4-FFF2-40B4-BE49-F238E27FC236}">
                  <a16:creationId xmlns:a16="http://schemas.microsoft.com/office/drawing/2014/main" id="{4BB9FD2E-54AB-EF10-4DF3-A5EEBE2478FD}"/>
                </a:ext>
              </a:extLst>
            </p:cNvPr>
            <p:cNvSpPr/>
            <p:nvPr/>
          </p:nvSpPr>
          <p:spPr>
            <a:xfrm>
              <a:off x="4063765" y="6512552"/>
              <a:ext cx="4064000" cy="345448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Ph.D</a:t>
              </a:r>
              <a:r>
                <a:rPr 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. </a:t>
              </a:r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egistration seminar </a:t>
              </a: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7" name="Google Shape;97;p14">
            <a:extLst>
              <a:ext uri="{FF2B5EF4-FFF2-40B4-BE49-F238E27FC236}">
                <a16:creationId xmlns:a16="http://schemas.microsoft.com/office/drawing/2014/main" id="{C7352718-8164-E201-B579-3916480AC6E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33438" y="0"/>
            <a:ext cx="1058562" cy="882994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65C51A9-E26E-DAA9-2A32-C7AC29FA8F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8606108"/>
              </p:ext>
            </p:extLst>
          </p:nvPr>
        </p:nvGraphicFramePr>
        <p:xfrm>
          <a:off x="89899" y="949569"/>
          <a:ext cx="11644901" cy="5496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7978">
                  <a:extLst>
                    <a:ext uri="{9D8B030D-6E8A-4147-A177-3AD203B41FA5}">
                      <a16:colId xmlns:a16="http://schemas.microsoft.com/office/drawing/2014/main" val="1465534069"/>
                    </a:ext>
                  </a:extLst>
                </a:gridCol>
                <a:gridCol w="1477108">
                  <a:extLst>
                    <a:ext uri="{9D8B030D-6E8A-4147-A177-3AD203B41FA5}">
                      <a16:colId xmlns:a16="http://schemas.microsoft.com/office/drawing/2014/main" val="3561462080"/>
                    </a:ext>
                  </a:extLst>
                </a:gridCol>
                <a:gridCol w="3294184">
                  <a:extLst>
                    <a:ext uri="{9D8B030D-6E8A-4147-A177-3AD203B41FA5}">
                      <a16:colId xmlns:a16="http://schemas.microsoft.com/office/drawing/2014/main" val="3693561996"/>
                    </a:ext>
                  </a:extLst>
                </a:gridCol>
                <a:gridCol w="6365631">
                  <a:extLst>
                    <a:ext uri="{9D8B030D-6E8A-4147-A177-3AD203B41FA5}">
                      <a16:colId xmlns:a16="http://schemas.microsoft.com/office/drawing/2014/main" val="519534174"/>
                    </a:ext>
                  </a:extLst>
                </a:gridCol>
              </a:tblGrid>
              <a:tr h="4549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S. No.</a:t>
                      </a:r>
                    </a:p>
                  </a:txBody>
                  <a:tcPr marL="19085" marR="19085" marT="9542" marB="954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Authors &amp; Year</a:t>
                      </a:r>
                    </a:p>
                  </a:txBody>
                  <a:tcPr marL="19085" marR="19085" marT="9542" marB="954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Title</a:t>
                      </a:r>
                      <a:endParaRPr lang="en-IN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9085" marR="19085" marT="9542" marB="954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Key Findings</a:t>
                      </a:r>
                    </a:p>
                  </a:txBody>
                  <a:tcPr marL="19085" marR="19085" marT="9542" marB="9542" anchor="ctr"/>
                </a:tc>
                <a:extLst>
                  <a:ext uri="{0D108BD9-81ED-4DB2-BD59-A6C34878D82A}">
                    <a16:rowId xmlns:a16="http://schemas.microsoft.com/office/drawing/2014/main" val="3405995661"/>
                  </a:ext>
                </a:extLst>
              </a:tr>
              <a:tr h="1131855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IN" sz="1400" b="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9085" marR="19085" marT="9542" marB="9542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en-IN" sz="1400" b="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Lalwani et al., 2024</a:t>
                      </a:r>
                      <a:endParaRPr lang="en-IN" sz="1400" b="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9085" marR="19085" marT="9542" marB="9542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A Novel CNN-</a:t>
                      </a:r>
                      <a:r>
                        <a:rPr lang="en-US" sz="1400" b="0" i="0" u="none" strike="noStrike" cap="none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BiLSTM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-GRU Hybrid Deep Learning Model for Human Activity Recognition.</a:t>
                      </a:r>
                      <a:endParaRPr lang="en-US" sz="1400" b="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9085" marR="19085" marT="9542" marB="9542" anchor="ctr"/>
                </a:tc>
                <a:tc>
                  <a:txBody>
                    <a:bodyPr/>
                    <a:lstStyle/>
                    <a:p>
                      <a:pPr marL="285750" indent="-285750" algn="just" defTabSz="914400" rtl="0" eaLnBrk="1" latinLnBrk="0" hangingPunct="1">
                        <a:buFont typeface="Wingdings" panose="05000000000000000000" pitchFamily="2" charset="2"/>
                        <a:buChar char="§"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The proposed </a:t>
                      </a:r>
                      <a:r>
                        <a:rPr lang="en-US" sz="14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CNN-</a:t>
                      </a:r>
                      <a:r>
                        <a:rPr lang="en-US" sz="1400" b="1" i="0" u="none" strike="noStrike" cap="none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BiLSTM</a:t>
                      </a:r>
                      <a:r>
                        <a:rPr lang="en-US" sz="14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-GRU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 hybrid model achieved an accuracy of </a:t>
                      </a:r>
                      <a:r>
                        <a:rPr lang="en-US" sz="14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99.7%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 on the WISDM dataset</a:t>
                      </a:r>
                    </a:p>
                    <a:p>
                      <a:pPr marL="285750" indent="-285750" algn="just" defTabSz="914400" rtl="0" eaLnBrk="1" latinLnBrk="0" hangingPunct="1">
                        <a:buFont typeface="Wingdings" panose="05000000000000000000" pitchFamily="2" charset="2"/>
                        <a:buChar char="§"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The model processes raw wearable sensor data with </a:t>
                      </a:r>
                      <a:r>
                        <a:rPr lang="en-US" sz="14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minimal preprocessing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</a:t>
                      </a:r>
                    </a:p>
                    <a:p>
                      <a:pPr marL="285750" indent="-285750" algn="just" defTabSz="914400" rtl="0" eaLnBrk="1" latinLnBrk="0" hangingPunct="1">
                        <a:buFont typeface="Wingdings" panose="05000000000000000000" pitchFamily="2" charset="2"/>
                        <a:buChar char="§"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The findings have implications for </a:t>
                      </a:r>
                      <a:r>
                        <a:rPr lang="en-US" sz="14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bipedal robotics 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by enhancing human–robot interaction quality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en-US" sz="1400" b="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9085" marR="19085" marT="9542" marB="9542" anchor="ctr"/>
                </a:tc>
                <a:extLst>
                  <a:ext uri="{0D108BD9-81ED-4DB2-BD59-A6C34878D82A}">
                    <a16:rowId xmlns:a16="http://schemas.microsoft.com/office/drawing/2014/main" val="4220684924"/>
                  </a:ext>
                </a:extLst>
              </a:tr>
              <a:tr h="814046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IN" sz="1400" b="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9085" marR="19085" marT="9542" marB="9542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da-DK" sz="1400" b="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Ashwini K et al., 2020</a:t>
                      </a:r>
                      <a:endParaRPr lang="da-DK" sz="1400" b="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9085" marR="19085" marT="9542" marB="9542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Skeletal Data based Activity Recognition System</a:t>
                      </a:r>
                      <a:endParaRPr lang="en-US" sz="1400" b="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9085" marR="19085" marT="9542" marB="9542" anchor="ctr"/>
                </a:tc>
                <a:tc>
                  <a:txBody>
                    <a:bodyPr/>
                    <a:lstStyle/>
                    <a:p>
                      <a:pPr marL="285750" indent="-285750" algn="just" defTabSz="914400" rtl="0" eaLnBrk="1" latinLnBrk="0" hangingPunct="1">
                        <a:buFont typeface="Wingdings" panose="05000000000000000000" pitchFamily="2" charset="2"/>
                        <a:buChar char="§"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The system uses </a:t>
                      </a:r>
                      <a:r>
                        <a:rPr lang="en-US" sz="14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statistical features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 derived from Kinect skeletal data.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</a:p>
                    <a:p>
                      <a:pPr marL="285750" indent="-285750" algn="just" defTabSz="914400" rtl="0" eaLnBrk="1" latinLnBrk="0" hangingPunct="1">
                        <a:buFont typeface="Wingdings" panose="05000000000000000000" pitchFamily="2" charset="2"/>
                        <a:buChar char="§"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The </a:t>
                      </a:r>
                      <a:r>
                        <a:rPr lang="en-US" sz="14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Support Vector Machine (SVM)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 classifier performed better than the KNN classifier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en-US" sz="1400" b="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9085" marR="19085" marT="9542" marB="9542" anchor="ctr"/>
                </a:tc>
                <a:extLst>
                  <a:ext uri="{0D108BD9-81ED-4DB2-BD59-A6C34878D82A}">
                    <a16:rowId xmlns:a16="http://schemas.microsoft.com/office/drawing/2014/main" val="3776992934"/>
                  </a:ext>
                </a:extLst>
              </a:tr>
              <a:tr h="11578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sz="1400" b="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400" b="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Times New Roman"/>
                        </a:rPr>
                        <a:t>Rahul Kala et al., 2016</a:t>
                      </a:r>
                      <a:endParaRPr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Human Activity Recognition in Real-Times Environments using Skeleton Joints</a:t>
                      </a:r>
                      <a:endParaRPr lang="en-US" sz="1400" b="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Times New Roman"/>
                        <a:cs typeface="Times New Roman" panose="02020603050405020304" pitchFamily="18" charset="0"/>
                        <a:sym typeface="Times New Roman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285750" marR="0" lvl="0" indent="-28575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The </a:t>
                      </a:r>
                      <a:r>
                        <a:rPr lang="en-US" sz="14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Artificial Neural Network (ANN)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 classifier achieved the highest aggregate accuracy result of </a:t>
                      </a:r>
                      <a:r>
                        <a:rPr lang="en-US" sz="14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95.1%.</a:t>
                      </a:r>
                    </a:p>
                    <a:p>
                      <a:pPr marL="285750" marR="0" lvl="0" indent="-28575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Principal Component Analysis (PCA) was used for dimension reduction of 3D joint coordinates captured by the Kinect camera.</a:t>
                      </a:r>
                      <a:endParaRPr sz="1400" b="0" dirty="0">
                        <a:solidFill>
                          <a:schemeClr val="lt1"/>
                        </a:solidFill>
                        <a:latin typeface="Times New Roman" panose="02020603050405020304" pitchFamily="18" charset="0"/>
                        <a:ea typeface="Times New Roman"/>
                        <a:cs typeface="Times New Roman" panose="02020603050405020304" pitchFamily="18" charset="0"/>
                        <a:sym typeface="Times New Roman"/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356964958"/>
                  </a:ext>
                </a:extLst>
              </a:tr>
              <a:tr h="795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sz="1400" b="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Times New Roman"/>
                        </a:rPr>
                        <a:t>Komang Mandira et al.,</a:t>
                      </a:r>
                      <a:r>
                        <a:rPr lang="en-US" sz="1400" b="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 </a:t>
                      </a:r>
                      <a:r>
                        <a:rPr lang="en-IN" sz="1400" b="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Times New Roman"/>
                        </a:rPr>
                        <a:t>2019</a:t>
                      </a:r>
                      <a:endParaRPr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Human activity recognition using skeleton data and support vector machine</a:t>
                      </a:r>
                      <a:endParaRPr lang="en-US" sz="1400" b="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Times New Roman"/>
                        <a:cs typeface="Times New Roman" panose="02020603050405020304" pitchFamily="18" charset="0"/>
                        <a:sym typeface="Times New Roman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285750" marR="0" lvl="0" indent="-2857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The study proposed using </a:t>
                      </a:r>
                      <a:r>
                        <a:rPr lang="en-US" sz="14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Support Vector Machine (SVM) classification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 on skeleton data captured by a Kinect device with accuracy of </a:t>
                      </a:r>
                      <a:r>
                        <a:rPr lang="en-US" sz="14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93.75%.</a:t>
                      </a:r>
                      <a:endParaRPr sz="1400" b="1" dirty="0">
                        <a:solidFill>
                          <a:schemeClr val="lt1"/>
                        </a:solidFill>
                        <a:latin typeface="Times New Roman" panose="02020603050405020304" pitchFamily="18" charset="0"/>
                        <a:ea typeface="Times New Roman"/>
                        <a:cs typeface="Times New Roman" panose="02020603050405020304" pitchFamily="18" charset="0"/>
                        <a:sym typeface="Times New Roman"/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519018479"/>
                  </a:ext>
                </a:extLst>
              </a:tr>
              <a:tr h="114273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en-IN" sz="1400" b="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9085" marR="19085" marT="9542" marB="9542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en-IN" sz="1400" b="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Khatun et al., 2022</a:t>
                      </a:r>
                      <a:endParaRPr lang="en-IN" sz="1400" b="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9085" marR="19085" marT="9542" marB="9542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Deep CNN-LSTM With Self-Attention Model for Human Activity Recognition Using Wearable Sensor</a:t>
                      </a:r>
                      <a:endParaRPr lang="en-US" sz="1400" b="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9085" marR="19085" marT="9542" marB="9542" anchor="ctr"/>
                </a:tc>
                <a:tc>
                  <a:txBody>
                    <a:bodyPr/>
                    <a:lstStyle/>
                    <a:p>
                      <a:pPr marL="285750" indent="-285750" algn="just" defTabSz="914400" rtl="0" eaLnBrk="1" latinLnBrk="0" hangingPunct="1">
                        <a:buFont typeface="Wingdings" panose="05000000000000000000" pitchFamily="2" charset="2"/>
                        <a:buChar char="§"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A hybrid deep learning model combining </a:t>
                      </a:r>
                      <a:r>
                        <a:rPr lang="en-US" sz="14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CNN-LSTM and a self-attention algorithm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 was proposed to enhance predictive capabilities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</a:p>
                    <a:p>
                      <a:pPr marL="285750" indent="-285750" algn="just" defTabSz="914400" rtl="0" eaLnBrk="1" latinLnBrk="0" hangingPunct="1">
                        <a:buFont typeface="Wingdings" panose="05000000000000000000" pitchFamily="2" charset="2"/>
                        <a:buChar char="§"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The model uses raw smartphone sensor data (accelerometer, gyroscope, and linear acceleration)</a:t>
                      </a:r>
                    </a:p>
                    <a:p>
                      <a:pPr marL="285750" indent="-285750" algn="just" defTabSz="914400" rtl="0" eaLnBrk="1" latinLnBrk="0" hangingPunct="1">
                        <a:buFont typeface="Wingdings" panose="05000000000000000000" pitchFamily="2" charset="2"/>
                        <a:buChar char="§"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It achieved an accuracy of </a:t>
                      </a:r>
                      <a:r>
                        <a:rPr lang="en-US" sz="14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99.93%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 on the collected H-Activity dataset.</a:t>
                      </a:r>
                      <a:endParaRPr lang="en-US" sz="1400" b="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9085" marR="19085" marT="9542" marB="9542" anchor="ctr"/>
                </a:tc>
                <a:extLst>
                  <a:ext uri="{0D108BD9-81ED-4DB2-BD59-A6C34878D82A}">
                    <a16:rowId xmlns:a16="http://schemas.microsoft.com/office/drawing/2014/main" val="29874694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42228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>
          <a:extLst>
            <a:ext uri="{FF2B5EF4-FFF2-40B4-BE49-F238E27FC236}">
              <a16:creationId xmlns:a16="http://schemas.microsoft.com/office/drawing/2014/main" id="{A5E88850-9B07-5DFF-8C7C-663201052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82A2738-D62A-810D-EA4D-069876F8BA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4265988"/>
              </p:ext>
            </p:extLst>
          </p:nvPr>
        </p:nvGraphicFramePr>
        <p:xfrm>
          <a:off x="158686" y="857665"/>
          <a:ext cx="11844192" cy="55685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0040">
                  <a:extLst>
                    <a:ext uri="{9D8B030D-6E8A-4147-A177-3AD203B41FA5}">
                      <a16:colId xmlns:a16="http://schemas.microsoft.com/office/drawing/2014/main" val="1465534069"/>
                    </a:ext>
                  </a:extLst>
                </a:gridCol>
                <a:gridCol w="1512277">
                  <a:extLst>
                    <a:ext uri="{9D8B030D-6E8A-4147-A177-3AD203B41FA5}">
                      <a16:colId xmlns:a16="http://schemas.microsoft.com/office/drawing/2014/main" val="3561462080"/>
                    </a:ext>
                  </a:extLst>
                </a:gridCol>
                <a:gridCol w="3639940">
                  <a:extLst>
                    <a:ext uri="{9D8B030D-6E8A-4147-A177-3AD203B41FA5}">
                      <a16:colId xmlns:a16="http://schemas.microsoft.com/office/drawing/2014/main" val="2483098990"/>
                    </a:ext>
                  </a:extLst>
                </a:gridCol>
                <a:gridCol w="6101935">
                  <a:extLst>
                    <a:ext uri="{9D8B030D-6E8A-4147-A177-3AD203B41FA5}">
                      <a16:colId xmlns:a16="http://schemas.microsoft.com/office/drawing/2014/main" val="519534174"/>
                    </a:ext>
                  </a:extLst>
                </a:gridCol>
              </a:tblGrid>
              <a:tr h="277014"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400" b="1" u="none" strike="noStrike" cap="none" dirty="0">
                          <a:solidFill>
                            <a:schemeClr val="lt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S. No.</a:t>
                      </a:r>
                      <a:endParaRPr lang="en-IN" sz="1400" b="1" i="0" u="none" strike="noStrike" cap="none" dirty="0">
                        <a:solidFill>
                          <a:schemeClr val="lt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marL="19085" marR="19085" marT="9542" marB="9542" anchor="ctr"/>
                </a:tc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400" b="1" u="none" strike="noStrike" cap="none" dirty="0">
                          <a:solidFill>
                            <a:schemeClr val="lt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Authors &amp; Year</a:t>
                      </a:r>
                      <a:endParaRPr lang="en-IN" sz="1400" b="1" i="0" u="none" strike="noStrike" cap="none" dirty="0">
                        <a:solidFill>
                          <a:schemeClr val="lt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marL="19085" marR="19085" marT="9542" marB="9542" anchor="ctr"/>
                </a:tc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400" b="1" u="none" strike="noStrike" cap="none" dirty="0">
                          <a:solidFill>
                            <a:schemeClr val="lt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Title</a:t>
                      </a:r>
                      <a:endParaRPr lang="en-IN" sz="1400" b="1" i="0" u="none" strike="noStrike" cap="none" dirty="0">
                        <a:solidFill>
                          <a:schemeClr val="lt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marL="19085" marR="19085" marT="9542" marB="9542" anchor="ctr"/>
                </a:tc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400" b="1" u="none" strike="noStrike" cap="none" dirty="0">
                          <a:solidFill>
                            <a:schemeClr val="lt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Key Findings</a:t>
                      </a:r>
                      <a:endParaRPr lang="en-IN" sz="1400" b="1" i="0" u="none" strike="noStrike" cap="none" dirty="0">
                        <a:solidFill>
                          <a:schemeClr val="lt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marL="19085" marR="19085" marT="9542" marB="9542" anchor="ctr"/>
                </a:tc>
                <a:extLst>
                  <a:ext uri="{0D108BD9-81ED-4DB2-BD59-A6C34878D82A}">
                    <a16:rowId xmlns:a16="http://schemas.microsoft.com/office/drawing/2014/main" val="3405995661"/>
                  </a:ext>
                </a:extLst>
              </a:tr>
              <a:tr h="1479567"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u="none" strike="noStrike" cap="none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6</a:t>
                      </a:r>
                      <a:endParaRPr lang="en-IN" sz="1400" b="0" i="0" u="none" strike="noStrike" cap="none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marL="19085" marR="19085" marT="9542" marB="9542" anchor="ctr"/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Açış &amp; Güney</a:t>
                      </a:r>
                      <a:r>
                        <a:rPr lang="en-IN" sz="1400" b="0" u="none" strike="noStrike" cap="none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., 2023</a:t>
                      </a:r>
                      <a:endParaRPr lang="en-IN" sz="1400" b="0" i="0" u="none" strike="noStrike" cap="none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marL="19085" marR="19085" marT="9542" marB="9542" anchor="ctr"/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Classification of human movements by using Kinect sensor</a:t>
                      </a:r>
                      <a:endParaRPr lang="en-US" sz="1400" b="0" i="0" u="none" strike="noStrike" cap="none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marL="19085" marR="19085" marT="9542" marB="9542" anchor="ctr"/>
                </a:tc>
                <a:tc>
                  <a:txBody>
                    <a:bodyPr/>
                    <a:lstStyle/>
                    <a:p>
                      <a:pPr marL="285750" marR="0" indent="-2857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The maximum average classification success achieved was </a:t>
                      </a:r>
                      <a:r>
                        <a:rPr lang="en-US" sz="14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98.85%</a:t>
                      </a:r>
                      <a:r>
                        <a:rPr lang="en-US" sz="1400" b="0" u="none" strike="noStrike" cap="none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.</a:t>
                      </a:r>
                    </a:p>
                    <a:p>
                      <a:pPr marL="285750" marR="0" indent="-2857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This maximum success utilized </a:t>
                      </a:r>
                      <a:r>
                        <a:rPr lang="en-US" sz="14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LSTM for feature extraction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 combined with a machine learning classifier (SVM Kernel/Logistic Regression/Medium Neural Network).</a:t>
                      </a:r>
                    </a:p>
                    <a:p>
                      <a:pPr marL="285750" marR="0" indent="-2857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The study concluded that </a:t>
                      </a:r>
                      <a:r>
                        <a:rPr lang="en-US" sz="14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joint data provided much more successful results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 for classification than image data.</a:t>
                      </a:r>
                      <a:endParaRPr lang="en-US" sz="1400" b="0" i="0" u="none" strike="noStrike" cap="none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marL="19085" marR="19085" marT="9542" marB="9542" anchor="ctr"/>
                </a:tc>
                <a:extLst>
                  <a:ext uri="{0D108BD9-81ED-4DB2-BD59-A6C34878D82A}">
                    <a16:rowId xmlns:a16="http://schemas.microsoft.com/office/drawing/2014/main" val="2290422251"/>
                  </a:ext>
                </a:extLst>
              </a:tr>
              <a:tr h="1512277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u="none" strike="noStrike" cap="none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7</a:t>
                      </a:r>
                      <a:endParaRPr lang="en-IN" sz="1400" b="0" i="0" u="none" strike="noStrike" cap="none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marL="19085" marR="19085" marT="9542" marB="9542" anchor="ctr"/>
                </a:tc>
                <a:tc>
                  <a:txBody>
                    <a:bodyPr/>
                    <a:lstStyle/>
                    <a:p>
                      <a:pPr marL="0" marR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400" b="0" u="none" strike="noStrike" cap="none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Challa et al., 2022</a:t>
                      </a:r>
                      <a:endParaRPr lang="en-IN" sz="1400" b="0" i="0" u="none" strike="noStrike" cap="none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marL="19085" marR="19085" marT="9542" marB="9542" anchor="ctr"/>
                </a:tc>
                <a:tc>
                  <a:txBody>
                    <a:bodyPr/>
                    <a:lstStyle/>
                    <a:p>
                      <a:pPr marL="0" marR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A multibranch CNN-</a:t>
                      </a:r>
                      <a:r>
                        <a:rPr lang="en-US" sz="1400" b="0" i="0" u="none" strike="noStrike" cap="none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BiLSTM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 model for human activity recognition using wearable sensor data</a:t>
                      </a:r>
                      <a:endParaRPr lang="en-US" sz="1400" b="0" i="0" u="none" strike="noStrike" cap="none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marL="19085" marR="19085" marT="9542" marB="9542" anchor="ctr"/>
                </a:tc>
                <a:tc>
                  <a:txBody>
                    <a:bodyPr/>
                    <a:lstStyle/>
                    <a:p>
                      <a:pPr marL="285750" marR="0" indent="-285750" algn="l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A </a:t>
                      </a:r>
                      <a:r>
                        <a:rPr lang="en-US" sz="14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multibranch CNN-</a:t>
                      </a:r>
                      <a:r>
                        <a:rPr lang="en-US" sz="1400" b="1" i="0" u="none" strike="noStrike" cap="none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BiLSTM</a:t>
                      </a:r>
                      <a:r>
                        <a:rPr lang="en-US" sz="14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 network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 was proposed for automatic feature extraction from raw sensor data</a:t>
                      </a:r>
                      <a:r>
                        <a:rPr lang="en-US" sz="1400" b="0" u="none" strike="noStrike" cap="none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. </a:t>
                      </a:r>
                    </a:p>
                    <a:p>
                      <a:pPr marL="285750" marR="0" indent="-285750" algn="l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The model uses </a:t>
                      </a:r>
                      <a:r>
                        <a:rPr lang="en-US" sz="14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different convolutional filter sizes 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(3, 7, and 11) to capture various temporal local dependencies.</a:t>
                      </a:r>
                    </a:p>
                    <a:p>
                      <a:pPr marL="285750" marR="0" indent="-285750" algn="l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It achieved accuracies of </a:t>
                      </a:r>
                      <a:r>
                        <a:rPr lang="en-US" sz="14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96.37%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 (UCI-HAR), </a:t>
                      </a:r>
                      <a:r>
                        <a:rPr lang="en-US" sz="14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96.05%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 (WISDM), and </a:t>
                      </a:r>
                      <a:r>
                        <a:rPr lang="en-US" sz="14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94.29%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 (PAMAP2) datasets.</a:t>
                      </a:r>
                      <a:endParaRPr lang="en-US" sz="1400" b="0" i="0" u="none" strike="noStrike" cap="none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marL="19085" marR="19085" marT="9542" marB="9542" anchor="ctr"/>
                </a:tc>
                <a:extLst>
                  <a:ext uri="{0D108BD9-81ED-4DB2-BD59-A6C34878D82A}">
                    <a16:rowId xmlns:a16="http://schemas.microsoft.com/office/drawing/2014/main" val="4220684924"/>
                  </a:ext>
                </a:extLst>
              </a:tr>
              <a:tr h="81089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u="none" strike="noStrike" cap="none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8</a:t>
                      </a:r>
                      <a:endParaRPr lang="en-IN" sz="1400" b="0" i="0" u="none" strike="noStrike" cap="none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marL="19085" marR="19085" marT="9542" marB="9542" anchor="ctr"/>
                </a:tc>
                <a:tc>
                  <a:txBody>
                    <a:bodyPr/>
                    <a:lstStyle/>
                    <a:p>
                      <a:pPr marL="0" marR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400" b="0" u="none" strike="noStrike" cap="none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Kaseris</a:t>
                      </a:r>
                      <a:r>
                        <a:rPr lang="en-IN" sz="1400" b="0" u="none" strike="noStrike" cap="none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 et al., 2024</a:t>
                      </a:r>
                      <a:endParaRPr lang="en-IN" sz="1400" b="0" i="0" u="none" strike="noStrike" cap="none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marL="19085" marR="19085" marT="9542" marB="9542" anchor="ctr"/>
                </a:tc>
                <a:tc>
                  <a:txBody>
                    <a:bodyPr/>
                    <a:lstStyle/>
                    <a:p>
                      <a:pPr marL="0" marR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A Comprehensive Survey on Deep Learning Methods in Human Activity Recognition</a:t>
                      </a:r>
                      <a:endParaRPr lang="en-US" sz="1400" b="0" i="0" u="none" strike="noStrike" cap="none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marL="19085" marR="19085" marT="9542" marB="9542" anchor="ctr"/>
                </a:tc>
                <a:tc>
                  <a:txBody>
                    <a:bodyPr/>
                    <a:lstStyle/>
                    <a:p>
                      <a:pPr marL="285750" marR="0" indent="-285750" algn="l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It investigates approaches utilizing diverse input modalities like accelerometer data, video sequences, and audio signals</a:t>
                      </a:r>
                      <a:endParaRPr lang="en-US" sz="1400" b="0" i="0" u="none" strike="noStrike" cap="none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marL="19085" marR="19085" marT="9542" marB="9542" anchor="ctr"/>
                </a:tc>
                <a:extLst>
                  <a:ext uri="{0D108BD9-81ED-4DB2-BD59-A6C34878D82A}">
                    <a16:rowId xmlns:a16="http://schemas.microsoft.com/office/drawing/2014/main" val="4219917004"/>
                  </a:ext>
                </a:extLst>
              </a:tr>
              <a:tr h="801062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u="none" strike="noStrike" cap="none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9</a:t>
                      </a:r>
                      <a:endParaRPr lang="en-IN" sz="1400" b="0" i="0" u="none" strike="noStrike" cap="none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marL="19085" marR="19085" marT="9542" marB="9542" anchor="ctr"/>
                </a:tc>
                <a:tc>
                  <a:txBody>
                    <a:bodyPr/>
                    <a:lstStyle/>
                    <a:p>
                      <a:pPr marL="0" marR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Sarveshwaran</a:t>
                      </a:r>
                      <a:r>
                        <a:rPr lang="en-US" sz="1400" b="0" u="none" strike="noStrike" cap="none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, 2022</a:t>
                      </a:r>
                      <a:endParaRPr lang="en-US" sz="1400" b="0" i="0" u="none" strike="noStrike" cap="none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marL="19085" marR="19085" marT="9542" marB="9542" anchor="ctr"/>
                </a:tc>
                <a:tc>
                  <a:txBody>
                    <a:bodyPr/>
                    <a:lstStyle/>
                    <a:p>
                      <a:pPr marL="0" marR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Arial"/>
                        </a:rPr>
                        <a:t>I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nvestigation on Human Activity Recognition using Deep Learning</a:t>
                      </a:r>
                      <a:endParaRPr lang="en-US" sz="1400" b="0" i="0" u="none" strike="noStrike" cap="none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marL="19085" marR="19085" marT="9542" marB="9542" anchor="ctr"/>
                </a:tc>
                <a:tc>
                  <a:txBody>
                    <a:bodyPr/>
                    <a:lstStyle/>
                    <a:p>
                      <a:pPr marL="285750" marR="0" indent="-285750" algn="l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Discussion about the deep learning model, merits, demerits and dataset used in human activity recognition.</a:t>
                      </a:r>
                    </a:p>
                  </a:txBody>
                  <a:tcPr marL="19085" marR="19085" marT="9542" marB="9542" anchor="ctr"/>
                </a:tc>
                <a:extLst>
                  <a:ext uri="{0D108BD9-81ED-4DB2-BD59-A6C34878D82A}">
                    <a16:rowId xmlns:a16="http://schemas.microsoft.com/office/drawing/2014/main" val="2067203638"/>
                  </a:ext>
                </a:extLst>
              </a:tr>
              <a:tr h="687769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10</a:t>
                      </a:r>
                      <a:endParaRPr lang="en-IN" sz="1400" b="0" i="0" u="none" strike="noStrike" cap="none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 marL="19085" marR="19085" marT="9542" marB="9542" anchor="ctr"/>
                </a:tc>
                <a:tc>
                  <a:txBody>
                    <a:bodyPr/>
                    <a:lstStyle/>
                    <a:p>
                      <a:pPr marL="0" marR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Morana et al., 2017</a:t>
                      </a:r>
                    </a:p>
                  </a:txBody>
                  <a:tcPr marL="19085" marR="19085" marT="9542" marB="9542" anchor="ctr"/>
                </a:tc>
                <a:tc>
                  <a:txBody>
                    <a:bodyPr/>
                    <a:lstStyle/>
                    <a:p>
                      <a:pPr marL="0" marR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KARD - Kinect Activity Recognition Dataset</a:t>
                      </a:r>
                    </a:p>
                  </a:txBody>
                  <a:tcPr marL="19085" marR="19085" marT="9542" marB="9542" anchor="ctr"/>
                </a:tc>
                <a:tc>
                  <a:txBody>
                    <a:bodyPr/>
                    <a:lstStyle/>
                    <a:p>
                      <a:pPr marL="285750" marR="0" indent="-285750" algn="l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KARD contains 18 Activities. Each activity is performed 3 times by 10 different subjects.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9085" marR="19085" marT="9542" marB="9542" anchor="ctr"/>
                </a:tc>
                <a:extLst>
                  <a:ext uri="{0D108BD9-81ED-4DB2-BD59-A6C34878D82A}">
                    <a16:rowId xmlns:a16="http://schemas.microsoft.com/office/drawing/2014/main" val="1283891522"/>
                  </a:ext>
                </a:extLst>
              </a:tr>
            </a:tbl>
          </a:graphicData>
        </a:graphic>
      </p:graphicFrame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2EB1A2D-F9F0-80A2-F496-08B4CA39DD5F}"/>
              </a:ext>
            </a:extLst>
          </p:cNvPr>
          <p:cNvSpPr/>
          <p:nvPr/>
        </p:nvSpPr>
        <p:spPr>
          <a:xfrm>
            <a:off x="0" y="20237"/>
            <a:ext cx="10687665" cy="790239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  <a:endParaRPr lang="en-IN" sz="2800" b="1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F198624-CE45-098E-8870-34EED311FA8E}"/>
              </a:ext>
            </a:extLst>
          </p:cNvPr>
          <p:cNvGrpSpPr/>
          <p:nvPr/>
        </p:nvGrpSpPr>
        <p:grpSpPr>
          <a:xfrm>
            <a:off x="0" y="6512552"/>
            <a:ext cx="12102101" cy="351456"/>
            <a:chOff x="0" y="6512552"/>
            <a:chExt cx="12102101" cy="351456"/>
          </a:xfrm>
        </p:grpSpPr>
        <p:grpSp>
          <p:nvGrpSpPr>
            <p:cNvPr id="2" name="object 17">
              <a:extLst>
                <a:ext uri="{FF2B5EF4-FFF2-40B4-BE49-F238E27FC236}">
                  <a16:creationId xmlns:a16="http://schemas.microsoft.com/office/drawing/2014/main" id="{57107E53-B456-1CAB-7CAC-09FC03D8350B}"/>
                </a:ext>
              </a:extLst>
            </p:cNvPr>
            <p:cNvGrpSpPr/>
            <p:nvPr/>
          </p:nvGrpSpPr>
          <p:grpSpPr>
            <a:xfrm>
              <a:off x="0" y="6518560"/>
              <a:ext cx="12102101" cy="345448"/>
              <a:chOff x="0" y="3346348"/>
              <a:chExt cx="4608195" cy="109855"/>
            </a:xfrm>
          </p:grpSpPr>
          <p:sp>
            <p:nvSpPr>
              <p:cNvPr id="3" name="object 18">
                <a:extLst>
                  <a:ext uri="{FF2B5EF4-FFF2-40B4-BE49-F238E27FC236}">
                    <a16:creationId xmlns:a16="http://schemas.microsoft.com/office/drawing/2014/main" id="{DEC8EA88-D380-A57A-B687-80729E5A1230}"/>
                  </a:ext>
                </a:extLst>
              </p:cNvPr>
              <p:cNvSpPr/>
              <p:nvPr/>
            </p:nvSpPr>
            <p:spPr>
              <a:xfrm>
                <a:off x="0" y="3346348"/>
                <a:ext cx="1535976" cy="109855"/>
              </a:xfrm>
              <a:custGeom>
                <a:avLst/>
                <a:gdLst/>
                <a:ahLst/>
                <a:cxnLst/>
                <a:rect l="l" t="t" r="r" b="b"/>
                <a:pathLst>
                  <a:path w="1536065" h="109854">
                    <a:moveTo>
                      <a:pt x="1535976" y="0"/>
                    </a:moveTo>
                    <a:lnTo>
                      <a:pt x="0" y="0"/>
                    </a:lnTo>
                    <a:lnTo>
                      <a:pt x="0" y="109651"/>
                    </a:lnTo>
                    <a:lnTo>
                      <a:pt x="1535976" y="109651"/>
                    </a:lnTo>
                    <a:lnTo>
                      <a:pt x="1535976" y="0"/>
                    </a:lnTo>
                    <a:close/>
                  </a:path>
                </a:pathLst>
              </a:custGeom>
              <a:solidFill>
                <a:schemeClr val="accent5">
                  <a:lumMod val="40000"/>
                  <a:lumOff val="60000"/>
                </a:schemeClr>
              </a:solidFill>
            </p:spPr>
            <p:txBody>
              <a:bodyPr wrap="square" lIns="0" tIns="0" rIns="0" bIns="0" rtlCol="0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 </a:t>
                </a:r>
                <a:r>
                  <a:rPr lang="en-US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 Praveen Kalepu (IIITDM Kurnool)</a:t>
                </a:r>
                <a:endParaRPr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" name="object 20">
                <a:extLst>
                  <a:ext uri="{FF2B5EF4-FFF2-40B4-BE49-F238E27FC236}">
                    <a16:creationId xmlns:a16="http://schemas.microsoft.com/office/drawing/2014/main" id="{92C36926-B692-B41A-0EE7-7E2FC329B0D1}"/>
                  </a:ext>
                </a:extLst>
              </p:cNvPr>
              <p:cNvSpPr/>
              <p:nvPr/>
            </p:nvSpPr>
            <p:spPr>
              <a:xfrm>
                <a:off x="3072130" y="3346348"/>
                <a:ext cx="1536065" cy="109855"/>
              </a:xfrm>
              <a:custGeom>
                <a:avLst/>
                <a:gdLst/>
                <a:ahLst/>
                <a:cxnLst/>
                <a:rect l="l" t="t" r="r" b="b"/>
                <a:pathLst>
                  <a:path w="1536064" h="109854">
                    <a:moveTo>
                      <a:pt x="1535976" y="0"/>
                    </a:moveTo>
                    <a:lnTo>
                      <a:pt x="0" y="0"/>
                    </a:lnTo>
                    <a:lnTo>
                      <a:pt x="0" y="109651"/>
                    </a:lnTo>
                    <a:lnTo>
                      <a:pt x="1535976" y="109651"/>
                    </a:lnTo>
                    <a:lnTo>
                      <a:pt x="1535976" y="0"/>
                    </a:lnTo>
                    <a:close/>
                  </a:path>
                </a:pathLst>
              </a:cu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lIns="0" tIns="0" rIns="0" bIns="0" rtlCol="0"/>
              <a:lstStyle/>
              <a:p>
                <a:pPr algn="ctr"/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July 2025                        8/30</a:t>
                </a:r>
                <a:endParaRPr dirty="0"/>
              </a:p>
            </p:txBody>
          </p:sp>
        </p:grpSp>
        <p:sp>
          <p:nvSpPr>
            <p:cNvPr id="8" name="object 19">
              <a:extLst>
                <a:ext uri="{FF2B5EF4-FFF2-40B4-BE49-F238E27FC236}">
                  <a16:creationId xmlns:a16="http://schemas.microsoft.com/office/drawing/2014/main" id="{73D0AB64-8109-19D8-265D-AC22C531A34C}"/>
                </a:ext>
              </a:extLst>
            </p:cNvPr>
            <p:cNvSpPr/>
            <p:nvPr/>
          </p:nvSpPr>
          <p:spPr>
            <a:xfrm>
              <a:off x="4033800" y="6512552"/>
              <a:ext cx="4093965" cy="345448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Ph.D</a:t>
              </a:r>
              <a:r>
                <a:rPr 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. </a:t>
              </a:r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egistration seminar </a:t>
              </a: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4" name="Google Shape;97;p14">
            <a:extLst>
              <a:ext uri="{FF2B5EF4-FFF2-40B4-BE49-F238E27FC236}">
                <a16:creationId xmlns:a16="http://schemas.microsoft.com/office/drawing/2014/main" id="{D781CC4F-2D66-DEC4-8189-7316868E079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33438" y="0"/>
            <a:ext cx="1058562" cy="88299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721586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01D86E2-DABC-A734-6B55-2C559001DF00}"/>
              </a:ext>
            </a:extLst>
          </p:cNvPr>
          <p:cNvSpPr/>
          <p:nvPr/>
        </p:nvSpPr>
        <p:spPr>
          <a:xfrm>
            <a:off x="306967" y="173322"/>
            <a:ext cx="10144723" cy="790239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Research Gaps </a:t>
            </a:r>
            <a:endParaRPr lang="en-IN" sz="2800" b="1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Google Shape;97;p14">
            <a:extLst>
              <a:ext uri="{FF2B5EF4-FFF2-40B4-BE49-F238E27FC236}">
                <a16:creationId xmlns:a16="http://schemas.microsoft.com/office/drawing/2014/main" id="{6A4697F0-B944-83BB-6C7B-ECA099AFD44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13048" y="0"/>
            <a:ext cx="1178952" cy="1153972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EFF00D8-3FC9-E430-B36D-AEFB78ACC98A}"/>
              </a:ext>
            </a:extLst>
          </p:cNvPr>
          <p:cNvSpPr txBox="1"/>
          <p:nvPr/>
        </p:nvSpPr>
        <p:spPr>
          <a:xfrm>
            <a:off x="306967" y="1153972"/>
            <a:ext cx="5265108" cy="4539704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 Data and Annotation Challenges 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annotated datasets.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 subject diversity.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Noisy, imbalanced real-world data.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High-cost vision data processing.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Reliance on handcrafted features.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 models lack interpretability.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600"/>
              </a:spcBef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B. Activity and Complexity Modeling 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 multi-sensor fusion required.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Subtle/overlapping motions cause difficulty.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 postural transition detection.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Vision suffers occlusion/clutter.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B12039-1731-5A88-2A41-04D6D9A07CA9}"/>
              </a:ext>
            </a:extLst>
          </p:cNvPr>
          <p:cNvSpPr txBox="1"/>
          <p:nvPr/>
        </p:nvSpPr>
        <p:spPr>
          <a:xfrm>
            <a:off x="5903936" y="1153972"/>
            <a:ext cx="5695166" cy="43242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C. Architectural and Methodological Limitations 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Heavy preprocessing overhead.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multi-resolution encoding.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computational complexity.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RNNs are slow, and provide limited context.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CNN/RNN spatial–temporal mismatch.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600"/>
              </a:spcBef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D. Deployment and Real-World Challenges :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Severe domain shift issues.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 wearable adoption.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adaptive recalibration.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Embedded systems constraints.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Vision-based privacy concerns.</a:t>
            </a:r>
          </a:p>
        </p:txBody>
      </p:sp>
    </p:spTree>
    <p:extLst>
      <p:ext uri="{BB962C8B-B14F-4D97-AF65-F5344CB8AC3E}">
        <p14:creationId xmlns:p14="http://schemas.microsoft.com/office/powerpoint/2010/main" val="30431060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630A03F-44EE-CCD1-7490-34D435639F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1095" y="1153972"/>
            <a:ext cx="3781953" cy="4953691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581A2102-9CEF-4A25-4774-6BC35D38B8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3462" y="1167849"/>
            <a:ext cx="6112702" cy="50937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 eaLnBrk="0" fontAlgn="base" hangingPunct="0">
              <a:spcBef>
                <a:spcPts val="60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 HAR model that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overcomes limitations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data scarcity, multi-sensor activity complexity, architectural inefficiencies, and real-world deployment constraints.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Perform Human Activity Recognition (HAR) using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non-wearable Kinect (RGB-D / skeleton) data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Perform Human Activity Recognition (HAR) using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wearable IMU sensor data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Integrate and compare activity recognition performance across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wearable and non-wearable sensing modalities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Map and transfer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the recognized human motion patterns to a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bipedal robot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Enable the robot to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imitate and reproduce human activities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accurately in real time.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724FD76-7FAA-3ED4-12C8-96CB81ADA2C7}"/>
              </a:ext>
            </a:extLst>
          </p:cNvPr>
          <p:cNvSpPr/>
          <p:nvPr/>
        </p:nvSpPr>
        <p:spPr>
          <a:xfrm>
            <a:off x="306967" y="173322"/>
            <a:ext cx="10144723" cy="790239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 </a:t>
            </a:r>
            <a:endParaRPr lang="en-IN" sz="2800" b="1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Google Shape;97;p14">
            <a:extLst>
              <a:ext uri="{FF2B5EF4-FFF2-40B4-BE49-F238E27FC236}">
                <a16:creationId xmlns:a16="http://schemas.microsoft.com/office/drawing/2014/main" id="{51CE1480-FF6A-4114-069A-28946E56466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13048" y="0"/>
            <a:ext cx="1178952" cy="115397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468453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91073-7110-89A1-5074-5123E188E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2E14977-DEC7-502E-430C-574F8E31E53F}"/>
              </a:ext>
            </a:extLst>
          </p:cNvPr>
          <p:cNvSpPr/>
          <p:nvPr/>
        </p:nvSpPr>
        <p:spPr>
          <a:xfrm>
            <a:off x="306967" y="173322"/>
            <a:ext cx="10144723" cy="790239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 done so far</a:t>
            </a:r>
            <a:endParaRPr lang="en-IN" sz="2800" b="1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F8FD67-D742-C9BE-ED24-1605F3710100}"/>
              </a:ext>
            </a:extLst>
          </p:cNvPr>
          <p:cNvSpPr txBox="1"/>
          <p:nvPr/>
        </p:nvSpPr>
        <p:spPr>
          <a:xfrm>
            <a:off x="306967" y="963561"/>
            <a:ext cx="11480221" cy="4653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Created a Skeletal Joints Dataset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using Microsoft Kinect Sensor for Human Activity Recognition.</a:t>
            </a:r>
            <a:endParaRPr lang="en-US" sz="2000" i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Studied skeletal joint movement patterns specific to each activity to enhance accurate feature capture for the model.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Used a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multi-scale feature extraction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approach to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capture slow, medium, and fast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skeletal joint movements during activities for dataset creation.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Developed a hybrid deep learning architecture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Multi-Scale Gated Residual Skip 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BiLSTM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model.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Achieved a classification accuracy of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97.97%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using the MS-GRS-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BiLSTM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model on the skeletal joints dataset for Human Activity Recognition.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Evaluated the MS-GRS-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BiLSTM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model on the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KARD - Kinect Activity Recognition dataset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 achieved an accuracy of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98.77%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grpSp>
        <p:nvGrpSpPr>
          <p:cNvPr id="4" name="object 17">
            <a:extLst>
              <a:ext uri="{FF2B5EF4-FFF2-40B4-BE49-F238E27FC236}">
                <a16:creationId xmlns:a16="http://schemas.microsoft.com/office/drawing/2014/main" id="{5E20AA86-38F3-31EA-0F01-52985915494A}"/>
              </a:ext>
            </a:extLst>
          </p:cNvPr>
          <p:cNvGrpSpPr/>
          <p:nvPr/>
        </p:nvGrpSpPr>
        <p:grpSpPr>
          <a:xfrm>
            <a:off x="0" y="6470121"/>
            <a:ext cx="12192000" cy="345448"/>
            <a:chOff x="0" y="3346348"/>
            <a:chExt cx="4608195" cy="109855"/>
          </a:xfrm>
        </p:grpSpPr>
        <p:sp>
          <p:nvSpPr>
            <p:cNvPr id="5" name="object 18">
              <a:extLst>
                <a:ext uri="{FF2B5EF4-FFF2-40B4-BE49-F238E27FC236}">
                  <a16:creationId xmlns:a16="http://schemas.microsoft.com/office/drawing/2014/main" id="{F8544819-DDFC-D7D5-F0E8-C692B785CB75}"/>
                </a:ext>
              </a:extLst>
            </p:cNvPr>
            <p:cNvSpPr/>
            <p:nvPr/>
          </p:nvSpPr>
          <p:spPr>
            <a:xfrm>
              <a:off x="0" y="3346348"/>
              <a:ext cx="1535976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 </a:t>
              </a:r>
              <a:r>
                <a:rPr lang="en-US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</a:t>
              </a:r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D Praveen Kalepu (IIITDM Kurnool)</a:t>
              </a:r>
              <a:endPara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object 19">
              <a:extLst>
                <a:ext uri="{FF2B5EF4-FFF2-40B4-BE49-F238E27FC236}">
                  <a16:creationId xmlns:a16="http://schemas.microsoft.com/office/drawing/2014/main" id="{B4B3B60F-34C1-1A0D-E751-7C696357702C}"/>
                </a:ext>
              </a:extLst>
            </p:cNvPr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Progressive seminar </a:t>
              </a: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object 20">
              <a:extLst>
                <a:ext uri="{FF2B5EF4-FFF2-40B4-BE49-F238E27FC236}">
                  <a16:creationId xmlns:a16="http://schemas.microsoft.com/office/drawing/2014/main" id="{7520E56E-94A6-4B3A-DDCC-6651886C23F7}"/>
                </a:ext>
              </a:extLst>
            </p:cNvPr>
            <p:cNvSpPr/>
            <p:nvPr/>
          </p:nvSpPr>
          <p:spPr>
            <a:xfrm>
              <a:off x="307213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July 2025                        10/30</a:t>
              </a:r>
              <a:endParaRPr dirty="0"/>
            </a:p>
          </p:txBody>
        </p:sp>
      </p:grpSp>
      <p:sp>
        <p:nvSpPr>
          <p:cNvPr id="9" name="object 19">
            <a:extLst>
              <a:ext uri="{FF2B5EF4-FFF2-40B4-BE49-F238E27FC236}">
                <a16:creationId xmlns:a16="http://schemas.microsoft.com/office/drawing/2014/main" id="{C091CBB8-F277-BB65-A1FF-25E09D5B0514}"/>
              </a:ext>
            </a:extLst>
          </p:cNvPr>
          <p:cNvSpPr/>
          <p:nvPr/>
        </p:nvSpPr>
        <p:spPr>
          <a:xfrm>
            <a:off x="4063765" y="6512552"/>
            <a:ext cx="4064000" cy="345448"/>
          </a:xfrm>
          <a:custGeom>
            <a:avLst/>
            <a:gdLst/>
            <a:ahLst/>
            <a:cxnLst/>
            <a:rect l="l" t="t" r="r" b="b"/>
            <a:pathLst>
              <a:path w="1536064" h="109854">
                <a:moveTo>
                  <a:pt x="1535976" y="0"/>
                </a:moveTo>
                <a:lnTo>
                  <a:pt x="0" y="0"/>
                </a:lnTo>
                <a:lnTo>
                  <a:pt x="0" y="109651"/>
                </a:lnTo>
                <a:lnTo>
                  <a:pt x="1535976" y="109651"/>
                </a:lnTo>
                <a:lnTo>
                  <a:pt x="1535976" y="0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</a:schemeClr>
          </a:solidFill>
        </p:spPr>
        <p:txBody>
          <a:bodyPr wrap="square" lIns="0" tIns="0" rIns="0" bIns="0" rtlCol="0"/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Ph.D</a:t>
            </a:r>
            <a:r>
              <a:rPr lang="en-US" sz="14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Registration seminar 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Google Shape;97;p14">
            <a:extLst>
              <a:ext uri="{FF2B5EF4-FFF2-40B4-BE49-F238E27FC236}">
                <a16:creationId xmlns:a16="http://schemas.microsoft.com/office/drawing/2014/main" id="{D8225A95-0BF0-4476-D121-0D40B68764B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13048" y="0"/>
            <a:ext cx="1178952" cy="115397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605636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0"/>
            <a:lum/>
          </a:blip>
          <a:srcRect/>
          <a:stretch>
            <a:fillRect t="-39000" b="-3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3E6A26-1EA5-ECFF-DC50-C45667FEA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7EEC279-9DC0-CCD2-E4AC-9E48E25BC62B}"/>
              </a:ext>
            </a:extLst>
          </p:cNvPr>
          <p:cNvSpPr/>
          <p:nvPr/>
        </p:nvSpPr>
        <p:spPr>
          <a:xfrm>
            <a:off x="306967" y="173322"/>
            <a:ext cx="10144723" cy="790239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Sensor Selection – Kinect Sensor </a:t>
            </a:r>
            <a:endParaRPr lang="en-IN" sz="2800" b="1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5BEE8F-9F94-562B-FD5A-9576B8871C4A}"/>
              </a:ext>
            </a:extLst>
          </p:cNvPr>
          <p:cNvSpPr txBox="1"/>
          <p:nvPr/>
        </p:nvSpPr>
        <p:spPr>
          <a:xfrm>
            <a:off x="-58075" y="1084302"/>
            <a:ext cx="110711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800" b="0" i="0" u="none" strike="noStrike" baseline="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79EF269-42CE-37D5-0EB1-5F37697AED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6608" y="1257959"/>
            <a:ext cx="6188768" cy="3490852"/>
          </a:xfrm>
          <a:prstGeom prst="rect">
            <a:avLst/>
          </a:prstGeom>
        </p:spPr>
      </p:pic>
      <p:sp>
        <p:nvSpPr>
          <p:cNvPr id="10" name="Rectangle 1">
            <a:extLst>
              <a:ext uri="{FF2B5EF4-FFF2-40B4-BE49-F238E27FC236}">
                <a16:creationId xmlns:a16="http://schemas.microsoft.com/office/drawing/2014/main" id="{DA9BDAF3-6629-2BB2-F0E4-177DD6ECEE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967" y="1084302"/>
            <a:ext cx="5279641" cy="4016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 eaLnBrk="0" fontAlgn="base" hangingPunct="0">
              <a:spcBef>
                <a:spcPts val="600"/>
              </a:spcBef>
              <a:spcAft>
                <a:spcPct val="0"/>
              </a:spcAft>
              <a:buClrTx/>
              <a:buFont typeface="Wingdings" panose="05000000000000000000" pitchFamily="2" charset="2"/>
              <a:buChar char="q"/>
            </a:pP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Kinect provides </a:t>
            </a:r>
            <a:r>
              <a:rPr lang="en-US" alt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3D skeletal coordinates 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(x, y, z) for 25 joints, supporting detailed posture and gait analysis.</a:t>
            </a:r>
          </a:p>
          <a:p>
            <a:pPr marL="342900" lvl="0" indent="-342900" eaLnBrk="0" fontAlgn="base" hangingPunct="0">
              <a:spcBef>
                <a:spcPts val="600"/>
              </a:spcBef>
              <a:spcAft>
                <a:spcPct val="0"/>
              </a:spcAft>
              <a:buClrTx/>
              <a:buFont typeface="Wingdings" panose="05000000000000000000" pitchFamily="2" charset="2"/>
              <a:buChar char="q"/>
            </a:pP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 </a:t>
            </a:r>
            <a:r>
              <a:rPr lang="en-US" alt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captures motion contact-free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avoiding discomfort and ensuring user independence.</a:t>
            </a:r>
          </a:p>
          <a:p>
            <a:pPr marL="342900" lvl="0" indent="-342900" eaLnBrk="0" fontAlgn="base" hangingPunct="0">
              <a:spcBef>
                <a:spcPts val="600"/>
              </a:spcBef>
              <a:spcAft>
                <a:spcPct val="0"/>
              </a:spcAft>
              <a:buClrTx/>
              <a:buFont typeface="Wingdings" panose="05000000000000000000" pitchFamily="2" charset="2"/>
              <a:buChar char="q"/>
            </a:pP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Kinect </a:t>
            </a:r>
            <a:r>
              <a:rPr lang="en-US" alt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records full-body 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movement in global coordinates, whereas wearables capture only local motion signals.</a:t>
            </a:r>
          </a:p>
          <a:p>
            <a:pPr marL="342900" lvl="0" indent="-342900" eaLnBrk="0" fontAlgn="base" hangingPunct="0">
              <a:spcBef>
                <a:spcPts val="600"/>
              </a:spcBef>
              <a:spcAft>
                <a:spcPct val="0"/>
              </a:spcAft>
              <a:buClrTx/>
              <a:buFont typeface="Wingdings" panose="05000000000000000000" pitchFamily="2" charset="2"/>
              <a:buChar char="q"/>
            </a:pP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Kinect </a:t>
            </a:r>
            <a:r>
              <a:rPr lang="en-US" alt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tracks multiple joints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simultaneously for coordinated movement detection; wearables typically monitor only one or few points, limiting context.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11BE368-3430-864F-E01B-C3E3883F6A4D}"/>
              </a:ext>
            </a:extLst>
          </p:cNvPr>
          <p:cNvGrpSpPr/>
          <p:nvPr/>
        </p:nvGrpSpPr>
        <p:grpSpPr>
          <a:xfrm>
            <a:off x="0" y="6515452"/>
            <a:ext cx="12192000" cy="387879"/>
            <a:chOff x="0" y="6470121"/>
            <a:chExt cx="12192000" cy="387879"/>
          </a:xfrm>
        </p:grpSpPr>
        <p:grpSp>
          <p:nvGrpSpPr>
            <p:cNvPr id="6" name="object 17">
              <a:extLst>
                <a:ext uri="{FF2B5EF4-FFF2-40B4-BE49-F238E27FC236}">
                  <a16:creationId xmlns:a16="http://schemas.microsoft.com/office/drawing/2014/main" id="{A6E2F0FB-81F1-3E8C-0BAA-1B12068088D0}"/>
                </a:ext>
              </a:extLst>
            </p:cNvPr>
            <p:cNvGrpSpPr/>
            <p:nvPr/>
          </p:nvGrpSpPr>
          <p:grpSpPr>
            <a:xfrm>
              <a:off x="0" y="6470121"/>
              <a:ext cx="12192000" cy="345448"/>
              <a:chOff x="0" y="3346348"/>
              <a:chExt cx="4608195" cy="109855"/>
            </a:xfrm>
          </p:grpSpPr>
          <p:sp>
            <p:nvSpPr>
              <p:cNvPr id="9" name="object 18">
                <a:extLst>
                  <a:ext uri="{FF2B5EF4-FFF2-40B4-BE49-F238E27FC236}">
                    <a16:creationId xmlns:a16="http://schemas.microsoft.com/office/drawing/2014/main" id="{BCC74342-1567-C3B5-7C38-7B83C199E766}"/>
                  </a:ext>
                </a:extLst>
              </p:cNvPr>
              <p:cNvSpPr/>
              <p:nvPr/>
            </p:nvSpPr>
            <p:spPr>
              <a:xfrm>
                <a:off x="0" y="3346348"/>
                <a:ext cx="1535976" cy="109855"/>
              </a:xfrm>
              <a:custGeom>
                <a:avLst/>
                <a:gdLst/>
                <a:ahLst/>
                <a:cxnLst/>
                <a:rect l="l" t="t" r="r" b="b"/>
                <a:pathLst>
                  <a:path w="1536065" h="109854">
                    <a:moveTo>
                      <a:pt x="1535976" y="0"/>
                    </a:moveTo>
                    <a:lnTo>
                      <a:pt x="0" y="0"/>
                    </a:lnTo>
                    <a:lnTo>
                      <a:pt x="0" y="109651"/>
                    </a:lnTo>
                    <a:lnTo>
                      <a:pt x="1535976" y="109651"/>
                    </a:lnTo>
                    <a:lnTo>
                      <a:pt x="1535976" y="0"/>
                    </a:lnTo>
                    <a:close/>
                  </a:path>
                </a:pathLst>
              </a:custGeom>
              <a:solidFill>
                <a:schemeClr val="accent5">
                  <a:lumMod val="40000"/>
                  <a:lumOff val="60000"/>
                </a:schemeClr>
              </a:solidFill>
            </p:spPr>
            <p:txBody>
              <a:bodyPr wrap="square" lIns="0" tIns="0" rIns="0" bIns="0" rtlCol="0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 </a:t>
                </a:r>
                <a:r>
                  <a:rPr lang="en-US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 Praveen Kalepu (IIITDM Kurnool)</a:t>
                </a:r>
                <a:endParaRPr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1" name="object 19">
                <a:extLst>
                  <a:ext uri="{FF2B5EF4-FFF2-40B4-BE49-F238E27FC236}">
                    <a16:creationId xmlns:a16="http://schemas.microsoft.com/office/drawing/2014/main" id="{99A16F8A-DA66-FC17-5B59-E7B582121E40}"/>
                  </a:ext>
                </a:extLst>
              </p:cNvPr>
              <p:cNvSpPr/>
              <p:nvPr/>
            </p:nvSpPr>
            <p:spPr>
              <a:xfrm>
                <a:off x="1535976" y="3346348"/>
                <a:ext cx="1536065" cy="109855"/>
              </a:xfrm>
              <a:custGeom>
                <a:avLst/>
                <a:gdLst/>
                <a:ahLst/>
                <a:cxnLst/>
                <a:rect l="l" t="t" r="r" b="b"/>
                <a:pathLst>
                  <a:path w="1536064" h="109854">
                    <a:moveTo>
                      <a:pt x="1535976" y="0"/>
                    </a:moveTo>
                    <a:lnTo>
                      <a:pt x="0" y="0"/>
                    </a:lnTo>
                    <a:lnTo>
                      <a:pt x="0" y="109651"/>
                    </a:lnTo>
                    <a:lnTo>
                      <a:pt x="1535976" y="109651"/>
                    </a:lnTo>
                    <a:lnTo>
                      <a:pt x="1535976" y="0"/>
                    </a:lnTo>
                    <a:close/>
                  </a:path>
                </a:pathLst>
              </a:custGeom>
              <a:solidFill>
                <a:schemeClr val="accent4">
                  <a:lumMod val="40000"/>
                  <a:lumOff val="60000"/>
                </a:schemeClr>
              </a:solidFill>
            </p:spPr>
            <p:txBody>
              <a:bodyPr wrap="square" lIns="0" tIns="0" rIns="0" bIns="0" rtlCol="0"/>
              <a:lstStyle/>
              <a:p>
                <a:pPr algn="ctr"/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Progressive seminar </a:t>
                </a:r>
                <a:endParaRPr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2" name="object 20">
                <a:extLst>
                  <a:ext uri="{FF2B5EF4-FFF2-40B4-BE49-F238E27FC236}">
                    <a16:creationId xmlns:a16="http://schemas.microsoft.com/office/drawing/2014/main" id="{54CCB4E0-F397-AC16-5FF2-D27EF240721A}"/>
                  </a:ext>
                </a:extLst>
              </p:cNvPr>
              <p:cNvSpPr/>
              <p:nvPr/>
            </p:nvSpPr>
            <p:spPr>
              <a:xfrm>
                <a:off x="3072130" y="3346348"/>
                <a:ext cx="1536065" cy="109855"/>
              </a:xfrm>
              <a:custGeom>
                <a:avLst/>
                <a:gdLst/>
                <a:ahLst/>
                <a:cxnLst/>
                <a:rect l="l" t="t" r="r" b="b"/>
                <a:pathLst>
                  <a:path w="1536064" h="109854">
                    <a:moveTo>
                      <a:pt x="1535976" y="0"/>
                    </a:moveTo>
                    <a:lnTo>
                      <a:pt x="0" y="0"/>
                    </a:lnTo>
                    <a:lnTo>
                      <a:pt x="0" y="109651"/>
                    </a:lnTo>
                    <a:lnTo>
                      <a:pt x="1535976" y="109651"/>
                    </a:lnTo>
                    <a:lnTo>
                      <a:pt x="1535976" y="0"/>
                    </a:lnTo>
                    <a:close/>
                  </a:path>
                </a:pathLst>
              </a:cu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lIns="0" tIns="0" rIns="0" bIns="0" rtlCol="0"/>
              <a:lstStyle/>
              <a:p>
                <a:pPr algn="ctr"/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July 2025		4/30                        </a:t>
                </a:r>
                <a:endParaRPr dirty="0"/>
              </a:p>
            </p:txBody>
          </p:sp>
        </p:grpSp>
        <p:sp>
          <p:nvSpPr>
            <p:cNvPr id="7" name="object 19">
              <a:extLst>
                <a:ext uri="{FF2B5EF4-FFF2-40B4-BE49-F238E27FC236}">
                  <a16:creationId xmlns:a16="http://schemas.microsoft.com/office/drawing/2014/main" id="{5AE8864F-3F3D-62A5-E843-6536BBDE4B26}"/>
                </a:ext>
              </a:extLst>
            </p:cNvPr>
            <p:cNvSpPr/>
            <p:nvPr/>
          </p:nvSpPr>
          <p:spPr>
            <a:xfrm>
              <a:off x="4063765" y="6512552"/>
              <a:ext cx="4064000" cy="345448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Ph.D</a:t>
              </a:r>
              <a:r>
                <a:rPr 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. </a:t>
              </a: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Registration seminar </a:t>
              </a: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4" name="Google Shape;97;p14">
            <a:extLst>
              <a:ext uri="{FF2B5EF4-FFF2-40B4-BE49-F238E27FC236}">
                <a16:creationId xmlns:a16="http://schemas.microsoft.com/office/drawing/2014/main" id="{0BF32570-CF22-2891-CB88-DE3008C51298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013048" y="0"/>
            <a:ext cx="1178952" cy="115397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71163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699C7-C789-6D2A-3B48-20BB60996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4518FDF-4923-5F5F-84DE-4DD0C820120B}"/>
              </a:ext>
            </a:extLst>
          </p:cNvPr>
          <p:cNvSpPr/>
          <p:nvPr/>
        </p:nvSpPr>
        <p:spPr>
          <a:xfrm>
            <a:off x="306967" y="173322"/>
            <a:ext cx="10144723" cy="790239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Skeletal Joints Dataset - Using Kinect Sensor </a:t>
            </a:r>
            <a:endParaRPr lang="en-IN" sz="2800" b="1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" name="object 17">
            <a:extLst>
              <a:ext uri="{FF2B5EF4-FFF2-40B4-BE49-F238E27FC236}">
                <a16:creationId xmlns:a16="http://schemas.microsoft.com/office/drawing/2014/main" id="{A91D75F5-85E6-D64B-9919-7BEE57577EF8}"/>
              </a:ext>
            </a:extLst>
          </p:cNvPr>
          <p:cNvGrpSpPr/>
          <p:nvPr/>
        </p:nvGrpSpPr>
        <p:grpSpPr>
          <a:xfrm>
            <a:off x="0" y="6470121"/>
            <a:ext cx="12192000" cy="345448"/>
            <a:chOff x="0" y="3346348"/>
            <a:chExt cx="4608195" cy="109855"/>
          </a:xfrm>
        </p:grpSpPr>
        <p:sp>
          <p:nvSpPr>
            <p:cNvPr id="5" name="object 18">
              <a:extLst>
                <a:ext uri="{FF2B5EF4-FFF2-40B4-BE49-F238E27FC236}">
                  <a16:creationId xmlns:a16="http://schemas.microsoft.com/office/drawing/2014/main" id="{693B4FE0-3426-D45E-A495-D0A7D43B4086}"/>
                </a:ext>
              </a:extLst>
            </p:cNvPr>
            <p:cNvSpPr/>
            <p:nvPr/>
          </p:nvSpPr>
          <p:spPr>
            <a:xfrm>
              <a:off x="0" y="3346348"/>
              <a:ext cx="1535976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 </a:t>
              </a:r>
              <a:r>
                <a:rPr lang="en-US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</a:t>
              </a:r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D Praveen Kalepu (IIITDM Kurnool)</a:t>
              </a:r>
              <a:endPara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object 19">
              <a:extLst>
                <a:ext uri="{FF2B5EF4-FFF2-40B4-BE49-F238E27FC236}">
                  <a16:creationId xmlns:a16="http://schemas.microsoft.com/office/drawing/2014/main" id="{DB864E64-3C0D-BFE1-039F-0A23A606828D}"/>
                </a:ext>
              </a:extLst>
            </p:cNvPr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Progressive seminar </a:t>
              </a: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object 20">
              <a:extLst>
                <a:ext uri="{FF2B5EF4-FFF2-40B4-BE49-F238E27FC236}">
                  <a16:creationId xmlns:a16="http://schemas.microsoft.com/office/drawing/2014/main" id="{C57D2F4E-BCEA-BF74-C092-808DB6E46256}"/>
                </a:ext>
              </a:extLst>
            </p:cNvPr>
            <p:cNvSpPr/>
            <p:nvPr/>
          </p:nvSpPr>
          <p:spPr>
            <a:xfrm>
              <a:off x="307213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July 2025                        11/30</a:t>
              </a:r>
              <a:endParaRPr dirty="0"/>
            </a:p>
          </p:txBody>
        </p:sp>
      </p:grpSp>
      <p:sp>
        <p:nvSpPr>
          <p:cNvPr id="9" name="object 19">
            <a:extLst>
              <a:ext uri="{FF2B5EF4-FFF2-40B4-BE49-F238E27FC236}">
                <a16:creationId xmlns:a16="http://schemas.microsoft.com/office/drawing/2014/main" id="{08652D20-922B-EE4A-BC5A-071B32CC952E}"/>
              </a:ext>
            </a:extLst>
          </p:cNvPr>
          <p:cNvSpPr/>
          <p:nvPr/>
        </p:nvSpPr>
        <p:spPr>
          <a:xfrm>
            <a:off x="4063765" y="6512552"/>
            <a:ext cx="4064000" cy="345448"/>
          </a:xfrm>
          <a:custGeom>
            <a:avLst/>
            <a:gdLst/>
            <a:ahLst/>
            <a:cxnLst/>
            <a:rect l="l" t="t" r="r" b="b"/>
            <a:pathLst>
              <a:path w="1536064" h="109854">
                <a:moveTo>
                  <a:pt x="1535976" y="0"/>
                </a:moveTo>
                <a:lnTo>
                  <a:pt x="0" y="0"/>
                </a:lnTo>
                <a:lnTo>
                  <a:pt x="0" y="109651"/>
                </a:lnTo>
                <a:lnTo>
                  <a:pt x="1535976" y="109651"/>
                </a:lnTo>
                <a:lnTo>
                  <a:pt x="1535976" y="0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</a:schemeClr>
          </a:solidFill>
        </p:spPr>
        <p:txBody>
          <a:bodyPr wrap="square" lIns="0" tIns="0" rIns="0" bIns="0" rtlCol="0"/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Ph.D</a:t>
            </a:r>
            <a:r>
              <a:rPr lang="en-US" sz="14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Registration seminar 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FAA935A-53F8-BF7A-DB14-179ACD23568C}"/>
              </a:ext>
            </a:extLst>
          </p:cNvPr>
          <p:cNvCxnSpPr>
            <a:cxnSpLocks/>
          </p:cNvCxnSpPr>
          <p:nvPr/>
        </p:nvCxnSpPr>
        <p:spPr>
          <a:xfrm>
            <a:off x="8873635" y="2201158"/>
            <a:ext cx="0" cy="426896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oogle Shape;97;p14">
            <a:extLst>
              <a:ext uri="{FF2B5EF4-FFF2-40B4-BE49-F238E27FC236}">
                <a16:creationId xmlns:a16="http://schemas.microsoft.com/office/drawing/2014/main" id="{62E9445B-E67B-0F92-3713-C97A6C241F2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13048" y="0"/>
            <a:ext cx="1178952" cy="1153972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1333EF75-3FF1-A4C1-336E-26609953F50B}"/>
              </a:ext>
            </a:extLst>
          </p:cNvPr>
          <p:cNvSpPr txBox="1"/>
          <p:nvPr/>
        </p:nvSpPr>
        <p:spPr>
          <a:xfrm>
            <a:off x="457200" y="1676400"/>
            <a:ext cx="105558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endParaRPr lang="en-IN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0235ACF-A7CC-C3F4-5CF5-AF89AF355E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6672" y="1180540"/>
            <a:ext cx="7295328" cy="4680703"/>
          </a:xfrm>
          <a:prstGeom prst="rect">
            <a:avLst/>
          </a:prstGeom>
        </p:spPr>
      </p:pic>
      <p:sp>
        <p:nvSpPr>
          <p:cNvPr id="10" name="Rectangle 2">
            <a:extLst>
              <a:ext uri="{FF2B5EF4-FFF2-40B4-BE49-F238E27FC236}">
                <a16:creationId xmlns:a16="http://schemas.microsoft.com/office/drawing/2014/main" id="{183F9783-660D-E05E-B181-FA5350A3BE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25135"/>
            <a:ext cx="4896672" cy="47243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 captured using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Microsoft Kinect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with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RGB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depth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and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3D skeletal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data.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Kinect uses a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25-joint skeleton model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with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x, y, z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coordinates tracked over time.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Dataset includes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30 individuals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for variability in movement and posture.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Each person performs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7 activities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bending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jumping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running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sitting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squat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standing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walking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Each activity is stored as a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time-series CSV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with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timestamp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body ID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and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joint coordinates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70684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A738C-D19F-4261-3605-650593C74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A80733B-DAB5-3528-A16D-51E2061FA4EE}"/>
              </a:ext>
            </a:extLst>
          </p:cNvPr>
          <p:cNvSpPr/>
          <p:nvPr/>
        </p:nvSpPr>
        <p:spPr>
          <a:xfrm>
            <a:off x="311309" y="166223"/>
            <a:ext cx="10191934" cy="758943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Collection</a:t>
            </a:r>
            <a:endParaRPr lang="en-IN" sz="2800" b="1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" name="object 17">
            <a:extLst>
              <a:ext uri="{FF2B5EF4-FFF2-40B4-BE49-F238E27FC236}">
                <a16:creationId xmlns:a16="http://schemas.microsoft.com/office/drawing/2014/main" id="{0EB8B76A-0D07-EC72-F941-02B7CC1B5C20}"/>
              </a:ext>
            </a:extLst>
          </p:cNvPr>
          <p:cNvGrpSpPr/>
          <p:nvPr/>
        </p:nvGrpSpPr>
        <p:grpSpPr>
          <a:xfrm>
            <a:off x="0" y="6518560"/>
            <a:ext cx="12102101" cy="345448"/>
            <a:chOff x="0" y="3346348"/>
            <a:chExt cx="4608195" cy="109855"/>
          </a:xfrm>
        </p:grpSpPr>
        <p:sp>
          <p:nvSpPr>
            <p:cNvPr id="4" name="object 18">
              <a:extLst>
                <a:ext uri="{FF2B5EF4-FFF2-40B4-BE49-F238E27FC236}">
                  <a16:creationId xmlns:a16="http://schemas.microsoft.com/office/drawing/2014/main" id="{E86AFBF6-E8A9-CB44-D2DD-CA7C8E70568F}"/>
                </a:ext>
              </a:extLst>
            </p:cNvPr>
            <p:cNvSpPr/>
            <p:nvPr/>
          </p:nvSpPr>
          <p:spPr>
            <a:xfrm>
              <a:off x="0" y="3346348"/>
              <a:ext cx="1535976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 </a:t>
              </a:r>
              <a:r>
                <a:rPr lang="en-US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</a:t>
              </a:r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D Praveen Kalepu (IIITDM Kurnool)</a:t>
              </a:r>
              <a:endPara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object 19">
              <a:extLst>
                <a:ext uri="{FF2B5EF4-FFF2-40B4-BE49-F238E27FC236}">
                  <a16:creationId xmlns:a16="http://schemas.microsoft.com/office/drawing/2014/main" id="{973491E3-412C-1FBB-E9C4-C9E7E44B2F7A}"/>
                </a:ext>
              </a:extLst>
            </p:cNvPr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Progressive seminar </a:t>
              </a: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object 20">
              <a:extLst>
                <a:ext uri="{FF2B5EF4-FFF2-40B4-BE49-F238E27FC236}">
                  <a16:creationId xmlns:a16="http://schemas.microsoft.com/office/drawing/2014/main" id="{60BD445B-F71C-639E-24B0-15C149562BDF}"/>
                </a:ext>
              </a:extLst>
            </p:cNvPr>
            <p:cNvSpPr/>
            <p:nvPr/>
          </p:nvSpPr>
          <p:spPr>
            <a:xfrm>
              <a:off x="307213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July 2025                        12/30</a:t>
              </a:r>
              <a:endParaRPr dirty="0"/>
            </a:p>
          </p:txBody>
        </p:sp>
      </p:grpSp>
      <p:sp>
        <p:nvSpPr>
          <p:cNvPr id="7" name="object 19">
            <a:extLst>
              <a:ext uri="{FF2B5EF4-FFF2-40B4-BE49-F238E27FC236}">
                <a16:creationId xmlns:a16="http://schemas.microsoft.com/office/drawing/2014/main" id="{D90AF505-3E0B-CA46-B82B-044DAE020A89}"/>
              </a:ext>
            </a:extLst>
          </p:cNvPr>
          <p:cNvSpPr/>
          <p:nvPr/>
        </p:nvSpPr>
        <p:spPr>
          <a:xfrm>
            <a:off x="4063765" y="6512552"/>
            <a:ext cx="4064000" cy="345448"/>
          </a:xfrm>
          <a:custGeom>
            <a:avLst/>
            <a:gdLst/>
            <a:ahLst/>
            <a:cxnLst/>
            <a:rect l="l" t="t" r="r" b="b"/>
            <a:pathLst>
              <a:path w="1536064" h="109854">
                <a:moveTo>
                  <a:pt x="1535976" y="0"/>
                </a:moveTo>
                <a:lnTo>
                  <a:pt x="0" y="0"/>
                </a:lnTo>
                <a:lnTo>
                  <a:pt x="0" y="109651"/>
                </a:lnTo>
                <a:lnTo>
                  <a:pt x="1535976" y="109651"/>
                </a:lnTo>
                <a:lnTo>
                  <a:pt x="1535976" y="0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</a:schemeClr>
          </a:solidFill>
        </p:spPr>
        <p:txBody>
          <a:bodyPr wrap="square" lIns="0" tIns="0" rIns="0" bIns="0" rtlCol="0"/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\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object 19">
            <a:extLst>
              <a:ext uri="{FF2B5EF4-FFF2-40B4-BE49-F238E27FC236}">
                <a16:creationId xmlns:a16="http://schemas.microsoft.com/office/drawing/2014/main" id="{843601B5-03F1-8149-6B08-59C5774B51F6}"/>
              </a:ext>
            </a:extLst>
          </p:cNvPr>
          <p:cNvSpPr/>
          <p:nvPr/>
        </p:nvSpPr>
        <p:spPr>
          <a:xfrm>
            <a:off x="4063765" y="6518560"/>
            <a:ext cx="4064000" cy="345448"/>
          </a:xfrm>
          <a:custGeom>
            <a:avLst/>
            <a:gdLst/>
            <a:ahLst/>
            <a:cxnLst/>
            <a:rect l="l" t="t" r="r" b="b"/>
            <a:pathLst>
              <a:path w="1536064" h="109854">
                <a:moveTo>
                  <a:pt x="1535976" y="0"/>
                </a:moveTo>
                <a:lnTo>
                  <a:pt x="0" y="0"/>
                </a:lnTo>
                <a:lnTo>
                  <a:pt x="0" y="109651"/>
                </a:lnTo>
                <a:lnTo>
                  <a:pt x="1535976" y="109651"/>
                </a:lnTo>
                <a:lnTo>
                  <a:pt x="1535976" y="0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</a:schemeClr>
          </a:solidFill>
        </p:spPr>
        <p:txBody>
          <a:bodyPr wrap="square" lIns="0" tIns="0" rIns="0" bIns="0" rtlCol="0"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Ph.D</a:t>
            </a:r>
            <a:r>
              <a:rPr lang="en-U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Registration seminar </a:t>
            </a:r>
          </a:p>
        </p:txBody>
      </p:sp>
      <p:pic>
        <p:nvPicPr>
          <p:cNvPr id="12" name="Google Shape;97;p14">
            <a:extLst>
              <a:ext uri="{FF2B5EF4-FFF2-40B4-BE49-F238E27FC236}">
                <a16:creationId xmlns:a16="http://schemas.microsoft.com/office/drawing/2014/main" id="{FB7D034F-085A-6ACE-26F3-55F21EDCC9A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13048" y="0"/>
            <a:ext cx="1178952" cy="1153972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2690DD2-13ED-711C-7971-176F582E8FE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23" t="7732" r="15636" b="14928"/>
          <a:stretch>
            <a:fillRect/>
          </a:stretch>
        </p:blipFill>
        <p:spPr>
          <a:xfrm>
            <a:off x="311310" y="1153972"/>
            <a:ext cx="6670516" cy="404019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1A47E32-EF88-CEBB-66DE-C6CD75702C9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1143" t="6428" r="4286" b="8572"/>
          <a:stretch>
            <a:fillRect/>
          </a:stretch>
        </p:blipFill>
        <p:spPr>
          <a:xfrm>
            <a:off x="6241891" y="1028700"/>
            <a:ext cx="5638800" cy="5261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9975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E4620D7-7AB8-22F4-DC1D-75E6370756D8}"/>
              </a:ext>
            </a:extLst>
          </p:cNvPr>
          <p:cNvSpPr/>
          <p:nvPr/>
        </p:nvSpPr>
        <p:spPr>
          <a:xfrm>
            <a:off x="311309" y="166223"/>
            <a:ext cx="10191934" cy="758943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Models Used </a:t>
            </a:r>
            <a:endParaRPr lang="en-IN" sz="2800" b="1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Google Shape;97;p14">
            <a:extLst>
              <a:ext uri="{FF2B5EF4-FFF2-40B4-BE49-F238E27FC236}">
                <a16:creationId xmlns:a16="http://schemas.microsoft.com/office/drawing/2014/main" id="{A4DDE570-FCD9-4D92-6BC8-72D5CFA7CD6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13048" y="0"/>
            <a:ext cx="1178952" cy="1153972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AC41C42-3327-930C-CED5-8E91876A29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5144495"/>
              </p:ext>
            </p:extLst>
          </p:nvPr>
        </p:nvGraphicFramePr>
        <p:xfrm>
          <a:off x="112734" y="1153972"/>
          <a:ext cx="11711838" cy="5474036"/>
        </p:xfrm>
        <a:graphic>
          <a:graphicData uri="http://schemas.openxmlformats.org/drawingml/2006/table">
            <a:tbl>
              <a:tblPr>
                <a:tableStyleId>{36548CB8-554B-47B1-B464-9B95B1BBCFA0}</a:tableStyleId>
              </a:tblPr>
              <a:tblGrid>
                <a:gridCol w="1665962">
                  <a:extLst>
                    <a:ext uri="{9D8B030D-6E8A-4147-A177-3AD203B41FA5}">
                      <a16:colId xmlns:a16="http://schemas.microsoft.com/office/drawing/2014/main" val="2618100679"/>
                    </a:ext>
                  </a:extLst>
                </a:gridCol>
                <a:gridCol w="1528175">
                  <a:extLst>
                    <a:ext uri="{9D8B030D-6E8A-4147-A177-3AD203B41FA5}">
                      <a16:colId xmlns:a16="http://schemas.microsoft.com/office/drawing/2014/main" val="2567674809"/>
                    </a:ext>
                  </a:extLst>
                </a:gridCol>
                <a:gridCol w="1878904">
                  <a:extLst>
                    <a:ext uri="{9D8B030D-6E8A-4147-A177-3AD203B41FA5}">
                      <a16:colId xmlns:a16="http://schemas.microsoft.com/office/drawing/2014/main" val="1835998858"/>
                    </a:ext>
                  </a:extLst>
                </a:gridCol>
                <a:gridCol w="2734851">
                  <a:extLst>
                    <a:ext uri="{9D8B030D-6E8A-4147-A177-3AD203B41FA5}">
                      <a16:colId xmlns:a16="http://schemas.microsoft.com/office/drawing/2014/main" val="2287341766"/>
                    </a:ext>
                  </a:extLst>
                </a:gridCol>
                <a:gridCol w="2025040">
                  <a:extLst>
                    <a:ext uri="{9D8B030D-6E8A-4147-A177-3AD203B41FA5}">
                      <a16:colId xmlns:a16="http://schemas.microsoft.com/office/drawing/2014/main" val="2006504308"/>
                    </a:ext>
                  </a:extLst>
                </a:gridCol>
                <a:gridCol w="1878906">
                  <a:extLst>
                    <a:ext uri="{9D8B030D-6E8A-4147-A177-3AD203B41FA5}">
                      <a16:colId xmlns:a16="http://schemas.microsoft.com/office/drawing/2014/main" val="1881031806"/>
                    </a:ext>
                  </a:extLst>
                </a:gridCol>
              </a:tblGrid>
              <a:tr h="2453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/>
                        <a:t>Model</a:t>
                      </a:r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/>
                        <a:t>Key Idea</a:t>
                      </a:r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/>
                        <a:t>Architecture</a:t>
                      </a:r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/>
                        <a:t>Strengths</a:t>
                      </a:r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/>
                        <a:t>Limitations</a:t>
                      </a:r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Best Use Cases</a:t>
                      </a:r>
                    </a:p>
                  </a:txBody>
                  <a:tcPr marL="58802" marR="58802" marT="29401" marB="29401" anchor="ctr"/>
                </a:tc>
                <a:extLst>
                  <a:ext uri="{0D108BD9-81ED-4DB2-BD59-A6C34878D82A}">
                    <a16:rowId xmlns:a16="http://schemas.microsoft.com/office/drawing/2014/main" val="4106773302"/>
                  </a:ext>
                </a:extLst>
              </a:tr>
              <a:tr h="14476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/>
                        <a:t>Long Short Term Memory (LSTM)</a:t>
                      </a:r>
                      <a:endParaRPr lang="en-IN" sz="1400" dirty="0"/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/>
                        <a:t>Learns </a:t>
                      </a:r>
                      <a:r>
                        <a:rPr lang="en-US" sz="1400" b="1"/>
                        <a:t>long-term dependencies</a:t>
                      </a:r>
                      <a:r>
                        <a:rPr lang="en-US" sz="1400"/>
                        <a:t> in sequential data</a:t>
                      </a:r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/>
                        <a:t>Single-direction recurrent unit with </a:t>
                      </a:r>
                      <a:r>
                        <a:rPr lang="en-US" sz="1400" b="1"/>
                        <a:t>input, forget, and output gates</a:t>
                      </a:r>
                      <a:endParaRPr lang="en-US" sz="1400"/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marL="0" indent="0" algn="l">
                        <a:buFontTx/>
                        <a:buNone/>
                      </a:pPr>
                      <a:r>
                        <a:rPr lang="en-US" sz="1400" dirty="0"/>
                        <a:t>- Handles </a:t>
                      </a:r>
                      <a:r>
                        <a:rPr lang="en-US" sz="1400" b="1" dirty="0"/>
                        <a:t>vanishing gradient</a:t>
                      </a:r>
                      <a:r>
                        <a:rPr lang="en-US" sz="1400" dirty="0"/>
                        <a:t> problem- Good for </a:t>
                      </a:r>
                      <a:r>
                        <a:rPr lang="en-US" sz="1400" b="1" dirty="0"/>
                        <a:t>time-series / sequential classification.</a:t>
                      </a:r>
                    </a:p>
                    <a:p>
                      <a:pPr marL="0" indent="0" algn="l">
                        <a:buFont typeface="Arial" panose="020B0604020202020204" pitchFamily="34" charset="0"/>
                        <a:buNone/>
                      </a:pPr>
                      <a:r>
                        <a:rPr lang="en-US" sz="1400" dirty="0"/>
                        <a:t> - Captures </a:t>
                      </a:r>
                      <a:r>
                        <a:rPr lang="en-US" sz="1400" b="1" dirty="0"/>
                        <a:t>temporal memory</a:t>
                      </a:r>
                      <a:r>
                        <a:rPr lang="en-US" sz="1400" dirty="0"/>
                        <a:t> effectively.</a:t>
                      </a:r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marL="0" indent="0" algn="l">
                        <a:buFontTx/>
                        <a:buNone/>
                      </a:pPr>
                      <a:r>
                        <a:rPr lang="en-US" sz="1400" dirty="0"/>
                        <a:t>- Loses information from </a:t>
                      </a:r>
                      <a:r>
                        <a:rPr lang="en-US" sz="1400" b="1" dirty="0"/>
                        <a:t>future context.</a:t>
                      </a:r>
                    </a:p>
                    <a:p>
                      <a:pPr marL="0" indent="0" algn="l">
                        <a:buFontTx/>
                        <a:buNone/>
                      </a:pPr>
                      <a:r>
                        <a:rPr lang="en-US" sz="1400" dirty="0"/>
                        <a:t>- May underperform on </a:t>
                      </a:r>
                      <a:r>
                        <a:rPr lang="en-US" sz="1400" b="1" dirty="0"/>
                        <a:t>complex motion patterns.</a:t>
                      </a:r>
                      <a:endParaRPr lang="en-US" sz="1400" dirty="0"/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/>
                        <a:t>Basic </a:t>
                      </a:r>
                      <a:r>
                        <a:rPr lang="en-US" sz="1400" b="1"/>
                        <a:t>sequence forecasting</a:t>
                      </a:r>
                      <a:r>
                        <a:rPr lang="en-US" sz="1400"/>
                        <a:t>, simple </a:t>
                      </a:r>
                      <a:r>
                        <a:rPr lang="en-US" sz="1400" b="1"/>
                        <a:t>activity recognition</a:t>
                      </a:r>
                      <a:r>
                        <a:rPr lang="en-US" sz="1400"/>
                        <a:t>, speech modeling</a:t>
                      </a:r>
                    </a:p>
                  </a:txBody>
                  <a:tcPr marL="58802" marR="58802" marT="29401" marB="29401" anchor="ctr"/>
                </a:tc>
                <a:extLst>
                  <a:ext uri="{0D108BD9-81ED-4DB2-BD59-A6C34878D82A}">
                    <a16:rowId xmlns:a16="http://schemas.microsoft.com/office/drawing/2014/main" val="3985763223"/>
                  </a:ext>
                </a:extLst>
              </a:tr>
              <a:tr h="14476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/>
                        <a:t>Bidirectional LSTM (</a:t>
                      </a:r>
                      <a:r>
                        <a:rPr lang="en-IN" sz="1400" b="1" dirty="0" err="1"/>
                        <a:t>BiLSTM</a:t>
                      </a:r>
                      <a:r>
                        <a:rPr lang="en-IN" sz="1400" b="1" dirty="0"/>
                        <a:t>)</a:t>
                      </a:r>
                      <a:endParaRPr lang="en-IN" sz="1400" dirty="0"/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/>
                        <a:t>Uses </a:t>
                      </a:r>
                      <a:r>
                        <a:rPr lang="en-US" sz="1400" b="1"/>
                        <a:t>past + future context</a:t>
                      </a:r>
                      <a:r>
                        <a:rPr lang="en-US" sz="1400"/>
                        <a:t> for each time step</a:t>
                      </a:r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/>
                        <a:t>Two </a:t>
                      </a:r>
                      <a:r>
                        <a:rPr lang="en-US" sz="1400" b="1"/>
                        <a:t>LSTM</a:t>
                      </a:r>
                      <a:r>
                        <a:rPr lang="en-US" sz="1400"/>
                        <a:t> layers: one forward, one backward, outputs concatenated</a:t>
                      </a:r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marL="0" indent="0" algn="l">
                        <a:buFontTx/>
                        <a:buNone/>
                      </a:pPr>
                      <a:r>
                        <a:rPr lang="en-US" sz="1400" dirty="0"/>
                        <a:t>- Strong </a:t>
                      </a:r>
                      <a:r>
                        <a:rPr lang="en-US" sz="1400" b="1" dirty="0"/>
                        <a:t>contextual understanding</a:t>
                      </a:r>
                      <a:r>
                        <a:rPr lang="en-US" sz="1400" dirty="0"/>
                        <a:t>- Captures </a:t>
                      </a:r>
                      <a:r>
                        <a:rPr lang="en-US" sz="1400" b="1" dirty="0"/>
                        <a:t>bidirectional motion patterns.</a:t>
                      </a:r>
                    </a:p>
                    <a:p>
                      <a:pPr marL="0" indent="0" algn="l">
                        <a:buFontTx/>
                        <a:buNone/>
                      </a:pPr>
                      <a:r>
                        <a:rPr lang="en-US" sz="1400" dirty="0"/>
                        <a:t>- Good for </a:t>
                      </a:r>
                      <a:r>
                        <a:rPr lang="en-US" sz="1400" b="1" dirty="0"/>
                        <a:t>overlapping / subtle movements.</a:t>
                      </a:r>
                      <a:endParaRPr lang="en-US" sz="1400" dirty="0"/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marL="0" indent="0" algn="l">
                        <a:buFontTx/>
                        <a:buNone/>
                      </a:pPr>
                      <a:r>
                        <a:rPr lang="en-US" sz="1400" dirty="0"/>
                        <a:t>- Increased </a:t>
                      </a:r>
                      <a:r>
                        <a:rPr lang="en-US" sz="1400" b="1" dirty="0"/>
                        <a:t>computational load.</a:t>
                      </a:r>
                    </a:p>
                    <a:p>
                      <a:pPr marL="0" indent="0" algn="l">
                        <a:buFontTx/>
                        <a:buNone/>
                      </a:pPr>
                      <a:r>
                        <a:rPr lang="en-US" sz="1400" dirty="0"/>
                        <a:t>- More memory usage due to dual processing.</a:t>
                      </a:r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/>
                        <a:t>Human activity recognition</a:t>
                      </a:r>
                      <a:r>
                        <a:rPr lang="en-US" sz="1400"/>
                        <a:t>, NLP tasks, gesture recognition</a:t>
                      </a:r>
                    </a:p>
                  </a:txBody>
                  <a:tcPr marL="58802" marR="58802" marT="29401" marB="29401" anchor="ctr"/>
                </a:tc>
                <a:extLst>
                  <a:ext uri="{0D108BD9-81ED-4DB2-BD59-A6C34878D82A}">
                    <a16:rowId xmlns:a16="http://schemas.microsoft.com/office/drawing/2014/main" val="439000357"/>
                  </a:ext>
                </a:extLst>
              </a:tr>
              <a:tr h="230649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/>
                        <a:t>Gated Residual Skip </a:t>
                      </a:r>
                      <a:r>
                        <a:rPr lang="en-IN" sz="1400" b="1" dirty="0" err="1"/>
                        <a:t>BiLSTM</a:t>
                      </a:r>
                      <a:r>
                        <a:rPr lang="en-IN" sz="1400" b="1" dirty="0"/>
                        <a:t> (GRS-</a:t>
                      </a:r>
                      <a:r>
                        <a:rPr lang="en-IN" sz="1400" b="1" dirty="0" err="1"/>
                        <a:t>BiLSTM</a:t>
                      </a:r>
                      <a:r>
                        <a:rPr lang="en-IN" sz="1400" b="1" dirty="0"/>
                        <a:t>)</a:t>
                      </a:r>
                      <a:endParaRPr lang="en-IN" sz="1400" dirty="0"/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/>
                        <a:t>Enhances BiLSTM with </a:t>
                      </a:r>
                      <a:r>
                        <a:rPr lang="en-US" sz="1400" b="1"/>
                        <a:t>Gated Residual Skip (GRS)</a:t>
                      </a:r>
                      <a:r>
                        <a:rPr lang="en-US" sz="1400"/>
                        <a:t> connections</a:t>
                      </a:r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 err="1"/>
                        <a:t>BiLSTM</a:t>
                      </a:r>
                      <a:r>
                        <a:rPr lang="en-US" sz="1400" b="1" dirty="0"/>
                        <a:t> backbone + gating layer + residual skip pathways</a:t>
                      </a:r>
                      <a:r>
                        <a:rPr lang="en-US" sz="1400" dirty="0"/>
                        <a:t> + optional </a:t>
                      </a:r>
                      <a:r>
                        <a:rPr lang="en-US" sz="1400" b="1" dirty="0"/>
                        <a:t>multi-scale inputs</a:t>
                      </a:r>
                      <a:endParaRPr lang="en-US" sz="1400" dirty="0"/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marL="0" indent="0" algn="l">
                        <a:buFontTx/>
                        <a:buNone/>
                      </a:pPr>
                      <a:r>
                        <a:rPr lang="en-US" sz="1400" dirty="0"/>
                        <a:t>- Improved </a:t>
                      </a:r>
                      <a:r>
                        <a:rPr lang="en-US" sz="1400" b="1" dirty="0"/>
                        <a:t>gradient flow</a:t>
                      </a:r>
                      <a:r>
                        <a:rPr lang="en-US" sz="1400" dirty="0"/>
                        <a:t> and </a:t>
                      </a:r>
                      <a:r>
                        <a:rPr lang="en-US" sz="1400" b="1" dirty="0"/>
                        <a:t>training stability</a:t>
                      </a:r>
                      <a:r>
                        <a:rPr lang="en-US" sz="1400" dirty="0"/>
                        <a:t>- Better </a:t>
                      </a:r>
                      <a:r>
                        <a:rPr lang="en-US" sz="1400" b="1" dirty="0"/>
                        <a:t>multi-resolution temporal modeling.</a:t>
                      </a:r>
                    </a:p>
                    <a:p>
                      <a:pPr marL="0" indent="0" algn="l">
                        <a:buFontTx/>
                        <a:buNone/>
                      </a:pPr>
                      <a:r>
                        <a:rPr lang="en-US" sz="1400" dirty="0"/>
                        <a:t>- Handles </a:t>
                      </a:r>
                      <a:r>
                        <a:rPr lang="en-US" sz="1400" b="1" dirty="0"/>
                        <a:t>subtle transitions</a:t>
                      </a:r>
                      <a:r>
                        <a:rPr lang="en-US" sz="1400" dirty="0"/>
                        <a:t> and </a:t>
                      </a:r>
                      <a:r>
                        <a:rPr lang="en-US" sz="1400" b="1" dirty="0"/>
                        <a:t>long motion dependencies</a:t>
                      </a:r>
                      <a:r>
                        <a:rPr lang="en-US" sz="1400" dirty="0"/>
                        <a:t>- Reduces </a:t>
                      </a:r>
                      <a:r>
                        <a:rPr lang="en-US" sz="1400" b="1" dirty="0"/>
                        <a:t>over-smoothing and information loss.</a:t>
                      </a:r>
                      <a:endParaRPr lang="en-US" sz="1400" dirty="0"/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marL="0" indent="0" algn="l">
                        <a:buFontTx/>
                        <a:buNone/>
                      </a:pPr>
                      <a:r>
                        <a:rPr lang="en-US" sz="1400" b="1" dirty="0"/>
                        <a:t>- Complex architecture</a:t>
                      </a:r>
                      <a:r>
                        <a:rPr lang="en-US" sz="1400" dirty="0"/>
                        <a:t> requiring careful tuning .</a:t>
                      </a:r>
                    </a:p>
                    <a:p>
                      <a:pPr marL="0" indent="0" algn="l">
                        <a:buFontTx/>
                        <a:buNone/>
                      </a:pPr>
                      <a:r>
                        <a:rPr lang="en-US" sz="1400" dirty="0"/>
                        <a:t>- Higher </a:t>
                      </a:r>
                      <a:r>
                        <a:rPr lang="en-US" sz="1400" b="1" dirty="0"/>
                        <a:t>training time</a:t>
                      </a:r>
                      <a:r>
                        <a:rPr lang="en-US" sz="1400" dirty="0"/>
                        <a:t> and </a:t>
                      </a:r>
                      <a:r>
                        <a:rPr lang="en-US" sz="1400" b="1" dirty="0"/>
                        <a:t>model size.</a:t>
                      </a:r>
                      <a:endParaRPr lang="en-US" sz="1400" dirty="0"/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/>
                        <a:t>High-precision activity recognition</a:t>
                      </a:r>
                      <a:r>
                        <a:rPr lang="en-US" sz="1400" dirty="0"/>
                        <a:t>, </a:t>
                      </a:r>
                      <a:r>
                        <a:rPr lang="en-US" sz="1400" b="1" dirty="0"/>
                        <a:t>multi-sensor fusion</a:t>
                      </a:r>
                      <a:r>
                        <a:rPr lang="en-US" sz="1400" dirty="0"/>
                        <a:t>, real-world motion environments</a:t>
                      </a:r>
                    </a:p>
                  </a:txBody>
                  <a:tcPr marL="58802" marR="58802" marT="29401" marB="29401" anchor="ctr"/>
                </a:tc>
                <a:extLst>
                  <a:ext uri="{0D108BD9-81ED-4DB2-BD59-A6C34878D82A}">
                    <a16:rowId xmlns:a16="http://schemas.microsoft.com/office/drawing/2014/main" val="28408788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4125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07CDF-A9EE-42A7-3581-26FD91816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B453B93-707F-927D-B789-8A139F2C31A9}"/>
              </a:ext>
            </a:extLst>
          </p:cNvPr>
          <p:cNvSpPr/>
          <p:nvPr/>
        </p:nvSpPr>
        <p:spPr>
          <a:xfrm>
            <a:off x="127819" y="127819"/>
            <a:ext cx="10007830" cy="758943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Model – MS-GRS-</a:t>
            </a:r>
            <a:r>
              <a:rPr lang="en-US" sz="2800" b="1" dirty="0" err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BiLSTM</a:t>
            </a:r>
            <a:r>
              <a:rPr lang="en-US" sz="28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IN" sz="2800" b="1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" name="object 17">
            <a:extLst>
              <a:ext uri="{FF2B5EF4-FFF2-40B4-BE49-F238E27FC236}">
                <a16:creationId xmlns:a16="http://schemas.microsoft.com/office/drawing/2014/main" id="{F53BB855-4367-5DAF-9975-98313B2B0BE9}"/>
              </a:ext>
            </a:extLst>
          </p:cNvPr>
          <p:cNvGrpSpPr/>
          <p:nvPr/>
        </p:nvGrpSpPr>
        <p:grpSpPr>
          <a:xfrm>
            <a:off x="0" y="6518560"/>
            <a:ext cx="12102101" cy="345448"/>
            <a:chOff x="0" y="3346348"/>
            <a:chExt cx="4608195" cy="109855"/>
          </a:xfrm>
        </p:grpSpPr>
        <p:sp>
          <p:nvSpPr>
            <p:cNvPr id="4" name="object 18">
              <a:extLst>
                <a:ext uri="{FF2B5EF4-FFF2-40B4-BE49-F238E27FC236}">
                  <a16:creationId xmlns:a16="http://schemas.microsoft.com/office/drawing/2014/main" id="{ECD651C2-841F-E691-E127-01B8D3DE63B3}"/>
                </a:ext>
              </a:extLst>
            </p:cNvPr>
            <p:cNvSpPr/>
            <p:nvPr/>
          </p:nvSpPr>
          <p:spPr>
            <a:xfrm>
              <a:off x="0" y="3346348"/>
              <a:ext cx="1535976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 </a:t>
              </a:r>
              <a:r>
                <a:rPr lang="en-US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</a:t>
              </a:r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D Praveen Kalepu (IIITDM Kurnool)</a:t>
              </a:r>
              <a:endPara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object 19">
              <a:extLst>
                <a:ext uri="{FF2B5EF4-FFF2-40B4-BE49-F238E27FC236}">
                  <a16:creationId xmlns:a16="http://schemas.microsoft.com/office/drawing/2014/main" id="{1BC52002-97F3-9517-AC1E-AD88D5398C17}"/>
                </a:ext>
              </a:extLst>
            </p:cNvPr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Progressive seminar </a:t>
              </a: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object 20">
              <a:extLst>
                <a:ext uri="{FF2B5EF4-FFF2-40B4-BE49-F238E27FC236}">
                  <a16:creationId xmlns:a16="http://schemas.microsoft.com/office/drawing/2014/main" id="{F755537D-127D-C7E0-9A18-7B737D118658}"/>
                </a:ext>
              </a:extLst>
            </p:cNvPr>
            <p:cNvSpPr/>
            <p:nvPr/>
          </p:nvSpPr>
          <p:spPr>
            <a:xfrm>
              <a:off x="307213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July 2025                        13/30</a:t>
              </a:r>
              <a:endParaRPr lang="en-US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36D8B58F-620E-3924-4231-125ADB2B83C4}"/>
              </a:ext>
            </a:extLst>
          </p:cNvPr>
          <p:cNvSpPr txBox="1"/>
          <p:nvPr/>
        </p:nvSpPr>
        <p:spPr>
          <a:xfrm>
            <a:off x="127819" y="1333009"/>
            <a:ext cx="11915418" cy="4191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Name :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Multi-Scale Gated Residual Skip Bidirectional Long Short Term Memory (MS-GRS-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BiLSTM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Goal :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classify short time-windows of sensor / joint data into activity classes.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 ideas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multi-scale temporal representation, learned gates to fuse scales, residual skip from raw input,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BiLSTM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temporal modeling.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MS-GRS-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BiLSTM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is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 just detecting momentary movement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but is:	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the shape of motion over time, at multiple speeds, while carefully preserving useful 	information and filtering noise.</a:t>
            </a:r>
          </a:p>
          <a:p>
            <a:pPr>
              <a:lnSpc>
                <a:spcPct val="150000"/>
              </a:lnSpc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5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bject 19">
            <a:extLst>
              <a:ext uri="{FF2B5EF4-FFF2-40B4-BE49-F238E27FC236}">
                <a16:creationId xmlns:a16="http://schemas.microsoft.com/office/drawing/2014/main" id="{F6A68D7C-BFEB-94EE-D3CB-336163AB4721}"/>
              </a:ext>
            </a:extLst>
          </p:cNvPr>
          <p:cNvSpPr/>
          <p:nvPr/>
        </p:nvSpPr>
        <p:spPr>
          <a:xfrm>
            <a:off x="4063765" y="6512552"/>
            <a:ext cx="4064000" cy="345448"/>
          </a:xfrm>
          <a:custGeom>
            <a:avLst/>
            <a:gdLst/>
            <a:ahLst/>
            <a:cxnLst/>
            <a:rect l="l" t="t" r="r" b="b"/>
            <a:pathLst>
              <a:path w="1536064" h="109854">
                <a:moveTo>
                  <a:pt x="1535976" y="0"/>
                </a:moveTo>
                <a:lnTo>
                  <a:pt x="0" y="0"/>
                </a:lnTo>
                <a:lnTo>
                  <a:pt x="0" y="109651"/>
                </a:lnTo>
                <a:lnTo>
                  <a:pt x="1535976" y="109651"/>
                </a:lnTo>
                <a:lnTo>
                  <a:pt x="1535976" y="0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</a:schemeClr>
          </a:solidFill>
        </p:spPr>
        <p:txBody>
          <a:bodyPr wrap="square" lIns="0" tIns="0" rIns="0" bIns="0" rtlCol="0"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Ph.D</a:t>
            </a:r>
            <a:r>
              <a:rPr lang="en-U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Registration seminar </a:t>
            </a:r>
          </a:p>
        </p:txBody>
      </p:sp>
      <p:pic>
        <p:nvPicPr>
          <p:cNvPr id="9" name="Google Shape;97;p14">
            <a:extLst>
              <a:ext uri="{FF2B5EF4-FFF2-40B4-BE49-F238E27FC236}">
                <a16:creationId xmlns:a16="http://schemas.microsoft.com/office/drawing/2014/main" id="{CE95CF3C-B449-B4C1-12BB-52183D9C031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13048" y="0"/>
            <a:ext cx="1178952" cy="115397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276469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C2B10-FD0A-D143-9E4F-6AC0212F3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17">
            <a:extLst>
              <a:ext uri="{FF2B5EF4-FFF2-40B4-BE49-F238E27FC236}">
                <a16:creationId xmlns:a16="http://schemas.microsoft.com/office/drawing/2014/main" id="{FB36CBE0-92CD-8E08-C73A-8B78EEB84944}"/>
              </a:ext>
            </a:extLst>
          </p:cNvPr>
          <p:cNvGrpSpPr/>
          <p:nvPr/>
        </p:nvGrpSpPr>
        <p:grpSpPr>
          <a:xfrm>
            <a:off x="0" y="6518560"/>
            <a:ext cx="12102101" cy="345448"/>
            <a:chOff x="0" y="3346348"/>
            <a:chExt cx="4608195" cy="109855"/>
          </a:xfrm>
        </p:grpSpPr>
        <p:sp>
          <p:nvSpPr>
            <p:cNvPr id="5" name="object 18">
              <a:extLst>
                <a:ext uri="{FF2B5EF4-FFF2-40B4-BE49-F238E27FC236}">
                  <a16:creationId xmlns:a16="http://schemas.microsoft.com/office/drawing/2014/main" id="{E9E1FEFD-8216-EC7B-1CD1-9975DDBB1BE3}"/>
                </a:ext>
              </a:extLst>
            </p:cNvPr>
            <p:cNvSpPr/>
            <p:nvPr/>
          </p:nvSpPr>
          <p:spPr>
            <a:xfrm>
              <a:off x="0" y="3346348"/>
              <a:ext cx="1535976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 </a:t>
              </a:r>
              <a:r>
                <a:rPr lang="en-US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</a:t>
              </a:r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D Praveen Kalepu (IIITDM Kurnool)</a:t>
              </a:r>
              <a:endPara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object 19">
              <a:extLst>
                <a:ext uri="{FF2B5EF4-FFF2-40B4-BE49-F238E27FC236}">
                  <a16:creationId xmlns:a16="http://schemas.microsoft.com/office/drawing/2014/main" id="{243DFBB1-DADB-89C3-A6C9-3EE46547E914}"/>
                </a:ext>
              </a:extLst>
            </p:cNvPr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Progressive seminar </a:t>
              </a: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object 20">
              <a:extLst>
                <a:ext uri="{FF2B5EF4-FFF2-40B4-BE49-F238E27FC236}">
                  <a16:creationId xmlns:a16="http://schemas.microsoft.com/office/drawing/2014/main" id="{3A5DCE50-A6B9-70B6-1088-C74C8482448D}"/>
                </a:ext>
              </a:extLst>
            </p:cNvPr>
            <p:cNvSpPr/>
            <p:nvPr/>
          </p:nvSpPr>
          <p:spPr>
            <a:xfrm>
              <a:off x="307213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July 2025                        15/30</a:t>
              </a:r>
              <a:endParaRPr lang="en-US" dirty="0"/>
            </a:p>
          </p:txBody>
        </p:sp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4384069-DB2F-DC28-B455-1A3B69569822}"/>
              </a:ext>
            </a:extLst>
          </p:cNvPr>
          <p:cNvSpPr/>
          <p:nvPr/>
        </p:nvSpPr>
        <p:spPr>
          <a:xfrm>
            <a:off x="206478" y="152627"/>
            <a:ext cx="10007830" cy="89298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MS-GRS-</a:t>
            </a:r>
            <a:r>
              <a:rPr lang="en-US" sz="2800" b="1" dirty="0" err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BiLSTM</a:t>
            </a:r>
            <a:endParaRPr lang="en-US" sz="2800" b="1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bject 19">
            <a:extLst>
              <a:ext uri="{FF2B5EF4-FFF2-40B4-BE49-F238E27FC236}">
                <a16:creationId xmlns:a16="http://schemas.microsoft.com/office/drawing/2014/main" id="{FC2BDFEE-F685-D2C9-3091-CF6920AA897A}"/>
              </a:ext>
            </a:extLst>
          </p:cNvPr>
          <p:cNvSpPr/>
          <p:nvPr/>
        </p:nvSpPr>
        <p:spPr>
          <a:xfrm>
            <a:off x="4063765" y="6512552"/>
            <a:ext cx="4064000" cy="345448"/>
          </a:xfrm>
          <a:custGeom>
            <a:avLst/>
            <a:gdLst/>
            <a:ahLst/>
            <a:cxnLst/>
            <a:rect l="l" t="t" r="r" b="b"/>
            <a:pathLst>
              <a:path w="1536064" h="109854">
                <a:moveTo>
                  <a:pt x="1535976" y="0"/>
                </a:moveTo>
                <a:lnTo>
                  <a:pt x="0" y="0"/>
                </a:lnTo>
                <a:lnTo>
                  <a:pt x="0" y="109651"/>
                </a:lnTo>
                <a:lnTo>
                  <a:pt x="1535976" y="109651"/>
                </a:lnTo>
                <a:lnTo>
                  <a:pt x="1535976" y="0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</a:schemeClr>
          </a:solidFill>
        </p:spPr>
        <p:txBody>
          <a:bodyPr wrap="square" lIns="0" tIns="0" rIns="0" bIns="0" rtlCol="0"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Ph.D</a:t>
            </a:r>
            <a:r>
              <a:rPr lang="en-U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Registration seminar </a:t>
            </a:r>
          </a:p>
        </p:txBody>
      </p:sp>
      <p:pic>
        <p:nvPicPr>
          <p:cNvPr id="9" name="Google Shape;97;p14">
            <a:extLst>
              <a:ext uri="{FF2B5EF4-FFF2-40B4-BE49-F238E27FC236}">
                <a16:creationId xmlns:a16="http://schemas.microsoft.com/office/drawing/2014/main" id="{491E00DA-57D3-A16A-BC13-6FCCA5FA6C8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13048" y="0"/>
            <a:ext cx="1178952" cy="1153972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CEACA88-6459-ABFD-68DE-175B4D92BF8F}"/>
              </a:ext>
            </a:extLst>
          </p:cNvPr>
          <p:cNvSpPr txBox="1"/>
          <p:nvPr/>
        </p:nvSpPr>
        <p:spPr>
          <a:xfrm>
            <a:off x="206478" y="1162404"/>
            <a:ext cx="1094090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Why Multi-Scale (MS) is Needed ?</a:t>
            </a:r>
          </a:p>
          <a:p>
            <a:pPr>
              <a:spcBef>
                <a:spcPts val="1200"/>
              </a:spcBef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Different activities show patterns at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different time speeds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IN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39DC9EB8-05D1-E9C6-AEDE-47D1078FAE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0156285"/>
              </p:ext>
            </p:extLst>
          </p:nvPr>
        </p:nvGraphicFramePr>
        <p:xfrm>
          <a:off x="294101" y="2130916"/>
          <a:ext cx="6612027" cy="132148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204009">
                  <a:extLst>
                    <a:ext uri="{9D8B030D-6E8A-4147-A177-3AD203B41FA5}">
                      <a16:colId xmlns:a16="http://schemas.microsoft.com/office/drawing/2014/main" val="3111009123"/>
                    </a:ext>
                  </a:extLst>
                </a:gridCol>
                <a:gridCol w="2204009">
                  <a:extLst>
                    <a:ext uri="{9D8B030D-6E8A-4147-A177-3AD203B41FA5}">
                      <a16:colId xmlns:a16="http://schemas.microsoft.com/office/drawing/2014/main" val="3029207695"/>
                    </a:ext>
                  </a:extLst>
                </a:gridCol>
                <a:gridCol w="2204009">
                  <a:extLst>
                    <a:ext uri="{9D8B030D-6E8A-4147-A177-3AD203B41FA5}">
                      <a16:colId xmlns:a16="http://schemas.microsoft.com/office/drawing/2014/main" val="557257605"/>
                    </a:ext>
                  </a:extLst>
                </a:gridCol>
              </a:tblGrid>
              <a:tr h="33037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Activity Type 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Activity Speed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Example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8243764"/>
                  </a:ext>
                </a:extLst>
              </a:tr>
              <a:tr h="33037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Quick &amp; Repetitive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Running, Jumping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6249194"/>
                  </a:ext>
                </a:extLst>
              </a:tr>
              <a:tr h="33037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Moderate Movement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Walking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2443241"/>
                  </a:ext>
                </a:extLst>
              </a:tr>
              <a:tr h="33037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Postural &amp; Stable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Slow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Standing, Sitting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35650079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13A283D7-464D-C5F9-1D65-7C950FFE0C6F}"/>
              </a:ext>
            </a:extLst>
          </p:cNvPr>
          <p:cNvSpPr txBox="1"/>
          <p:nvPr/>
        </p:nvSpPr>
        <p:spPr>
          <a:xfrm>
            <a:off x="206478" y="3535274"/>
            <a:ext cx="7132785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capture these differences, the model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creates 3 versions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of each input window:</a:t>
            </a:r>
          </a:p>
          <a:p>
            <a:pPr marL="285750" indent="-285750">
              <a:spcBef>
                <a:spcPts val="1200"/>
              </a:spcBef>
              <a:buFont typeface="Courier New" panose="02070309020205020404" pitchFamily="49" charset="0"/>
              <a:buChar char="o"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Full detail (original resolution)</a:t>
            </a:r>
          </a:p>
          <a:p>
            <a:pPr marL="285750" indent="-285750">
              <a:spcBef>
                <a:spcPts val="1200"/>
              </a:spcBef>
              <a:buFont typeface="Courier New" panose="02070309020205020404" pitchFamily="49" charset="0"/>
              <a:buChar char="o"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Medium-scaled (every 2nd time step)</a:t>
            </a:r>
          </a:p>
          <a:p>
            <a:pPr marL="285750" indent="-285750">
              <a:spcBef>
                <a:spcPts val="1200"/>
              </a:spcBef>
              <a:buFont typeface="Courier New" panose="02070309020205020404" pitchFamily="49" charset="0"/>
              <a:buChar char="o"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Coarse-scaled (every 4th time step)</a:t>
            </a:r>
          </a:p>
          <a:p>
            <a:pPr>
              <a:spcBef>
                <a:spcPts val="1200"/>
              </a:spcBef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allows the network to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understand both short, rapid motions and longer, slower movement trends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IN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DDE5D346-216E-314C-2AF7-938D24E2AC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5685" y="1532203"/>
            <a:ext cx="3824463" cy="2325539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B5695669-291C-D2F5-C6B0-73364DBB92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992" y="3857742"/>
            <a:ext cx="4498059" cy="16794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8B78F003-0B26-158D-F734-6EF062D96A15}"/>
              </a:ext>
            </a:extLst>
          </p:cNvPr>
          <p:cNvSpPr txBox="1"/>
          <p:nvPr/>
        </p:nvSpPr>
        <p:spPr>
          <a:xfrm>
            <a:off x="7498992" y="1356918"/>
            <a:ext cx="11785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Formula : </a:t>
            </a:r>
            <a:endParaRPr lang="en-IN" sz="1600" b="1" dirty="0"/>
          </a:p>
        </p:txBody>
      </p:sp>
    </p:spTree>
    <p:extLst>
      <p:ext uri="{BB962C8B-B14F-4D97-AF65-F5344CB8AC3E}">
        <p14:creationId xmlns:p14="http://schemas.microsoft.com/office/powerpoint/2010/main" val="26188443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9B72E-998F-E635-3BCF-C46EFF7BB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97;p14">
            <a:extLst>
              <a:ext uri="{FF2B5EF4-FFF2-40B4-BE49-F238E27FC236}">
                <a16:creationId xmlns:a16="http://schemas.microsoft.com/office/drawing/2014/main" id="{BC6AF00C-B48F-40D4-D8A6-B4B739362A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13048" y="0"/>
            <a:ext cx="1178952" cy="115397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F40FD71-C418-40FD-13DB-ADCB763AF7E9}"/>
              </a:ext>
            </a:extLst>
          </p:cNvPr>
          <p:cNvSpPr/>
          <p:nvPr/>
        </p:nvSpPr>
        <p:spPr>
          <a:xfrm>
            <a:off x="306967" y="173322"/>
            <a:ext cx="10144723" cy="790239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MS-GRS-</a:t>
            </a:r>
            <a:r>
              <a:rPr lang="en-US" sz="2800" b="1" dirty="0" err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BiLSTM</a:t>
            </a:r>
            <a:endParaRPr lang="en-IN" sz="2800" b="1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" name="object 17">
            <a:extLst>
              <a:ext uri="{FF2B5EF4-FFF2-40B4-BE49-F238E27FC236}">
                <a16:creationId xmlns:a16="http://schemas.microsoft.com/office/drawing/2014/main" id="{D340CD8C-3632-83B7-1ECD-4F1EFBC67056}"/>
              </a:ext>
            </a:extLst>
          </p:cNvPr>
          <p:cNvGrpSpPr/>
          <p:nvPr/>
        </p:nvGrpSpPr>
        <p:grpSpPr>
          <a:xfrm>
            <a:off x="0" y="6470121"/>
            <a:ext cx="12192000" cy="345448"/>
            <a:chOff x="0" y="3346348"/>
            <a:chExt cx="4608195" cy="109855"/>
          </a:xfrm>
        </p:grpSpPr>
        <p:sp>
          <p:nvSpPr>
            <p:cNvPr id="5" name="object 18">
              <a:extLst>
                <a:ext uri="{FF2B5EF4-FFF2-40B4-BE49-F238E27FC236}">
                  <a16:creationId xmlns:a16="http://schemas.microsoft.com/office/drawing/2014/main" id="{B4E799F2-321F-8E4E-B5CE-D4531869556B}"/>
                </a:ext>
              </a:extLst>
            </p:cNvPr>
            <p:cNvSpPr/>
            <p:nvPr/>
          </p:nvSpPr>
          <p:spPr>
            <a:xfrm>
              <a:off x="0" y="3346348"/>
              <a:ext cx="1535976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 </a:t>
              </a:r>
              <a:r>
                <a:rPr lang="en-US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</a:t>
              </a:r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D Praveen Kalepu (IIITDM Kurnool)</a:t>
              </a:r>
              <a:endPara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object 19">
              <a:extLst>
                <a:ext uri="{FF2B5EF4-FFF2-40B4-BE49-F238E27FC236}">
                  <a16:creationId xmlns:a16="http://schemas.microsoft.com/office/drawing/2014/main" id="{B3E3B437-29AC-5962-21C8-E02A0A9D2F94}"/>
                </a:ext>
              </a:extLst>
            </p:cNvPr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Progressive seminar </a:t>
              </a: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object 20">
              <a:extLst>
                <a:ext uri="{FF2B5EF4-FFF2-40B4-BE49-F238E27FC236}">
                  <a16:creationId xmlns:a16="http://schemas.microsoft.com/office/drawing/2014/main" id="{623D26AF-DA47-2158-505F-AAD835F2ED0A}"/>
                </a:ext>
              </a:extLst>
            </p:cNvPr>
            <p:cNvSpPr/>
            <p:nvPr/>
          </p:nvSpPr>
          <p:spPr>
            <a:xfrm>
              <a:off x="307213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July 2025                        16/30</a:t>
              </a:r>
              <a:endParaRPr lang="en-US" dirty="0"/>
            </a:p>
          </p:txBody>
        </p:sp>
      </p:grpSp>
      <p:sp>
        <p:nvSpPr>
          <p:cNvPr id="9" name="object 19">
            <a:extLst>
              <a:ext uri="{FF2B5EF4-FFF2-40B4-BE49-F238E27FC236}">
                <a16:creationId xmlns:a16="http://schemas.microsoft.com/office/drawing/2014/main" id="{4A15D3CA-F4B3-AA62-E5A4-B9FCDAA85E40}"/>
              </a:ext>
            </a:extLst>
          </p:cNvPr>
          <p:cNvSpPr/>
          <p:nvPr/>
        </p:nvSpPr>
        <p:spPr>
          <a:xfrm>
            <a:off x="4063765" y="6512552"/>
            <a:ext cx="4064000" cy="345448"/>
          </a:xfrm>
          <a:custGeom>
            <a:avLst/>
            <a:gdLst/>
            <a:ahLst/>
            <a:cxnLst/>
            <a:rect l="l" t="t" r="r" b="b"/>
            <a:pathLst>
              <a:path w="1536064" h="109854">
                <a:moveTo>
                  <a:pt x="1535976" y="0"/>
                </a:moveTo>
                <a:lnTo>
                  <a:pt x="0" y="0"/>
                </a:lnTo>
                <a:lnTo>
                  <a:pt x="0" y="109651"/>
                </a:lnTo>
                <a:lnTo>
                  <a:pt x="1535976" y="109651"/>
                </a:lnTo>
                <a:lnTo>
                  <a:pt x="1535976" y="0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</a:schemeClr>
          </a:solidFill>
        </p:spPr>
        <p:txBody>
          <a:bodyPr wrap="square" lIns="0" tIns="0" rIns="0" bIns="0" rtlCol="0"/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Ph.D</a:t>
            </a:r>
            <a:r>
              <a:rPr lang="en-US" sz="14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Registration seminar 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ectangle 2">
            <a:extLst>
              <a:ext uri="{FF2B5EF4-FFF2-40B4-BE49-F238E27FC236}">
                <a16:creationId xmlns:a16="http://schemas.microsoft.com/office/drawing/2014/main" id="{257007C7-CB82-35FB-69FD-F220C0BAF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967" y="963561"/>
            <a:ext cx="6138134" cy="5940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IN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Gated Residual Skip (GRS) Blocks contains</a:t>
            </a:r>
            <a:r>
              <a:rPr lang="en-IN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: </a:t>
            </a:r>
            <a:endParaRPr lang="en-US" altLang="en-US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Projection Layer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: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Simplifies the signal and extracts essential structure.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BiLSTM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Layer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: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Reads the movement pattern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forward and backward in time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his is important because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what happened just before and just after each moment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helps define the action (e.g., lowering before a jump).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Gating Mechanism 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 learned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filter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that decides:</a:t>
            </a:r>
          </a:p>
          <a:p>
            <a:pPr lvl="8" eaLnBrk="0" fontAlgn="base" hangingPunct="0">
              <a:spcBef>
                <a:spcPts val="1200"/>
              </a:spcBef>
              <a:spcAft>
                <a:spcPct val="0"/>
              </a:spcAft>
              <a:buClrTx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	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How much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new information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use</a:t>
            </a:r>
          </a:p>
          <a:p>
            <a:pPr lvl="8" eaLnBrk="0" fontAlgn="base" hangingPunct="0">
              <a:spcBef>
                <a:spcPts val="1200"/>
              </a:spcBef>
              <a:spcAft>
                <a:spcPct val="0"/>
              </a:spcAft>
              <a:buClrTx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	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ii)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How much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previous information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keep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Residual Skip Connection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: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Passes earlier information forward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without loss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preventing the model from forgetting important details.</a:t>
            </a:r>
            <a:endParaRPr lang="en-US" alt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2F80A22-E846-E421-19D4-F8929325D2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0749" y="2997339"/>
            <a:ext cx="5601251" cy="2376618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803E784E-675B-001D-7AA3-4B6B6669F0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9277" y="1486617"/>
            <a:ext cx="2346522" cy="1468291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91D4A83D-6F63-E145-EF4E-2213CC063A15}"/>
              </a:ext>
            </a:extLst>
          </p:cNvPr>
          <p:cNvSpPr txBox="1"/>
          <p:nvPr/>
        </p:nvSpPr>
        <p:spPr>
          <a:xfrm>
            <a:off x="6590749" y="1196403"/>
            <a:ext cx="11785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Formula : </a:t>
            </a:r>
            <a:endParaRPr lang="en-IN" sz="1600" b="1" dirty="0"/>
          </a:p>
        </p:txBody>
      </p:sp>
    </p:spTree>
    <p:extLst>
      <p:ext uri="{BB962C8B-B14F-4D97-AF65-F5344CB8AC3E}">
        <p14:creationId xmlns:p14="http://schemas.microsoft.com/office/powerpoint/2010/main" val="2694777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8C02A-FBC3-7241-C4C7-C51C112F3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97;p14">
            <a:extLst>
              <a:ext uri="{FF2B5EF4-FFF2-40B4-BE49-F238E27FC236}">
                <a16:creationId xmlns:a16="http://schemas.microsoft.com/office/drawing/2014/main" id="{5460E120-4BE3-752A-77AD-FB5D127F773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13048" y="0"/>
            <a:ext cx="1178952" cy="115397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BD979BE-2CF3-AD94-D65A-3EBBE1FBA16F}"/>
              </a:ext>
            </a:extLst>
          </p:cNvPr>
          <p:cNvSpPr/>
          <p:nvPr/>
        </p:nvSpPr>
        <p:spPr>
          <a:xfrm>
            <a:off x="306967" y="173322"/>
            <a:ext cx="10144723" cy="790239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MS-GRS-</a:t>
            </a:r>
            <a:r>
              <a:rPr lang="en-US" sz="2800" b="1" dirty="0" err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BiLSTM</a:t>
            </a:r>
            <a:endParaRPr lang="en-IN" sz="2800" b="1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B15868-2018-E663-8B47-7BBFB471B421}"/>
              </a:ext>
            </a:extLst>
          </p:cNvPr>
          <p:cNvSpPr txBox="1"/>
          <p:nvPr/>
        </p:nvSpPr>
        <p:spPr>
          <a:xfrm>
            <a:off x="306967" y="1120878"/>
            <a:ext cx="110711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800" b="0" i="0" u="none" strike="noStrike" baseline="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" name="object 17">
            <a:extLst>
              <a:ext uri="{FF2B5EF4-FFF2-40B4-BE49-F238E27FC236}">
                <a16:creationId xmlns:a16="http://schemas.microsoft.com/office/drawing/2014/main" id="{3B9C3B30-554C-0FEB-CEBE-D0048A762CA5}"/>
              </a:ext>
            </a:extLst>
          </p:cNvPr>
          <p:cNvGrpSpPr/>
          <p:nvPr/>
        </p:nvGrpSpPr>
        <p:grpSpPr>
          <a:xfrm>
            <a:off x="0" y="6470121"/>
            <a:ext cx="12192000" cy="345448"/>
            <a:chOff x="0" y="3346348"/>
            <a:chExt cx="4608195" cy="109855"/>
          </a:xfrm>
        </p:grpSpPr>
        <p:sp>
          <p:nvSpPr>
            <p:cNvPr id="5" name="object 18">
              <a:extLst>
                <a:ext uri="{FF2B5EF4-FFF2-40B4-BE49-F238E27FC236}">
                  <a16:creationId xmlns:a16="http://schemas.microsoft.com/office/drawing/2014/main" id="{32144CB5-BB56-3545-FAFB-C5F3B9BF273D}"/>
                </a:ext>
              </a:extLst>
            </p:cNvPr>
            <p:cNvSpPr/>
            <p:nvPr/>
          </p:nvSpPr>
          <p:spPr>
            <a:xfrm>
              <a:off x="0" y="3346348"/>
              <a:ext cx="1535976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 </a:t>
              </a:r>
              <a:r>
                <a:rPr lang="en-US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</a:t>
              </a:r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D Praveen Kalepu (IIITDM Kurnool)</a:t>
              </a:r>
              <a:endPara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object 19">
              <a:extLst>
                <a:ext uri="{FF2B5EF4-FFF2-40B4-BE49-F238E27FC236}">
                  <a16:creationId xmlns:a16="http://schemas.microsoft.com/office/drawing/2014/main" id="{BFE337FE-57CA-D439-BC3A-B5C3F648E44F}"/>
                </a:ext>
              </a:extLst>
            </p:cNvPr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Progressive seminar </a:t>
              </a: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object 20">
              <a:extLst>
                <a:ext uri="{FF2B5EF4-FFF2-40B4-BE49-F238E27FC236}">
                  <a16:creationId xmlns:a16="http://schemas.microsoft.com/office/drawing/2014/main" id="{8F7862D2-C877-6356-4647-26D9B5FFDB69}"/>
                </a:ext>
              </a:extLst>
            </p:cNvPr>
            <p:cNvSpPr/>
            <p:nvPr/>
          </p:nvSpPr>
          <p:spPr>
            <a:xfrm>
              <a:off x="307213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July 2025                        17/30</a:t>
              </a:r>
              <a:endParaRPr dirty="0"/>
            </a:p>
          </p:txBody>
        </p:sp>
      </p:grpSp>
      <p:sp>
        <p:nvSpPr>
          <p:cNvPr id="9" name="object 19">
            <a:extLst>
              <a:ext uri="{FF2B5EF4-FFF2-40B4-BE49-F238E27FC236}">
                <a16:creationId xmlns:a16="http://schemas.microsoft.com/office/drawing/2014/main" id="{26DA1C1D-6A04-F14A-E9D2-DEAF985AC81C}"/>
              </a:ext>
            </a:extLst>
          </p:cNvPr>
          <p:cNvSpPr/>
          <p:nvPr/>
        </p:nvSpPr>
        <p:spPr>
          <a:xfrm>
            <a:off x="4063765" y="6512552"/>
            <a:ext cx="4064000" cy="345448"/>
          </a:xfrm>
          <a:custGeom>
            <a:avLst/>
            <a:gdLst/>
            <a:ahLst/>
            <a:cxnLst/>
            <a:rect l="l" t="t" r="r" b="b"/>
            <a:pathLst>
              <a:path w="1536064" h="109854">
                <a:moveTo>
                  <a:pt x="1535976" y="0"/>
                </a:moveTo>
                <a:lnTo>
                  <a:pt x="0" y="0"/>
                </a:lnTo>
                <a:lnTo>
                  <a:pt x="0" y="109651"/>
                </a:lnTo>
                <a:lnTo>
                  <a:pt x="1535976" y="109651"/>
                </a:lnTo>
                <a:lnTo>
                  <a:pt x="1535976" y="0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</a:schemeClr>
          </a:solidFill>
        </p:spPr>
        <p:txBody>
          <a:bodyPr wrap="square" lIns="0" tIns="0" rIns="0" bIns="0" rtlCol="0"/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Ph.D</a:t>
            </a:r>
            <a:r>
              <a:rPr lang="en-US" sz="14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Registration seminar 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81AC85-8A7F-7F30-C42E-3F0C2E857EF1}"/>
              </a:ext>
            </a:extLst>
          </p:cNvPr>
          <p:cNvSpPr txBox="1"/>
          <p:nvPr/>
        </p:nvSpPr>
        <p:spPr>
          <a:xfrm>
            <a:off x="306967" y="1120878"/>
            <a:ext cx="7029530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LSTM is a type of neural network used for </a:t>
            </a:r>
            <a:r>
              <a:rPr lang="en-US" alt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time-series or sequential data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 has </a:t>
            </a:r>
            <a:r>
              <a:rPr lang="en-US" alt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cells 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that allow it to </a:t>
            </a:r>
            <a:r>
              <a:rPr lang="en-US" alt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retain important past information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 uses </a:t>
            </a:r>
            <a:r>
              <a:rPr lang="en-US" alt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gates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to decide what to </a:t>
            </a:r>
            <a:r>
              <a:rPr lang="en-US" alt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keep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what to </a:t>
            </a:r>
            <a:r>
              <a:rPr lang="en-US" alt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update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and what to </a:t>
            </a:r>
            <a:r>
              <a:rPr lang="en-US" alt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forget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BiLSTM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processes the sequence in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directions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Forward: earlier → later time steps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Backward: later → earlier time steps</a:t>
            </a:r>
          </a:p>
          <a:p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gives it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context from both past and future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 steps, 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EB9CCD4-F1F6-5B33-DEB2-15E2171271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1500" y="1436533"/>
            <a:ext cx="4353533" cy="167663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F171B2F-51C9-FF50-EBCC-0BA149B1A0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9990" y="3230230"/>
            <a:ext cx="3603058" cy="3113211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C33EDEC-7BCC-015A-07FD-3C8E1530B6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2252" y="4613603"/>
            <a:ext cx="4294245" cy="1367796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F36A603E-778D-DB27-AEAA-1C685CA77F32}"/>
              </a:ext>
            </a:extLst>
          </p:cNvPr>
          <p:cNvSpPr txBox="1"/>
          <p:nvPr/>
        </p:nvSpPr>
        <p:spPr>
          <a:xfrm>
            <a:off x="7036638" y="1106028"/>
            <a:ext cx="11785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Formula : </a:t>
            </a:r>
            <a:endParaRPr lang="en-IN" sz="1600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ECDBA4B-BA1A-020E-434E-E5BD9F5CF0B7}"/>
              </a:ext>
            </a:extLst>
          </p:cNvPr>
          <p:cNvSpPr txBox="1"/>
          <p:nvPr/>
        </p:nvSpPr>
        <p:spPr>
          <a:xfrm>
            <a:off x="115924" y="4535435"/>
            <a:ext cx="11785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Formula : </a:t>
            </a:r>
            <a:endParaRPr lang="en-IN" sz="1600" b="1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5C696149-1529-6B16-3F5E-FF001E6246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2219" y="4870225"/>
            <a:ext cx="2236540" cy="1027905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FB527340-52B6-79A0-2D18-0591B2CA70C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665" y="5898130"/>
            <a:ext cx="1286217" cy="370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3666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17">
            <a:extLst>
              <a:ext uri="{FF2B5EF4-FFF2-40B4-BE49-F238E27FC236}">
                <a16:creationId xmlns:a16="http://schemas.microsoft.com/office/drawing/2014/main" id="{BA0AB8EA-1632-3A46-AEF1-D2DBACC21135}"/>
              </a:ext>
            </a:extLst>
          </p:cNvPr>
          <p:cNvGrpSpPr/>
          <p:nvPr/>
        </p:nvGrpSpPr>
        <p:grpSpPr>
          <a:xfrm>
            <a:off x="89899" y="6470121"/>
            <a:ext cx="12102101" cy="345448"/>
            <a:chOff x="0" y="3346348"/>
            <a:chExt cx="4608195" cy="109855"/>
          </a:xfrm>
        </p:grpSpPr>
        <p:sp>
          <p:nvSpPr>
            <p:cNvPr id="6" name="object 18">
              <a:extLst>
                <a:ext uri="{FF2B5EF4-FFF2-40B4-BE49-F238E27FC236}">
                  <a16:creationId xmlns:a16="http://schemas.microsoft.com/office/drawing/2014/main" id="{C8407B4D-A939-8422-89F8-8990E9915972}"/>
                </a:ext>
              </a:extLst>
            </p:cNvPr>
            <p:cNvSpPr/>
            <p:nvPr/>
          </p:nvSpPr>
          <p:spPr>
            <a:xfrm>
              <a:off x="0" y="3346348"/>
              <a:ext cx="1535976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 </a:t>
              </a:r>
              <a:r>
                <a:rPr lang="en-US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</a:t>
              </a:r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D Praveen Kalepu (IIITDM Kurnool)</a:t>
              </a:r>
              <a:endPara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object 19">
              <a:extLst>
                <a:ext uri="{FF2B5EF4-FFF2-40B4-BE49-F238E27FC236}">
                  <a16:creationId xmlns:a16="http://schemas.microsoft.com/office/drawing/2014/main" id="{EE3D9ED5-3A05-849E-4FCA-A0F9F57FEDBF}"/>
                </a:ext>
              </a:extLst>
            </p:cNvPr>
            <p:cNvSpPr/>
            <p:nvPr/>
          </p:nvSpPr>
          <p:spPr>
            <a:xfrm>
              <a:off x="1518949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Progressive seminar </a:t>
              </a: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object 20">
              <a:extLst>
                <a:ext uri="{FF2B5EF4-FFF2-40B4-BE49-F238E27FC236}">
                  <a16:creationId xmlns:a16="http://schemas.microsoft.com/office/drawing/2014/main" id="{ED94D095-3B53-12D8-329B-0A849782986A}"/>
                </a:ext>
              </a:extLst>
            </p:cNvPr>
            <p:cNvSpPr/>
            <p:nvPr/>
          </p:nvSpPr>
          <p:spPr>
            <a:xfrm>
              <a:off x="307213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July 2025                        14/30</a:t>
              </a:r>
              <a:endParaRPr lang="en-US" dirty="0"/>
            </a:p>
          </p:txBody>
        </p:sp>
      </p:grp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353AA9B6-A0BB-FB1F-F361-D039ABAD0CBB}"/>
              </a:ext>
            </a:extLst>
          </p:cNvPr>
          <p:cNvSpPr/>
          <p:nvPr/>
        </p:nvSpPr>
        <p:spPr>
          <a:xfrm>
            <a:off x="89899" y="100206"/>
            <a:ext cx="10332295" cy="758943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MS-GRS-</a:t>
            </a:r>
            <a:r>
              <a:rPr lang="en-US" sz="2800" b="1" dirty="0" err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BiLSTM</a:t>
            </a:r>
            <a:endParaRPr lang="en-IN" sz="2800" b="1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object 19">
            <a:extLst>
              <a:ext uri="{FF2B5EF4-FFF2-40B4-BE49-F238E27FC236}">
                <a16:creationId xmlns:a16="http://schemas.microsoft.com/office/drawing/2014/main" id="{105ABA6C-124F-55C0-A90D-760F7E808938}"/>
              </a:ext>
            </a:extLst>
          </p:cNvPr>
          <p:cNvSpPr/>
          <p:nvPr/>
        </p:nvSpPr>
        <p:spPr>
          <a:xfrm>
            <a:off x="4063765" y="6512552"/>
            <a:ext cx="4064000" cy="345448"/>
          </a:xfrm>
          <a:custGeom>
            <a:avLst/>
            <a:gdLst/>
            <a:ahLst/>
            <a:cxnLst/>
            <a:rect l="l" t="t" r="r" b="b"/>
            <a:pathLst>
              <a:path w="1536064" h="109854">
                <a:moveTo>
                  <a:pt x="1535976" y="0"/>
                </a:moveTo>
                <a:lnTo>
                  <a:pt x="0" y="0"/>
                </a:lnTo>
                <a:lnTo>
                  <a:pt x="0" y="109651"/>
                </a:lnTo>
                <a:lnTo>
                  <a:pt x="1535976" y="109651"/>
                </a:lnTo>
                <a:lnTo>
                  <a:pt x="1535976" y="0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</a:schemeClr>
          </a:solidFill>
        </p:spPr>
        <p:txBody>
          <a:bodyPr wrap="square" lIns="0" tIns="0" rIns="0" bIns="0" rtlCol="0"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Ph.D</a:t>
            </a:r>
            <a:r>
              <a:rPr lang="en-U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Registration seminar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6C67953-D092-F5E2-589F-4D980EAF1C81}"/>
              </a:ext>
            </a:extLst>
          </p:cNvPr>
          <p:cNvSpPr txBox="1"/>
          <p:nvPr/>
        </p:nvSpPr>
        <p:spPr>
          <a:xfrm>
            <a:off x="89899" y="1043731"/>
            <a:ext cx="12012202" cy="4431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2200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MS-GRS-</a:t>
            </a:r>
            <a:r>
              <a:rPr lang="en-US" sz="2200" dirty="0" err="1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BiLSTM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model is designed to recognize human activities by analyzing </a:t>
            </a:r>
            <a:r>
              <a:rPr lang="en-US" sz="2200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short segments of time-series sensor data 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(e.g., accelerometer and gyroscope signals).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processes the same input at </a:t>
            </a:r>
            <a:r>
              <a:rPr lang="en-US" sz="2200" dirty="0">
                <a:solidFill>
                  <a:srgbClr val="FF006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multiple time scales 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(full speed, half speed, and quarter speed), allowing it to capture both </a:t>
            </a:r>
            <a:r>
              <a:rPr lang="en-US" sz="2200" dirty="0">
                <a:solidFill>
                  <a:srgbClr val="FF006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fast movements 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(like running) and </a:t>
            </a:r>
            <a:r>
              <a:rPr lang="en-US" sz="2200" dirty="0">
                <a:solidFill>
                  <a:srgbClr val="FF006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slower postural changes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(like sitting).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scale is passed through </a:t>
            </a:r>
            <a:r>
              <a:rPr lang="en-US" sz="2200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Gated Residual Skip (GRS) blocks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which combine </a:t>
            </a:r>
            <a:r>
              <a:rPr lang="en-US" sz="2200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simple feature extraction 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lang="en-US" sz="2200" dirty="0" err="1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BiLSTM</a:t>
            </a:r>
            <a:r>
              <a:rPr lang="en-US" sz="2200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-based temporal learning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while preserving important information using </a:t>
            </a:r>
            <a:r>
              <a:rPr lang="en-US" sz="2200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skip connections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US" sz="2200" dirty="0" err="1">
                <a:solidFill>
                  <a:srgbClr val="FF006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BiLSTM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reads the movement sequence </a:t>
            </a:r>
            <a:r>
              <a:rPr lang="en-US" sz="2200" dirty="0">
                <a:solidFill>
                  <a:srgbClr val="FF006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forward and backward in time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helping the model understand transitions and the context of motion.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Features extracted from all scales are </a:t>
            </a:r>
            <a:r>
              <a:rPr lang="en-US" sz="2200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merged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passed through a final </a:t>
            </a:r>
            <a:r>
              <a:rPr lang="en-US" sz="2200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classification layer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determine the most likely activity.</a:t>
            </a:r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83A894C-C45D-8C4D-FF00-0AB544162D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7600"/>
          <a:stretch>
            <a:fillRect/>
          </a:stretch>
        </p:blipFill>
        <p:spPr>
          <a:xfrm>
            <a:off x="0" y="901580"/>
            <a:ext cx="12192000" cy="5096884"/>
          </a:xfrm>
          <a:prstGeom prst="rect">
            <a:avLst/>
          </a:prstGeom>
        </p:spPr>
      </p:pic>
      <p:pic>
        <p:nvPicPr>
          <p:cNvPr id="10" name="Google Shape;97;p14">
            <a:extLst>
              <a:ext uri="{FF2B5EF4-FFF2-40B4-BE49-F238E27FC236}">
                <a16:creationId xmlns:a16="http://schemas.microsoft.com/office/drawing/2014/main" id="{6DB2BCAB-61B9-69E3-471B-4C6885FF44C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13048" y="0"/>
            <a:ext cx="1178952" cy="115397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606584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79B54CC-CDF6-E43F-8AF6-A740C05DA052}"/>
              </a:ext>
            </a:extLst>
          </p:cNvPr>
          <p:cNvSpPr/>
          <p:nvPr/>
        </p:nvSpPr>
        <p:spPr>
          <a:xfrm>
            <a:off x="89899" y="100206"/>
            <a:ext cx="10332295" cy="758943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Metrics Used in HAR</a:t>
            </a:r>
            <a:endParaRPr lang="en-IN" sz="2800" b="1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399118CF-B023-FF15-71DE-BC2ED113B4E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11427131"/>
                  </p:ext>
                </p:extLst>
              </p:nvPr>
            </p:nvGraphicFramePr>
            <p:xfrm>
              <a:off x="216817" y="1013832"/>
              <a:ext cx="11255604" cy="5583705"/>
            </p:xfrm>
            <a:graphic>
              <a:graphicData uri="http://schemas.openxmlformats.org/drawingml/2006/table">
                <a:tbl>
                  <a:tblPr>
                    <a:tableStyleId>{21E4AEA4-8DFA-4A89-87EB-49C32662AFE0}</a:tableStyleId>
                  </a:tblPr>
                  <a:tblGrid>
                    <a:gridCol w="1008479">
                      <a:extLst>
                        <a:ext uri="{9D8B030D-6E8A-4147-A177-3AD203B41FA5}">
                          <a16:colId xmlns:a16="http://schemas.microsoft.com/office/drawing/2014/main" val="1385591346"/>
                        </a:ext>
                      </a:extLst>
                    </a:gridCol>
                    <a:gridCol w="2167128">
                      <a:extLst>
                        <a:ext uri="{9D8B030D-6E8A-4147-A177-3AD203B41FA5}">
                          <a16:colId xmlns:a16="http://schemas.microsoft.com/office/drawing/2014/main" val="536659541"/>
                        </a:ext>
                      </a:extLst>
                    </a:gridCol>
                    <a:gridCol w="2569464">
                      <a:extLst>
                        <a:ext uri="{9D8B030D-6E8A-4147-A177-3AD203B41FA5}">
                          <a16:colId xmlns:a16="http://schemas.microsoft.com/office/drawing/2014/main" val="1648483843"/>
                        </a:ext>
                      </a:extLst>
                    </a:gridCol>
                    <a:gridCol w="2633472">
                      <a:extLst>
                        <a:ext uri="{9D8B030D-6E8A-4147-A177-3AD203B41FA5}">
                          <a16:colId xmlns:a16="http://schemas.microsoft.com/office/drawing/2014/main" val="4076832240"/>
                        </a:ext>
                      </a:extLst>
                    </a:gridCol>
                    <a:gridCol w="2877061">
                      <a:extLst>
                        <a:ext uri="{9D8B030D-6E8A-4147-A177-3AD203B41FA5}">
                          <a16:colId xmlns:a16="http://schemas.microsoft.com/office/drawing/2014/main" val="139714059"/>
                        </a:ext>
                      </a:extLst>
                    </a:gridCol>
                  </a:tblGrid>
                  <a:tr h="442149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IN" sz="1400" b="1" dirty="0"/>
                            <a:t>Metrics</a:t>
                          </a:r>
                          <a:endParaRPr lang="en-IN" sz="1400" dirty="0"/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IN" sz="1400" b="1"/>
                            <a:t>Definition</a:t>
                          </a:r>
                          <a:endParaRPr lang="en-IN" sz="1400"/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IN" sz="1400" b="1"/>
                            <a:t>Formula</a:t>
                          </a:r>
                          <a:endParaRPr lang="en-IN" sz="1400"/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1400" b="1" dirty="0"/>
                            <a:t>Usage in HAR</a:t>
                          </a:r>
                          <a:endParaRPr lang="en-US" sz="1400" dirty="0"/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IN" sz="1400" b="1" dirty="0"/>
                            <a:t>Symbols &amp; Meaning</a:t>
                          </a:r>
                          <a:endParaRPr lang="en-IN" sz="1400" dirty="0"/>
                        </a:p>
                      </a:txBody>
                      <a:tcPr marL="63063" marR="63063" marT="31531" marB="31531" anchor="ctr"/>
                    </a:tc>
                    <a:extLst>
                      <a:ext uri="{0D108BD9-81ED-4DB2-BD59-A6C34878D82A}">
                        <a16:rowId xmlns:a16="http://schemas.microsoft.com/office/drawing/2014/main" val="4093125850"/>
                      </a:ext>
                    </a:extLst>
                  </a:tr>
                  <a:tr h="99167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IN" sz="1400" b="1"/>
                            <a:t>Precision</a:t>
                          </a:r>
                          <a:endParaRPr lang="en-IN" sz="1400"/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 dirty="0"/>
                            <a:t>Proportion of correctly predicted positives out of all predicted positives.</a:t>
                          </a:r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IN" sz="1400" dirty="0" smtClean="0"/>
                                  <m:t>Precision</m:t>
                                </m:r>
                                <m:r>
                                  <a:rPr lang="en-IN" sz="1400" dirty="0"/>
                                  <m:t>=</m:t>
                                </m:r>
                                <m:f>
                                  <m:fPr>
                                    <m:ctrlPr>
                                      <a:rPr lang="en-IN" sz="1400" dirty="0"/>
                                    </m:ctrlPr>
                                  </m:fPr>
                                  <m:num>
                                    <m:r>
                                      <a:rPr lang="en-IN" sz="1400" dirty="0"/>
                                      <m:t>𝑇𝑃</m:t>
                                    </m:r>
                                  </m:num>
                                  <m:den>
                                    <m:r>
                                      <a:rPr lang="en-IN" sz="1400" dirty="0"/>
                                      <m:t>𝑇𝑃</m:t>
                                    </m:r>
                                    <m:r>
                                      <a:rPr lang="en-IN" sz="1400" dirty="0"/>
                                      <m:t>+</m:t>
                                    </m:r>
                                    <m:r>
                                      <a:rPr lang="en-IN" sz="1400" dirty="0"/>
                                      <m:t>𝐹𝑃</m:t>
                                    </m:r>
                                  </m:den>
                                </m:f>
                              </m:oMath>
                            </m:oMathPara>
                          </a14:m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/>
                            <a:t>Important when </a:t>
                          </a:r>
                          <a:r>
                            <a:rPr lang="en-US" sz="1400" b="1"/>
                            <a:t>false positives are costly</a:t>
                          </a:r>
                          <a:r>
                            <a:rPr lang="en-US" sz="1400"/>
                            <a:t> (e.g., detecting a fall when none occurred).</a:t>
                          </a:r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IN" sz="1400" b="1" dirty="0"/>
                            <a:t>TP:</a:t>
                          </a:r>
                          <a:r>
                            <a:rPr lang="en-IN" sz="1400" dirty="0"/>
                            <a:t> True Positives (correct positive predictions)</a:t>
                          </a:r>
                        </a:p>
                        <a:p>
                          <a:pPr algn="l">
                            <a:buNone/>
                          </a:pPr>
                          <a:r>
                            <a:rPr lang="en-IN" sz="1400" b="1" dirty="0"/>
                            <a:t>FP:</a:t>
                          </a:r>
                          <a:r>
                            <a:rPr lang="en-IN" sz="1400" dirty="0"/>
                            <a:t> False Positives (incorrect positive predictions)</a:t>
                          </a:r>
                        </a:p>
                      </a:txBody>
                      <a:tcPr marL="63063" marR="63063" marT="31531" marB="31531" anchor="ctr"/>
                    </a:tc>
                    <a:extLst>
                      <a:ext uri="{0D108BD9-81ED-4DB2-BD59-A6C34878D82A}">
                        <a16:rowId xmlns:a16="http://schemas.microsoft.com/office/drawing/2014/main" val="4144166889"/>
                      </a:ext>
                    </a:extLst>
                  </a:tr>
                  <a:tr h="8085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IN" sz="1400" b="1"/>
                            <a:t>Recall</a:t>
                          </a:r>
                          <a:endParaRPr lang="en-IN" sz="1400"/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/>
                            <a:t>Proportion of correctly predicted positives out of all actual positives.</a:t>
                          </a:r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IN" sz="140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lang="en-IN" sz="1400" dirty="0" smtClean="0"/>
                                <m:t>Recall</m:t>
                              </m:r>
                              <m:r>
                                <a:rPr lang="en-IN" sz="1400" dirty="0" smtClean="0"/>
                                <m:t>=</m:t>
                              </m:r>
                              <m:f>
                                <m:fPr>
                                  <m:ctrlPr>
                                    <a:rPr lang="en-IN" sz="1400" dirty="0" smtClean="0"/>
                                  </m:ctrlPr>
                                </m:fPr>
                                <m:num>
                                  <m:r>
                                    <a:rPr lang="en-IN" sz="1400" dirty="0" smtClean="0"/>
                                    <m:t>𝑇𝑃</m:t>
                                  </m:r>
                                </m:num>
                                <m:den>
                                  <m:r>
                                    <a:rPr lang="en-IN" sz="1400" dirty="0" smtClean="0"/>
                                    <m:t>𝑇𝑃</m:t>
                                  </m:r>
                                  <m:r>
                                    <a:rPr lang="en-IN" sz="1400" dirty="0" smtClean="0"/>
                                    <m:t>+</m:t>
                                  </m:r>
                                  <m:r>
                                    <a:rPr lang="en-IN" sz="1400" dirty="0" smtClean="0"/>
                                    <m:t>𝐹𝑁</m:t>
                                  </m:r>
                                </m:den>
                              </m:f>
                            </m:oMath>
                          </a14:m>
                          <a:endParaRPr lang="en-IN" sz="1400" dirty="0"/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/>
                            <a:t>Key when </a:t>
                          </a:r>
                          <a:r>
                            <a:rPr lang="en-US" sz="1400" b="1"/>
                            <a:t>missing a positive is critical</a:t>
                          </a:r>
                          <a:r>
                            <a:rPr lang="en-US" sz="1400"/>
                            <a:t> (e.g., failing to detect a real fall).</a:t>
                          </a:r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IN" sz="1400" b="1" dirty="0"/>
                            <a:t>FN:</a:t>
                          </a:r>
                          <a:r>
                            <a:rPr lang="en-IN" sz="1400" dirty="0"/>
                            <a:t> False Negatives (missed actual positives)</a:t>
                          </a:r>
                        </a:p>
                      </a:txBody>
                      <a:tcPr marL="63063" marR="63063" marT="31531" marB="31531" anchor="ctr"/>
                    </a:tc>
                    <a:extLst>
                      <a:ext uri="{0D108BD9-81ED-4DB2-BD59-A6C34878D82A}">
                        <a16:rowId xmlns:a16="http://schemas.microsoft.com/office/drawing/2014/main" val="1798312840"/>
                      </a:ext>
                    </a:extLst>
                  </a:tr>
                  <a:tr h="99167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IN" sz="1400" b="1"/>
                            <a:t>F1-Score</a:t>
                          </a:r>
                          <a:endParaRPr lang="en-IN" sz="1400"/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 dirty="0"/>
                            <a:t>Harmonic mean of Precision and Recall; balances false positives and false negatives.</a:t>
                          </a:r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IN" sz="1400" dirty="0" smtClean="0"/>
                                  <m:t>𝐹</m:t>
                                </m:r>
                                <m:r>
                                  <a:rPr lang="en-IN" sz="1400" dirty="0" smtClean="0"/>
                                  <m:t>1=2×</m:t>
                                </m:r>
                                <m:f>
                                  <m:fPr>
                                    <m:ctrlPr>
                                      <a:rPr lang="en-IN" sz="1400" dirty="0"/>
                                    </m:ctrlPr>
                                  </m:fPr>
                                  <m:num>
                                    <m:r>
                                      <m:rPr>
                                        <m:nor/>
                                      </m:rPr>
                                      <a:rPr lang="en-IN" sz="1400" dirty="0"/>
                                      <m:t>Precision</m:t>
                                    </m:r>
                                    <m:r>
                                      <a:rPr lang="en-IN" sz="1400" dirty="0"/>
                                      <m:t>×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IN" sz="1400" dirty="0"/>
                                      <m:t>Recall</m:t>
                                    </m:r>
                                  </m:num>
                                  <m:den>
                                    <m:r>
                                      <m:rPr>
                                        <m:nor/>
                                      </m:rPr>
                                      <a:rPr lang="en-IN" sz="1400" dirty="0"/>
                                      <m:t>Precision</m:t>
                                    </m:r>
                                    <m:r>
                                      <a:rPr lang="en-IN" sz="1400" dirty="0"/>
                                      <m:t>+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IN" sz="1400" dirty="0"/>
                                      <m:t>Recall</m:t>
                                    </m:r>
                                  </m:den>
                                </m:f>
                              </m:oMath>
                            </m:oMathPara>
                          </a14:m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/>
                            <a:t>Used when </a:t>
                          </a:r>
                          <a:r>
                            <a:rPr lang="en-US" sz="1400" b="1"/>
                            <a:t>both precision and recall matter</a:t>
                          </a:r>
                          <a:r>
                            <a:rPr lang="en-US" sz="1400"/>
                            <a:t>, e.g., imbalanced HAR activity classes.</a:t>
                          </a:r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400" dirty="0"/>
                            <a:t>-</a:t>
                          </a:r>
                        </a:p>
                      </a:txBody>
                      <a:tcPr marL="63063" marR="63063" marT="31531" marB="31531" anchor="ctr"/>
                    </a:tc>
                    <a:extLst>
                      <a:ext uri="{0D108BD9-81ED-4DB2-BD59-A6C34878D82A}">
                        <a16:rowId xmlns:a16="http://schemas.microsoft.com/office/drawing/2014/main" val="2589191954"/>
                      </a:ext>
                    </a:extLst>
                  </a:tr>
                  <a:tr h="8085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IN" sz="1400" b="1"/>
                            <a:t>Accuracy</a:t>
                          </a:r>
                          <a:endParaRPr lang="en-IN" sz="1400"/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/>
                            <a:t>Proportion of correctly predicted samples out of all samples.</a:t>
                          </a:r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IN" sz="140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lang="en-IN" sz="1400" dirty="0" smtClean="0"/>
                                <m:t>Accuracy</m:t>
                              </m:r>
                              <m:r>
                                <a:rPr lang="en-IN" sz="1400" dirty="0" smtClean="0"/>
                                <m:t>=</m:t>
                              </m:r>
                              <m:f>
                                <m:fPr>
                                  <m:ctrlPr>
                                    <a:rPr lang="en-IN" sz="1400" dirty="0" smtClean="0"/>
                                  </m:ctrlPr>
                                </m:fPr>
                                <m:num>
                                  <m:r>
                                    <a:rPr lang="en-IN" sz="1400" dirty="0" smtClean="0"/>
                                    <m:t>𝑇𝑃</m:t>
                                  </m:r>
                                  <m:r>
                                    <a:rPr lang="en-IN" sz="1400" dirty="0" smtClean="0"/>
                                    <m:t>+</m:t>
                                  </m:r>
                                  <m:r>
                                    <a:rPr lang="en-IN" sz="1400" dirty="0" smtClean="0"/>
                                    <m:t>𝑇𝑁</m:t>
                                  </m:r>
                                </m:num>
                                <m:den>
                                  <m:r>
                                    <a:rPr lang="en-IN" sz="1400" dirty="0" smtClean="0"/>
                                    <m:t>𝑇𝑃</m:t>
                                  </m:r>
                                  <m:r>
                                    <a:rPr lang="en-IN" sz="1400" dirty="0" smtClean="0"/>
                                    <m:t>+</m:t>
                                  </m:r>
                                  <m:r>
                                    <a:rPr lang="en-IN" sz="1400" dirty="0" smtClean="0"/>
                                    <m:t>𝑇𝑁</m:t>
                                  </m:r>
                                  <m:r>
                                    <a:rPr lang="en-IN" sz="1400" dirty="0" smtClean="0"/>
                                    <m:t>+</m:t>
                                  </m:r>
                                  <m:r>
                                    <a:rPr lang="en-IN" sz="1400" dirty="0" smtClean="0"/>
                                    <m:t>𝐹𝑃</m:t>
                                  </m:r>
                                  <m:r>
                                    <a:rPr lang="en-IN" sz="1400" dirty="0" smtClean="0"/>
                                    <m:t>+</m:t>
                                  </m:r>
                                  <m:r>
                                    <a:rPr lang="en-IN" sz="1400" dirty="0" smtClean="0"/>
                                    <m:t>𝐹𝑁</m:t>
                                  </m:r>
                                </m:den>
                              </m:f>
                            </m:oMath>
                          </a14:m>
                          <a:endParaRPr lang="en-IN" sz="1400" dirty="0"/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/>
                            <a:t>General metric for overall performance; less reliable for </a:t>
                          </a:r>
                          <a:r>
                            <a:rPr lang="en-US" sz="1400" b="1"/>
                            <a:t>imbalanced datasets</a:t>
                          </a:r>
                          <a:r>
                            <a:rPr lang="en-US" sz="1400"/>
                            <a:t>.</a:t>
                          </a:r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400" b="1"/>
                            <a:t>TN:</a:t>
                          </a:r>
                          <a:r>
                            <a:rPr lang="en-US" sz="1400"/>
                            <a:t> True Negatives (correct negative predictions)</a:t>
                          </a:r>
                        </a:p>
                      </a:txBody>
                      <a:tcPr marL="63063" marR="63063" marT="31531" marB="31531" anchor="ctr"/>
                    </a:tc>
                    <a:extLst>
                      <a:ext uri="{0D108BD9-81ED-4DB2-BD59-A6C34878D82A}">
                        <a16:rowId xmlns:a16="http://schemas.microsoft.com/office/drawing/2014/main" val="502368675"/>
                      </a:ext>
                    </a:extLst>
                  </a:tr>
                  <a:tr h="1541204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IN" sz="1400" b="1" dirty="0"/>
                            <a:t>Loss</a:t>
                          </a:r>
                          <a:endParaRPr lang="en-IN" sz="1400" dirty="0"/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/>
                            <a:t>Measures prediction error during training; used to update network weights.</a:t>
                          </a:r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IN" sz="1400" b="1" dirty="0"/>
                            <a:t>Categorical Cross-Entropy:</a:t>
                          </a:r>
                        </a:p>
                        <a:p>
                          <a:pPr algn="ctr">
                            <a:buNone/>
                          </a:pPr>
                          <a:r>
                            <a:rPr lang="en-IN" sz="140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IN" sz="1400" dirty="0" smtClean="0"/>
                                <m:t>ℒ</m:t>
                              </m:r>
                              <m:r>
                                <a:rPr lang="en-IN" sz="1400" dirty="0" smtClean="0"/>
                                <m:t>=−</m:t>
                              </m:r>
                              <m:f>
                                <m:fPr>
                                  <m:ctrlPr>
                                    <a:rPr lang="en-IN" sz="1400" dirty="0"/>
                                  </m:ctrlPr>
                                </m:fPr>
                                <m:num>
                                  <m:r>
                                    <a:rPr lang="en-IN" sz="1400" dirty="0"/>
                                    <m:t>1</m:t>
                                  </m:r>
                                </m:num>
                                <m:den>
                                  <m:r>
                                    <a:rPr lang="en-IN" sz="1400" dirty="0"/>
                                    <m:t>𝑁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ctrlPr>
                                    <a:rPr lang="en-IN" sz="1400" dirty="0"/>
                                  </m:ctrlPr>
                                </m:naryPr>
                                <m:sub>
                                  <m:r>
                                    <a:rPr lang="en-IN" sz="1400" dirty="0" err="1"/>
                                    <m:t>𝑖</m:t>
                                  </m:r>
                                  <m:r>
                                    <a:rPr lang="en-IN" sz="1400" dirty="0"/>
                                    <m:t>=1</m:t>
                                  </m:r>
                                </m:sub>
                                <m:sup>
                                  <m:r>
                                    <a:rPr lang="en-IN" sz="1400" dirty="0"/>
                                    <m:t>𝑁</m:t>
                                  </m:r>
                                </m:sup>
                                <m:e>
                                  <m:nary>
                                    <m:naryPr>
                                      <m:chr m:val="∑"/>
                                      <m:ctrlPr>
                                        <a:rPr lang="en-IN" sz="1400" dirty="0"/>
                                      </m:ctrlPr>
                                    </m:naryPr>
                                    <m:sub>
                                      <m:r>
                                        <a:rPr lang="en-IN" sz="1400" dirty="0"/>
                                        <m:t>𝑐</m:t>
                                      </m:r>
                                      <m:r>
                                        <a:rPr lang="en-IN" sz="1400" dirty="0"/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IN" sz="1400" dirty="0"/>
                                        <m:t>𝐶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IN" sz="1400" dirty="0"/>
                                          </m:ctrlPr>
                                        </m:sSubPr>
                                        <m:e>
                                          <m:r>
                                            <a:rPr lang="en-IN" sz="1400" dirty="0"/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IN" sz="1400" dirty="0" err="1"/>
                                            <m:t>𝑖</m:t>
                                          </m:r>
                                          <m:r>
                                            <a:rPr lang="en-IN" sz="1400" dirty="0" err="1"/>
                                            <m:t>,</m:t>
                                          </m:r>
                                          <m:r>
                                            <a:rPr lang="en-IN" sz="1400" dirty="0" err="1"/>
                                            <m:t>𝑐</m:t>
                                          </m:r>
                                        </m:sub>
                                      </m:sSub>
                                    </m:e>
                                  </m:nary>
                                  <m:func>
                                    <m:funcPr>
                                      <m:ctrlPr>
                                        <a:rPr lang="en-IN" sz="1400" dirty="0"/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IN" sz="1400" dirty="0"/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IN" sz="1400" dirty="0"/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IN" sz="1400" dirty="0"/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IN" sz="1400" dirty="0"/>
                                                <m:t>𝑝</m:t>
                                              </m:r>
                                            </m:e>
                                            <m:sub>
                                              <m:r>
                                                <a:rPr lang="en-IN" sz="1400" dirty="0" err="1"/>
                                                <m:t>𝑖</m:t>
                                              </m:r>
                                              <m:r>
                                                <a:rPr lang="en-IN" sz="1400" dirty="0" err="1"/>
                                                <m:t>,</m:t>
                                              </m:r>
                                              <m:r>
                                                <a:rPr lang="en-IN" sz="1400" dirty="0" err="1"/>
                                                <m:t>𝑐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func>
                                </m:e>
                              </m:nary>
                            </m:oMath>
                          </a14:m>
                          <a:endParaRPr lang="en-IN" sz="1400" dirty="0"/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/>
                            <a:t>Guides </a:t>
                          </a:r>
                          <a:r>
                            <a:rPr lang="en-US" sz="1400" b="1"/>
                            <a:t>weight updates</a:t>
                          </a:r>
                          <a:r>
                            <a:rPr lang="en-US" sz="1400"/>
                            <a:t> in BiLSTM, helps learn sequential HAR patterns accurately.</a:t>
                          </a:r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400" b="1" dirty="0"/>
                            <a:t>N:</a:t>
                          </a:r>
                          <a:r>
                            <a:rPr lang="en-US" sz="1400" dirty="0"/>
                            <a:t> Total samples</a:t>
                          </a:r>
                        </a:p>
                        <a:p>
                          <a:pPr algn="l">
                            <a:buNone/>
                          </a:pPr>
                          <a:r>
                            <a:rPr lang="en-US" sz="1400" b="1" dirty="0"/>
                            <a:t>C:</a:t>
                          </a:r>
                          <a:r>
                            <a:rPr lang="en-US" sz="1400" dirty="0"/>
                            <a:t> Number of classes</a:t>
                          </a:r>
                        </a:p>
                        <a:p>
                          <a:pPr algn="l">
                            <a:buNone/>
                          </a:pPr>
                          <a:r>
                            <a:rPr lang="en-US" sz="1400" b="1" dirty="0"/>
                            <a:t>y₍ᵢ,𝚌₎:</a:t>
                          </a:r>
                          <a:r>
                            <a:rPr lang="en-US" sz="1400" dirty="0"/>
                            <a:t> Ground-truth (1 if sample </a:t>
                          </a:r>
                          <a:r>
                            <a:rPr lang="en-US" sz="1400" dirty="0" err="1"/>
                            <a:t>i</a:t>
                          </a:r>
                          <a:r>
                            <a:rPr lang="en-US" sz="1400" dirty="0"/>
                            <a:t> belongs to class c, else 0)</a:t>
                          </a:r>
                        </a:p>
                        <a:p>
                          <a:pPr algn="l">
                            <a:buNone/>
                          </a:pPr>
                          <a:r>
                            <a:rPr lang="en-US" sz="1400" b="1" dirty="0"/>
                            <a:t>p₍ᵢ,𝚌₎:</a:t>
                          </a:r>
                          <a:r>
                            <a:rPr lang="en-US" sz="1400" dirty="0"/>
                            <a:t> Predicted probability for class c for sample </a:t>
                          </a:r>
                          <a:r>
                            <a:rPr lang="en-US" sz="1400" dirty="0" err="1"/>
                            <a:t>i</a:t>
                          </a:r>
                          <a:endParaRPr lang="en-US" sz="1400" dirty="0"/>
                        </a:p>
                      </a:txBody>
                      <a:tcPr marL="63063" marR="63063" marT="31531" marB="31531" anchor="ctr"/>
                    </a:tc>
                    <a:extLst>
                      <a:ext uri="{0D108BD9-81ED-4DB2-BD59-A6C34878D82A}">
                        <a16:rowId xmlns:a16="http://schemas.microsoft.com/office/drawing/2014/main" val="249835774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399118CF-B023-FF15-71DE-BC2ED113B4E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11427131"/>
                  </p:ext>
                </p:extLst>
              </p:nvPr>
            </p:nvGraphicFramePr>
            <p:xfrm>
              <a:off x="216817" y="1013832"/>
              <a:ext cx="11255604" cy="5583705"/>
            </p:xfrm>
            <a:graphic>
              <a:graphicData uri="http://schemas.openxmlformats.org/drawingml/2006/table">
                <a:tbl>
                  <a:tblPr>
                    <a:tableStyleId>{21E4AEA4-8DFA-4A89-87EB-49C32662AFE0}</a:tableStyleId>
                  </a:tblPr>
                  <a:tblGrid>
                    <a:gridCol w="1008479">
                      <a:extLst>
                        <a:ext uri="{9D8B030D-6E8A-4147-A177-3AD203B41FA5}">
                          <a16:colId xmlns:a16="http://schemas.microsoft.com/office/drawing/2014/main" val="1385591346"/>
                        </a:ext>
                      </a:extLst>
                    </a:gridCol>
                    <a:gridCol w="2167128">
                      <a:extLst>
                        <a:ext uri="{9D8B030D-6E8A-4147-A177-3AD203B41FA5}">
                          <a16:colId xmlns:a16="http://schemas.microsoft.com/office/drawing/2014/main" val="536659541"/>
                        </a:ext>
                      </a:extLst>
                    </a:gridCol>
                    <a:gridCol w="2569464">
                      <a:extLst>
                        <a:ext uri="{9D8B030D-6E8A-4147-A177-3AD203B41FA5}">
                          <a16:colId xmlns:a16="http://schemas.microsoft.com/office/drawing/2014/main" val="1648483843"/>
                        </a:ext>
                      </a:extLst>
                    </a:gridCol>
                    <a:gridCol w="2633472">
                      <a:extLst>
                        <a:ext uri="{9D8B030D-6E8A-4147-A177-3AD203B41FA5}">
                          <a16:colId xmlns:a16="http://schemas.microsoft.com/office/drawing/2014/main" val="4076832240"/>
                        </a:ext>
                      </a:extLst>
                    </a:gridCol>
                    <a:gridCol w="2877061">
                      <a:extLst>
                        <a:ext uri="{9D8B030D-6E8A-4147-A177-3AD203B41FA5}">
                          <a16:colId xmlns:a16="http://schemas.microsoft.com/office/drawing/2014/main" val="139714059"/>
                        </a:ext>
                      </a:extLst>
                    </a:gridCol>
                  </a:tblGrid>
                  <a:tr h="442149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IN" sz="1400" b="1" dirty="0"/>
                            <a:t>Metrics</a:t>
                          </a:r>
                          <a:endParaRPr lang="en-IN" sz="1400" dirty="0"/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IN" sz="1400" b="1"/>
                            <a:t>Definition</a:t>
                          </a:r>
                          <a:endParaRPr lang="en-IN" sz="1400"/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IN" sz="1400" b="1"/>
                            <a:t>Formula</a:t>
                          </a:r>
                          <a:endParaRPr lang="en-IN" sz="1400"/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1400" b="1" dirty="0"/>
                            <a:t>Usage in HAR</a:t>
                          </a:r>
                          <a:endParaRPr lang="en-US" sz="1400" dirty="0"/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IN" sz="1400" b="1" dirty="0"/>
                            <a:t>Symbols &amp; Meaning</a:t>
                          </a:r>
                          <a:endParaRPr lang="en-IN" sz="1400" dirty="0"/>
                        </a:p>
                      </a:txBody>
                      <a:tcPr marL="63063" marR="63063" marT="31531" marB="31531" anchor="ctr"/>
                    </a:tc>
                    <a:extLst>
                      <a:ext uri="{0D108BD9-81ED-4DB2-BD59-A6C34878D82A}">
                        <a16:rowId xmlns:a16="http://schemas.microsoft.com/office/drawing/2014/main" val="4093125850"/>
                      </a:ext>
                    </a:extLst>
                  </a:tr>
                  <a:tr h="99167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IN" sz="1400" b="1"/>
                            <a:t>Precision</a:t>
                          </a:r>
                          <a:endParaRPr lang="en-IN" sz="1400"/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 dirty="0"/>
                            <a:t>Proportion of correctly predicted positives out of all predicted positives.</a:t>
                          </a:r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063" marR="63063" marT="31531" marB="31531" anchor="ctr">
                        <a:blipFill>
                          <a:blip r:embed="rId2"/>
                          <a:stretch>
                            <a:fillRect l="-123697" t="-45679" r="-214929" b="-4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/>
                            <a:t>Important when </a:t>
                          </a:r>
                          <a:r>
                            <a:rPr lang="en-US" sz="1400" b="1"/>
                            <a:t>false positives are costly</a:t>
                          </a:r>
                          <a:r>
                            <a:rPr lang="en-US" sz="1400"/>
                            <a:t> (e.g., detecting a fall when none occurred).</a:t>
                          </a:r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IN" sz="1400" b="1" dirty="0"/>
                            <a:t>TP:</a:t>
                          </a:r>
                          <a:r>
                            <a:rPr lang="en-IN" sz="1400" dirty="0"/>
                            <a:t> True Positives (correct positive predictions)</a:t>
                          </a:r>
                        </a:p>
                        <a:p>
                          <a:pPr algn="l">
                            <a:buNone/>
                          </a:pPr>
                          <a:r>
                            <a:rPr lang="en-IN" sz="1400" b="1" dirty="0"/>
                            <a:t>FP:</a:t>
                          </a:r>
                          <a:r>
                            <a:rPr lang="en-IN" sz="1400" dirty="0"/>
                            <a:t> False Positives (incorrect positive predictions)</a:t>
                          </a:r>
                        </a:p>
                      </a:txBody>
                      <a:tcPr marL="63063" marR="63063" marT="31531" marB="31531" anchor="ctr"/>
                    </a:tc>
                    <a:extLst>
                      <a:ext uri="{0D108BD9-81ED-4DB2-BD59-A6C34878D82A}">
                        <a16:rowId xmlns:a16="http://schemas.microsoft.com/office/drawing/2014/main" val="4144166889"/>
                      </a:ext>
                    </a:extLst>
                  </a:tr>
                  <a:tr h="8085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IN" sz="1400" b="1"/>
                            <a:t>Recall</a:t>
                          </a:r>
                          <a:endParaRPr lang="en-IN" sz="1400"/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/>
                            <a:t>Proportion of correctly predicted positives out of all actual positives.</a:t>
                          </a:r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063" marR="63063" marT="31531" marB="31531" anchor="ctr">
                        <a:blipFill>
                          <a:blip r:embed="rId2"/>
                          <a:stretch>
                            <a:fillRect l="-123697" t="-177444" r="-214929" b="-4142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/>
                            <a:t>Key when </a:t>
                          </a:r>
                          <a:r>
                            <a:rPr lang="en-US" sz="1400" b="1"/>
                            <a:t>missing a positive is critical</a:t>
                          </a:r>
                          <a:r>
                            <a:rPr lang="en-US" sz="1400"/>
                            <a:t> (e.g., failing to detect a real fall).</a:t>
                          </a:r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IN" sz="1400" b="1" dirty="0"/>
                            <a:t>FN:</a:t>
                          </a:r>
                          <a:r>
                            <a:rPr lang="en-IN" sz="1400" dirty="0"/>
                            <a:t> False Negatives (missed actual positives)</a:t>
                          </a:r>
                        </a:p>
                      </a:txBody>
                      <a:tcPr marL="63063" marR="63063" marT="31531" marB="31531" anchor="ctr"/>
                    </a:tc>
                    <a:extLst>
                      <a:ext uri="{0D108BD9-81ED-4DB2-BD59-A6C34878D82A}">
                        <a16:rowId xmlns:a16="http://schemas.microsoft.com/office/drawing/2014/main" val="1798312840"/>
                      </a:ext>
                    </a:extLst>
                  </a:tr>
                  <a:tr h="99167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IN" sz="1400" b="1"/>
                            <a:t>F1-Score</a:t>
                          </a:r>
                          <a:endParaRPr lang="en-IN" sz="1400"/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 dirty="0"/>
                            <a:t>Harmonic mean of Precision and Recall; balances false positives and false negatives.</a:t>
                          </a:r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063" marR="63063" marT="31531" marB="31531" anchor="ctr">
                        <a:blipFill>
                          <a:blip r:embed="rId2"/>
                          <a:stretch>
                            <a:fillRect l="-123697" t="-226380" r="-214929" b="-2380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/>
                            <a:t>Used when </a:t>
                          </a:r>
                          <a:r>
                            <a:rPr lang="en-US" sz="1400" b="1"/>
                            <a:t>both precision and recall matter</a:t>
                          </a:r>
                          <a:r>
                            <a:rPr lang="en-US" sz="1400"/>
                            <a:t>, e.g., imbalanced HAR activity classes.</a:t>
                          </a:r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400" dirty="0"/>
                            <a:t>-</a:t>
                          </a:r>
                        </a:p>
                      </a:txBody>
                      <a:tcPr marL="63063" marR="63063" marT="31531" marB="31531" anchor="ctr"/>
                    </a:tc>
                    <a:extLst>
                      <a:ext uri="{0D108BD9-81ED-4DB2-BD59-A6C34878D82A}">
                        <a16:rowId xmlns:a16="http://schemas.microsoft.com/office/drawing/2014/main" val="2589191954"/>
                      </a:ext>
                    </a:extLst>
                  </a:tr>
                  <a:tr h="8085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IN" sz="1400" b="1"/>
                            <a:t>Accuracy</a:t>
                          </a:r>
                          <a:endParaRPr lang="en-IN" sz="1400"/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/>
                            <a:t>Proportion of correctly predicted samples out of all samples.</a:t>
                          </a:r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063" marR="63063" marT="31531" marB="31531" anchor="ctr">
                        <a:blipFill>
                          <a:blip r:embed="rId2"/>
                          <a:stretch>
                            <a:fillRect l="-123697" t="-400000" r="-214929" b="-1917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/>
                            <a:t>General metric for overall performance; less reliable for </a:t>
                          </a:r>
                          <a:r>
                            <a:rPr lang="en-US" sz="1400" b="1"/>
                            <a:t>imbalanced datasets</a:t>
                          </a:r>
                          <a:r>
                            <a:rPr lang="en-US" sz="1400"/>
                            <a:t>.</a:t>
                          </a:r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400" b="1"/>
                            <a:t>TN:</a:t>
                          </a:r>
                          <a:r>
                            <a:rPr lang="en-US" sz="1400"/>
                            <a:t> True Negatives (correct negative predictions)</a:t>
                          </a:r>
                        </a:p>
                      </a:txBody>
                      <a:tcPr marL="63063" marR="63063" marT="31531" marB="31531" anchor="ctr"/>
                    </a:tc>
                    <a:extLst>
                      <a:ext uri="{0D108BD9-81ED-4DB2-BD59-A6C34878D82A}">
                        <a16:rowId xmlns:a16="http://schemas.microsoft.com/office/drawing/2014/main" val="502368675"/>
                      </a:ext>
                    </a:extLst>
                  </a:tr>
                  <a:tr h="1541204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IN" sz="1400" b="1" dirty="0"/>
                            <a:t>Loss</a:t>
                          </a:r>
                          <a:endParaRPr lang="en-IN" sz="1400" dirty="0"/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/>
                            <a:t>Measures prediction error during training; used to update network weights.</a:t>
                          </a:r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063" marR="63063" marT="31531" marB="31531" anchor="ctr">
                        <a:blipFill>
                          <a:blip r:embed="rId2"/>
                          <a:stretch>
                            <a:fillRect l="-123697" t="-262846" r="-214929" b="-7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/>
                            <a:t>Guides </a:t>
                          </a:r>
                          <a:r>
                            <a:rPr lang="en-US" sz="1400" b="1"/>
                            <a:t>weight updates</a:t>
                          </a:r>
                          <a:r>
                            <a:rPr lang="en-US" sz="1400"/>
                            <a:t> in BiLSTM, helps learn sequential HAR patterns accurately.</a:t>
                          </a:r>
                        </a:p>
                      </a:txBody>
                      <a:tcPr marL="63063" marR="63063" marT="31531" marB="31531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400" b="1" dirty="0"/>
                            <a:t>N:</a:t>
                          </a:r>
                          <a:r>
                            <a:rPr lang="en-US" sz="1400" dirty="0"/>
                            <a:t> Total samples</a:t>
                          </a:r>
                        </a:p>
                        <a:p>
                          <a:pPr algn="l">
                            <a:buNone/>
                          </a:pPr>
                          <a:r>
                            <a:rPr lang="en-US" sz="1400" b="1" dirty="0"/>
                            <a:t>C:</a:t>
                          </a:r>
                          <a:r>
                            <a:rPr lang="en-US" sz="1400" dirty="0"/>
                            <a:t> Number of classes</a:t>
                          </a:r>
                        </a:p>
                        <a:p>
                          <a:pPr algn="l">
                            <a:buNone/>
                          </a:pPr>
                          <a:r>
                            <a:rPr lang="en-US" sz="1400" b="1" dirty="0"/>
                            <a:t>y₍ᵢ,𝚌₎:</a:t>
                          </a:r>
                          <a:r>
                            <a:rPr lang="en-US" sz="1400" dirty="0"/>
                            <a:t> Ground-truth (1 if sample </a:t>
                          </a:r>
                          <a:r>
                            <a:rPr lang="en-US" sz="1400" dirty="0" err="1"/>
                            <a:t>i</a:t>
                          </a:r>
                          <a:r>
                            <a:rPr lang="en-US" sz="1400" dirty="0"/>
                            <a:t> belongs to class c, else 0)</a:t>
                          </a:r>
                        </a:p>
                        <a:p>
                          <a:pPr algn="l">
                            <a:buNone/>
                          </a:pPr>
                          <a:r>
                            <a:rPr lang="en-US" sz="1400" b="1" dirty="0"/>
                            <a:t>p₍ᵢ,𝚌₎:</a:t>
                          </a:r>
                          <a:r>
                            <a:rPr lang="en-US" sz="1400" dirty="0"/>
                            <a:t> Predicted probability for class c for sample </a:t>
                          </a:r>
                          <a:r>
                            <a:rPr lang="en-US" sz="1400" dirty="0" err="1"/>
                            <a:t>i</a:t>
                          </a:r>
                          <a:endParaRPr lang="en-US" sz="1400" dirty="0"/>
                        </a:p>
                      </a:txBody>
                      <a:tcPr marL="63063" marR="63063" marT="31531" marB="31531" anchor="ctr"/>
                    </a:tc>
                    <a:extLst>
                      <a:ext uri="{0D108BD9-81ED-4DB2-BD59-A6C34878D82A}">
                        <a16:rowId xmlns:a16="http://schemas.microsoft.com/office/drawing/2014/main" val="2498357744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5" name="Google Shape;97;p14">
            <a:extLst>
              <a:ext uri="{FF2B5EF4-FFF2-40B4-BE49-F238E27FC236}">
                <a16:creationId xmlns:a16="http://schemas.microsoft.com/office/drawing/2014/main" id="{7AB6B90E-180B-FB92-3CB7-4406FA1AC68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13048" y="0"/>
            <a:ext cx="1178952" cy="115397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66701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6E6BA-8031-EC46-C59A-4C08EB2BC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0B1176C-DAAA-0516-4233-5A1C686AC9A9}"/>
              </a:ext>
            </a:extLst>
          </p:cNvPr>
          <p:cNvSpPr/>
          <p:nvPr/>
        </p:nvSpPr>
        <p:spPr>
          <a:xfrm>
            <a:off x="306967" y="173322"/>
            <a:ext cx="10144723" cy="790239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Results – a) My Dataset</a:t>
            </a:r>
            <a:endParaRPr lang="en-IN" sz="2800" b="1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3A1CAD-9DDD-D58A-267A-EE68B8EAB2E0}"/>
              </a:ext>
            </a:extLst>
          </p:cNvPr>
          <p:cNvSpPr txBox="1"/>
          <p:nvPr/>
        </p:nvSpPr>
        <p:spPr>
          <a:xfrm>
            <a:off x="306967" y="1120878"/>
            <a:ext cx="110711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800" b="0" i="0" u="none" strike="noStrike" baseline="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" name="object 17">
            <a:extLst>
              <a:ext uri="{FF2B5EF4-FFF2-40B4-BE49-F238E27FC236}">
                <a16:creationId xmlns:a16="http://schemas.microsoft.com/office/drawing/2014/main" id="{F398B074-A932-762A-7B24-4067783A725C}"/>
              </a:ext>
            </a:extLst>
          </p:cNvPr>
          <p:cNvGrpSpPr/>
          <p:nvPr/>
        </p:nvGrpSpPr>
        <p:grpSpPr>
          <a:xfrm>
            <a:off x="0" y="6470121"/>
            <a:ext cx="12192000" cy="345448"/>
            <a:chOff x="0" y="3346348"/>
            <a:chExt cx="4608195" cy="109855"/>
          </a:xfrm>
        </p:grpSpPr>
        <p:sp>
          <p:nvSpPr>
            <p:cNvPr id="5" name="object 18">
              <a:extLst>
                <a:ext uri="{FF2B5EF4-FFF2-40B4-BE49-F238E27FC236}">
                  <a16:creationId xmlns:a16="http://schemas.microsoft.com/office/drawing/2014/main" id="{EA8DEFC3-0B8D-F44A-A833-684AB5E9BB2C}"/>
                </a:ext>
              </a:extLst>
            </p:cNvPr>
            <p:cNvSpPr/>
            <p:nvPr/>
          </p:nvSpPr>
          <p:spPr>
            <a:xfrm>
              <a:off x="0" y="3346348"/>
              <a:ext cx="1535976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 </a:t>
              </a:r>
              <a:r>
                <a:rPr lang="en-US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</a:t>
              </a:r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D Praveen Kalepu (IIITDM Kurnool)</a:t>
              </a:r>
              <a:endPara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object 19">
              <a:extLst>
                <a:ext uri="{FF2B5EF4-FFF2-40B4-BE49-F238E27FC236}">
                  <a16:creationId xmlns:a16="http://schemas.microsoft.com/office/drawing/2014/main" id="{BDBB3752-EFB5-5CB9-0971-2E306D7A90BF}"/>
                </a:ext>
              </a:extLst>
            </p:cNvPr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Progressive seminar </a:t>
              </a: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object 20">
              <a:extLst>
                <a:ext uri="{FF2B5EF4-FFF2-40B4-BE49-F238E27FC236}">
                  <a16:creationId xmlns:a16="http://schemas.microsoft.com/office/drawing/2014/main" id="{D2B9F499-8C26-66EF-7B08-25A9A2DE1DED}"/>
                </a:ext>
              </a:extLst>
            </p:cNvPr>
            <p:cNvSpPr/>
            <p:nvPr/>
          </p:nvSpPr>
          <p:spPr>
            <a:xfrm>
              <a:off x="307213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July 2025                        18/30</a:t>
              </a:r>
              <a:endParaRPr dirty="0"/>
            </a:p>
          </p:txBody>
        </p:sp>
      </p:grpSp>
      <p:sp>
        <p:nvSpPr>
          <p:cNvPr id="9" name="object 19">
            <a:extLst>
              <a:ext uri="{FF2B5EF4-FFF2-40B4-BE49-F238E27FC236}">
                <a16:creationId xmlns:a16="http://schemas.microsoft.com/office/drawing/2014/main" id="{2C87DBEC-F9AC-0B26-3D13-6FBE36317451}"/>
              </a:ext>
            </a:extLst>
          </p:cNvPr>
          <p:cNvSpPr/>
          <p:nvPr/>
        </p:nvSpPr>
        <p:spPr>
          <a:xfrm>
            <a:off x="4063765" y="6512552"/>
            <a:ext cx="4064000" cy="345448"/>
          </a:xfrm>
          <a:custGeom>
            <a:avLst/>
            <a:gdLst/>
            <a:ahLst/>
            <a:cxnLst/>
            <a:rect l="l" t="t" r="r" b="b"/>
            <a:pathLst>
              <a:path w="1536064" h="109854">
                <a:moveTo>
                  <a:pt x="1535976" y="0"/>
                </a:moveTo>
                <a:lnTo>
                  <a:pt x="0" y="0"/>
                </a:lnTo>
                <a:lnTo>
                  <a:pt x="0" y="109651"/>
                </a:lnTo>
                <a:lnTo>
                  <a:pt x="1535976" y="109651"/>
                </a:lnTo>
                <a:lnTo>
                  <a:pt x="1535976" y="0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</a:schemeClr>
          </a:solidFill>
        </p:spPr>
        <p:txBody>
          <a:bodyPr wrap="square" lIns="0" tIns="0" rIns="0" bIns="0" rtlCol="0"/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Ph.D</a:t>
            </a:r>
            <a:r>
              <a:rPr lang="en-US" sz="14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Registration seminar 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Google Shape;97;p14">
            <a:extLst>
              <a:ext uri="{FF2B5EF4-FFF2-40B4-BE49-F238E27FC236}">
                <a16:creationId xmlns:a16="http://schemas.microsoft.com/office/drawing/2014/main" id="{522AF93D-9CC8-C04D-1E23-AB894293363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13048" y="0"/>
            <a:ext cx="1178952" cy="115397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DAFF207-A217-A49F-5B5D-0A7BF87AD1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469" y="1153972"/>
            <a:ext cx="5888866" cy="4416649"/>
          </a:xfrm>
          <a:prstGeom prst="rect">
            <a:avLst/>
          </a:prstGeom>
        </p:spPr>
      </p:pic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3467A4FC-EBB0-BE32-4CFC-A64C3BA7AC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6801932"/>
              </p:ext>
            </p:extLst>
          </p:nvPr>
        </p:nvGraphicFramePr>
        <p:xfrm>
          <a:off x="310796" y="1398269"/>
          <a:ext cx="5531732" cy="4172352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382933">
                  <a:extLst>
                    <a:ext uri="{9D8B030D-6E8A-4147-A177-3AD203B41FA5}">
                      <a16:colId xmlns:a16="http://schemas.microsoft.com/office/drawing/2014/main" val="3187092594"/>
                    </a:ext>
                  </a:extLst>
                </a:gridCol>
                <a:gridCol w="1382933">
                  <a:extLst>
                    <a:ext uri="{9D8B030D-6E8A-4147-A177-3AD203B41FA5}">
                      <a16:colId xmlns:a16="http://schemas.microsoft.com/office/drawing/2014/main" val="3441527458"/>
                    </a:ext>
                  </a:extLst>
                </a:gridCol>
                <a:gridCol w="1382933">
                  <a:extLst>
                    <a:ext uri="{9D8B030D-6E8A-4147-A177-3AD203B41FA5}">
                      <a16:colId xmlns:a16="http://schemas.microsoft.com/office/drawing/2014/main" val="1498230877"/>
                    </a:ext>
                  </a:extLst>
                </a:gridCol>
                <a:gridCol w="1382933">
                  <a:extLst>
                    <a:ext uri="{9D8B030D-6E8A-4147-A177-3AD203B41FA5}">
                      <a16:colId xmlns:a16="http://schemas.microsoft.com/office/drawing/2014/main" val="3942958361"/>
                    </a:ext>
                  </a:extLst>
                </a:gridCol>
              </a:tblGrid>
              <a:tr h="3197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b="1" dirty="0"/>
                        <a:t>Class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b="1" dirty="0"/>
                        <a:t>Precision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b="1" dirty="0"/>
                        <a:t>Recall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b="1" dirty="0"/>
                        <a:t>F1-Score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22999003"/>
                  </a:ext>
                </a:extLst>
              </a:tr>
              <a:tr h="3197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Bending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0.9982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0.9972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0.9977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507151"/>
                  </a:ext>
                </a:extLst>
              </a:tr>
              <a:tr h="3197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Jumping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0.9344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0.9597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0.9469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1611495"/>
                  </a:ext>
                </a:extLst>
              </a:tr>
              <a:tr h="3197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Running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0.9571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0.9365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0.9467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6726538"/>
                  </a:ext>
                </a:extLst>
              </a:tr>
              <a:tr h="3197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Sitting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1.0000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9984714"/>
                  </a:ext>
                </a:extLst>
              </a:tr>
              <a:tr h="3197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Squat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0.9952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0.9976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45523780"/>
                  </a:ext>
                </a:extLst>
              </a:tr>
              <a:tr h="3197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Standing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0.9955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0.9977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1727970"/>
                  </a:ext>
                </a:extLst>
              </a:tr>
              <a:tr h="3197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Walking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0.9942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0.9971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3142717"/>
                  </a:ext>
                </a:extLst>
              </a:tr>
              <a:tr h="319756">
                <a:tc>
                  <a:txBody>
                    <a:bodyPr/>
                    <a:lstStyle/>
                    <a:p>
                      <a:pPr algn="ctr"/>
                      <a:endParaRPr lang="en-IN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715257"/>
                  </a:ext>
                </a:extLst>
              </a:tr>
              <a:tr h="3197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/>
                        <a:t>Overall 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/>
                        <a:t>Precision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/>
                        <a:t>Recall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/>
                        <a:t>F1-Score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42013638"/>
                  </a:ext>
                </a:extLst>
              </a:tr>
              <a:tr h="3197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/>
                        <a:t>Accuracy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/>
                        <a:t>-</a:t>
                      </a:r>
                      <a:endParaRPr lang="en-IN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IN" sz="1400" dirty="0"/>
                        <a:t>0.9835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1912023"/>
                  </a:ext>
                </a:extLst>
              </a:tr>
              <a:tr h="3197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/>
                        <a:t>Macro Avg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0.9836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0.9833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0.9834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04205540"/>
                  </a:ext>
                </a:extLst>
              </a:tr>
              <a:tr h="3197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Weighted </a:t>
                      </a:r>
                      <a:r>
                        <a:rPr lang="en-IN" sz="1400" dirty="0" err="1"/>
                        <a:t>Avg</a:t>
                      </a:r>
                      <a:endParaRPr lang="en-IN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0.9836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0.9835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0.9835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31513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87520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9B6CD-1FE9-D3E3-55EA-5C4EF6744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0F129D1-FB48-E382-160E-3A48D08728F2}"/>
              </a:ext>
            </a:extLst>
          </p:cNvPr>
          <p:cNvSpPr/>
          <p:nvPr/>
        </p:nvSpPr>
        <p:spPr>
          <a:xfrm>
            <a:off x="328662" y="169785"/>
            <a:ext cx="10609007" cy="758943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Results – b) Online Dataset (KARD)</a:t>
            </a:r>
            <a:endParaRPr lang="en-IN" sz="2800" b="1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" name="object 17">
            <a:extLst>
              <a:ext uri="{FF2B5EF4-FFF2-40B4-BE49-F238E27FC236}">
                <a16:creationId xmlns:a16="http://schemas.microsoft.com/office/drawing/2014/main" id="{8A6077F7-4323-A9EC-8156-4B7FBFBBF19B}"/>
              </a:ext>
            </a:extLst>
          </p:cNvPr>
          <p:cNvGrpSpPr/>
          <p:nvPr/>
        </p:nvGrpSpPr>
        <p:grpSpPr>
          <a:xfrm>
            <a:off x="0" y="6518560"/>
            <a:ext cx="12102101" cy="345448"/>
            <a:chOff x="0" y="3346348"/>
            <a:chExt cx="4608195" cy="109855"/>
          </a:xfrm>
        </p:grpSpPr>
        <p:sp>
          <p:nvSpPr>
            <p:cNvPr id="6" name="object 18">
              <a:extLst>
                <a:ext uri="{FF2B5EF4-FFF2-40B4-BE49-F238E27FC236}">
                  <a16:creationId xmlns:a16="http://schemas.microsoft.com/office/drawing/2014/main" id="{D874FA6F-858F-53D5-23CB-BAA07374CEE5}"/>
                </a:ext>
              </a:extLst>
            </p:cNvPr>
            <p:cNvSpPr/>
            <p:nvPr/>
          </p:nvSpPr>
          <p:spPr>
            <a:xfrm>
              <a:off x="0" y="3346348"/>
              <a:ext cx="1535976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 </a:t>
              </a:r>
              <a:r>
                <a:rPr lang="en-US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</a:t>
              </a:r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D Praveen Kalepu (IIITDM Kurnool)</a:t>
              </a:r>
              <a:endPara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object 19">
              <a:extLst>
                <a:ext uri="{FF2B5EF4-FFF2-40B4-BE49-F238E27FC236}">
                  <a16:creationId xmlns:a16="http://schemas.microsoft.com/office/drawing/2014/main" id="{A5AF2C36-6192-8445-63BE-38BD5370DAFC}"/>
                </a:ext>
              </a:extLst>
            </p:cNvPr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Progressive seminar </a:t>
              </a: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object 20">
              <a:extLst>
                <a:ext uri="{FF2B5EF4-FFF2-40B4-BE49-F238E27FC236}">
                  <a16:creationId xmlns:a16="http://schemas.microsoft.com/office/drawing/2014/main" id="{14CDBF0E-CC10-617F-D3FA-45B73E26E93C}"/>
                </a:ext>
              </a:extLst>
            </p:cNvPr>
            <p:cNvSpPr/>
            <p:nvPr/>
          </p:nvSpPr>
          <p:spPr>
            <a:xfrm>
              <a:off x="307213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July 2025                        19/30</a:t>
              </a:r>
              <a:endParaRPr lang="en-US" dirty="0"/>
            </a:p>
          </p:txBody>
        </p:sp>
      </p:grpSp>
      <p:sp>
        <p:nvSpPr>
          <p:cNvPr id="9" name="object 19">
            <a:extLst>
              <a:ext uri="{FF2B5EF4-FFF2-40B4-BE49-F238E27FC236}">
                <a16:creationId xmlns:a16="http://schemas.microsoft.com/office/drawing/2014/main" id="{133CB3EB-4000-E4B6-6CD5-035B705D7B16}"/>
              </a:ext>
            </a:extLst>
          </p:cNvPr>
          <p:cNvSpPr/>
          <p:nvPr/>
        </p:nvSpPr>
        <p:spPr>
          <a:xfrm>
            <a:off x="4123934" y="6509062"/>
            <a:ext cx="4064000" cy="345448"/>
          </a:xfrm>
          <a:custGeom>
            <a:avLst/>
            <a:gdLst/>
            <a:ahLst/>
            <a:cxnLst/>
            <a:rect l="l" t="t" r="r" b="b"/>
            <a:pathLst>
              <a:path w="1536064" h="109854">
                <a:moveTo>
                  <a:pt x="1535976" y="0"/>
                </a:moveTo>
                <a:lnTo>
                  <a:pt x="0" y="0"/>
                </a:lnTo>
                <a:lnTo>
                  <a:pt x="0" y="109651"/>
                </a:lnTo>
                <a:lnTo>
                  <a:pt x="1535976" y="109651"/>
                </a:lnTo>
                <a:lnTo>
                  <a:pt x="1535976" y="0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</a:schemeClr>
          </a:solidFill>
        </p:spPr>
        <p:txBody>
          <a:bodyPr wrap="square" lIns="0" tIns="0" rIns="0" bIns="0" rtlCol="0"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Ph.D</a:t>
            </a:r>
            <a:r>
              <a:rPr lang="en-U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Registration seminar </a:t>
            </a:r>
          </a:p>
        </p:txBody>
      </p:sp>
      <p:pic>
        <p:nvPicPr>
          <p:cNvPr id="5" name="Google Shape;97;p14">
            <a:extLst>
              <a:ext uri="{FF2B5EF4-FFF2-40B4-BE49-F238E27FC236}">
                <a16:creationId xmlns:a16="http://schemas.microsoft.com/office/drawing/2014/main" id="{89D95B9A-DEC1-BA37-507D-BFF815C3D2A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13048" y="0"/>
            <a:ext cx="1178952" cy="1153972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73DC211-33EB-1D3C-199F-0B905DAE9E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4117289"/>
              </p:ext>
            </p:extLst>
          </p:nvPr>
        </p:nvGraphicFramePr>
        <p:xfrm>
          <a:off x="328662" y="967444"/>
          <a:ext cx="5470560" cy="55321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367640">
                  <a:extLst>
                    <a:ext uri="{9D8B030D-6E8A-4147-A177-3AD203B41FA5}">
                      <a16:colId xmlns:a16="http://schemas.microsoft.com/office/drawing/2014/main" val="2245271657"/>
                    </a:ext>
                  </a:extLst>
                </a:gridCol>
                <a:gridCol w="1367640">
                  <a:extLst>
                    <a:ext uri="{9D8B030D-6E8A-4147-A177-3AD203B41FA5}">
                      <a16:colId xmlns:a16="http://schemas.microsoft.com/office/drawing/2014/main" val="2100777284"/>
                    </a:ext>
                  </a:extLst>
                </a:gridCol>
                <a:gridCol w="1367640">
                  <a:extLst>
                    <a:ext uri="{9D8B030D-6E8A-4147-A177-3AD203B41FA5}">
                      <a16:colId xmlns:a16="http://schemas.microsoft.com/office/drawing/2014/main" val="748139408"/>
                    </a:ext>
                  </a:extLst>
                </a:gridCol>
                <a:gridCol w="1367640">
                  <a:extLst>
                    <a:ext uri="{9D8B030D-6E8A-4147-A177-3AD203B41FA5}">
                      <a16:colId xmlns:a16="http://schemas.microsoft.com/office/drawing/2014/main" val="886052029"/>
                    </a:ext>
                  </a:extLst>
                </a:gridCol>
              </a:tblGrid>
              <a:tr h="2369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 b="1" dirty="0"/>
                        <a:t>Class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 b="1"/>
                        <a:t>Precision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 b="1"/>
                        <a:t>Recall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 b="1" dirty="0"/>
                        <a:t>F1-Score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54357604"/>
                  </a:ext>
                </a:extLst>
              </a:tr>
              <a:tr h="2369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Action_0</a:t>
                      </a:r>
                      <a:endParaRPr lang="en-IN" sz="105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 dirty="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36827511"/>
                  </a:ext>
                </a:extLst>
              </a:tr>
              <a:tr h="2369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Action_1</a:t>
                      </a:r>
                      <a:endParaRPr lang="en-IN" sz="105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6112958"/>
                  </a:ext>
                </a:extLst>
              </a:tr>
              <a:tr h="2369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Action_2</a:t>
                      </a:r>
                      <a:endParaRPr lang="en-IN" sz="105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2835753"/>
                  </a:ext>
                </a:extLst>
              </a:tr>
              <a:tr h="2369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Action_3</a:t>
                      </a:r>
                      <a:endParaRPr lang="en-IN" sz="105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6362032"/>
                  </a:ext>
                </a:extLst>
              </a:tr>
              <a:tr h="2369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Action_4</a:t>
                      </a:r>
                      <a:endParaRPr lang="en-IN" sz="105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0.8333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 dirty="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0.9091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3665488"/>
                  </a:ext>
                </a:extLst>
              </a:tr>
              <a:tr h="2369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Action_5</a:t>
                      </a:r>
                      <a:endParaRPr lang="en-IN" sz="105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06022754"/>
                  </a:ext>
                </a:extLst>
              </a:tr>
              <a:tr h="2369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Action_6</a:t>
                      </a:r>
                      <a:endParaRPr lang="en-IN" sz="105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94397843"/>
                  </a:ext>
                </a:extLst>
              </a:tr>
              <a:tr h="2369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Action_7</a:t>
                      </a:r>
                      <a:endParaRPr lang="en-IN" sz="105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9852858"/>
                  </a:ext>
                </a:extLst>
              </a:tr>
              <a:tr h="2369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Action_8</a:t>
                      </a:r>
                      <a:endParaRPr lang="en-IN" sz="105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84728"/>
                  </a:ext>
                </a:extLst>
              </a:tr>
              <a:tr h="2369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Action_9</a:t>
                      </a:r>
                      <a:endParaRPr lang="en-IN" sz="105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 dirty="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13809071"/>
                  </a:ext>
                </a:extLst>
              </a:tr>
              <a:tr h="2369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Action_10</a:t>
                      </a:r>
                      <a:endParaRPr lang="en-IN" sz="105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 dirty="0"/>
                        <a:t>1.0000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8143951"/>
                  </a:ext>
                </a:extLst>
              </a:tr>
              <a:tr h="2369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Action_11</a:t>
                      </a:r>
                      <a:endParaRPr lang="en-IN" sz="105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9975371"/>
                  </a:ext>
                </a:extLst>
              </a:tr>
              <a:tr h="2369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Action_12</a:t>
                      </a:r>
                      <a:endParaRPr lang="en-IN" sz="105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3983775"/>
                  </a:ext>
                </a:extLst>
              </a:tr>
              <a:tr h="2369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Action_13</a:t>
                      </a:r>
                      <a:endParaRPr lang="en-IN" sz="105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0594054"/>
                  </a:ext>
                </a:extLst>
              </a:tr>
              <a:tr h="2369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Action_14</a:t>
                      </a:r>
                      <a:endParaRPr lang="en-IN" sz="105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8009860"/>
                  </a:ext>
                </a:extLst>
              </a:tr>
              <a:tr h="2369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Action_15</a:t>
                      </a:r>
                      <a:endParaRPr lang="en-IN" sz="105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0.7500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 dirty="0"/>
                        <a:t>0.8571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47037345"/>
                  </a:ext>
                </a:extLst>
              </a:tr>
              <a:tr h="2369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Action_16</a:t>
                      </a:r>
                      <a:endParaRPr lang="en-IN" sz="105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781498"/>
                  </a:ext>
                </a:extLst>
              </a:tr>
              <a:tr h="2369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 dirty="0"/>
                        <a:t>Action_17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1.0000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 dirty="0"/>
                        <a:t>1.0000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93030063"/>
                  </a:ext>
                </a:extLst>
              </a:tr>
              <a:tr h="2369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 b="1" dirty="0"/>
                        <a:t>Overall 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 b="1"/>
                        <a:t>Precision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 b="1"/>
                        <a:t>Recall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 b="1" dirty="0"/>
                        <a:t>F1-Score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1962766"/>
                  </a:ext>
                </a:extLst>
              </a:tr>
              <a:tr h="2369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 dirty="0"/>
                        <a:t>Macro </a:t>
                      </a:r>
                      <a:r>
                        <a:rPr lang="en-IN" sz="1050" dirty="0" err="1"/>
                        <a:t>Avg</a:t>
                      </a:r>
                      <a:endParaRPr lang="en-IN" sz="105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0.9907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/>
                        <a:t>0.9861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 dirty="0"/>
                        <a:t>0.9870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4298948"/>
                  </a:ext>
                </a:extLst>
              </a:tr>
              <a:tr h="2369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 dirty="0"/>
                        <a:t>Weighted </a:t>
                      </a:r>
                      <a:r>
                        <a:rPr lang="en-IN" sz="1050" dirty="0" err="1"/>
                        <a:t>Avg</a:t>
                      </a:r>
                      <a:endParaRPr lang="en-IN" sz="105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50" dirty="0"/>
                        <a:t>0.9897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0.9877</a:t>
                      </a:r>
                      <a:endParaRPr lang="en-IN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0.9833</a:t>
                      </a:r>
                      <a:endParaRPr lang="en-IN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0983080"/>
                  </a:ext>
                </a:extLst>
              </a:tr>
            </a:tbl>
          </a:graphicData>
        </a:graphic>
      </p:graphicFrame>
      <p:pic>
        <p:nvPicPr>
          <p:cNvPr id="12" name="Picture 11">
            <a:extLst>
              <a:ext uri="{FF2B5EF4-FFF2-40B4-BE49-F238E27FC236}">
                <a16:creationId xmlns:a16="http://schemas.microsoft.com/office/drawing/2014/main" id="{22DDCDBE-2329-89AF-6422-51E400E2144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8168"/>
          <a:stretch>
            <a:fillRect/>
          </a:stretch>
        </p:blipFill>
        <p:spPr>
          <a:xfrm>
            <a:off x="5874601" y="1019764"/>
            <a:ext cx="6230172" cy="5427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58157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17">
            <a:extLst>
              <a:ext uri="{FF2B5EF4-FFF2-40B4-BE49-F238E27FC236}">
                <a16:creationId xmlns:a16="http://schemas.microsoft.com/office/drawing/2014/main" id="{9D921DFC-9C3F-3E3B-9AEA-AC88B21F0ED4}"/>
              </a:ext>
            </a:extLst>
          </p:cNvPr>
          <p:cNvGrpSpPr/>
          <p:nvPr/>
        </p:nvGrpSpPr>
        <p:grpSpPr>
          <a:xfrm>
            <a:off x="0" y="6537797"/>
            <a:ext cx="12192000" cy="277771"/>
            <a:chOff x="0" y="3346348"/>
            <a:chExt cx="4608195" cy="109855"/>
          </a:xfrm>
        </p:grpSpPr>
        <p:sp>
          <p:nvSpPr>
            <p:cNvPr id="3" name="object 18">
              <a:extLst>
                <a:ext uri="{FF2B5EF4-FFF2-40B4-BE49-F238E27FC236}">
                  <a16:creationId xmlns:a16="http://schemas.microsoft.com/office/drawing/2014/main" id="{A290E766-3217-F43C-2941-1A1B40AE461D}"/>
                </a:ext>
              </a:extLst>
            </p:cNvPr>
            <p:cNvSpPr/>
            <p:nvPr/>
          </p:nvSpPr>
          <p:spPr>
            <a:xfrm>
              <a:off x="0" y="3346348"/>
              <a:ext cx="1535976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 </a:t>
              </a:r>
              <a:r>
                <a:rPr lang="en-US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</a:t>
              </a:r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D Praveen Kalepu (IIITDM Kurnool)</a:t>
              </a:r>
              <a:endPara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19">
              <a:extLst>
                <a:ext uri="{FF2B5EF4-FFF2-40B4-BE49-F238E27FC236}">
                  <a16:creationId xmlns:a16="http://schemas.microsoft.com/office/drawing/2014/main" id="{321AF4D0-0439-BBBF-8A5D-4ED2FBD6ED5A}"/>
                </a:ext>
              </a:extLst>
            </p:cNvPr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object 20">
              <a:extLst>
                <a:ext uri="{FF2B5EF4-FFF2-40B4-BE49-F238E27FC236}">
                  <a16:creationId xmlns:a16="http://schemas.microsoft.com/office/drawing/2014/main" id="{7D64E5D2-CDDE-A3EB-4E90-3B95F9F3A088}"/>
                </a:ext>
              </a:extLst>
            </p:cNvPr>
            <p:cNvSpPr/>
            <p:nvPr/>
          </p:nvSpPr>
          <p:spPr>
            <a:xfrm>
              <a:off x="307213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July 2025                        20/30</a:t>
              </a:r>
              <a:endParaRPr lang="en-US" dirty="0"/>
            </a:p>
          </p:txBody>
        </p:sp>
      </p:grp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FABD49D-5098-396A-040F-C0333A5D31EB}"/>
              </a:ext>
            </a:extLst>
          </p:cNvPr>
          <p:cNvSpPr/>
          <p:nvPr/>
        </p:nvSpPr>
        <p:spPr>
          <a:xfrm>
            <a:off x="328662" y="169785"/>
            <a:ext cx="10609007" cy="758943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buNone/>
            </a:pPr>
            <a:r>
              <a:rPr lang="en-US" sz="28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Comparison </a:t>
            </a:r>
          </a:p>
        </p:txBody>
      </p:sp>
      <p:sp>
        <p:nvSpPr>
          <p:cNvPr id="6" name="object 19">
            <a:extLst>
              <a:ext uri="{FF2B5EF4-FFF2-40B4-BE49-F238E27FC236}">
                <a16:creationId xmlns:a16="http://schemas.microsoft.com/office/drawing/2014/main" id="{F3604FCB-95E6-3337-B80E-BAF4E5497D09}"/>
              </a:ext>
            </a:extLst>
          </p:cNvPr>
          <p:cNvSpPr/>
          <p:nvPr/>
        </p:nvSpPr>
        <p:spPr>
          <a:xfrm>
            <a:off x="4063765" y="6512552"/>
            <a:ext cx="4064000" cy="345448"/>
          </a:xfrm>
          <a:custGeom>
            <a:avLst/>
            <a:gdLst/>
            <a:ahLst/>
            <a:cxnLst/>
            <a:rect l="l" t="t" r="r" b="b"/>
            <a:pathLst>
              <a:path w="1536064" h="109854">
                <a:moveTo>
                  <a:pt x="1535976" y="0"/>
                </a:moveTo>
                <a:lnTo>
                  <a:pt x="0" y="0"/>
                </a:lnTo>
                <a:lnTo>
                  <a:pt x="0" y="109651"/>
                </a:lnTo>
                <a:lnTo>
                  <a:pt x="1535976" y="109651"/>
                </a:lnTo>
                <a:lnTo>
                  <a:pt x="1535976" y="0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</a:schemeClr>
          </a:solidFill>
        </p:spPr>
        <p:txBody>
          <a:bodyPr wrap="square" lIns="0" tIns="0" rIns="0" bIns="0" rtlCol="0"/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Ph.D</a:t>
            </a:r>
            <a:r>
              <a:rPr lang="en-US" sz="14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Registration seminar 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Google Shape;97;p14">
            <a:extLst>
              <a:ext uri="{FF2B5EF4-FFF2-40B4-BE49-F238E27FC236}">
                <a16:creationId xmlns:a16="http://schemas.microsoft.com/office/drawing/2014/main" id="{0F201838-F4CC-7C75-2815-8EF7F9E5D0A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13048" y="0"/>
            <a:ext cx="1178952" cy="1153972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DFE59110-FC01-4E2B-A0F1-129EA62DA47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79387353"/>
              </p:ext>
            </p:extLst>
          </p:nvPr>
        </p:nvGraphicFramePr>
        <p:xfrm>
          <a:off x="5633165" y="1153972"/>
          <a:ext cx="6428874" cy="40787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2C087B83-0F27-A501-D9B2-A4686440FF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0241537"/>
              </p:ext>
            </p:extLst>
          </p:nvPr>
        </p:nvGraphicFramePr>
        <p:xfrm>
          <a:off x="89894" y="1677261"/>
          <a:ext cx="5413310" cy="3032125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82662">
                  <a:extLst>
                    <a:ext uri="{9D8B030D-6E8A-4147-A177-3AD203B41FA5}">
                      <a16:colId xmlns:a16="http://schemas.microsoft.com/office/drawing/2014/main" val="2867144366"/>
                    </a:ext>
                  </a:extLst>
                </a:gridCol>
                <a:gridCol w="1082662">
                  <a:extLst>
                    <a:ext uri="{9D8B030D-6E8A-4147-A177-3AD203B41FA5}">
                      <a16:colId xmlns:a16="http://schemas.microsoft.com/office/drawing/2014/main" val="118019708"/>
                    </a:ext>
                  </a:extLst>
                </a:gridCol>
                <a:gridCol w="1082662">
                  <a:extLst>
                    <a:ext uri="{9D8B030D-6E8A-4147-A177-3AD203B41FA5}">
                      <a16:colId xmlns:a16="http://schemas.microsoft.com/office/drawing/2014/main" val="28157161"/>
                    </a:ext>
                  </a:extLst>
                </a:gridCol>
                <a:gridCol w="1082662">
                  <a:extLst>
                    <a:ext uri="{9D8B030D-6E8A-4147-A177-3AD203B41FA5}">
                      <a16:colId xmlns:a16="http://schemas.microsoft.com/office/drawing/2014/main" val="372070279"/>
                    </a:ext>
                  </a:extLst>
                </a:gridCol>
                <a:gridCol w="1082662">
                  <a:extLst>
                    <a:ext uri="{9D8B030D-6E8A-4147-A177-3AD203B41FA5}">
                      <a16:colId xmlns:a16="http://schemas.microsoft.com/office/drawing/2014/main" val="3514203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Activities / Models </a:t>
                      </a:r>
                      <a:endParaRPr lang="en-IN" sz="1400" b="1" i="0" u="none" strike="noStrike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LSTM</a:t>
                      </a:r>
                      <a:endParaRPr lang="en-IN" sz="1400" b="1" i="0" u="none" strike="noStrike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u="none" strike="noStrike">
                          <a:solidFill>
                            <a:schemeClr val="bg1"/>
                          </a:solidFill>
                          <a:effectLst/>
                        </a:rPr>
                        <a:t>BiLSTM</a:t>
                      </a:r>
                      <a:endParaRPr lang="en-IN" sz="1400" b="1" i="0" u="none" strike="noStrike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u="none" strike="noStrike">
                          <a:solidFill>
                            <a:schemeClr val="bg1"/>
                          </a:solidFill>
                          <a:effectLst/>
                        </a:rPr>
                        <a:t>GRS-BiLSTM</a:t>
                      </a:r>
                      <a:endParaRPr lang="en-IN" sz="1400" b="1" i="0" u="none" strike="noStrike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MS-GRS-</a:t>
                      </a:r>
                      <a:r>
                        <a:rPr lang="en-IN" sz="1400" b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BiLSTM</a:t>
                      </a:r>
                      <a:endParaRPr lang="en-IN" sz="1400" b="1" i="0" u="none" strike="noStrike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831100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Bending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0.9091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0.9800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1.0000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0.9977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632468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Jumping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0.8571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0.4900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0.7300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0.9469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68370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Running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0.7692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0.7400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0.8200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0.9467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84887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Sitting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0.4000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1.0000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0.9800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1.0000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237443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Squat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1.0000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1.0000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1.0000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0.9976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097298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Standing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0.5000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0.9200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0.9800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0.9977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85383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Walking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0.8333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0.9700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1.0000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0.9971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836921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87111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BD7D3-B9A0-0F5C-9A19-6A681C7DD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56C29-86C9-7293-F2D4-2C0BF666C5F3}"/>
              </a:ext>
            </a:extLst>
          </p:cNvPr>
          <p:cNvSpPr/>
          <p:nvPr/>
        </p:nvSpPr>
        <p:spPr>
          <a:xfrm>
            <a:off x="306967" y="173322"/>
            <a:ext cx="10144723" cy="790239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Comparison of Models Performance between Dataset </a:t>
            </a:r>
            <a:endParaRPr lang="en-IN" sz="2800" b="1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9725ED-2363-B3CB-D65D-E5516F658EFF}"/>
              </a:ext>
            </a:extLst>
          </p:cNvPr>
          <p:cNvSpPr txBox="1"/>
          <p:nvPr/>
        </p:nvSpPr>
        <p:spPr>
          <a:xfrm>
            <a:off x="306968" y="1120878"/>
            <a:ext cx="37567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800" b="0" i="0" u="none" strike="noStrike" baseline="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" name="object 17">
            <a:extLst>
              <a:ext uri="{FF2B5EF4-FFF2-40B4-BE49-F238E27FC236}">
                <a16:creationId xmlns:a16="http://schemas.microsoft.com/office/drawing/2014/main" id="{D0EF6B22-B355-B85F-A9D0-FEC737E4260F}"/>
              </a:ext>
            </a:extLst>
          </p:cNvPr>
          <p:cNvGrpSpPr/>
          <p:nvPr/>
        </p:nvGrpSpPr>
        <p:grpSpPr>
          <a:xfrm>
            <a:off x="0" y="6470121"/>
            <a:ext cx="12191765" cy="345448"/>
            <a:chOff x="0" y="3346348"/>
            <a:chExt cx="4608106" cy="109855"/>
          </a:xfrm>
        </p:grpSpPr>
        <p:sp>
          <p:nvSpPr>
            <p:cNvPr id="5" name="object 18">
              <a:extLst>
                <a:ext uri="{FF2B5EF4-FFF2-40B4-BE49-F238E27FC236}">
                  <a16:creationId xmlns:a16="http://schemas.microsoft.com/office/drawing/2014/main" id="{8EC1457E-ADA7-D4F7-A384-85DE17CB56AD}"/>
                </a:ext>
              </a:extLst>
            </p:cNvPr>
            <p:cNvSpPr/>
            <p:nvPr/>
          </p:nvSpPr>
          <p:spPr>
            <a:xfrm>
              <a:off x="0" y="3346348"/>
              <a:ext cx="1535976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 </a:t>
              </a:r>
              <a:r>
                <a:rPr lang="en-US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</a:t>
              </a:r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D Praveen Kalepu (IIITDM Kurnool)</a:t>
              </a:r>
              <a:endPara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object 19">
              <a:extLst>
                <a:ext uri="{FF2B5EF4-FFF2-40B4-BE49-F238E27FC236}">
                  <a16:creationId xmlns:a16="http://schemas.microsoft.com/office/drawing/2014/main" id="{FDF8B1E3-0446-1D3B-8B24-619C8912A193}"/>
                </a:ext>
              </a:extLst>
            </p:cNvPr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Progressive seminar </a:t>
              </a: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object 20">
              <a:extLst>
                <a:ext uri="{FF2B5EF4-FFF2-40B4-BE49-F238E27FC236}">
                  <a16:creationId xmlns:a16="http://schemas.microsoft.com/office/drawing/2014/main" id="{C5629689-BE17-F791-A41D-2E4402D290C5}"/>
                </a:ext>
              </a:extLst>
            </p:cNvPr>
            <p:cNvSpPr/>
            <p:nvPr/>
          </p:nvSpPr>
          <p:spPr>
            <a:xfrm>
              <a:off x="3072041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July 2025                        21/30</a:t>
              </a: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9" name="object 19">
            <a:extLst>
              <a:ext uri="{FF2B5EF4-FFF2-40B4-BE49-F238E27FC236}">
                <a16:creationId xmlns:a16="http://schemas.microsoft.com/office/drawing/2014/main" id="{B7BF6386-437E-690D-E239-912CB2522C23}"/>
              </a:ext>
            </a:extLst>
          </p:cNvPr>
          <p:cNvSpPr/>
          <p:nvPr/>
        </p:nvSpPr>
        <p:spPr>
          <a:xfrm>
            <a:off x="4063765" y="6512552"/>
            <a:ext cx="4064000" cy="345448"/>
          </a:xfrm>
          <a:custGeom>
            <a:avLst/>
            <a:gdLst/>
            <a:ahLst/>
            <a:cxnLst/>
            <a:rect l="l" t="t" r="r" b="b"/>
            <a:pathLst>
              <a:path w="1536064" h="109854">
                <a:moveTo>
                  <a:pt x="1535976" y="0"/>
                </a:moveTo>
                <a:lnTo>
                  <a:pt x="0" y="0"/>
                </a:lnTo>
                <a:lnTo>
                  <a:pt x="0" y="109651"/>
                </a:lnTo>
                <a:lnTo>
                  <a:pt x="1535976" y="109651"/>
                </a:lnTo>
                <a:lnTo>
                  <a:pt x="1535976" y="0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</a:schemeClr>
          </a:solidFill>
        </p:spPr>
        <p:txBody>
          <a:bodyPr wrap="square" lIns="0" tIns="0" rIns="0" bIns="0" rtlCol="0"/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Ph.D</a:t>
            </a:r>
            <a:r>
              <a:rPr lang="en-US" sz="14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Registration seminar 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Google Shape;97;p14">
            <a:extLst>
              <a:ext uri="{FF2B5EF4-FFF2-40B4-BE49-F238E27FC236}">
                <a16:creationId xmlns:a16="http://schemas.microsoft.com/office/drawing/2014/main" id="{D2AC535D-E1AB-F8E1-0456-7DF79EA2726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13048" y="0"/>
            <a:ext cx="1178952" cy="1153972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EA13F258-5B78-6D9A-012E-226739B9C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4293058"/>
              </p:ext>
            </p:extLst>
          </p:nvPr>
        </p:nvGraphicFramePr>
        <p:xfrm>
          <a:off x="497445" y="1466166"/>
          <a:ext cx="11483881" cy="1962834"/>
        </p:xfrm>
        <a:graphic>
          <a:graphicData uri="http://schemas.openxmlformats.org/drawingml/2006/table">
            <a:tbl>
              <a:tblPr>
                <a:tableStyleId>{00A15C55-8517-42AA-B614-E9B94910E393}</a:tableStyleId>
              </a:tblPr>
              <a:tblGrid>
                <a:gridCol w="1435485">
                  <a:extLst>
                    <a:ext uri="{9D8B030D-6E8A-4147-A177-3AD203B41FA5}">
                      <a16:colId xmlns:a16="http://schemas.microsoft.com/office/drawing/2014/main" val="3807800342"/>
                    </a:ext>
                  </a:extLst>
                </a:gridCol>
                <a:gridCol w="1435485">
                  <a:extLst>
                    <a:ext uri="{9D8B030D-6E8A-4147-A177-3AD203B41FA5}">
                      <a16:colId xmlns:a16="http://schemas.microsoft.com/office/drawing/2014/main" val="550465063"/>
                    </a:ext>
                  </a:extLst>
                </a:gridCol>
                <a:gridCol w="1435485">
                  <a:extLst>
                    <a:ext uri="{9D8B030D-6E8A-4147-A177-3AD203B41FA5}">
                      <a16:colId xmlns:a16="http://schemas.microsoft.com/office/drawing/2014/main" val="2859664045"/>
                    </a:ext>
                  </a:extLst>
                </a:gridCol>
                <a:gridCol w="1435485">
                  <a:extLst>
                    <a:ext uri="{9D8B030D-6E8A-4147-A177-3AD203B41FA5}">
                      <a16:colId xmlns:a16="http://schemas.microsoft.com/office/drawing/2014/main" val="848835103"/>
                    </a:ext>
                  </a:extLst>
                </a:gridCol>
                <a:gridCol w="1435485">
                  <a:extLst>
                    <a:ext uri="{9D8B030D-6E8A-4147-A177-3AD203B41FA5}">
                      <a16:colId xmlns:a16="http://schemas.microsoft.com/office/drawing/2014/main" val="2754493910"/>
                    </a:ext>
                  </a:extLst>
                </a:gridCol>
                <a:gridCol w="1435485">
                  <a:extLst>
                    <a:ext uri="{9D8B030D-6E8A-4147-A177-3AD203B41FA5}">
                      <a16:colId xmlns:a16="http://schemas.microsoft.com/office/drawing/2014/main" val="1876569640"/>
                    </a:ext>
                  </a:extLst>
                </a:gridCol>
                <a:gridCol w="1093702">
                  <a:extLst>
                    <a:ext uri="{9D8B030D-6E8A-4147-A177-3AD203B41FA5}">
                      <a16:colId xmlns:a16="http://schemas.microsoft.com/office/drawing/2014/main" val="17690054"/>
                    </a:ext>
                  </a:extLst>
                </a:gridCol>
                <a:gridCol w="1777269">
                  <a:extLst>
                    <a:ext uri="{9D8B030D-6E8A-4147-A177-3AD203B41FA5}">
                      <a16:colId xmlns:a16="http://schemas.microsoft.com/office/drawing/2014/main" val="1695417567"/>
                    </a:ext>
                  </a:extLst>
                </a:gridCol>
              </a:tblGrid>
              <a:tr h="530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/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/>
                        <a:t>Test Loss</a:t>
                      </a:r>
                      <a:endParaRPr lang="en-IN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/>
                        <a:t>Test Accuracy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/>
                        <a:t>Precision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/>
                        <a:t>Recall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/>
                        <a:t>F1-Score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/>
                        <a:t>Model Size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/>
                        <a:t>Avg Inference Time per Sample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39355786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/>
                        <a:t>LSTM</a:t>
                      </a:r>
                      <a:endParaRPr lang="en-IN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/>
                        <a:t>1.3108</a:t>
                      </a:r>
                      <a:endParaRPr lang="en-IN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/>
                        <a:t>76.19%</a:t>
                      </a:r>
                      <a:endParaRPr lang="en-IN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/>
                        <a:t>0.7568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/>
                        <a:t>0.7619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/>
                        <a:t>0.7527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0"/>
                        <a:t>1.86 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0"/>
                        <a:t>31.01 ms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2507044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/>
                        <a:t>BiLSTM</a:t>
                      </a:r>
                      <a:endParaRPr lang="en-IN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/>
                        <a:t>0.3456</a:t>
                      </a:r>
                      <a:endParaRPr lang="en-IN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/>
                        <a:t>88.10%</a:t>
                      </a:r>
                      <a:endParaRPr lang="en-IN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0.8900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0.8800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0.8700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0"/>
                        <a:t>1.43 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0"/>
                        <a:t>27.03 ms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88487179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/>
                        <a:t>GRS-BiLSTM</a:t>
                      </a:r>
                      <a:endParaRPr lang="en-IN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/>
                        <a:t>0.1671</a:t>
                      </a:r>
                      <a:endParaRPr lang="en-IN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/>
                        <a:t>93.33%</a:t>
                      </a:r>
                      <a:endParaRPr lang="en-IN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0.9400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0.9300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0.9300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0"/>
                        <a:t>22.56 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0"/>
                        <a:t>31.86 ms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77892918"/>
                  </a:ext>
                </a:extLst>
              </a:tr>
              <a:tr h="48217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/>
                        <a:t>MS-GRS-BiLSTM</a:t>
                      </a:r>
                      <a:endParaRPr lang="en-IN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/>
                        <a:t>0.0516</a:t>
                      </a:r>
                      <a:endParaRPr lang="en-IN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/>
                        <a:t>98.35%</a:t>
                      </a:r>
                      <a:endParaRPr lang="en-IN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0.9836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0.9833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0.9834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0" dirty="0"/>
                        <a:t>6.82 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0" dirty="0"/>
                        <a:t>1.857 </a:t>
                      </a:r>
                      <a:r>
                        <a:rPr lang="en-IN" sz="1400" b="0" dirty="0" err="1"/>
                        <a:t>ms</a:t>
                      </a:r>
                      <a:endParaRPr lang="en-IN" sz="14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409218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234FB94-0CED-B3FB-762C-63CA99FDF6F7}"/>
              </a:ext>
            </a:extLst>
          </p:cNvPr>
          <p:cNvSpPr txBox="1"/>
          <p:nvPr/>
        </p:nvSpPr>
        <p:spPr>
          <a:xfrm>
            <a:off x="306967" y="1050748"/>
            <a:ext cx="38074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Skeletal Joint Dataset (My Dataset) :</a:t>
            </a:r>
            <a:endParaRPr lang="en-IN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A603DC70-93E7-8AE5-B906-7F8BCB4BAA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7582527"/>
              </p:ext>
            </p:extLst>
          </p:nvPr>
        </p:nvGraphicFramePr>
        <p:xfrm>
          <a:off x="497445" y="4171092"/>
          <a:ext cx="11483880" cy="1950720"/>
        </p:xfrm>
        <a:graphic>
          <a:graphicData uri="http://schemas.openxmlformats.org/drawingml/2006/table">
            <a:tbl>
              <a:tblPr>
                <a:tableStyleId>{00A15C55-8517-42AA-B614-E9B94910E393}</a:tableStyleId>
              </a:tblPr>
              <a:tblGrid>
                <a:gridCol w="1435485">
                  <a:extLst>
                    <a:ext uri="{9D8B030D-6E8A-4147-A177-3AD203B41FA5}">
                      <a16:colId xmlns:a16="http://schemas.microsoft.com/office/drawing/2014/main" val="2800960220"/>
                    </a:ext>
                  </a:extLst>
                </a:gridCol>
                <a:gridCol w="1435485">
                  <a:extLst>
                    <a:ext uri="{9D8B030D-6E8A-4147-A177-3AD203B41FA5}">
                      <a16:colId xmlns:a16="http://schemas.microsoft.com/office/drawing/2014/main" val="3028676109"/>
                    </a:ext>
                  </a:extLst>
                </a:gridCol>
                <a:gridCol w="1435485">
                  <a:extLst>
                    <a:ext uri="{9D8B030D-6E8A-4147-A177-3AD203B41FA5}">
                      <a16:colId xmlns:a16="http://schemas.microsoft.com/office/drawing/2014/main" val="2767206013"/>
                    </a:ext>
                  </a:extLst>
                </a:gridCol>
                <a:gridCol w="1475876">
                  <a:extLst>
                    <a:ext uri="{9D8B030D-6E8A-4147-A177-3AD203B41FA5}">
                      <a16:colId xmlns:a16="http://schemas.microsoft.com/office/drawing/2014/main" val="2020800586"/>
                    </a:ext>
                  </a:extLst>
                </a:gridCol>
                <a:gridCol w="1395094">
                  <a:extLst>
                    <a:ext uri="{9D8B030D-6E8A-4147-A177-3AD203B41FA5}">
                      <a16:colId xmlns:a16="http://schemas.microsoft.com/office/drawing/2014/main" val="2914819183"/>
                    </a:ext>
                  </a:extLst>
                </a:gridCol>
                <a:gridCol w="1435485">
                  <a:extLst>
                    <a:ext uri="{9D8B030D-6E8A-4147-A177-3AD203B41FA5}">
                      <a16:colId xmlns:a16="http://schemas.microsoft.com/office/drawing/2014/main" val="2799420857"/>
                    </a:ext>
                  </a:extLst>
                </a:gridCol>
                <a:gridCol w="1163198">
                  <a:extLst>
                    <a:ext uri="{9D8B030D-6E8A-4147-A177-3AD203B41FA5}">
                      <a16:colId xmlns:a16="http://schemas.microsoft.com/office/drawing/2014/main" val="2097584480"/>
                    </a:ext>
                  </a:extLst>
                </a:gridCol>
                <a:gridCol w="1707772">
                  <a:extLst>
                    <a:ext uri="{9D8B030D-6E8A-4147-A177-3AD203B41FA5}">
                      <a16:colId xmlns:a16="http://schemas.microsoft.com/office/drawing/2014/main" val="42779789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/>
                        <a:t>Test Loss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/>
                        <a:t>Test Accuracy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Precision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Recall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F1-Score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/>
                        <a:t>Model Size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Inference Time per Sample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8012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/>
                        <a:t>LSTM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0.9281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/>
                        <a:t>77.78%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0.7792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0.7750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0.7587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0"/>
                        <a:t>0.04 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0"/>
                        <a:t>0.015 ms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8026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/>
                        <a:t>BiLSTM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0.5001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87.65%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0.8896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0.8750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0.8740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0" dirty="0"/>
                        <a:t>0.09 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0" dirty="0"/>
                        <a:t>0.077 </a:t>
                      </a:r>
                      <a:r>
                        <a:rPr lang="en-IN" b="0" dirty="0" err="1"/>
                        <a:t>ms</a:t>
                      </a:r>
                      <a:endParaRPr lang="en-IN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936238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/>
                        <a:t>GRS-BiLSTM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0.3790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/>
                        <a:t>92.59%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0.9697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0.9222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0.9240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0"/>
                        <a:t>0.29 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0"/>
                        <a:t>0.037 ms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164949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MS-GRS-</a:t>
                      </a:r>
                      <a:r>
                        <a:rPr lang="en-IN" b="1" dirty="0" err="1"/>
                        <a:t>BiLSTM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0.0573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98.77%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0.9907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0.9861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0.9870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0" dirty="0"/>
                        <a:t>3.58 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0" dirty="0"/>
                        <a:t>0.020 </a:t>
                      </a:r>
                      <a:r>
                        <a:rPr lang="en-IN" b="0" dirty="0" err="1"/>
                        <a:t>ms</a:t>
                      </a:r>
                      <a:endParaRPr lang="en-IN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46726239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3699BA6E-1C5F-A572-6570-5FE09160E3E8}"/>
              </a:ext>
            </a:extLst>
          </p:cNvPr>
          <p:cNvSpPr txBox="1"/>
          <p:nvPr/>
        </p:nvSpPr>
        <p:spPr>
          <a:xfrm>
            <a:off x="306967" y="3696905"/>
            <a:ext cx="1717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KARD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: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57400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AD4707-6CAE-A634-2F77-48529ABE0A82}"/>
              </a:ext>
            </a:extLst>
          </p:cNvPr>
          <p:cNvSpPr txBox="1"/>
          <p:nvPr/>
        </p:nvSpPr>
        <p:spPr>
          <a:xfrm>
            <a:off x="8773297" y="568411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  <p:pic>
        <p:nvPicPr>
          <p:cNvPr id="6" name="Google Shape;97;p14">
            <a:extLst>
              <a:ext uri="{FF2B5EF4-FFF2-40B4-BE49-F238E27FC236}">
                <a16:creationId xmlns:a16="http://schemas.microsoft.com/office/drawing/2014/main" id="{A7102F04-7FA6-646E-9EB5-007A88C6EDC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13048" y="0"/>
            <a:ext cx="1178952" cy="115397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3ADF678-75BE-F87C-17E9-4CC614DBC84D}"/>
              </a:ext>
            </a:extLst>
          </p:cNvPr>
          <p:cNvSpPr/>
          <p:nvPr/>
        </p:nvSpPr>
        <p:spPr>
          <a:xfrm>
            <a:off x="306967" y="173322"/>
            <a:ext cx="10144723" cy="790239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Prediction of Activity using Proposed Model</a:t>
            </a:r>
            <a:endParaRPr lang="en-IN" sz="2800" b="1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" name="object 17">
            <a:extLst>
              <a:ext uri="{FF2B5EF4-FFF2-40B4-BE49-F238E27FC236}">
                <a16:creationId xmlns:a16="http://schemas.microsoft.com/office/drawing/2014/main" id="{0E442082-A0D8-0286-34F0-62BA4C3456C1}"/>
              </a:ext>
            </a:extLst>
          </p:cNvPr>
          <p:cNvGrpSpPr/>
          <p:nvPr/>
        </p:nvGrpSpPr>
        <p:grpSpPr>
          <a:xfrm>
            <a:off x="0" y="6470121"/>
            <a:ext cx="12191765" cy="345448"/>
            <a:chOff x="0" y="3346348"/>
            <a:chExt cx="4608106" cy="109855"/>
          </a:xfrm>
        </p:grpSpPr>
        <p:sp>
          <p:nvSpPr>
            <p:cNvPr id="15" name="object 18">
              <a:extLst>
                <a:ext uri="{FF2B5EF4-FFF2-40B4-BE49-F238E27FC236}">
                  <a16:creationId xmlns:a16="http://schemas.microsoft.com/office/drawing/2014/main" id="{42ED166C-B8BA-FF2D-674B-F1953E5A0E9D}"/>
                </a:ext>
              </a:extLst>
            </p:cNvPr>
            <p:cNvSpPr/>
            <p:nvPr/>
          </p:nvSpPr>
          <p:spPr>
            <a:xfrm>
              <a:off x="0" y="3346348"/>
              <a:ext cx="1535976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 </a:t>
              </a:r>
              <a:r>
                <a:rPr lang="en-US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</a:t>
              </a:r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D Praveen Kalepu (IIITDM Kurnool)</a:t>
              </a:r>
              <a:endPara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object 19">
              <a:extLst>
                <a:ext uri="{FF2B5EF4-FFF2-40B4-BE49-F238E27FC236}">
                  <a16:creationId xmlns:a16="http://schemas.microsoft.com/office/drawing/2014/main" id="{303AC661-F3B1-1075-A2BE-58DA1902D0F8}"/>
                </a:ext>
              </a:extLst>
            </p:cNvPr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Progressive seminar </a:t>
              </a: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" name="object 20">
              <a:extLst>
                <a:ext uri="{FF2B5EF4-FFF2-40B4-BE49-F238E27FC236}">
                  <a16:creationId xmlns:a16="http://schemas.microsoft.com/office/drawing/2014/main" id="{90645FA5-905F-9CE0-181A-E838D4BBD42D}"/>
                </a:ext>
              </a:extLst>
            </p:cNvPr>
            <p:cNvSpPr/>
            <p:nvPr/>
          </p:nvSpPr>
          <p:spPr>
            <a:xfrm>
              <a:off x="3072041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July 2025                        21/30</a:t>
              </a:r>
              <a:endParaRPr dirty="0"/>
            </a:p>
          </p:txBody>
        </p:sp>
      </p:grpSp>
      <p:pic>
        <p:nvPicPr>
          <p:cNvPr id="18" name="prediction_skeleton_new">
            <a:hlinkClick r:id="" action="ppaction://media"/>
            <a:extLst>
              <a:ext uri="{FF2B5EF4-FFF2-40B4-BE49-F238E27FC236}">
                <a16:creationId xmlns:a16="http://schemas.microsoft.com/office/drawing/2014/main" id="{6063BC97-F863-D99A-72A9-FA6BDADA7BB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968310" y="1047300"/>
            <a:ext cx="6989718" cy="5242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6978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37520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6"/>
          <p:cNvSpPr txBox="1">
            <a:spLocks noGrp="1"/>
          </p:cNvSpPr>
          <p:nvPr>
            <p:ph type="body" idx="1"/>
          </p:nvPr>
        </p:nvSpPr>
        <p:spPr>
          <a:xfrm>
            <a:off x="926757" y="1070518"/>
            <a:ext cx="10120184" cy="5256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0" indent="0" algn="just"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sz="16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[1] R. Chaudhari </a:t>
            </a:r>
            <a:r>
              <a:rPr lang="en-IN" sz="1600" i="1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et al.</a:t>
            </a:r>
            <a:r>
              <a:rPr lang="en-IN" sz="16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“A parametric study and experimental investigations of microstructure and mechanical properties of multi-layered structure of metal core wire using wire arc additive manufacturing,” </a:t>
            </a:r>
            <a:r>
              <a:rPr lang="en-IN" sz="1600" i="1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J. Adv. Join. Process.</a:t>
            </a:r>
            <a:r>
              <a:rPr lang="en-IN" sz="16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vol. 8, no. October, p. 100160, 2023, </a:t>
            </a:r>
            <a:r>
              <a:rPr lang="en-IN" sz="1600" kern="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doi</a:t>
            </a:r>
            <a:r>
              <a:rPr lang="en-IN" sz="16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: 10.1016/j.jajp.2023.100160.</a:t>
            </a:r>
            <a:endParaRPr lang="en-IN" sz="1600" kern="1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 algn="just"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sz="16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[2] F. He </a:t>
            </a:r>
            <a:r>
              <a:rPr lang="en-IN" sz="1600" i="1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et al.</a:t>
            </a:r>
            <a:r>
              <a:rPr lang="en-IN" sz="16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“Research and application of artificial intelligence techniques for wire arc additive manufacturing: a state-of-the-art review,” </a:t>
            </a:r>
            <a:r>
              <a:rPr lang="en-IN" sz="1600" i="1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Robotics and Computer-Integrated Manufacturing</a:t>
            </a:r>
            <a:r>
              <a:rPr lang="en-IN" sz="16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vol. 82. Elsevier Ltd, Aug. 01, 2023. </a:t>
            </a:r>
            <a:r>
              <a:rPr lang="en-IN" sz="1600" kern="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doi</a:t>
            </a:r>
            <a:r>
              <a:rPr lang="en-IN" sz="16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: 10.1016/j.rcim.2023.102525.</a:t>
            </a:r>
            <a:endParaRPr lang="en-IN" sz="1600" kern="1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 algn="just"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sz="16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[3] T. J. Tarn, S. Ben Chen, and X. Q. Chen, “Preface,” </a:t>
            </a:r>
            <a:r>
              <a:rPr lang="en-IN" sz="1600" i="1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Adv. </a:t>
            </a:r>
            <a:r>
              <a:rPr lang="en-IN" sz="1600" i="1" kern="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Intell</a:t>
            </a:r>
            <a:r>
              <a:rPr lang="en-IN" sz="1600" i="1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 Syst. </a:t>
            </a:r>
            <a:r>
              <a:rPr lang="en-IN" sz="1600" i="1" kern="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Comput</a:t>
            </a:r>
            <a:r>
              <a:rPr lang="en-IN" sz="1600" i="1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IN" sz="16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vol. 363, no. January 2015, pp. v–vi, 2015, </a:t>
            </a:r>
            <a:r>
              <a:rPr lang="en-IN" sz="1600" kern="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doi</a:t>
            </a:r>
            <a:r>
              <a:rPr lang="en-IN" sz="16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: 10.1007/978-3-319-18997-0.</a:t>
            </a:r>
            <a:endParaRPr lang="en-IN" sz="1600" kern="1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 algn="just"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sz="16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[4]“No Title,” MX3D. [Online]. Available: https://mx3d.com/industries/oilgas/impeller/</a:t>
            </a:r>
            <a:endParaRPr lang="en-IN" sz="1600" kern="1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 algn="just"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sz="16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[5] S. W. Williams, F. Martina, A. C. Addison, J. Ding, G. </a:t>
            </a:r>
            <a:r>
              <a:rPr lang="en-IN" sz="1600" kern="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Pardal</a:t>
            </a:r>
            <a:r>
              <a:rPr lang="en-IN" sz="16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and P. Colegrove, “Wire + Arc additive manufacturing,” </a:t>
            </a:r>
            <a:r>
              <a:rPr lang="en-IN" sz="1600" i="1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Mater. Sci. Technol. (United Kingdom)</a:t>
            </a:r>
            <a:r>
              <a:rPr lang="en-IN" sz="16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vol. 32, no. 7, pp. 641–647, 2016, </a:t>
            </a:r>
            <a:r>
              <a:rPr lang="en-IN" sz="1600" kern="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doi</a:t>
            </a:r>
            <a:r>
              <a:rPr lang="en-IN" sz="16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: 10.1179/1743284715Y.0000000073.</a:t>
            </a:r>
            <a:endParaRPr lang="en-IN" sz="1600" kern="1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 algn="just"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sz="16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[6] Metal worm, “No Title.” [Online]. Available: https://www.metalworm.com/pressure-vessel-fabrication-with-waam-technology/</a:t>
            </a:r>
            <a:endParaRPr lang="en-IN" sz="1600" kern="1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 algn="just"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sz="16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[7] P. R. </a:t>
            </a:r>
            <a:r>
              <a:rPr lang="en-IN" sz="1600" kern="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Gradl</a:t>
            </a:r>
            <a:r>
              <a:rPr lang="en-IN" sz="16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IN" sz="1600" i="1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et al.</a:t>
            </a:r>
            <a:r>
              <a:rPr lang="en-IN" sz="16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“Additive manufacturing of liquid rocket engine combustion devices: A summary of process developments and hot-fire testing results,” </a:t>
            </a:r>
            <a:r>
              <a:rPr lang="en-IN" sz="1600" i="1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2018 Jt. </a:t>
            </a:r>
            <a:r>
              <a:rPr lang="en-IN" sz="1600" i="1" kern="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Propuls</a:t>
            </a:r>
            <a:r>
              <a:rPr lang="en-IN" sz="1600" i="1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 Conf.</a:t>
            </a:r>
            <a:r>
              <a:rPr lang="en-IN" sz="16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no. July 2018, 2018, </a:t>
            </a:r>
            <a:r>
              <a:rPr lang="en-IN" sz="1600" kern="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doi</a:t>
            </a:r>
            <a:r>
              <a:rPr lang="en-IN" sz="16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: 10.2514/6.2018-4625.</a:t>
            </a:r>
            <a:endParaRPr lang="en-IN" sz="1600" kern="1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lvl="0" indent="0" algn="l" rtl="0">
              <a:lnSpc>
                <a:spcPct val="107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sz="14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5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342900" lvl="0" indent="-2413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342900" lvl="0" indent="-2413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1D43055-FDFB-FDAE-908E-20BB12BD1DBD}"/>
              </a:ext>
            </a:extLst>
          </p:cNvPr>
          <p:cNvSpPr/>
          <p:nvPr/>
        </p:nvSpPr>
        <p:spPr>
          <a:xfrm>
            <a:off x="838200" y="149035"/>
            <a:ext cx="10007830" cy="758943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lang="en-IN" sz="2800" b="1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6" name="object 17">
            <a:extLst>
              <a:ext uri="{FF2B5EF4-FFF2-40B4-BE49-F238E27FC236}">
                <a16:creationId xmlns:a16="http://schemas.microsoft.com/office/drawing/2014/main" id="{30527FF0-2794-6D26-1B11-F21DD4C4D53F}"/>
              </a:ext>
            </a:extLst>
          </p:cNvPr>
          <p:cNvGrpSpPr/>
          <p:nvPr/>
        </p:nvGrpSpPr>
        <p:grpSpPr>
          <a:xfrm>
            <a:off x="0" y="6518560"/>
            <a:ext cx="12102101" cy="345448"/>
            <a:chOff x="0" y="3346348"/>
            <a:chExt cx="4608195" cy="109855"/>
          </a:xfrm>
        </p:grpSpPr>
        <p:sp>
          <p:nvSpPr>
            <p:cNvPr id="7" name="object 18">
              <a:extLst>
                <a:ext uri="{FF2B5EF4-FFF2-40B4-BE49-F238E27FC236}">
                  <a16:creationId xmlns:a16="http://schemas.microsoft.com/office/drawing/2014/main" id="{DAAB7FE3-9A07-3A26-5836-FD27A4A52F99}"/>
                </a:ext>
              </a:extLst>
            </p:cNvPr>
            <p:cNvSpPr/>
            <p:nvPr/>
          </p:nvSpPr>
          <p:spPr>
            <a:xfrm>
              <a:off x="0" y="3346348"/>
              <a:ext cx="1535976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 </a:t>
              </a:r>
              <a:r>
                <a:rPr lang="en-US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</a:t>
              </a:r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D Praveen Kalepu (IIITDM Kurnool)</a:t>
              </a:r>
              <a:endPara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object 19">
              <a:extLst>
                <a:ext uri="{FF2B5EF4-FFF2-40B4-BE49-F238E27FC236}">
                  <a16:creationId xmlns:a16="http://schemas.microsoft.com/office/drawing/2014/main" id="{0C8E22E7-755B-BE76-B391-1AA3450FBACE}"/>
                </a:ext>
              </a:extLst>
            </p:cNvPr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Progressive seminar </a:t>
              </a: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object 20">
              <a:extLst>
                <a:ext uri="{FF2B5EF4-FFF2-40B4-BE49-F238E27FC236}">
                  <a16:creationId xmlns:a16="http://schemas.microsoft.com/office/drawing/2014/main" id="{B314B183-48FF-852B-26FB-E58318B1D9C3}"/>
                </a:ext>
              </a:extLst>
            </p:cNvPr>
            <p:cNvSpPr/>
            <p:nvPr/>
          </p:nvSpPr>
          <p:spPr>
            <a:xfrm>
              <a:off x="307213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July 2025                        26/30</a:t>
              </a:r>
              <a:endParaRPr dirty="0"/>
            </a:p>
          </p:txBody>
        </p:sp>
      </p:grpSp>
      <p:sp>
        <p:nvSpPr>
          <p:cNvPr id="2" name="object 19">
            <a:extLst>
              <a:ext uri="{FF2B5EF4-FFF2-40B4-BE49-F238E27FC236}">
                <a16:creationId xmlns:a16="http://schemas.microsoft.com/office/drawing/2014/main" id="{FD5DC101-5C94-17C0-27AA-9D1E85D33351}"/>
              </a:ext>
            </a:extLst>
          </p:cNvPr>
          <p:cNvSpPr/>
          <p:nvPr/>
        </p:nvSpPr>
        <p:spPr>
          <a:xfrm>
            <a:off x="4063765" y="6512552"/>
            <a:ext cx="4064000" cy="345448"/>
          </a:xfrm>
          <a:custGeom>
            <a:avLst/>
            <a:gdLst/>
            <a:ahLst/>
            <a:cxnLst/>
            <a:rect l="l" t="t" r="r" b="b"/>
            <a:pathLst>
              <a:path w="1536064" h="109854">
                <a:moveTo>
                  <a:pt x="1535976" y="0"/>
                </a:moveTo>
                <a:lnTo>
                  <a:pt x="0" y="0"/>
                </a:lnTo>
                <a:lnTo>
                  <a:pt x="0" y="109651"/>
                </a:lnTo>
                <a:lnTo>
                  <a:pt x="1535976" y="109651"/>
                </a:lnTo>
                <a:lnTo>
                  <a:pt x="1535976" y="0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</a:schemeClr>
          </a:solidFill>
        </p:spPr>
        <p:txBody>
          <a:bodyPr wrap="square" lIns="0" tIns="0" rIns="0" bIns="0" rtlCol="0"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Ph.D</a:t>
            </a:r>
            <a:r>
              <a:rPr lang="en-U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Registration seminar </a:t>
            </a:r>
          </a:p>
        </p:txBody>
      </p:sp>
      <p:pic>
        <p:nvPicPr>
          <p:cNvPr id="3" name="Google Shape;97;p14">
            <a:extLst>
              <a:ext uri="{FF2B5EF4-FFF2-40B4-BE49-F238E27FC236}">
                <a16:creationId xmlns:a16="http://schemas.microsoft.com/office/drawing/2014/main" id="{FC674249-1290-445D-3FCC-6DE4FCAA0F5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13048" y="0"/>
            <a:ext cx="1178952" cy="11539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7"/>
          <p:cNvSpPr txBox="1">
            <a:spLocks noGrp="1"/>
          </p:cNvSpPr>
          <p:nvPr>
            <p:ph type="body" idx="1"/>
          </p:nvPr>
        </p:nvSpPr>
        <p:spPr>
          <a:xfrm>
            <a:off x="838200" y="1070518"/>
            <a:ext cx="10515600" cy="5638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07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sz="14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5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342900" lvl="0" indent="-24892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16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342900" lvl="0" indent="-24892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16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E5EBE0F-5D2C-E72C-2138-AD0354DE8BFA}"/>
              </a:ext>
            </a:extLst>
          </p:cNvPr>
          <p:cNvSpPr/>
          <p:nvPr/>
        </p:nvSpPr>
        <p:spPr>
          <a:xfrm>
            <a:off x="838200" y="149035"/>
            <a:ext cx="10007830" cy="758943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lang="en-IN" sz="2800" b="1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" name="object 17">
            <a:extLst>
              <a:ext uri="{FF2B5EF4-FFF2-40B4-BE49-F238E27FC236}">
                <a16:creationId xmlns:a16="http://schemas.microsoft.com/office/drawing/2014/main" id="{0C92B5FD-31C6-1B7B-89EF-BBEA668367EA}"/>
              </a:ext>
            </a:extLst>
          </p:cNvPr>
          <p:cNvGrpSpPr/>
          <p:nvPr/>
        </p:nvGrpSpPr>
        <p:grpSpPr>
          <a:xfrm>
            <a:off x="0" y="6518560"/>
            <a:ext cx="12102101" cy="345448"/>
            <a:chOff x="0" y="3346348"/>
            <a:chExt cx="4608195" cy="109855"/>
          </a:xfrm>
        </p:grpSpPr>
        <p:sp>
          <p:nvSpPr>
            <p:cNvPr id="6" name="object 18">
              <a:extLst>
                <a:ext uri="{FF2B5EF4-FFF2-40B4-BE49-F238E27FC236}">
                  <a16:creationId xmlns:a16="http://schemas.microsoft.com/office/drawing/2014/main" id="{CA8FD8A1-5639-5078-F4E8-73192C05FF5B}"/>
                </a:ext>
              </a:extLst>
            </p:cNvPr>
            <p:cNvSpPr/>
            <p:nvPr/>
          </p:nvSpPr>
          <p:spPr>
            <a:xfrm>
              <a:off x="0" y="3346348"/>
              <a:ext cx="1535976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 </a:t>
              </a:r>
              <a:r>
                <a:rPr lang="en-US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</a:t>
              </a:r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D Praveen Kalepu (IIITDM Kurnool)</a:t>
              </a:r>
              <a:endPara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object 19">
              <a:extLst>
                <a:ext uri="{FF2B5EF4-FFF2-40B4-BE49-F238E27FC236}">
                  <a16:creationId xmlns:a16="http://schemas.microsoft.com/office/drawing/2014/main" id="{3A2F3D55-8273-0EE9-0873-29FD488C60A3}"/>
                </a:ext>
              </a:extLst>
            </p:cNvPr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Progressive seminar </a:t>
              </a: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object 20">
              <a:extLst>
                <a:ext uri="{FF2B5EF4-FFF2-40B4-BE49-F238E27FC236}">
                  <a16:creationId xmlns:a16="http://schemas.microsoft.com/office/drawing/2014/main" id="{AF0ED075-67D8-0D9A-568B-FBF16FE8711A}"/>
                </a:ext>
              </a:extLst>
            </p:cNvPr>
            <p:cNvSpPr/>
            <p:nvPr/>
          </p:nvSpPr>
          <p:spPr>
            <a:xfrm>
              <a:off x="307213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July 2025                       27/30</a:t>
              </a:r>
              <a:endParaRPr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2D75A51C-A5BB-40F3-C159-3508CDD2452B}"/>
              </a:ext>
            </a:extLst>
          </p:cNvPr>
          <p:cNvSpPr txBox="1"/>
          <p:nvPr/>
        </p:nvSpPr>
        <p:spPr>
          <a:xfrm>
            <a:off x="838200" y="1014913"/>
            <a:ext cx="10515600" cy="5145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06400" indent="-406400">
              <a:lnSpc>
                <a:spcPct val="107000"/>
              </a:lnSpc>
              <a:spcAft>
                <a:spcPts val="800"/>
              </a:spcAft>
            </a:pPr>
            <a:r>
              <a:rPr lang="en-IN" sz="15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[8]   C. Greer </a:t>
            </a:r>
            <a:r>
              <a:rPr lang="en-IN" sz="1500" i="1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et al.</a:t>
            </a:r>
            <a:r>
              <a:rPr lang="en-IN" sz="15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“Introduction to the design rules for Metal Big Area Additive Manufacturing,” </a:t>
            </a:r>
            <a:r>
              <a:rPr lang="en-IN" sz="1500" i="1" kern="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Addit</a:t>
            </a:r>
            <a:r>
              <a:rPr lang="en-IN" sz="1500" i="1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 Manuf.</a:t>
            </a:r>
            <a:r>
              <a:rPr lang="en-IN" sz="15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vol. 27, no. November 2018, pp. 159–166, 2019, </a:t>
            </a:r>
            <a:r>
              <a:rPr lang="en-IN" sz="1500" kern="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doi</a:t>
            </a:r>
            <a:r>
              <a:rPr lang="en-IN" sz="15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: 10.1016/j.addma.2019.02.016.</a:t>
            </a:r>
            <a:endParaRPr lang="en-IN" sz="1500" kern="1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06400" indent="-406400">
              <a:lnSpc>
                <a:spcPct val="107000"/>
              </a:lnSpc>
              <a:spcAft>
                <a:spcPts val="800"/>
              </a:spcAft>
            </a:pPr>
            <a:r>
              <a:rPr lang="en-IN" sz="15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[9]	J. H. Lee, C. M. Lee, and D. H. Kim, “Repair of damaged parts using wire arc additive manufacturing in machine tools,” </a:t>
            </a:r>
            <a:r>
              <a:rPr lang="en-IN" sz="1500" i="1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J. Mater. Res. Technol.</a:t>
            </a:r>
            <a:r>
              <a:rPr lang="en-IN" sz="15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vol. 16, pp. 13–24, 2022, </a:t>
            </a:r>
            <a:r>
              <a:rPr lang="en-IN" sz="1500" kern="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doi</a:t>
            </a:r>
            <a:r>
              <a:rPr lang="en-IN" sz="15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: 10.1016/j.jmrt.2021.11.156.</a:t>
            </a:r>
            <a:endParaRPr lang="en-IN" sz="1500" kern="1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06400" indent="-406400">
              <a:lnSpc>
                <a:spcPct val="107000"/>
              </a:lnSpc>
              <a:spcAft>
                <a:spcPts val="800"/>
              </a:spcAft>
            </a:pPr>
            <a:r>
              <a:rPr lang="en-IN" sz="15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[10]	J. Zhang, Q. Wang, G. Xiao, and J. Zhou, “Filling Path Planning and Polygon Operations for Wire Arc Additive Manufacturing Process,” </a:t>
            </a:r>
            <a:r>
              <a:rPr lang="en-IN" sz="1500" i="1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Math. </a:t>
            </a:r>
            <a:r>
              <a:rPr lang="en-IN" sz="1500" i="1" kern="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Probl</a:t>
            </a:r>
            <a:r>
              <a:rPr lang="en-IN" sz="1500" i="1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 Eng.</a:t>
            </a:r>
            <a:r>
              <a:rPr lang="en-IN" sz="15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vol. 2021, 2021, </a:t>
            </a:r>
            <a:r>
              <a:rPr lang="en-IN" sz="1500" kern="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doi</a:t>
            </a:r>
            <a:r>
              <a:rPr lang="en-IN" sz="15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: 10.1155/2021/6683319.</a:t>
            </a:r>
            <a:endParaRPr lang="en-IN" sz="1500" kern="1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06400" indent="-406400">
              <a:lnSpc>
                <a:spcPct val="107000"/>
              </a:lnSpc>
              <a:spcAft>
                <a:spcPts val="800"/>
              </a:spcAft>
            </a:pPr>
            <a:r>
              <a:rPr lang="en-IN" sz="15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[11]	Y. Zhong, Z. Zheng, J. Li, and C. Wang, “Fabrication of 316L nuclear nozzles on the main pipeline with large curvature by CMT wire arc additive manufacturing and self-developed slicing algorithm,” </a:t>
            </a:r>
            <a:r>
              <a:rPr lang="en-IN" sz="1500" i="1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Mater. Sci. Eng. A</a:t>
            </a:r>
            <a:r>
              <a:rPr lang="en-IN" sz="15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vol. 820, no. March, p. 141539, 2021, </a:t>
            </a:r>
            <a:r>
              <a:rPr lang="en-IN" sz="1500" kern="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doi</a:t>
            </a:r>
            <a:r>
              <a:rPr lang="en-IN" sz="15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: 10.1016/j.msea.2021.141539.</a:t>
            </a:r>
            <a:endParaRPr lang="en-IN" sz="1500" kern="1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06400" indent="-406400">
              <a:lnSpc>
                <a:spcPct val="107000"/>
              </a:lnSpc>
              <a:spcAft>
                <a:spcPts val="800"/>
              </a:spcAft>
            </a:pPr>
            <a:r>
              <a:rPr lang="en-IN" sz="15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[12]	Y. Shen, Y. Wei, and R. Liu, “A path generation method for wire and arc additive remanufacturing of complex hot forging dies,” </a:t>
            </a:r>
            <a:r>
              <a:rPr lang="en-IN" sz="1500" i="1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Int. J. Adv. Manuf. Technol.</a:t>
            </a:r>
            <a:r>
              <a:rPr lang="en-IN" sz="15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vol. 117, no. 5–6, pp. 1935–1943, 2021, </a:t>
            </a:r>
            <a:r>
              <a:rPr lang="en-IN" sz="1500" kern="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doi</a:t>
            </a:r>
            <a:r>
              <a:rPr lang="en-IN" sz="15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: 10.1007/s00170-021-07813-w.</a:t>
            </a:r>
            <a:endParaRPr lang="en-IN" sz="1500" kern="1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06400" indent="-406400">
              <a:lnSpc>
                <a:spcPct val="107000"/>
              </a:lnSpc>
              <a:spcAft>
                <a:spcPts val="800"/>
              </a:spcAft>
            </a:pPr>
            <a:r>
              <a:rPr lang="en-IN" sz="15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[13]	O. Yilmaz, N. </a:t>
            </a:r>
            <a:r>
              <a:rPr lang="en-IN" sz="1500" kern="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Gindy</a:t>
            </a:r>
            <a:r>
              <a:rPr lang="en-IN" sz="15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and J. Gao, “A repair and overhaul methodology for aeroengine components,” </a:t>
            </a:r>
            <a:r>
              <a:rPr lang="en-IN" sz="1500" i="1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Robot. </a:t>
            </a:r>
            <a:r>
              <a:rPr lang="en-IN" sz="1500" i="1" kern="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Comput</a:t>
            </a:r>
            <a:r>
              <a:rPr lang="en-IN" sz="1500" i="1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 </a:t>
            </a:r>
            <a:r>
              <a:rPr lang="en-IN" sz="1500" i="1" kern="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Integr</a:t>
            </a:r>
            <a:r>
              <a:rPr lang="en-IN" sz="1500" i="1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 Manuf.</a:t>
            </a:r>
            <a:r>
              <a:rPr lang="en-IN" sz="15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vol. 26, no. 2, pp. 190–201, 2010, </a:t>
            </a:r>
            <a:r>
              <a:rPr lang="en-IN" sz="1500" kern="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doi</a:t>
            </a:r>
            <a:r>
              <a:rPr lang="en-IN" sz="15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: 10.1016/j.rcim.2009.07.001.</a:t>
            </a:r>
            <a:endParaRPr lang="en-IN" sz="1500" kern="1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06400" indent="-406400">
              <a:lnSpc>
                <a:spcPct val="107000"/>
              </a:lnSpc>
              <a:spcAft>
                <a:spcPts val="800"/>
              </a:spcAft>
            </a:pPr>
            <a:r>
              <a:rPr lang="en-IN" sz="15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[14]	Fronius, “No Title.” [Online]. Available: https://www.fronius.com/en-in/india/welding-technology/info-centre/magazine/2019/waam</a:t>
            </a:r>
            <a:endParaRPr lang="en-IN" sz="1500" kern="1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06400" indent="-406400">
              <a:lnSpc>
                <a:spcPct val="107000"/>
              </a:lnSpc>
              <a:spcAft>
                <a:spcPts val="800"/>
              </a:spcAft>
            </a:pPr>
            <a:r>
              <a:rPr lang="en-IN" sz="15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[15]	</a:t>
            </a:r>
            <a:r>
              <a:rPr lang="en-IN" sz="1500" kern="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Ramlab</a:t>
            </a:r>
            <a:r>
              <a:rPr lang="en-IN" sz="15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“No Title.” [Online]. Available: https://www.ramlab.com/resources/ramlab-unveils-worlds-first-class-approved-3d-printed-ships-propeller/</a:t>
            </a:r>
            <a:endParaRPr lang="en-IN" sz="1500" kern="1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object 19">
            <a:extLst>
              <a:ext uri="{FF2B5EF4-FFF2-40B4-BE49-F238E27FC236}">
                <a16:creationId xmlns:a16="http://schemas.microsoft.com/office/drawing/2014/main" id="{D362E059-7615-FD2C-39F1-7BF7E800640F}"/>
              </a:ext>
            </a:extLst>
          </p:cNvPr>
          <p:cNvSpPr/>
          <p:nvPr/>
        </p:nvSpPr>
        <p:spPr>
          <a:xfrm>
            <a:off x="4063765" y="6512552"/>
            <a:ext cx="4064000" cy="345448"/>
          </a:xfrm>
          <a:custGeom>
            <a:avLst/>
            <a:gdLst/>
            <a:ahLst/>
            <a:cxnLst/>
            <a:rect l="l" t="t" r="r" b="b"/>
            <a:pathLst>
              <a:path w="1536064" h="109854">
                <a:moveTo>
                  <a:pt x="1535976" y="0"/>
                </a:moveTo>
                <a:lnTo>
                  <a:pt x="0" y="0"/>
                </a:lnTo>
                <a:lnTo>
                  <a:pt x="0" y="109651"/>
                </a:lnTo>
                <a:lnTo>
                  <a:pt x="1535976" y="109651"/>
                </a:lnTo>
                <a:lnTo>
                  <a:pt x="1535976" y="0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</a:schemeClr>
          </a:solidFill>
        </p:spPr>
        <p:txBody>
          <a:bodyPr wrap="square" lIns="0" tIns="0" rIns="0" bIns="0" rtlCol="0"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Ph.D</a:t>
            </a:r>
            <a:r>
              <a:rPr lang="en-U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Registration seminar </a:t>
            </a:r>
          </a:p>
        </p:txBody>
      </p:sp>
      <p:pic>
        <p:nvPicPr>
          <p:cNvPr id="9" name="Google Shape;97;p14">
            <a:extLst>
              <a:ext uri="{FF2B5EF4-FFF2-40B4-BE49-F238E27FC236}">
                <a16:creationId xmlns:a16="http://schemas.microsoft.com/office/drawing/2014/main" id="{8E5F4357-2B7C-4446-2AD9-63C6C1520DB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13048" y="0"/>
            <a:ext cx="1178952" cy="11539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3">
          <a:extLst>
            <a:ext uri="{FF2B5EF4-FFF2-40B4-BE49-F238E27FC236}">
              <a16:creationId xmlns:a16="http://schemas.microsoft.com/office/drawing/2014/main" id="{609DAD76-3DC3-8DD1-A800-56CD865A9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9">
            <a:extLst>
              <a:ext uri="{FF2B5EF4-FFF2-40B4-BE49-F238E27FC236}">
                <a16:creationId xmlns:a16="http://schemas.microsoft.com/office/drawing/2014/main" id="{4D465C3C-6EFC-022F-F708-E501D5594A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78976" y="2847321"/>
            <a:ext cx="7492109" cy="14976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B0F0"/>
              </a:buClr>
              <a:buSzPct val="100000"/>
              <a:buFont typeface="Arial Black"/>
              <a:buNone/>
            </a:pPr>
            <a:r>
              <a:rPr lang="en-IN" sz="7200" b="1" dirty="0">
                <a:solidFill>
                  <a:srgbClr val="3333FF"/>
                </a:solidFill>
                <a:latin typeface="Times New Roman" panose="02020603050405020304" pitchFamily="18" charset="0"/>
                <a:ea typeface="Arial Black"/>
                <a:cs typeface="Times New Roman" panose="02020603050405020304" pitchFamily="18" charset="0"/>
                <a:sym typeface="Arial Black"/>
              </a:rPr>
              <a:t>THANK YOU </a:t>
            </a:r>
            <a:endParaRPr sz="7200" dirty="0">
              <a:solidFill>
                <a:srgbClr val="3333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Google Shape;97;p14">
            <a:extLst>
              <a:ext uri="{FF2B5EF4-FFF2-40B4-BE49-F238E27FC236}">
                <a16:creationId xmlns:a16="http://schemas.microsoft.com/office/drawing/2014/main" id="{A3951444-4617-0ACC-7DBB-14228F849F1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13048" y="0"/>
            <a:ext cx="1178952" cy="115397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056885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TM10001115[[fn=Parcel]]</Template>
  <TotalTime>5034</TotalTime>
  <Words>3850</Words>
  <Application>Microsoft Office PowerPoint</Application>
  <PresentationFormat>Widescreen</PresentationFormat>
  <Paragraphs>666</Paragraphs>
  <Slides>29</Slides>
  <Notes>22</Notes>
  <HiddenSlides>0</HiddenSlides>
  <MMClips>1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8" baseType="lpstr">
      <vt:lpstr>Courier New</vt:lpstr>
      <vt:lpstr>Times New Roman</vt:lpstr>
      <vt:lpstr>Wingdings</vt:lpstr>
      <vt:lpstr>Calibri</vt:lpstr>
      <vt:lpstr>Noto Sans Symbols</vt:lpstr>
      <vt:lpstr>Arial</vt:lpstr>
      <vt:lpstr>Cambria Math</vt:lpstr>
      <vt:lpstr>Arial Black</vt:lpstr>
      <vt:lpstr>Office Theme</vt:lpstr>
      <vt:lpstr>        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Learning based Robotic Wire Arc Additive Manufacturing of Nickel based Alloy  Mr. V V D Praveen Kalepu Research Scholar    Under the supervision of</dc:title>
  <dc:creator>IIITM KURNOOL</dc:creator>
  <cp:lastModifiedBy>HP</cp:lastModifiedBy>
  <cp:revision>358</cp:revision>
  <dcterms:modified xsi:type="dcterms:W3CDTF">2025-11-11T16:04:01Z</dcterms:modified>
</cp:coreProperties>
</file>