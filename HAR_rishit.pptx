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6"/>
  </p:notesMasterIdLst>
  <p:handoutMasterIdLst>
    <p:handoutMasterId r:id="rId37"/>
  </p:handoutMasterIdLst>
  <p:sldIdLst>
    <p:sldId id="256" r:id="rId2"/>
    <p:sldId id="257" r:id="rId3"/>
    <p:sldId id="284" r:id="rId4"/>
    <p:sldId id="334" r:id="rId5"/>
    <p:sldId id="335" r:id="rId6"/>
    <p:sldId id="286" r:id="rId7"/>
    <p:sldId id="305" r:id="rId8"/>
    <p:sldId id="326" r:id="rId9"/>
    <p:sldId id="327" r:id="rId10"/>
    <p:sldId id="331" r:id="rId11"/>
    <p:sldId id="332" r:id="rId12"/>
    <p:sldId id="310" r:id="rId13"/>
    <p:sldId id="312" r:id="rId14"/>
    <p:sldId id="290" r:id="rId15"/>
    <p:sldId id="336" r:id="rId16"/>
    <p:sldId id="291" r:id="rId17"/>
    <p:sldId id="299" r:id="rId18"/>
    <p:sldId id="311" r:id="rId19"/>
    <p:sldId id="318" r:id="rId20"/>
    <p:sldId id="278" r:id="rId21"/>
    <p:sldId id="333" r:id="rId22"/>
    <p:sldId id="317" r:id="rId23"/>
    <p:sldId id="330" r:id="rId24"/>
    <p:sldId id="301" r:id="rId25"/>
    <p:sldId id="321" r:id="rId26"/>
    <p:sldId id="322" r:id="rId27"/>
    <p:sldId id="320" r:id="rId28"/>
    <p:sldId id="319" r:id="rId29"/>
    <p:sldId id="313" r:id="rId30"/>
    <p:sldId id="294" r:id="rId31"/>
    <p:sldId id="295" r:id="rId32"/>
    <p:sldId id="296" r:id="rId33"/>
    <p:sldId id="329" r:id="rId34"/>
    <p:sldId id="315" r:id="rId35"/>
  </p:sldIdLst>
  <p:sldSz cx="12192000" cy="6858000"/>
  <p:notesSz cx="6858000" cy="9144000"/>
  <p:embeddedFontLst>
    <p:embeddedFont>
      <p:font typeface="Arial Black" panose="020B0A04020102020204" pitchFamily="34" charset="0"/>
      <p:regular r:id="rId38"/>
      <p:bold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0000FF"/>
    <a:srgbClr val="FA3D0A"/>
    <a:srgbClr val="CC0000"/>
    <a:srgbClr val="1552DB"/>
    <a:srgbClr val="FF6600"/>
    <a:srgbClr val="3333FF"/>
    <a:srgbClr val="00FF00"/>
    <a:srgbClr val="FFFF99"/>
    <a:srgbClr val="3DF55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129BD1-FC92-40F7-9949-7B2696B6D511}">
  <a:tblStyle styleId="{FF129BD1-FC92-40F7-9949-7B2696B6D51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6548CB8-554B-47B1-B464-9B95B1BBCFA0}"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2" autoAdjust="0"/>
    <p:restoredTop sz="94660"/>
  </p:normalViewPr>
  <p:slideViewPr>
    <p:cSldViewPr snapToGrid="0">
      <p:cViewPr>
        <p:scale>
          <a:sx n="77" d="100"/>
          <a:sy n="77" d="100"/>
        </p:scale>
        <p:origin x="84" y="6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veen K" userId="c82aea2e5423fcf6" providerId="LiveId" clId="{95EEA42B-6BC1-48B9-A686-38EA1E396BB3}"/>
    <pc:docChg chg="undo custSel addSld modSld sldOrd">
      <pc:chgData name="Praveen K" userId="c82aea2e5423fcf6" providerId="LiveId" clId="{95EEA42B-6BC1-48B9-A686-38EA1E396BB3}" dt="2025-07-13T07:43:30.190" v="167" actId="478"/>
      <pc:docMkLst>
        <pc:docMk/>
      </pc:docMkLst>
      <pc:sldChg chg="addSp delSp modSp mod ord">
        <pc:chgData name="Praveen K" userId="c82aea2e5423fcf6" providerId="LiveId" clId="{95EEA42B-6BC1-48B9-A686-38EA1E396BB3}" dt="2025-07-13T06:48:00.759" v="53" actId="1076"/>
        <pc:sldMkLst>
          <pc:docMk/>
          <pc:sldMk cId="1160658422" sldId="278"/>
        </pc:sldMkLst>
        <pc:spChg chg="mod">
          <ac:chgData name="Praveen K" userId="c82aea2e5423fcf6" providerId="LiveId" clId="{95EEA42B-6BC1-48B9-A686-38EA1E396BB3}" dt="2025-07-13T06:47:55.239" v="52" actId="1076"/>
          <ac:spMkLst>
            <pc:docMk/>
            <pc:sldMk cId="1160658422" sldId="278"/>
            <ac:spMk id="10" creationId="{0F834F8E-C008-BBE8-AA05-B1AB9AA42869}"/>
          </ac:spMkLst>
        </pc:spChg>
        <pc:spChg chg="del mod">
          <ac:chgData name="Praveen K" userId="c82aea2e5423fcf6" providerId="LiveId" clId="{95EEA42B-6BC1-48B9-A686-38EA1E396BB3}" dt="2025-07-13T06:44:56.243" v="42" actId="478"/>
          <ac:spMkLst>
            <pc:docMk/>
            <pc:sldMk cId="1160658422" sldId="278"/>
            <ac:spMk id="12" creationId="{D87A59D2-8DAA-73DD-2BA5-EF1E5BEA12B4}"/>
          </ac:spMkLst>
        </pc:spChg>
        <pc:spChg chg="del mod">
          <ac:chgData name="Praveen K" userId="c82aea2e5423fcf6" providerId="LiveId" clId="{95EEA42B-6BC1-48B9-A686-38EA1E396BB3}" dt="2025-07-13T06:44:55.126" v="41" actId="478"/>
          <ac:spMkLst>
            <pc:docMk/>
            <pc:sldMk cId="1160658422" sldId="278"/>
            <ac:spMk id="13" creationId="{457CCA23-41E5-1A82-7D7E-0703A52010C2}"/>
          </ac:spMkLst>
        </pc:spChg>
        <pc:spChg chg="del">
          <ac:chgData name="Praveen K" userId="c82aea2e5423fcf6" providerId="LiveId" clId="{95EEA42B-6BC1-48B9-A686-38EA1E396BB3}" dt="2025-07-13T06:47:44.157" v="47" actId="478"/>
          <ac:spMkLst>
            <pc:docMk/>
            <pc:sldMk cId="1160658422" sldId="278"/>
            <ac:spMk id="14" creationId="{9C0717F9-D8FA-852D-3E32-3AC46DA3D5CF}"/>
          </ac:spMkLst>
        </pc:spChg>
        <pc:spChg chg="mod">
          <ac:chgData name="Praveen K" userId="c82aea2e5423fcf6" providerId="LiveId" clId="{95EEA42B-6BC1-48B9-A686-38EA1E396BB3}" dt="2025-07-13T06:48:00.759" v="53" actId="1076"/>
          <ac:spMkLst>
            <pc:docMk/>
            <pc:sldMk cId="1160658422" sldId="278"/>
            <ac:spMk id="19" creationId="{C8CB01CD-21A8-CD3D-20BE-489208119169}"/>
          </ac:spMkLst>
        </pc:spChg>
        <pc:picChg chg="del mod">
          <ac:chgData name="Praveen K" userId="c82aea2e5423fcf6" providerId="LiveId" clId="{95EEA42B-6BC1-48B9-A686-38EA1E396BB3}" dt="2025-07-13T06:44:05.764" v="8" actId="478"/>
          <ac:picMkLst>
            <pc:docMk/>
            <pc:sldMk cId="1160658422" sldId="278"/>
            <ac:picMk id="3" creationId="{7C3C4ED8-84FB-2D06-7953-77C9009CD680}"/>
          </ac:picMkLst>
        </pc:picChg>
        <pc:picChg chg="mod">
          <ac:chgData name="Praveen K" userId="c82aea2e5423fcf6" providerId="LiveId" clId="{95EEA42B-6BC1-48B9-A686-38EA1E396BB3}" dt="2025-07-13T06:45:07.388" v="44" actId="14100"/>
          <ac:picMkLst>
            <pc:docMk/>
            <pc:sldMk cId="1160658422" sldId="278"/>
            <ac:picMk id="5" creationId="{94252598-E9E4-DD4C-1736-7CA5BEB5E57F}"/>
          </ac:picMkLst>
        </pc:picChg>
        <pc:picChg chg="del">
          <ac:chgData name="Praveen K" userId="c82aea2e5423fcf6" providerId="LiveId" clId="{95EEA42B-6BC1-48B9-A686-38EA1E396BB3}" dt="2025-07-13T06:47:42.009" v="46" actId="478"/>
          <ac:picMkLst>
            <pc:docMk/>
            <pc:sldMk cId="1160658422" sldId="278"/>
            <ac:picMk id="7" creationId="{1CF4768E-F9B8-AB6A-FC17-E3E25E95BB39}"/>
          </ac:picMkLst>
        </pc:picChg>
        <pc:picChg chg="add mod">
          <ac:chgData name="Praveen K" userId="c82aea2e5423fcf6" providerId="LiveId" clId="{95EEA42B-6BC1-48B9-A686-38EA1E396BB3}" dt="2025-07-13T06:44:50.925" v="40" actId="14100"/>
          <ac:picMkLst>
            <pc:docMk/>
            <pc:sldMk cId="1160658422" sldId="278"/>
            <ac:picMk id="16" creationId="{0F51AA4A-820A-C53E-36D8-EF20002FF147}"/>
          </ac:picMkLst>
        </pc:picChg>
        <pc:picChg chg="add mod">
          <ac:chgData name="Praveen K" userId="c82aea2e5423fcf6" providerId="LiveId" clId="{95EEA42B-6BC1-48B9-A686-38EA1E396BB3}" dt="2025-07-13T06:47:51.235" v="51" actId="1076"/>
          <ac:picMkLst>
            <pc:docMk/>
            <pc:sldMk cId="1160658422" sldId="278"/>
            <ac:picMk id="18" creationId="{54C6711E-6C02-3E1B-78BD-BAA9EF686049}"/>
          </ac:picMkLst>
        </pc:picChg>
      </pc:sldChg>
      <pc:sldChg chg="modSp mod">
        <pc:chgData name="Praveen K" userId="c82aea2e5423fcf6" providerId="LiveId" clId="{95EEA42B-6BC1-48B9-A686-38EA1E396BB3}" dt="2025-07-13T06:38:12.828" v="3" actId="20577"/>
        <pc:sldMkLst>
          <pc:docMk/>
          <pc:sldMk cId="1538997592" sldId="290"/>
        </pc:sldMkLst>
        <pc:spChg chg="mod">
          <ac:chgData name="Praveen K" userId="c82aea2e5423fcf6" providerId="LiveId" clId="{95EEA42B-6BC1-48B9-A686-38EA1E396BB3}" dt="2025-07-13T06:38:12.828" v="3" actId="20577"/>
          <ac:spMkLst>
            <pc:docMk/>
            <pc:sldMk cId="1538997592" sldId="290"/>
            <ac:spMk id="8" creationId="{68B470CE-78F6-CA8C-A694-B0BEE64081E7}"/>
          </ac:spMkLst>
        </pc:spChg>
      </pc:sldChg>
      <pc:sldChg chg="delSp mod">
        <pc:chgData name="Praveen K" userId="c82aea2e5423fcf6" providerId="LiveId" clId="{95EEA42B-6BC1-48B9-A686-38EA1E396BB3}" dt="2025-07-13T06:52:27.865" v="65" actId="478"/>
        <pc:sldMkLst>
          <pc:docMk/>
          <pc:sldMk cId="3427646999" sldId="291"/>
        </pc:sldMkLst>
        <pc:picChg chg="del">
          <ac:chgData name="Praveen K" userId="c82aea2e5423fcf6" providerId="LiveId" clId="{95EEA42B-6BC1-48B9-A686-38EA1E396BB3}" dt="2025-07-13T06:52:27.865" v="65" actId="478"/>
          <ac:picMkLst>
            <pc:docMk/>
            <pc:sldMk cId="3427646999" sldId="291"/>
            <ac:picMk id="11" creationId="{86F501B8-BAFE-C61C-55A0-B764AAD0D38E}"/>
          </ac:picMkLst>
        </pc:picChg>
      </pc:sldChg>
      <pc:sldChg chg="modSp mod ord">
        <pc:chgData name="Praveen K" userId="c82aea2e5423fcf6" providerId="LiveId" clId="{95EEA42B-6BC1-48B9-A686-38EA1E396BB3}" dt="2025-07-13T06:52:12.377" v="64"/>
        <pc:sldMkLst>
          <pc:docMk/>
          <pc:sldMk cId="3342246145" sldId="298"/>
        </pc:sldMkLst>
        <pc:graphicFrameChg chg="mod modGraphic">
          <ac:chgData name="Praveen K" userId="c82aea2e5423fcf6" providerId="LiveId" clId="{95EEA42B-6BC1-48B9-A686-38EA1E396BB3}" dt="2025-07-13T06:51:09.490" v="62" actId="122"/>
          <ac:graphicFrameMkLst>
            <pc:docMk/>
            <pc:sldMk cId="3342246145" sldId="298"/>
            <ac:graphicFrameMk id="12" creationId="{6C0C1FFE-37D8-2E7F-7FBA-D60F6A966B58}"/>
          </ac:graphicFrameMkLst>
        </pc:graphicFrameChg>
      </pc:sldChg>
      <pc:sldChg chg="modSp">
        <pc:chgData name="Praveen K" userId="c82aea2e5423fcf6" providerId="LiveId" clId="{95EEA42B-6BC1-48B9-A686-38EA1E396BB3}" dt="2025-07-13T06:49:02.633" v="54"/>
        <pc:sldMkLst>
          <pc:docMk/>
          <pc:sldMk cId="2618844330" sldId="299"/>
        </pc:sldMkLst>
        <pc:graphicFrameChg chg="mod">
          <ac:chgData name="Praveen K" userId="c82aea2e5423fcf6" providerId="LiveId" clId="{95EEA42B-6BC1-48B9-A686-38EA1E396BB3}" dt="2025-07-13T06:49:02.633" v="54"/>
          <ac:graphicFrameMkLst>
            <pc:docMk/>
            <pc:sldMk cId="2618844330" sldId="299"/>
            <ac:graphicFrameMk id="16" creationId="{ACFA7B29-4BC9-8B4B-E439-CE727E228226}"/>
          </ac:graphicFrameMkLst>
        </pc:graphicFrameChg>
      </pc:sldChg>
      <pc:sldChg chg="addSp modSp mod">
        <pc:chgData name="Praveen K" userId="c82aea2e5423fcf6" providerId="LiveId" clId="{95EEA42B-6BC1-48B9-A686-38EA1E396BB3}" dt="2025-07-13T06:54:22.448" v="78" actId="14100"/>
        <pc:sldMkLst>
          <pc:docMk/>
          <pc:sldMk cId="269477701" sldId="311"/>
        </pc:sldMkLst>
        <pc:spChg chg="add mod">
          <ac:chgData name="Praveen K" userId="c82aea2e5423fcf6" providerId="LiveId" clId="{95EEA42B-6BC1-48B9-A686-38EA1E396BB3}" dt="2025-07-13T06:54:08.586" v="74" actId="14100"/>
          <ac:spMkLst>
            <pc:docMk/>
            <pc:sldMk cId="269477701" sldId="311"/>
            <ac:spMk id="13" creationId="{57CE106E-DD0A-7E36-932C-1A75F49F1F33}"/>
          </ac:spMkLst>
        </pc:spChg>
        <pc:picChg chg="add mod">
          <ac:chgData name="Praveen K" userId="c82aea2e5423fcf6" providerId="LiveId" clId="{95EEA42B-6BC1-48B9-A686-38EA1E396BB3}" dt="2025-07-13T06:54:15.955" v="75" actId="14100"/>
          <ac:picMkLst>
            <pc:docMk/>
            <pc:sldMk cId="269477701" sldId="311"/>
            <ac:picMk id="10" creationId="{5772E801-11B1-4AD9-30C8-F6A8AD1F8B91}"/>
          </ac:picMkLst>
        </pc:picChg>
        <pc:picChg chg="add mod">
          <ac:chgData name="Praveen K" userId="c82aea2e5423fcf6" providerId="LiveId" clId="{95EEA42B-6BC1-48B9-A686-38EA1E396BB3}" dt="2025-07-13T06:54:22.448" v="78" actId="14100"/>
          <ac:picMkLst>
            <pc:docMk/>
            <pc:sldMk cId="269477701" sldId="311"/>
            <ac:picMk id="11" creationId="{20AF9E4E-30DA-7D20-181D-C739E44F136A}"/>
          </ac:picMkLst>
        </pc:picChg>
      </pc:sldChg>
      <pc:sldChg chg="addSp modSp mod ord">
        <pc:chgData name="Praveen K" userId="c82aea2e5423fcf6" providerId="LiveId" clId="{95EEA42B-6BC1-48B9-A686-38EA1E396BB3}" dt="2025-07-13T07:12:31.146" v="123"/>
        <pc:sldMkLst>
          <pc:docMk/>
          <pc:sldMk cId="4007068481" sldId="312"/>
        </pc:sldMkLst>
        <pc:graphicFrameChg chg="add mod">
          <ac:chgData name="Praveen K" userId="c82aea2e5423fcf6" providerId="LiveId" clId="{95EEA42B-6BC1-48B9-A686-38EA1E396BB3}" dt="2025-07-13T06:55:25.501" v="83" actId="1076"/>
          <ac:graphicFrameMkLst>
            <pc:docMk/>
            <pc:sldMk cId="4007068481" sldId="312"/>
            <ac:graphicFrameMk id="10" creationId="{AB2AD162-0A21-C666-7F87-1EFFE890F554}"/>
          </ac:graphicFrameMkLst>
        </pc:graphicFrameChg>
        <pc:graphicFrameChg chg="add mod modGraphic">
          <ac:chgData name="Praveen K" userId="c82aea2e5423fcf6" providerId="LiveId" clId="{95EEA42B-6BC1-48B9-A686-38EA1E396BB3}" dt="2025-07-13T06:55:56.328" v="86" actId="14100"/>
          <ac:graphicFrameMkLst>
            <pc:docMk/>
            <pc:sldMk cId="4007068481" sldId="312"/>
            <ac:graphicFrameMk id="11" creationId="{D3186CB4-FAB1-CC9F-73DD-DF72F84EC20B}"/>
          </ac:graphicFrameMkLst>
        </pc:graphicFrameChg>
      </pc:sldChg>
      <pc:sldChg chg="ord">
        <pc:chgData name="Praveen K" userId="c82aea2e5423fcf6" providerId="LiveId" clId="{95EEA42B-6BC1-48B9-A686-38EA1E396BB3}" dt="2025-07-13T07:12:19.183" v="121"/>
        <pc:sldMkLst>
          <pc:docMk/>
          <pc:sldMk cId="2963145662" sldId="313"/>
        </pc:sldMkLst>
      </pc:sldChg>
      <pc:sldChg chg="addSp delSp modSp mod">
        <pc:chgData name="Praveen K" userId="c82aea2e5423fcf6" providerId="LiveId" clId="{95EEA42B-6BC1-48B9-A686-38EA1E396BB3}" dt="2025-07-13T07:43:30.190" v="167" actId="478"/>
        <pc:sldMkLst>
          <pc:docMk/>
          <pc:sldMk cId="960604607" sldId="314"/>
        </pc:sldMkLst>
        <pc:picChg chg="add del mod">
          <ac:chgData name="Praveen K" userId="c82aea2e5423fcf6" providerId="LiveId" clId="{95EEA42B-6BC1-48B9-A686-38EA1E396BB3}" dt="2025-07-13T07:43:30.190" v="167" actId="478"/>
          <ac:picMkLst>
            <pc:docMk/>
            <pc:sldMk cId="960604607" sldId="314"/>
            <ac:picMk id="10" creationId="{213179B5-37D3-5C8A-5956-5F28D9DFC990}"/>
          </ac:picMkLst>
        </pc:picChg>
      </pc:sldChg>
      <pc:sldChg chg="addSp delSp modSp add mod">
        <pc:chgData name="Praveen K" userId="c82aea2e5423fcf6" providerId="LiveId" clId="{95EEA42B-6BC1-48B9-A686-38EA1E396BB3}" dt="2025-07-13T07:36:14.335" v="154" actId="21"/>
        <pc:sldMkLst>
          <pc:docMk/>
          <pc:sldMk cId="1284348459" sldId="316"/>
        </pc:sldMkLst>
        <pc:graphicFrameChg chg="add mod modGraphic">
          <ac:chgData name="Praveen K" userId="c82aea2e5423fcf6" providerId="LiveId" clId="{95EEA42B-6BC1-48B9-A686-38EA1E396BB3}" dt="2025-07-13T07:22:05.782" v="131" actId="1076"/>
          <ac:graphicFrameMkLst>
            <pc:docMk/>
            <pc:sldMk cId="1284348459" sldId="316"/>
            <ac:graphicFrameMk id="10" creationId="{22E2F4F1-441F-4638-F871-DFEDFC762EE8}"/>
          </ac:graphicFrameMkLst>
        </pc:graphicFrameChg>
        <pc:graphicFrameChg chg="add mod modGraphic">
          <ac:chgData name="Praveen K" userId="c82aea2e5423fcf6" providerId="LiveId" clId="{95EEA42B-6BC1-48B9-A686-38EA1E396BB3}" dt="2025-07-13T07:25:01.614" v="137" actId="14100"/>
          <ac:graphicFrameMkLst>
            <pc:docMk/>
            <pc:sldMk cId="1284348459" sldId="316"/>
            <ac:graphicFrameMk id="11" creationId="{3BC75F41-6357-23E1-FFE6-68C7F5CA6678}"/>
          </ac:graphicFrameMkLst>
        </pc:graphicFrameChg>
        <pc:graphicFrameChg chg="add del mod">
          <ac:chgData name="Praveen K" userId="c82aea2e5423fcf6" providerId="LiveId" clId="{95EEA42B-6BC1-48B9-A686-38EA1E396BB3}" dt="2025-07-13T07:36:14.335" v="154" actId="21"/>
          <ac:graphicFrameMkLst>
            <pc:docMk/>
            <pc:sldMk cId="1284348459" sldId="316"/>
            <ac:graphicFrameMk id="12" creationId="{22193D58-A329-4DA7-68CE-36D36D89050A}"/>
          </ac:graphicFrameMkLst>
        </pc:graphicFrameChg>
      </pc:sldChg>
      <pc:sldChg chg="addSp modSp add mod">
        <pc:chgData name="Praveen K" userId="c82aea2e5423fcf6" providerId="LiveId" clId="{95EEA42B-6BC1-48B9-A686-38EA1E396BB3}" dt="2025-07-13T07:13:11.428" v="124" actId="14100"/>
        <pc:sldMkLst>
          <pc:docMk/>
          <pc:sldMk cId="598752059" sldId="317"/>
        </pc:sldMkLst>
        <pc:picChg chg="add mod">
          <ac:chgData name="Praveen K" userId="c82aea2e5423fcf6" providerId="LiveId" clId="{95EEA42B-6BC1-48B9-A686-38EA1E396BB3}" dt="2025-07-13T07:02:29.604" v="105" actId="14100"/>
          <ac:picMkLst>
            <pc:docMk/>
            <pc:sldMk cId="598752059" sldId="317"/>
            <ac:picMk id="11" creationId="{E8E670B3-2EA0-CFDF-CCE6-80EB13C6A822}"/>
          </ac:picMkLst>
        </pc:picChg>
        <pc:picChg chg="add mod">
          <ac:chgData name="Praveen K" userId="c82aea2e5423fcf6" providerId="LiveId" clId="{95EEA42B-6BC1-48B9-A686-38EA1E396BB3}" dt="2025-07-13T07:13:11.428" v="124" actId="14100"/>
          <ac:picMkLst>
            <pc:docMk/>
            <pc:sldMk cId="598752059" sldId="317"/>
            <ac:picMk id="13" creationId="{69E735CB-2D39-8BFD-80A7-9E2CB847E072}"/>
          </ac:picMkLst>
        </pc:picChg>
      </pc:sldChg>
      <pc:sldChg chg="addSp modSp add mod">
        <pc:chgData name="Praveen K" userId="c82aea2e5423fcf6" providerId="LiveId" clId="{95EEA42B-6BC1-48B9-A686-38EA1E396BB3}" dt="2025-07-13T07:02:47.064" v="106" actId="14100"/>
        <pc:sldMkLst>
          <pc:docMk/>
          <pc:sldMk cId="1897366662" sldId="318"/>
        </pc:sldMkLst>
        <pc:picChg chg="add mod">
          <ac:chgData name="Praveen K" userId="c82aea2e5423fcf6" providerId="LiveId" clId="{95EEA42B-6BC1-48B9-A686-38EA1E396BB3}" dt="2025-07-13T06:56:37.792" v="88" actId="1076"/>
          <ac:picMkLst>
            <pc:docMk/>
            <pc:sldMk cId="1897366662" sldId="318"/>
            <ac:picMk id="10" creationId="{7B5AF747-3119-2605-1F35-164D4D2D6BB7}"/>
          </ac:picMkLst>
        </pc:picChg>
        <pc:picChg chg="add mod">
          <ac:chgData name="Praveen K" userId="c82aea2e5423fcf6" providerId="LiveId" clId="{95EEA42B-6BC1-48B9-A686-38EA1E396BB3}" dt="2025-07-13T07:02:47.064" v="106" actId="14100"/>
          <ac:picMkLst>
            <pc:docMk/>
            <pc:sldMk cId="1897366662" sldId="318"/>
            <ac:picMk id="11" creationId="{69107D98-5C35-83FC-9560-3335DEA77320}"/>
          </ac:picMkLst>
        </pc:picChg>
      </pc:sldChg>
      <pc:sldChg chg="addSp modSp add mod">
        <pc:chgData name="Praveen K" userId="c82aea2e5423fcf6" providerId="LiveId" clId="{95EEA42B-6BC1-48B9-A686-38EA1E396BB3}" dt="2025-07-13T07:35:43.274" v="153" actId="14100"/>
        <pc:sldMkLst>
          <pc:docMk/>
          <pc:sldMk cId="4036846086" sldId="319"/>
        </pc:sldMkLst>
        <pc:spChg chg="add mod">
          <ac:chgData name="Praveen K" userId="c82aea2e5423fcf6" providerId="LiveId" clId="{95EEA42B-6BC1-48B9-A686-38EA1E396BB3}" dt="2025-07-13T07:35:43.274" v="153" actId="14100"/>
          <ac:spMkLst>
            <pc:docMk/>
            <pc:sldMk cId="4036846086" sldId="319"/>
            <ac:spMk id="11" creationId="{F48266FE-AD9A-487D-EA9A-790A20560AC2}"/>
          </ac:spMkLst>
        </pc:spChg>
      </pc:sldChg>
      <pc:sldChg chg="addSp modSp add mod">
        <pc:chgData name="Praveen K" userId="c82aea2e5423fcf6" providerId="LiveId" clId="{95EEA42B-6BC1-48B9-A686-38EA1E396BB3}" dt="2025-07-13T07:39:42.581" v="160" actId="14100"/>
        <pc:sldMkLst>
          <pc:docMk/>
          <pc:sldMk cId="1043010034" sldId="320"/>
        </pc:sldMkLst>
        <pc:graphicFrameChg chg="add mod modGraphic">
          <ac:chgData name="Praveen K" userId="c82aea2e5423fcf6" providerId="LiveId" clId="{95EEA42B-6BC1-48B9-A686-38EA1E396BB3}" dt="2025-07-13T07:39:42.581" v="160" actId="14100"/>
          <ac:graphicFrameMkLst>
            <pc:docMk/>
            <pc:sldMk cId="1043010034" sldId="320"/>
            <ac:graphicFrameMk id="12" creationId="{22193D58-A329-4DA7-68CE-36D36D89050A}"/>
          </ac:graphicFrameMkLst>
        </pc:graphicFrameChg>
      </pc:sldChg>
      <pc:sldChg chg="addSp modSp add mod ord">
        <pc:chgData name="Praveen K" userId="c82aea2e5423fcf6" providerId="LiveId" clId="{95EEA42B-6BC1-48B9-A686-38EA1E396BB3}" dt="2025-07-13T07:12:07.430" v="119"/>
        <pc:sldMkLst>
          <pc:docMk/>
          <pc:sldMk cId="2405740053" sldId="321"/>
        </pc:sldMkLst>
        <pc:graphicFrameChg chg="add mod modGraphic">
          <ac:chgData name="Praveen K" userId="c82aea2e5423fcf6" providerId="LiveId" clId="{95EEA42B-6BC1-48B9-A686-38EA1E396BB3}" dt="2025-07-13T07:03:31.266" v="112" actId="14100"/>
          <ac:graphicFrameMkLst>
            <pc:docMk/>
            <pc:sldMk cId="2405740053" sldId="321"/>
            <ac:graphicFrameMk id="10" creationId="{80618F3C-A265-7DEC-CE49-2E8D5B1047D6}"/>
          </ac:graphicFrameMkLst>
        </pc:graphicFrameChg>
        <pc:graphicFrameChg chg="add mod modGraphic">
          <ac:chgData name="Praveen K" userId="c82aea2e5423fcf6" providerId="LiveId" clId="{95EEA42B-6BC1-48B9-A686-38EA1E396BB3}" dt="2025-07-13T07:11:53.698" v="117" actId="14100"/>
          <ac:graphicFrameMkLst>
            <pc:docMk/>
            <pc:sldMk cId="2405740053" sldId="321"/>
            <ac:graphicFrameMk id="11" creationId="{6EA89658-8CF7-019A-CA69-40227BF41CE4}"/>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F1-Score</a:t>
            </a:r>
            <a:r>
              <a:rPr lang="en-IN" baseline="0"/>
              <a:t>  </a:t>
            </a:r>
            <a:endParaRPr lang="en-IN"/>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tx>
            <c:strRef>
              <c:f>Sheet1!$B$1</c:f>
              <c:strCache>
                <c:ptCount val="1"/>
                <c:pt idx="0">
                  <c:v>LSTM</c:v>
                </c:pt>
              </c:strCache>
            </c:strRef>
          </c:tx>
          <c:spPr>
            <a:solidFill>
              <a:schemeClr val="accent1"/>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Sheet1!$B$2:$B$8</c:f>
              <c:numCache>
                <c:formatCode>General</c:formatCode>
                <c:ptCount val="7"/>
                <c:pt idx="0">
                  <c:v>0.90910000000000002</c:v>
                </c:pt>
                <c:pt idx="1">
                  <c:v>0.85709999999999997</c:v>
                </c:pt>
                <c:pt idx="2">
                  <c:v>0.76919999999999999</c:v>
                </c:pt>
                <c:pt idx="3">
                  <c:v>0.4</c:v>
                </c:pt>
                <c:pt idx="4">
                  <c:v>1</c:v>
                </c:pt>
                <c:pt idx="5">
                  <c:v>0.5</c:v>
                </c:pt>
                <c:pt idx="6">
                  <c:v>0.83330000000000004</c:v>
                </c:pt>
              </c:numCache>
            </c:numRef>
          </c:val>
          <c:extLst>
            <c:ext xmlns:c16="http://schemas.microsoft.com/office/drawing/2014/chart" uri="{C3380CC4-5D6E-409C-BE32-E72D297353CC}">
              <c16:uniqueId val="{00000000-9688-4E16-8596-41F39496E71A}"/>
            </c:ext>
          </c:extLst>
        </c:ser>
        <c:ser>
          <c:idx val="1"/>
          <c:order val="1"/>
          <c:tx>
            <c:strRef>
              <c:f>Sheet1!$C$1</c:f>
              <c:strCache>
                <c:ptCount val="1"/>
                <c:pt idx="0">
                  <c:v>BiLSTM</c:v>
                </c:pt>
              </c:strCache>
            </c:strRef>
          </c:tx>
          <c:spPr>
            <a:solidFill>
              <a:schemeClr val="accent2"/>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Sheet1!$C$2:$C$8</c:f>
              <c:numCache>
                <c:formatCode>General</c:formatCode>
                <c:ptCount val="7"/>
                <c:pt idx="0">
                  <c:v>0.98</c:v>
                </c:pt>
                <c:pt idx="1">
                  <c:v>0.49</c:v>
                </c:pt>
                <c:pt idx="2">
                  <c:v>0.74</c:v>
                </c:pt>
                <c:pt idx="3">
                  <c:v>1</c:v>
                </c:pt>
                <c:pt idx="4">
                  <c:v>1</c:v>
                </c:pt>
                <c:pt idx="5">
                  <c:v>0.92</c:v>
                </c:pt>
                <c:pt idx="6">
                  <c:v>0.97</c:v>
                </c:pt>
              </c:numCache>
            </c:numRef>
          </c:val>
          <c:extLst>
            <c:ext xmlns:c16="http://schemas.microsoft.com/office/drawing/2014/chart" uri="{C3380CC4-5D6E-409C-BE32-E72D297353CC}">
              <c16:uniqueId val="{00000001-9688-4E16-8596-41F39496E71A}"/>
            </c:ext>
          </c:extLst>
        </c:ser>
        <c:ser>
          <c:idx val="2"/>
          <c:order val="2"/>
          <c:tx>
            <c:strRef>
              <c:f>Sheet1!$D$1</c:f>
              <c:strCache>
                <c:ptCount val="1"/>
                <c:pt idx="0">
                  <c:v>GRS-BiLSTM</c:v>
                </c:pt>
              </c:strCache>
            </c:strRef>
          </c:tx>
          <c:spPr>
            <a:solidFill>
              <a:schemeClr val="accent3"/>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Sheet1!$D$2:$D$8</c:f>
              <c:numCache>
                <c:formatCode>General</c:formatCode>
                <c:ptCount val="7"/>
                <c:pt idx="0">
                  <c:v>1</c:v>
                </c:pt>
                <c:pt idx="1">
                  <c:v>0.73</c:v>
                </c:pt>
                <c:pt idx="2">
                  <c:v>0.82</c:v>
                </c:pt>
                <c:pt idx="3">
                  <c:v>0.98</c:v>
                </c:pt>
                <c:pt idx="4">
                  <c:v>1</c:v>
                </c:pt>
                <c:pt idx="5">
                  <c:v>0.98</c:v>
                </c:pt>
                <c:pt idx="6">
                  <c:v>1</c:v>
                </c:pt>
              </c:numCache>
            </c:numRef>
          </c:val>
          <c:extLst>
            <c:ext xmlns:c16="http://schemas.microsoft.com/office/drawing/2014/chart" uri="{C3380CC4-5D6E-409C-BE32-E72D297353CC}">
              <c16:uniqueId val="{00000002-9688-4E16-8596-41F39496E71A}"/>
            </c:ext>
          </c:extLst>
        </c:ser>
        <c:ser>
          <c:idx val="3"/>
          <c:order val="3"/>
          <c:tx>
            <c:strRef>
              <c:f>Sheet1!$E$1</c:f>
              <c:strCache>
                <c:ptCount val="1"/>
                <c:pt idx="0">
                  <c:v>MS-GRS-BiLSTM</c:v>
                </c:pt>
              </c:strCache>
            </c:strRef>
          </c:tx>
          <c:spPr>
            <a:solidFill>
              <a:schemeClr val="accent4"/>
            </a:solidFill>
            <a:ln>
              <a:noFill/>
            </a:ln>
            <a:effectLst/>
          </c:spPr>
          <c:invertIfNegative val="0"/>
          <c:cat>
            <c:strRef>
              <c:f>Sheet1!$A$2:$A$8</c:f>
              <c:strCache>
                <c:ptCount val="7"/>
                <c:pt idx="0">
                  <c:v>Bending</c:v>
                </c:pt>
                <c:pt idx="1">
                  <c:v>Jumping</c:v>
                </c:pt>
                <c:pt idx="2">
                  <c:v>Running</c:v>
                </c:pt>
                <c:pt idx="3">
                  <c:v>Sitting</c:v>
                </c:pt>
                <c:pt idx="4">
                  <c:v>Squat</c:v>
                </c:pt>
                <c:pt idx="5">
                  <c:v>Standing</c:v>
                </c:pt>
                <c:pt idx="6">
                  <c:v>Walking</c:v>
                </c:pt>
              </c:strCache>
            </c:strRef>
          </c:cat>
          <c:val>
            <c:numRef>
              <c:f>Sheet1!$E$2:$E$8</c:f>
              <c:numCache>
                <c:formatCode>General</c:formatCode>
                <c:ptCount val="7"/>
                <c:pt idx="0">
                  <c:v>0.99770000000000003</c:v>
                </c:pt>
                <c:pt idx="1">
                  <c:v>0.94689999999999996</c:v>
                </c:pt>
                <c:pt idx="2">
                  <c:v>0.94669999999999999</c:v>
                </c:pt>
                <c:pt idx="3">
                  <c:v>1</c:v>
                </c:pt>
                <c:pt idx="4">
                  <c:v>0.99760000000000004</c:v>
                </c:pt>
                <c:pt idx="5">
                  <c:v>0.99770000000000003</c:v>
                </c:pt>
                <c:pt idx="6">
                  <c:v>0.99709999999999999</c:v>
                </c:pt>
              </c:numCache>
            </c:numRef>
          </c:val>
          <c:extLst>
            <c:ext xmlns:c16="http://schemas.microsoft.com/office/drawing/2014/chart" uri="{C3380CC4-5D6E-409C-BE32-E72D297353CC}">
              <c16:uniqueId val="{00000003-9688-4E16-8596-41F39496E71A}"/>
            </c:ext>
          </c:extLst>
        </c:ser>
        <c:dLbls>
          <c:showLegendKey val="0"/>
          <c:showVal val="0"/>
          <c:showCatName val="0"/>
          <c:showSerName val="0"/>
          <c:showPercent val="0"/>
          <c:showBubbleSize val="0"/>
        </c:dLbls>
        <c:gapWidth val="219"/>
        <c:overlap val="-27"/>
        <c:axId val="1584436463"/>
        <c:axId val="1584435023"/>
      </c:barChart>
      <c:catAx>
        <c:axId val="15844364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5023"/>
        <c:crosses val="autoZero"/>
        <c:auto val="1"/>
        <c:lblAlgn val="ctr"/>
        <c:lblOffset val="100"/>
        <c:noMultiLvlLbl val="0"/>
      </c:catAx>
      <c:valAx>
        <c:axId val="15844350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443646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9E2144-ABF7-FC5E-ED89-9A76B261493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DC961EEC-296A-B5E7-9043-E6B7E3A751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972EF-3B25-4F57-BDC1-D6C50E71D74B}" type="datetimeFigureOut">
              <a:rPr lang="en-IN" smtClean="0"/>
              <a:t>10-11-2025</a:t>
            </a:fld>
            <a:endParaRPr lang="en-IN"/>
          </a:p>
        </p:txBody>
      </p:sp>
      <p:sp>
        <p:nvSpPr>
          <p:cNvPr id="4" name="Footer Placeholder 3">
            <a:extLst>
              <a:ext uri="{FF2B5EF4-FFF2-40B4-BE49-F238E27FC236}">
                <a16:creationId xmlns:a16="http://schemas.microsoft.com/office/drawing/2014/main" id="{CA7F3424-F753-8583-02FA-CEFA0AC579C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127C41D-6412-F492-0E38-018A8A5AAF7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F98A50-B566-49AB-A9EF-92D99604F2A9}" type="slidenum">
              <a:rPr lang="en-IN" smtClean="0"/>
              <a:t>‹#›</a:t>
            </a:fld>
            <a:endParaRPr lang="en-IN"/>
          </a:p>
        </p:txBody>
      </p:sp>
    </p:spTree>
    <p:extLst>
      <p:ext uri="{BB962C8B-B14F-4D97-AF65-F5344CB8AC3E}">
        <p14:creationId xmlns:p14="http://schemas.microsoft.com/office/powerpoint/2010/main" val="170722482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C22DC9A-63C2-A0FC-F295-FB0864F20AD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90FE900-524E-1562-ABCF-DD8BC14C4E7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18137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75854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3091-CE89-3831-E5BA-AE84DDBD2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46883-B267-E841-0AB2-3ADDD964B2D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DF6919F-2F4F-1B6A-9877-3B2E4DE122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C0E969-588D-F272-0F47-DC1BCDBD8AA4}"/>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14490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6668E3C3-F301-BDD2-717D-7CCFF59E983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9D2CFAC4-64A9-5AF8-DFE7-A31F09FDB1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76F528CB-45D7-36B8-489C-92D90D3370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02407DC4-26B3-DFB8-1A18-B3350DB46C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1280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a:extLst>
            <a:ext uri="{FF2B5EF4-FFF2-40B4-BE49-F238E27FC236}">
              <a16:creationId xmlns:a16="http://schemas.microsoft.com/office/drawing/2014/main" id="{C3F06951-156F-B7B1-AF68-E271F5D957C6}"/>
            </a:ext>
          </a:extLst>
        </p:cNvPr>
        <p:cNvGrpSpPr/>
        <p:nvPr/>
      </p:nvGrpSpPr>
      <p:grpSpPr>
        <a:xfrm>
          <a:off x="0" y="0"/>
          <a:ext cx="0" cy="0"/>
          <a:chOff x="0" y="0"/>
          <a:chExt cx="0" cy="0"/>
        </a:xfrm>
      </p:grpSpPr>
      <p:sp>
        <p:nvSpPr>
          <p:cNvPr id="142" name="Google Shape;142;p7:notes">
            <a:extLst>
              <a:ext uri="{FF2B5EF4-FFF2-40B4-BE49-F238E27FC236}">
                <a16:creationId xmlns:a16="http://schemas.microsoft.com/office/drawing/2014/main" id="{1608774B-6D7F-4C7F-C87B-BE5F87996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7:notes">
            <a:extLst>
              <a:ext uri="{FF2B5EF4-FFF2-40B4-BE49-F238E27FC236}">
                <a16:creationId xmlns:a16="http://schemas.microsoft.com/office/drawing/2014/main" id="{050F1DCE-8CE4-97A3-8C6A-BC96463BE9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68C5BD1B-7DBB-CA86-B042-AD511B2D728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13092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9F401-D131-745C-337E-FDDB921C3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0D24F-468A-975D-0D86-C21B7CCC999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E6127C-46C2-FC24-8C21-46CE578772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1108ACE-2333-4A2F-C6B0-008E05AE063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0634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5A1A-2DC4-BA32-C2FC-A36B4B373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4346E-D2EF-8EEF-7CB8-1B08FE87315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531EEE7-379F-063D-0AC8-2851AE6F51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5F6AA7-EFD5-D0C8-B075-7BBE981733E1}"/>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8245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98524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16</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9921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2E4AC-018C-21C2-5698-85E5A296E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BAEA8-3751-F72F-883D-B5952549602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954ECCC-A0A6-6D09-3D47-BB3E69D3B27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9764BE-6140-8137-37DB-983ED03C6FC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76033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05318-92D3-5EE2-F350-EC2F7EE08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191AF9-3637-27C5-7666-F687043EAF4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65BD15-19BA-4D6F-2DE7-E7813EAC62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7B8737-2C2B-1694-05CA-5E148141036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03883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A8333-3A89-C570-E010-979FC1E161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D288CF-2305-12CC-05EC-25C001DF044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AED489-7A38-4458-F47A-56334D8074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F01C55-E568-1B9B-6766-4A9474676BC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19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380890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20</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473734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102F-164E-DA18-394B-603D1929B1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48794C-70F5-E632-611F-827F7B42655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E6B2700-5E38-B87F-EF81-B2FD200E25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4AE2BA-A980-ABD7-5EEC-8D634DDBF08A}"/>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22</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26636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88CB-86E9-ED10-5CB1-3099072BE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ACB368-B158-0087-4988-0464A1D171A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4395B94-4F98-C6E2-05ED-F46F2D8DCA6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490099-30B4-F68B-4BB0-8D8FB25CFD3F}"/>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69445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189404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613CB-29FD-EA0F-FF23-F72E2073B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E9C5-D95D-1A6A-713A-5F92948D3A6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F9E60D4-67C9-CED1-2FF0-AED33780E8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0C4400-9DD1-31A0-73BD-E4E33E447680}"/>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25</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554272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3362E-DC7F-EC44-61EF-C42C13C68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2ACA0-0AEF-9326-E295-B0D287A1D3C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07863A3-9FC0-45B0-377E-4712F07ED87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7433C69-4DA9-5F11-6735-B815AC8386B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27</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682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0B5E4-43F0-1EA1-44C1-0CCCFD8F2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82DA2D-DB1E-DB42-82E5-DFD3A0E3244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42E45-0717-DC3C-715F-70D8587819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9F87CF0-17E9-068D-161D-2514E2A7718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28</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28025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FEF23-D581-750A-7E69-3883843EA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1899F6-106E-354F-20C9-8E35F759721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3CF0CFC-A718-E7F4-0706-9D90E4C0FF6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353EC6-0F57-4402-6404-90A443C6C57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29</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775282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1" name="Google Shape;221;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D95F629D-73C0-FDFD-3F11-817A22DA0235}"/>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30</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8" name="Google Shape;22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F38560B1-027F-20B1-4A74-E7C804FD5AC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31</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8486115D-AD0A-14B1-D324-80AC782C34A7}"/>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32</a:t>
            </a:fld>
            <a:endParaRPr lang="en-IN" sz="12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a:extLst>
            <a:ext uri="{FF2B5EF4-FFF2-40B4-BE49-F238E27FC236}">
              <a16:creationId xmlns:a16="http://schemas.microsoft.com/office/drawing/2014/main" id="{2C05D7FB-82A5-7085-BCCC-F1B553C3FD1B}"/>
            </a:ext>
          </a:extLst>
        </p:cNvPr>
        <p:cNvGrpSpPr/>
        <p:nvPr/>
      </p:nvGrpSpPr>
      <p:grpSpPr>
        <a:xfrm>
          <a:off x="0" y="0"/>
          <a:ext cx="0" cy="0"/>
          <a:chOff x="0" y="0"/>
          <a:chExt cx="0" cy="0"/>
        </a:xfrm>
      </p:grpSpPr>
      <p:sp>
        <p:nvSpPr>
          <p:cNvPr id="234" name="Google Shape;234;p16:notes">
            <a:extLst>
              <a:ext uri="{FF2B5EF4-FFF2-40B4-BE49-F238E27FC236}">
                <a16:creationId xmlns:a16="http://schemas.microsoft.com/office/drawing/2014/main" id="{1C58C0DB-F543-72C7-EBB9-F17E774367D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6:notes">
            <a:extLst>
              <a:ext uri="{FF2B5EF4-FFF2-40B4-BE49-F238E27FC236}">
                <a16:creationId xmlns:a16="http://schemas.microsoft.com/office/drawing/2014/main" id="{436F6E49-8F3F-5A0B-406F-17C3DEA7C7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20BF3EDB-DB6D-8EFD-4A37-334BAC8CFD11}"/>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33</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386478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a:extLst>
            <a:ext uri="{FF2B5EF4-FFF2-40B4-BE49-F238E27FC236}">
              <a16:creationId xmlns:a16="http://schemas.microsoft.com/office/drawing/2014/main" id="{DF0EBE14-23E7-552C-A113-21DC43E1C17D}"/>
            </a:ext>
          </a:extLst>
        </p:cNvPr>
        <p:cNvGrpSpPr/>
        <p:nvPr/>
      </p:nvGrpSpPr>
      <p:grpSpPr>
        <a:xfrm>
          <a:off x="0" y="0"/>
          <a:ext cx="0" cy="0"/>
          <a:chOff x="0" y="0"/>
          <a:chExt cx="0" cy="0"/>
        </a:xfrm>
      </p:grpSpPr>
      <p:sp>
        <p:nvSpPr>
          <p:cNvPr id="241" name="Google Shape;241;p17:notes">
            <a:extLst>
              <a:ext uri="{FF2B5EF4-FFF2-40B4-BE49-F238E27FC236}">
                <a16:creationId xmlns:a16="http://schemas.microsoft.com/office/drawing/2014/main" id="{B7FB23CD-DD2E-C6D4-74E5-7A704D7E1C2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2" name="Google Shape;242;p17:notes">
            <a:extLst>
              <a:ext uri="{FF2B5EF4-FFF2-40B4-BE49-F238E27FC236}">
                <a16:creationId xmlns:a16="http://schemas.microsoft.com/office/drawing/2014/main" id="{287A140C-CBD5-B146-AD32-DB13BA6FB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
        <p:nvSpPr>
          <p:cNvPr id="2" name="Slide Number Placeholder 1">
            <a:extLst>
              <a:ext uri="{FF2B5EF4-FFF2-40B4-BE49-F238E27FC236}">
                <a16:creationId xmlns:a16="http://schemas.microsoft.com/office/drawing/2014/main" id="{1BCAC45A-1F4D-600F-13C3-6E029AEEFFD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IN" sz="1200" b="0" i="0" u="none" strike="noStrike" cap="none" smtClean="0">
                <a:solidFill>
                  <a:schemeClr val="dk1"/>
                </a:solidFill>
                <a:latin typeface="Calibri"/>
                <a:ea typeface="Calibri"/>
                <a:cs typeface="Calibri"/>
                <a:sym typeface="Calibri"/>
              </a:rPr>
              <a:t>34</a:t>
            </a:fld>
            <a:endParaRPr lang="en-IN"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501658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7"/>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7"/>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8"/>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8"/>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8"/>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3.gif"/><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pic>
        <p:nvPicPr>
          <p:cNvPr id="88" name="Google Shape;88;p13"/>
          <p:cNvPicPr preferRelativeResize="0"/>
          <p:nvPr/>
        </p:nvPicPr>
        <p:blipFill rotWithShape="1">
          <a:blip r:embed="rId3">
            <a:alphaModFix/>
          </a:blip>
          <a:srcRect/>
          <a:stretch/>
        </p:blipFill>
        <p:spPr>
          <a:xfrm>
            <a:off x="5367184" y="4234898"/>
            <a:ext cx="1530182" cy="1344991"/>
          </a:xfrm>
          <a:prstGeom prst="rect">
            <a:avLst/>
          </a:prstGeom>
          <a:noFill/>
          <a:ln>
            <a:noFill/>
          </a:ln>
        </p:spPr>
      </p:pic>
      <p:sp>
        <p:nvSpPr>
          <p:cNvPr id="89" name="Google Shape;89;p13"/>
          <p:cNvSpPr txBox="1">
            <a:spLocks noGrp="1"/>
          </p:cNvSpPr>
          <p:nvPr>
            <p:ph type="ctrTitle"/>
          </p:nvPr>
        </p:nvSpPr>
        <p:spPr>
          <a:xfrm>
            <a:off x="3575133" y="6007509"/>
            <a:ext cx="5149887" cy="737421"/>
          </a:xfrm>
          <a:prstGeom prst="rect">
            <a:avLst/>
          </a:prstGeom>
          <a:noFill/>
          <a:ln>
            <a:noFill/>
          </a:ln>
        </p:spPr>
        <p:txBody>
          <a:bodyPr spcFirstLastPara="1" wrap="square" lIns="91425" tIns="45700" rIns="91425" bIns="45700" anchor="b" anchorCtr="0">
            <a:normAutofit fontScale="90000"/>
          </a:bodyPr>
          <a:lstStyle/>
          <a:p>
            <a:pPr>
              <a:lnSpc>
                <a:spcPct val="120000"/>
              </a:lnSpc>
            </a:pPr>
            <a:br>
              <a:rPr lang="en-IN" sz="1600" dirty="0">
                <a:latin typeface="Times New Roman" panose="02020603050405020304" pitchFamily="18" charset="0"/>
                <a:cs typeface="Times New Roman" panose="02020603050405020304" pitchFamily="18" charset="0"/>
              </a:rPr>
            </a:br>
            <a:r>
              <a:rPr lang="en-IN" sz="1600" b="1" dirty="0">
                <a:solidFill>
                  <a:srgbClr val="00B050"/>
                </a:solidFill>
                <a:latin typeface="Times New Roman"/>
                <a:ea typeface="Times New Roman"/>
                <a:cs typeface="Times New Roman"/>
                <a:sym typeface="Times New Roman"/>
              </a:rPr>
              <a:t> </a:t>
            </a:r>
            <a:br>
              <a:rPr lang="en-IN" sz="1600" b="1" dirty="0">
                <a:solidFill>
                  <a:srgbClr val="00B050"/>
                </a:solidFill>
                <a:latin typeface="Times New Roman"/>
                <a:ea typeface="Times New Roman"/>
                <a:cs typeface="Times New Roman"/>
                <a:sym typeface="Times New Roman"/>
              </a:rPr>
            </a:br>
            <a:br>
              <a:rPr lang="en-IN" sz="1600" dirty="0">
                <a:solidFill>
                  <a:srgbClr val="FF000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00B0F0"/>
                </a:solidFill>
                <a:latin typeface="Times New Roman"/>
                <a:ea typeface="Times New Roman"/>
                <a:cs typeface="Times New Roman"/>
                <a:sym typeface="Times New Roman"/>
              </a:rPr>
            </a:br>
            <a:br>
              <a:rPr lang="en-IN" sz="1600" dirty="0">
                <a:latin typeface="Times New Roman"/>
                <a:ea typeface="Times New Roman"/>
                <a:cs typeface="Times New Roman"/>
                <a:sym typeface="Times New Roman"/>
              </a:rPr>
            </a:br>
            <a:br>
              <a:rPr lang="en-IN" sz="1600" dirty="0">
                <a:solidFill>
                  <a:srgbClr val="FF0000"/>
                </a:solidFill>
              </a:rPr>
            </a:br>
            <a:br>
              <a:rPr lang="en-IN" dirty="0"/>
            </a:br>
            <a:r>
              <a:rPr lang="en-IN" dirty="0"/>
              <a:t> </a:t>
            </a:r>
            <a:endParaRPr dirty="0"/>
          </a:p>
        </p:txBody>
      </p:sp>
      <p:sp>
        <p:nvSpPr>
          <p:cNvPr id="90" name="Google Shape;90;p13"/>
          <p:cNvSpPr txBox="1">
            <a:spLocks noGrp="1"/>
          </p:cNvSpPr>
          <p:nvPr>
            <p:ph type="subTitle" idx="1"/>
          </p:nvPr>
        </p:nvSpPr>
        <p:spPr>
          <a:xfrm>
            <a:off x="3303639" y="5771535"/>
            <a:ext cx="1248696" cy="471949"/>
          </a:xfrm>
          <a:prstGeom prst="rect">
            <a:avLst/>
          </a:prstGeom>
          <a:noFill/>
          <a:ln>
            <a:noFill/>
          </a:ln>
        </p:spPr>
        <p:txBody>
          <a:bodyPr spcFirstLastPara="1" wrap="square" lIns="91425" tIns="45700" rIns="91425" bIns="45700" anchor="t" anchorCtr="0">
            <a:normAutofit fontScale="25000" lnSpcReduction="20000"/>
          </a:bodyPr>
          <a:lstStyle/>
          <a:p>
            <a:pPr marL="0" lvl="0" indent="0" rtl="0">
              <a:lnSpc>
                <a:spcPct val="90000"/>
              </a:lnSpc>
              <a:spcBef>
                <a:spcPts val="1000"/>
              </a:spcBef>
              <a:spcAft>
                <a:spcPts val="0"/>
              </a:spcAft>
              <a:buClr>
                <a:schemeClr val="dk1"/>
              </a:buClr>
              <a:buSzPct val="100000"/>
              <a:buNone/>
            </a:pPr>
            <a:endParaRPr sz="8600" b="1" dirty="0"/>
          </a:p>
          <a:p>
            <a:pPr marL="0" lvl="0" indent="0" rtl="0">
              <a:lnSpc>
                <a:spcPct val="90000"/>
              </a:lnSpc>
              <a:spcBef>
                <a:spcPts val="1000"/>
              </a:spcBef>
              <a:spcAft>
                <a:spcPts val="0"/>
              </a:spcAft>
              <a:buClr>
                <a:schemeClr val="dk1"/>
              </a:buClr>
              <a:buSzPct val="100000"/>
              <a:buNone/>
            </a:pPr>
            <a:r>
              <a:rPr lang="en-IN" sz="8600" b="1" dirty="0"/>
              <a:t> </a:t>
            </a:r>
            <a:endParaRPr dirty="0"/>
          </a:p>
          <a:p>
            <a:pPr marL="0" lvl="0" indent="0" rtl="0">
              <a:lnSpc>
                <a:spcPct val="90000"/>
              </a:lnSpc>
              <a:spcBef>
                <a:spcPts val="1000"/>
              </a:spcBef>
              <a:spcAft>
                <a:spcPts val="0"/>
              </a:spcAft>
              <a:buClr>
                <a:schemeClr val="dk1"/>
              </a:buClr>
              <a:buSzPct val="100000"/>
              <a:buNone/>
            </a:pPr>
            <a:endParaRPr b="1" dirty="0"/>
          </a:p>
          <a:p>
            <a:pPr marL="0" lvl="0" indent="0" rtl="0">
              <a:lnSpc>
                <a:spcPct val="90000"/>
              </a:lnSpc>
              <a:spcBef>
                <a:spcPts val="1000"/>
              </a:spcBef>
              <a:spcAft>
                <a:spcPts val="0"/>
              </a:spcAft>
              <a:buClr>
                <a:schemeClr val="dk1"/>
              </a:buClr>
              <a:buSzPct val="100000"/>
              <a:buNone/>
            </a:pPr>
            <a:endParaRPr dirty="0"/>
          </a:p>
          <a:p>
            <a:pPr marL="0" lvl="0" indent="0" rtl="0">
              <a:lnSpc>
                <a:spcPct val="90000"/>
              </a:lnSpc>
              <a:spcBef>
                <a:spcPts val="1000"/>
              </a:spcBef>
              <a:spcAft>
                <a:spcPts val="0"/>
              </a:spcAft>
              <a:buClr>
                <a:schemeClr val="dk1"/>
              </a:buClr>
              <a:buSzPct val="100000"/>
              <a:buNone/>
            </a:pPr>
            <a:endParaRPr dirty="0"/>
          </a:p>
        </p:txBody>
      </p:sp>
      <p:sp>
        <p:nvSpPr>
          <p:cNvPr id="4" name="TextBox 3">
            <a:extLst>
              <a:ext uri="{FF2B5EF4-FFF2-40B4-BE49-F238E27FC236}">
                <a16:creationId xmlns:a16="http://schemas.microsoft.com/office/drawing/2014/main" id="{14CCED5C-C3A4-0155-4AA2-FC7361DDB4AE}"/>
              </a:ext>
            </a:extLst>
          </p:cNvPr>
          <p:cNvSpPr txBox="1"/>
          <p:nvPr/>
        </p:nvSpPr>
        <p:spPr>
          <a:xfrm>
            <a:off x="4393292" y="44077"/>
            <a:ext cx="3405416" cy="646331"/>
          </a:xfrm>
          <a:prstGeom prst="rect">
            <a:avLst/>
          </a:prstGeom>
          <a:noFill/>
        </p:spPr>
        <p:txBody>
          <a:bodyPr wrap="square" rtlCol="0">
            <a:spAutoFit/>
          </a:bodyPr>
          <a:lstStyle/>
          <a:p>
            <a:pPr algn="ctr"/>
            <a:r>
              <a:rPr lang="en-US" sz="1800" b="1" dirty="0">
                <a:latin typeface="Times New Roman" panose="02020603050405020304" pitchFamily="18" charset="0"/>
                <a:cs typeface="Times New Roman" panose="02020603050405020304" pitchFamily="18" charset="0"/>
              </a:rPr>
              <a:t>Ph.D. Registration Seminar </a:t>
            </a:r>
          </a:p>
          <a:p>
            <a:pPr algn="ctr"/>
            <a:r>
              <a:rPr lang="en-US" sz="1800" b="1" i="1" dirty="0">
                <a:latin typeface="Times New Roman" panose="02020603050405020304" pitchFamily="18" charset="0"/>
                <a:cs typeface="Times New Roman" panose="02020603050405020304" pitchFamily="18" charset="0"/>
              </a:rPr>
              <a:t>on</a:t>
            </a:r>
            <a:endParaRPr lang="en-IN" sz="1800" b="1" i="1" dirty="0">
              <a:latin typeface="Times New Roman" panose="02020603050405020304" pitchFamily="18" charset="0"/>
              <a:cs typeface="Times New Roman" panose="02020603050405020304" pitchFamily="18" charset="0"/>
            </a:endParaRPr>
          </a:p>
        </p:txBody>
      </p:sp>
      <p:sp>
        <p:nvSpPr>
          <p:cNvPr id="5" name="Rectangle: Rounded Corners 4">
            <a:extLst>
              <a:ext uri="{FF2B5EF4-FFF2-40B4-BE49-F238E27FC236}">
                <a16:creationId xmlns:a16="http://schemas.microsoft.com/office/drawing/2014/main" id="{5A6C846C-173E-F9E2-24CD-A70C10ABCE4F}"/>
              </a:ext>
            </a:extLst>
          </p:cNvPr>
          <p:cNvSpPr/>
          <p:nvPr/>
        </p:nvSpPr>
        <p:spPr>
          <a:xfrm>
            <a:off x="1239919" y="755251"/>
            <a:ext cx="9655278" cy="930277"/>
          </a:xfrm>
          <a:prstGeom prst="roundRect">
            <a:avLst/>
          </a:prstGeom>
          <a:solidFill>
            <a:schemeClr val="bg1"/>
          </a:solidFill>
          <a:ln>
            <a:solidFill>
              <a:srgbClr val="00B0F0"/>
            </a:solidFill>
          </a:ln>
        </p:spPr>
        <p:style>
          <a:lnRef idx="1">
            <a:schemeClr val="dk1"/>
          </a:lnRef>
          <a:fillRef idx="2">
            <a:schemeClr val="dk1"/>
          </a:fillRef>
          <a:effectRef idx="1">
            <a:schemeClr val="dk1"/>
          </a:effectRef>
          <a:fontRef idx="minor">
            <a:schemeClr val="dk1"/>
          </a:fontRef>
        </p:style>
        <p:txBody>
          <a:bodyPr rtlCol="0" anchor="ctr"/>
          <a:lstStyle/>
          <a:p>
            <a:pPr algn="ctr"/>
            <a:endParaRPr lang="en-IN"/>
          </a:p>
        </p:txBody>
      </p:sp>
      <p:sp>
        <p:nvSpPr>
          <p:cNvPr id="6" name="TextBox 5">
            <a:extLst>
              <a:ext uri="{FF2B5EF4-FFF2-40B4-BE49-F238E27FC236}">
                <a16:creationId xmlns:a16="http://schemas.microsoft.com/office/drawing/2014/main" id="{BE7F41A4-A27E-9F5D-9B84-D85494C4C715}"/>
              </a:ext>
            </a:extLst>
          </p:cNvPr>
          <p:cNvSpPr txBox="1"/>
          <p:nvPr/>
        </p:nvSpPr>
        <p:spPr>
          <a:xfrm>
            <a:off x="1392687" y="739761"/>
            <a:ext cx="9479177" cy="954107"/>
          </a:xfrm>
          <a:prstGeom prst="rect">
            <a:avLst/>
          </a:prstGeom>
          <a:noFill/>
        </p:spPr>
        <p:txBody>
          <a:bodyPr wrap="square" rtlCol="0">
            <a:spAutoFit/>
          </a:bodyPr>
          <a:lstStyle/>
          <a:p>
            <a:pPr algn="ctr"/>
            <a:r>
              <a:rPr lang="en-IN" sz="2800" b="1" dirty="0">
                <a:solidFill>
                  <a:srgbClr val="1552DB"/>
                </a:solidFill>
                <a:latin typeface="Times New Roman"/>
                <a:ea typeface="Times New Roman"/>
                <a:cs typeface="Times New Roman"/>
                <a:sym typeface="Times New Roman"/>
              </a:rPr>
              <a:t>Machine Learning based Robotic Wire Arc Additive Manufacturing for Inconel 617 Alloy</a:t>
            </a:r>
            <a:endParaRPr lang="en-IN" sz="2800" dirty="0">
              <a:solidFill>
                <a:srgbClr val="1552DB"/>
              </a:solidFill>
            </a:endParaRPr>
          </a:p>
        </p:txBody>
      </p:sp>
      <p:sp>
        <p:nvSpPr>
          <p:cNvPr id="8" name="TextBox 7">
            <a:extLst>
              <a:ext uri="{FF2B5EF4-FFF2-40B4-BE49-F238E27FC236}">
                <a16:creationId xmlns:a16="http://schemas.microsoft.com/office/drawing/2014/main" id="{ADC004A5-0AFF-DC86-9DBD-29950DA922B5}"/>
              </a:ext>
            </a:extLst>
          </p:cNvPr>
          <p:cNvSpPr txBox="1"/>
          <p:nvPr/>
        </p:nvSpPr>
        <p:spPr>
          <a:xfrm>
            <a:off x="3303639" y="2936013"/>
            <a:ext cx="5657275" cy="1168077"/>
          </a:xfrm>
          <a:prstGeom prst="rect">
            <a:avLst/>
          </a:prstGeom>
          <a:noFill/>
        </p:spPr>
        <p:txBody>
          <a:bodyPr wrap="square">
            <a:spAutoFit/>
          </a:bodyPr>
          <a:lstStyle/>
          <a:p>
            <a:pPr marL="0" indent="0" algn="ctr">
              <a:lnSpc>
                <a:spcPct val="120000"/>
              </a:lnSpc>
              <a:spcBef>
                <a:spcPts val="600"/>
              </a:spcBef>
              <a:buNone/>
            </a:pPr>
            <a:r>
              <a:rPr lang="en-IN" sz="2000" dirty="0">
                <a:solidFill>
                  <a:srgbClr val="0000FF"/>
                </a:solidFill>
                <a:latin typeface="Times New Roman" panose="02020603050405020304" pitchFamily="18" charset="0"/>
                <a:cs typeface="Times New Roman" panose="02020603050405020304" pitchFamily="18" charset="0"/>
              </a:rPr>
              <a:t>Supervisor</a:t>
            </a:r>
          </a:p>
          <a:p>
            <a:pPr algn="ctr">
              <a:lnSpc>
                <a:spcPct val="120000"/>
              </a:lnSpc>
            </a:pPr>
            <a:r>
              <a:rPr lang="en-IN" sz="2000" dirty="0">
                <a:latin typeface="Times New Roman" panose="02020603050405020304" pitchFamily="18" charset="0"/>
                <a:cs typeface="Times New Roman" panose="02020603050405020304" pitchFamily="18" charset="0"/>
              </a:rPr>
              <a:t>    </a:t>
            </a:r>
            <a:r>
              <a:rPr lang="en-IN" sz="2000" b="1" dirty="0" err="1">
                <a:solidFill>
                  <a:srgbClr val="FF0066"/>
                </a:solidFill>
                <a:latin typeface="Times New Roman" panose="02020603050405020304" pitchFamily="18" charset="0"/>
                <a:ea typeface="Times New Roman"/>
                <a:cs typeface="Times New Roman" panose="02020603050405020304" pitchFamily="18" charset="0"/>
                <a:sym typeface="Times New Roman"/>
              </a:rPr>
              <a:t>Dr.</a:t>
            </a:r>
            <a:r>
              <a:rPr lang="en-IN" sz="2000" b="1" dirty="0">
                <a:solidFill>
                  <a:srgbClr val="FF0066"/>
                </a:solidFill>
                <a:latin typeface="Times New Roman" panose="02020603050405020304" pitchFamily="18" charset="0"/>
                <a:ea typeface="Times New Roman"/>
                <a:cs typeface="Times New Roman" panose="02020603050405020304" pitchFamily="18" charset="0"/>
                <a:sym typeface="Times New Roman"/>
              </a:rPr>
              <a:t> Ravi Kumar Mandava</a:t>
            </a:r>
            <a:endParaRPr lang="en-IN" sz="2000" dirty="0">
              <a:latin typeface="Times New Roman" panose="02020603050405020304" pitchFamily="18" charset="0"/>
              <a:cs typeface="Times New Roman" panose="02020603050405020304" pitchFamily="18" charset="0"/>
            </a:endParaRPr>
          </a:p>
          <a:p>
            <a:pPr algn="ctr">
              <a:lnSpc>
                <a:spcPct val="120000"/>
              </a:lnSpc>
            </a:pPr>
            <a:r>
              <a:rPr lang="en-IN" sz="2000" dirty="0">
                <a:latin typeface="Times New Roman" panose="02020603050405020304" pitchFamily="18" charset="0"/>
                <a:cs typeface="Times New Roman" panose="02020603050405020304" pitchFamily="18" charset="0"/>
              </a:rPr>
              <a:t>  Asst. Professor</a:t>
            </a:r>
          </a:p>
        </p:txBody>
      </p:sp>
      <p:sp>
        <p:nvSpPr>
          <p:cNvPr id="3" name="TextBox 2">
            <a:extLst>
              <a:ext uri="{FF2B5EF4-FFF2-40B4-BE49-F238E27FC236}">
                <a16:creationId xmlns:a16="http://schemas.microsoft.com/office/drawing/2014/main" id="{CDFC0554-60DA-232A-46D9-E2E7BF056493}"/>
              </a:ext>
            </a:extLst>
          </p:cNvPr>
          <p:cNvSpPr txBox="1"/>
          <p:nvPr/>
        </p:nvSpPr>
        <p:spPr>
          <a:xfrm>
            <a:off x="2968171" y="1760206"/>
            <a:ext cx="6255657" cy="1323439"/>
          </a:xfrm>
          <a:prstGeom prst="rect">
            <a:avLst/>
          </a:prstGeom>
          <a:noFill/>
        </p:spPr>
        <p:txBody>
          <a:bodyPr wrap="square">
            <a:spAutoFit/>
          </a:bodyPr>
          <a:lstStyle/>
          <a:p>
            <a:pPr algn="ctr"/>
            <a:r>
              <a:rPr lang="en-IN" sz="2000" i="1" dirty="0">
                <a:latin typeface="Times New Roman" panose="02020603050405020304" pitchFamily="18" charset="0"/>
                <a:cs typeface="Times New Roman" panose="02020603050405020304" pitchFamily="18" charset="0"/>
              </a:rPr>
              <a:t>by</a:t>
            </a:r>
            <a:br>
              <a:rPr lang="en-IN" sz="2000" dirty="0">
                <a:latin typeface="Times New Roman" panose="02020603050405020304" pitchFamily="18" charset="0"/>
                <a:cs typeface="Times New Roman" panose="02020603050405020304" pitchFamily="18" charset="0"/>
              </a:rPr>
            </a:br>
            <a:r>
              <a:rPr lang="en-IN" sz="2000" b="1" dirty="0">
                <a:solidFill>
                  <a:srgbClr val="C00000"/>
                </a:solidFill>
                <a:latin typeface="Times New Roman"/>
                <a:ea typeface="Times New Roman"/>
                <a:cs typeface="Times New Roman"/>
                <a:sym typeface="Times New Roman"/>
              </a:rPr>
              <a:t>Mr. V </a:t>
            </a:r>
            <a:r>
              <a:rPr lang="en-IN" sz="2000" b="1" dirty="0" err="1">
                <a:solidFill>
                  <a:srgbClr val="C00000"/>
                </a:solidFill>
                <a:latin typeface="Times New Roman"/>
                <a:ea typeface="Times New Roman"/>
                <a:cs typeface="Times New Roman"/>
                <a:sym typeface="Times New Roman"/>
              </a:rPr>
              <a:t>V</a:t>
            </a:r>
            <a:r>
              <a:rPr lang="en-IN" sz="2000" b="1" dirty="0">
                <a:solidFill>
                  <a:srgbClr val="C00000"/>
                </a:solidFill>
                <a:latin typeface="Times New Roman"/>
                <a:ea typeface="Times New Roman"/>
                <a:cs typeface="Times New Roman"/>
                <a:sym typeface="Times New Roman"/>
              </a:rPr>
              <a:t> D Praveen </a:t>
            </a:r>
            <a:r>
              <a:rPr lang="en-IN" sz="2000" b="1" dirty="0" err="1">
                <a:solidFill>
                  <a:srgbClr val="C00000"/>
                </a:solidFill>
                <a:latin typeface="Times New Roman"/>
                <a:ea typeface="Times New Roman"/>
                <a:cs typeface="Times New Roman"/>
                <a:sym typeface="Times New Roman"/>
              </a:rPr>
              <a:t>Kalepu</a:t>
            </a:r>
            <a:r>
              <a:rPr lang="en-IN" sz="2000" b="1" dirty="0">
                <a:solidFill>
                  <a:srgbClr val="C00000"/>
                </a:solidFill>
                <a:latin typeface="Times New Roman"/>
                <a:ea typeface="Times New Roman"/>
                <a:cs typeface="Times New Roman"/>
                <a:sym typeface="Times New Roman"/>
              </a:rPr>
              <a:t> </a:t>
            </a:r>
            <a:r>
              <a:rPr lang="en-IN" sz="2000" b="1" dirty="0">
                <a:solidFill>
                  <a:srgbClr val="C00000"/>
                </a:solidFill>
                <a:latin typeface="Times New Roman" panose="02020603050405020304" pitchFamily="18" charset="0"/>
                <a:cs typeface="Times New Roman" panose="02020603050405020304" pitchFamily="18" charset="0"/>
              </a:rPr>
              <a:t>(323ME0003)</a:t>
            </a:r>
            <a:br>
              <a:rPr lang="en-IN" sz="2000" b="1" dirty="0">
                <a:solidFill>
                  <a:srgbClr val="7030A0"/>
                </a:solidFill>
                <a:latin typeface="Times New Roman" panose="02020603050405020304" pitchFamily="18" charset="0"/>
                <a:cs typeface="Times New Roman" panose="02020603050405020304" pitchFamily="18" charset="0"/>
              </a:rPr>
            </a:br>
            <a:r>
              <a:rPr lang="en-IN" sz="2000" b="1" dirty="0">
                <a:solidFill>
                  <a:srgbClr val="7030A0"/>
                </a:solidFill>
                <a:latin typeface="Times New Roman" panose="02020603050405020304" pitchFamily="18" charset="0"/>
                <a:cs typeface="Times New Roman" panose="02020603050405020304" pitchFamily="18" charset="0"/>
              </a:rPr>
              <a:t>Research Scholar </a:t>
            </a:r>
            <a:br>
              <a:rPr lang="en-IN" sz="2000" dirty="0">
                <a:latin typeface="Times New Roman" panose="02020603050405020304" pitchFamily="18" charset="0"/>
                <a:cs typeface="Times New Roman" panose="02020603050405020304" pitchFamily="18" charset="0"/>
              </a:rPr>
            </a:br>
            <a:endParaRPr lang="en-IN" sz="2000" dirty="0"/>
          </a:p>
        </p:txBody>
      </p:sp>
      <p:sp>
        <p:nvSpPr>
          <p:cNvPr id="9" name="TextBox 8">
            <a:extLst>
              <a:ext uri="{FF2B5EF4-FFF2-40B4-BE49-F238E27FC236}">
                <a16:creationId xmlns:a16="http://schemas.microsoft.com/office/drawing/2014/main" id="{6F767398-3D18-E3C5-1F6F-AD21BA9C23E5}"/>
              </a:ext>
            </a:extLst>
          </p:cNvPr>
          <p:cNvSpPr txBox="1"/>
          <p:nvPr/>
        </p:nvSpPr>
        <p:spPr>
          <a:xfrm>
            <a:off x="3127828" y="5710698"/>
            <a:ext cx="6096000" cy="707886"/>
          </a:xfrm>
          <a:prstGeom prst="rect">
            <a:avLst/>
          </a:prstGeom>
          <a:noFill/>
        </p:spPr>
        <p:txBody>
          <a:bodyPr wrap="square">
            <a:spAutoFit/>
          </a:bodyPr>
          <a:lstStyle/>
          <a:p>
            <a:pPr algn="ctr"/>
            <a:r>
              <a:rPr lang="en-IN" sz="2000" dirty="0">
                <a:latin typeface="Times New Roman" panose="02020603050405020304" pitchFamily="18" charset="0"/>
                <a:cs typeface="Times New Roman" panose="02020603050405020304" pitchFamily="18" charset="0"/>
              </a:rPr>
              <a:t>Department of Mechanical Engineering</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IIITDM Kurnool</a:t>
            </a:r>
            <a:endParaRPr lang="en-I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6" name="Google Shape;96;p14"/>
          <p:cNvSpPr txBox="1">
            <a:spLocks noGrp="1"/>
          </p:cNvSpPr>
          <p:nvPr>
            <p:ph type="subTitle" idx="1"/>
          </p:nvPr>
        </p:nvSpPr>
        <p:spPr>
          <a:xfrm>
            <a:off x="1028393" y="951470"/>
            <a:ext cx="9777259" cy="5449330"/>
          </a:xfrm>
          <a:prstGeom prst="rect">
            <a:avLst/>
          </a:prstGeom>
          <a:noFill/>
          <a:ln>
            <a:noFill/>
          </a:ln>
        </p:spPr>
        <p:txBody>
          <a:bodyPr spcFirstLastPara="1" wrap="square" lIns="91425" tIns="45700" rIns="91425" bIns="45700" anchor="t" anchorCtr="0">
            <a:normAutofit fontScale="25000" lnSpcReduction="20000"/>
          </a:bodyPr>
          <a:lstStyle/>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Introduction </a:t>
            </a:r>
          </a:p>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Motivation</a:t>
            </a:r>
          </a:p>
          <a:p>
            <a:pPr marL="342900" lvl="0" indent="-342900" algn="just" rtl="0">
              <a:lnSpc>
                <a:spcPct val="120000"/>
              </a:lnSpc>
              <a:spcBef>
                <a:spcPts val="1000"/>
              </a:spcBef>
              <a:spcAft>
                <a:spcPts val="0"/>
              </a:spcAft>
              <a:buClr>
                <a:schemeClr val="dk1"/>
              </a:buClr>
              <a:buSzPts val="2400"/>
              <a:buFont typeface="Wingdings" panose="05000000000000000000" pitchFamily="2" charset="2"/>
              <a:buChar char="Ø"/>
            </a:pPr>
            <a:r>
              <a:rPr lang="en-IN" sz="8000" b="1" dirty="0">
                <a:latin typeface="Times New Roman" panose="02020603050405020304" pitchFamily="18" charset="0"/>
                <a:cs typeface="Times New Roman" panose="02020603050405020304" pitchFamily="18" charset="0"/>
              </a:rPr>
              <a:t>Applications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Literature review</a:t>
            </a:r>
          </a:p>
          <a:p>
            <a:pPr marL="34290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Research Gaps</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Objectives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Work done so far</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Experimentation </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ML optimization</a:t>
            </a:r>
          </a:p>
          <a:p>
            <a:pPr marL="342900" lvl="0" indent="-342900" algn="just">
              <a:lnSpc>
                <a:spcPct val="120000"/>
              </a:lnSpc>
              <a:buFont typeface="Wingdings" panose="05000000000000000000" pitchFamily="2" charset="2"/>
              <a:buChar char="Ø"/>
            </a:pPr>
            <a:r>
              <a:rPr lang="en-US" sz="8000" b="1" dirty="0">
                <a:latin typeface="Times New Roman" panose="02020603050405020304" pitchFamily="18" charset="0"/>
                <a:cs typeface="Times New Roman" panose="02020603050405020304" pitchFamily="18" charset="0"/>
              </a:rPr>
              <a:t>Results and discussion</a:t>
            </a:r>
          </a:p>
          <a:p>
            <a:pPr marL="342900" lvl="0" indent="-342900" algn="just" rtl="0">
              <a:lnSpc>
                <a:spcPct val="120000"/>
              </a:lnSpc>
              <a:spcBef>
                <a:spcPts val="1000"/>
              </a:spcBef>
              <a:spcAft>
                <a:spcPts val="0"/>
              </a:spcAft>
              <a:buClr>
                <a:schemeClr val="dk1"/>
              </a:buClr>
              <a:buSzPts val="2400"/>
              <a:buFont typeface="Noto Sans Symbols"/>
              <a:buChar char="⮚"/>
            </a:pPr>
            <a:r>
              <a:rPr lang="en-US" sz="8000" b="1" dirty="0">
                <a:latin typeface="Times New Roman" panose="02020603050405020304" pitchFamily="18" charset="0"/>
                <a:cs typeface="Times New Roman" panose="02020603050405020304" pitchFamily="18" charset="0"/>
              </a:rPr>
              <a:t>Conclusions </a:t>
            </a:r>
          </a:p>
          <a:p>
            <a:pPr marL="342900" lvl="0" indent="-342900" algn="just" rtl="0">
              <a:lnSpc>
                <a:spcPct val="120000"/>
              </a:lnSpc>
              <a:spcBef>
                <a:spcPts val="1000"/>
              </a:spcBef>
              <a:spcAft>
                <a:spcPts val="0"/>
              </a:spcAft>
              <a:buClr>
                <a:schemeClr val="dk1"/>
              </a:buClr>
              <a:buSzPts val="2400"/>
              <a:buFont typeface="Noto Sans Symbols"/>
              <a:buChar char="⮚"/>
            </a:pPr>
            <a:r>
              <a:rPr lang="en-US" sz="8000" b="1" dirty="0">
                <a:latin typeface="Times New Roman" panose="02020603050405020304" pitchFamily="18" charset="0"/>
                <a:cs typeface="Times New Roman" panose="02020603050405020304" pitchFamily="18" charset="0"/>
              </a:rPr>
              <a:t>References</a:t>
            </a:r>
          </a:p>
          <a:p>
            <a:pPr marL="342900" lvl="0" indent="-342900" algn="just" rtl="0">
              <a:lnSpc>
                <a:spcPct val="160000"/>
              </a:lnSpc>
              <a:spcBef>
                <a:spcPts val="1000"/>
              </a:spcBef>
              <a:spcAft>
                <a:spcPts val="0"/>
              </a:spcAft>
              <a:buClr>
                <a:schemeClr val="dk1"/>
              </a:buClr>
              <a:buSzPts val="2400"/>
              <a:buFont typeface="Noto Sans Symbols"/>
              <a:buChar char="⮚"/>
            </a:pPr>
            <a:endParaRPr lang="en-US"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342900" lvl="0" indent="-342900" algn="just" rtl="0">
              <a:lnSpc>
                <a:spcPct val="160000"/>
              </a:lnSpc>
              <a:spcBef>
                <a:spcPts val="1000"/>
              </a:spcBef>
              <a:spcAft>
                <a:spcPts val="0"/>
              </a:spcAft>
              <a:buClr>
                <a:schemeClr val="dk1"/>
              </a:buClr>
              <a:buSzPts val="2400"/>
              <a:buFont typeface="Noto Sans Symbols"/>
              <a:buChar char="⮚"/>
            </a:pPr>
            <a:endParaRPr lang="en-IN" sz="2800" dirty="0">
              <a:latin typeface="Times New Roman" panose="02020603050405020304" pitchFamily="18" charset="0"/>
              <a:cs typeface="Times New Roman" panose="02020603050405020304" pitchFamily="18" charset="0"/>
            </a:endParaRPr>
          </a:p>
          <a:p>
            <a:pPr marL="0" lvl="0" indent="0" algn="just" rtl="0">
              <a:lnSpc>
                <a:spcPct val="160000"/>
              </a:lnSpc>
              <a:spcBef>
                <a:spcPts val="1000"/>
              </a:spcBef>
              <a:spcAft>
                <a:spcPts val="0"/>
              </a:spcAft>
              <a:buClr>
                <a:schemeClr val="dk1"/>
              </a:buClr>
              <a:buSzPts val="2400"/>
            </a:pPr>
            <a:endParaRPr lang="en-IN" sz="2200" dirty="0">
              <a:latin typeface="Times New Roman" panose="02020603050405020304" pitchFamily="18" charset="0"/>
              <a:cs typeface="Times New Roman" panose="02020603050405020304" pitchFamily="18" charset="0"/>
            </a:endParaRPr>
          </a:p>
          <a:p>
            <a:pPr marL="0" lvl="0" indent="0" algn="ctr" rtl="0">
              <a:lnSpc>
                <a:spcPct val="90000"/>
              </a:lnSpc>
              <a:spcBef>
                <a:spcPts val="1000"/>
              </a:spcBef>
              <a:spcAft>
                <a:spcPts val="0"/>
              </a:spcAft>
              <a:buClr>
                <a:schemeClr val="dk1"/>
              </a:buClr>
              <a:buSzPts val="2400"/>
              <a:buNone/>
            </a:pPr>
            <a:endParaRPr dirty="0"/>
          </a:p>
        </p:txBody>
      </p:sp>
      <p:pic>
        <p:nvPicPr>
          <p:cNvPr id="97" name="Google Shape;97;p14"/>
          <p:cNvPicPr preferRelativeResize="0"/>
          <p:nvPr/>
        </p:nvPicPr>
        <p:blipFill rotWithShape="1">
          <a:blip r:embed="rId3">
            <a:alphaModFix/>
          </a:blip>
          <a:srcRect/>
          <a:stretch/>
        </p:blipFill>
        <p:spPr>
          <a:xfrm>
            <a:off x="11013048" y="0"/>
            <a:ext cx="1178952" cy="1153972"/>
          </a:xfrm>
          <a:prstGeom prst="rect">
            <a:avLst/>
          </a:prstGeom>
          <a:noFill/>
          <a:ln>
            <a:noFill/>
          </a:ln>
        </p:spPr>
      </p:pic>
      <p:grpSp>
        <p:nvGrpSpPr>
          <p:cNvPr id="2" name="object 17">
            <a:extLst>
              <a:ext uri="{FF2B5EF4-FFF2-40B4-BE49-F238E27FC236}">
                <a16:creationId xmlns:a16="http://schemas.microsoft.com/office/drawing/2014/main" id="{D1269BEE-8A68-3224-4271-C22FD69B7AD2}"/>
              </a:ext>
            </a:extLst>
          </p:cNvPr>
          <p:cNvGrpSpPr/>
          <p:nvPr/>
        </p:nvGrpSpPr>
        <p:grpSpPr>
          <a:xfrm>
            <a:off x="0" y="6512552"/>
            <a:ext cx="12192000" cy="345448"/>
            <a:chOff x="0" y="3346348"/>
            <a:chExt cx="4608195" cy="109855"/>
          </a:xfrm>
        </p:grpSpPr>
        <p:sp>
          <p:nvSpPr>
            <p:cNvPr id="3" name="object 18">
              <a:extLst>
                <a:ext uri="{FF2B5EF4-FFF2-40B4-BE49-F238E27FC236}">
                  <a16:creationId xmlns:a16="http://schemas.microsoft.com/office/drawing/2014/main" id="{312833CE-F70A-5506-16E1-3AE7562C31A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72BA5081-D254-7B6C-7D48-E412477DF91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sp>
          <p:nvSpPr>
            <p:cNvPr id="5" name="object 20">
              <a:extLst>
                <a:ext uri="{FF2B5EF4-FFF2-40B4-BE49-F238E27FC236}">
                  <a16:creationId xmlns:a16="http://schemas.microsoft.com/office/drawing/2014/main" id="{C562C708-10AC-A7B4-9C76-94CFD29FA7B0}"/>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a:t>
              </a:r>
              <a:r>
                <a:rPr lang="en-US" dirty="0"/>
                <a:t>2/30</a:t>
              </a:r>
              <a:endParaRPr dirty="0"/>
            </a:p>
          </p:txBody>
        </p:sp>
      </p:grpSp>
      <p:sp>
        <p:nvSpPr>
          <p:cNvPr id="6" name="Rectangle: Rounded Corners 5">
            <a:extLst>
              <a:ext uri="{FF2B5EF4-FFF2-40B4-BE49-F238E27FC236}">
                <a16:creationId xmlns:a16="http://schemas.microsoft.com/office/drawing/2014/main" id="{1E256D97-30D6-7F20-C9ED-6FD17A1AAD18}"/>
              </a:ext>
            </a:extLst>
          </p:cNvPr>
          <p:cNvSpPr/>
          <p:nvPr/>
        </p:nvSpPr>
        <p:spPr>
          <a:xfrm>
            <a:off x="992459" y="188267"/>
            <a:ext cx="9360910" cy="639097"/>
          </a:xfrm>
          <a:prstGeom prst="roundRect">
            <a:avLst/>
          </a:prstGeom>
          <a:solidFill>
            <a:schemeClr val="accent1">
              <a:lumMod val="20000"/>
              <a:lumOff val="80000"/>
            </a:schemeClr>
          </a:solidFill>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Contents</a:t>
            </a:r>
            <a:endParaRPr lang="en-IN" sz="2800" b="1" dirty="0">
              <a:solidFill>
                <a:srgbClr val="00206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5189E0D-6448-1C2E-0EEB-19FD96C81A1D}"/>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Introduction about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455BCA3-D4C5-E9B1-7B4B-4203C0399228}"/>
              </a:ext>
            </a:extLst>
          </p:cNvPr>
          <p:cNvSpPr txBox="1"/>
          <p:nvPr/>
        </p:nvSpPr>
        <p:spPr>
          <a:xfrm>
            <a:off x="155742" y="1036037"/>
            <a:ext cx="7735655" cy="4462760"/>
          </a:xfrm>
          <a:prstGeom prst="rect">
            <a:avLst/>
          </a:prstGeom>
          <a:noFill/>
        </p:spPr>
        <p:txBody>
          <a:bodyPr wrap="square" rtlCol="0">
            <a:spAutoFit/>
          </a:bodyPr>
          <a:lstStyle/>
          <a:p>
            <a:pPr marL="285750" indent="-285750" algn="just">
              <a:spcBef>
                <a:spcPts val="600"/>
              </a:spcBef>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Human Activity Recognition (HAR)</a:t>
            </a:r>
            <a:r>
              <a:rPr lang="en-US" sz="2000" dirty="0">
                <a:latin typeface="Times New Roman" panose="02020603050405020304" pitchFamily="18" charset="0"/>
                <a:cs typeface="Times New Roman" panose="02020603050405020304" pitchFamily="18" charset="0"/>
              </a:rPr>
              <a:t> refers to automatically identifying and classifying human actions from sensor or motion data.</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HAR analyzes </a:t>
            </a:r>
            <a:r>
              <a:rPr lang="en-US" altLang="en-US" sz="2000" b="1" dirty="0">
                <a:solidFill>
                  <a:schemeClr val="tx1"/>
                </a:solidFill>
                <a:latin typeface="Times New Roman" panose="02020603050405020304" pitchFamily="18" charset="0"/>
                <a:cs typeface="Times New Roman" panose="02020603050405020304" pitchFamily="18" charset="0"/>
              </a:rPr>
              <a:t>body movement patterns</a:t>
            </a:r>
            <a:r>
              <a:rPr lang="en-US" altLang="en-US" sz="2000" dirty="0">
                <a:solidFill>
                  <a:schemeClr val="tx1"/>
                </a:solidFill>
                <a:latin typeface="Times New Roman" panose="02020603050405020304" pitchFamily="18" charset="0"/>
                <a:cs typeface="Times New Roman" panose="02020603050405020304" pitchFamily="18" charset="0"/>
              </a:rPr>
              <a:t> to identify activities like walking, sitting, standing, and climbing stairs.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Accurate HAR supports </a:t>
            </a:r>
            <a:r>
              <a:rPr lang="en-US" altLang="en-US" sz="2000" b="1" dirty="0">
                <a:solidFill>
                  <a:schemeClr val="tx1"/>
                </a:solidFill>
                <a:latin typeface="Times New Roman" panose="02020603050405020304" pitchFamily="18" charset="0"/>
                <a:cs typeface="Times New Roman" panose="02020603050405020304" pitchFamily="18" charset="0"/>
              </a:rPr>
              <a:t>abnormal behavior detection</a:t>
            </a:r>
            <a:r>
              <a:rPr lang="en-US" altLang="en-US" sz="2000" dirty="0">
                <a:solidFill>
                  <a:schemeClr val="tx1"/>
                </a:solidFill>
                <a:latin typeface="Times New Roman" panose="02020603050405020304" pitchFamily="18" charset="0"/>
                <a:cs typeface="Times New Roman" panose="02020603050405020304" pitchFamily="18" charset="0"/>
              </a:rPr>
              <a:t>, recovery monitoring, and safety for independent living.</a:t>
            </a:r>
          </a:p>
          <a:p>
            <a:pPr lvl="0" eaLnBrk="0" fontAlgn="base" hangingPunct="0">
              <a:spcBef>
                <a:spcPts val="600"/>
              </a:spcBef>
              <a:spcAft>
                <a:spcPct val="0"/>
              </a:spcAft>
              <a:buClrTx/>
            </a:pPr>
            <a:endParaRPr lang="en-US" sz="2000" dirty="0">
              <a:latin typeface="Times New Roman" panose="02020603050405020304" pitchFamily="18" charset="0"/>
              <a:cs typeface="Times New Roman" panose="02020603050405020304" pitchFamily="18" charset="0"/>
            </a:endParaRPr>
          </a:p>
          <a:p>
            <a:pPr algn="just">
              <a:spcBef>
                <a:spcPts val="600"/>
              </a:spcBef>
            </a:pPr>
            <a:r>
              <a:rPr lang="en-US" sz="2400" b="1" dirty="0">
                <a:latin typeface="Times New Roman" panose="02020603050405020304" pitchFamily="18" charset="0"/>
                <a:cs typeface="Times New Roman" panose="02020603050405020304" pitchFamily="18" charset="0"/>
              </a:rPr>
              <a:t>Why HAR is needed ?</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Monitor patient movements for rehabilitation and recovery progress.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Enhance surveillance systems with automatic threat detection.</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Enable robots to understand and respond to human actions.</a:t>
            </a:r>
          </a:p>
          <a:p>
            <a:pPr marL="342900" indent="-342900" algn="just">
              <a:spcBef>
                <a:spcPts val="600"/>
              </a:spcBef>
              <a:buFont typeface="Wingdings" panose="05000000000000000000" pitchFamily="2" charset="2"/>
              <a:buChar char="q"/>
            </a:pPr>
            <a:r>
              <a:rPr lang="en-US" sz="2000" dirty="0">
                <a:latin typeface="Times New Roman" panose="02020603050405020304" pitchFamily="18" charset="0"/>
                <a:cs typeface="Times New Roman" panose="02020603050405020304" pitchFamily="18" charset="0"/>
              </a:rPr>
              <a:t>Improve interaction, navigation, and task coordination with humans.</a:t>
            </a:r>
          </a:p>
        </p:txBody>
      </p:sp>
      <p:grpSp>
        <p:nvGrpSpPr>
          <p:cNvPr id="21" name="Group 20">
            <a:extLst>
              <a:ext uri="{FF2B5EF4-FFF2-40B4-BE49-F238E27FC236}">
                <a16:creationId xmlns:a16="http://schemas.microsoft.com/office/drawing/2014/main" id="{01798EBA-61CB-8BFB-0478-7AFB01E152CD}"/>
              </a:ext>
            </a:extLst>
          </p:cNvPr>
          <p:cNvGrpSpPr/>
          <p:nvPr/>
        </p:nvGrpSpPr>
        <p:grpSpPr>
          <a:xfrm>
            <a:off x="0" y="6515452"/>
            <a:ext cx="12192000" cy="387879"/>
            <a:chOff x="0" y="6470121"/>
            <a:chExt cx="12192000" cy="387879"/>
          </a:xfrm>
        </p:grpSpPr>
        <p:grpSp>
          <p:nvGrpSpPr>
            <p:cNvPr id="22" name="object 17">
              <a:extLst>
                <a:ext uri="{FF2B5EF4-FFF2-40B4-BE49-F238E27FC236}">
                  <a16:creationId xmlns:a16="http://schemas.microsoft.com/office/drawing/2014/main" id="{571F77DF-10D7-2F75-A5E6-35D39089473D}"/>
                </a:ext>
              </a:extLst>
            </p:cNvPr>
            <p:cNvGrpSpPr/>
            <p:nvPr/>
          </p:nvGrpSpPr>
          <p:grpSpPr>
            <a:xfrm>
              <a:off x="0" y="6470121"/>
              <a:ext cx="12192000" cy="345448"/>
              <a:chOff x="0" y="3346348"/>
              <a:chExt cx="4608195" cy="109855"/>
            </a:xfrm>
          </p:grpSpPr>
          <p:sp>
            <p:nvSpPr>
              <p:cNvPr id="24" name="object 18">
                <a:extLst>
                  <a:ext uri="{FF2B5EF4-FFF2-40B4-BE49-F238E27FC236}">
                    <a16:creationId xmlns:a16="http://schemas.microsoft.com/office/drawing/2014/main" id="{7FB4F393-FECD-DAD5-996E-017984D17E8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5" name="object 19">
                <a:extLst>
                  <a:ext uri="{FF2B5EF4-FFF2-40B4-BE49-F238E27FC236}">
                    <a16:creationId xmlns:a16="http://schemas.microsoft.com/office/drawing/2014/main" id="{18CC83C8-AE92-C7BF-D700-9F0028DD8916}"/>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26" name="object 20">
                <a:extLst>
                  <a:ext uri="{FF2B5EF4-FFF2-40B4-BE49-F238E27FC236}">
                    <a16:creationId xmlns:a16="http://schemas.microsoft.com/office/drawing/2014/main" id="{E22B19AF-17BD-55E5-B681-E5A2C367A8B4}"/>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3/30                        </a:t>
                </a:r>
                <a:endParaRPr dirty="0"/>
              </a:p>
            </p:txBody>
          </p:sp>
        </p:grpSp>
        <p:sp>
          <p:nvSpPr>
            <p:cNvPr id="23" name="object 19">
              <a:extLst>
                <a:ext uri="{FF2B5EF4-FFF2-40B4-BE49-F238E27FC236}">
                  <a16:creationId xmlns:a16="http://schemas.microsoft.com/office/drawing/2014/main" id="{E4B04FCE-3535-7E2A-C9F3-B17AF8188310}"/>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grpSp>
      <p:pic>
        <p:nvPicPr>
          <p:cNvPr id="4" name="Google Shape;97;p14">
            <a:extLst>
              <a:ext uri="{FF2B5EF4-FFF2-40B4-BE49-F238E27FC236}">
                <a16:creationId xmlns:a16="http://schemas.microsoft.com/office/drawing/2014/main" id="{0391E1C4-F12F-8680-787F-98050260B6A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7" name="Picture 6">
            <a:extLst>
              <a:ext uri="{FF2B5EF4-FFF2-40B4-BE49-F238E27FC236}">
                <a16:creationId xmlns:a16="http://schemas.microsoft.com/office/drawing/2014/main" id="{752CE074-1755-9FDE-138A-5393748214F1}"/>
              </a:ext>
            </a:extLst>
          </p:cNvPr>
          <p:cNvPicPr>
            <a:picLocks noChangeAspect="1"/>
          </p:cNvPicPr>
          <p:nvPr/>
        </p:nvPicPr>
        <p:blipFill>
          <a:blip r:embed="rId4"/>
          <a:stretch>
            <a:fillRect/>
          </a:stretch>
        </p:blipFill>
        <p:spPr>
          <a:xfrm>
            <a:off x="8240732" y="1272329"/>
            <a:ext cx="3838536" cy="4611189"/>
          </a:xfrm>
          <a:prstGeom prst="rect">
            <a:avLst/>
          </a:prstGeom>
        </p:spPr>
      </p:pic>
    </p:spTree>
    <p:extLst>
      <p:ext uri="{BB962C8B-B14F-4D97-AF65-F5344CB8AC3E}">
        <p14:creationId xmlns:p14="http://schemas.microsoft.com/office/powerpoint/2010/main" val="2988259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31A98E9-AD47-0CE4-C7B9-7E54BFB61AA4}"/>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Applications of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17A7E052-D967-5F19-4597-CD676186DF8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6" name="Picture 5">
            <a:extLst>
              <a:ext uri="{FF2B5EF4-FFF2-40B4-BE49-F238E27FC236}">
                <a16:creationId xmlns:a16="http://schemas.microsoft.com/office/drawing/2014/main" id="{9C73D5F0-B7F3-DE50-8CFB-84FCCD1EFB4D}"/>
              </a:ext>
            </a:extLst>
          </p:cNvPr>
          <p:cNvPicPr>
            <a:picLocks noChangeAspect="1"/>
          </p:cNvPicPr>
          <p:nvPr/>
        </p:nvPicPr>
        <p:blipFill>
          <a:blip r:embed="rId3"/>
          <a:srcRect l="2266" t="4385" r="2783" b="6483"/>
          <a:stretch>
            <a:fillRect/>
          </a:stretch>
        </p:blipFill>
        <p:spPr>
          <a:xfrm>
            <a:off x="824023" y="1064713"/>
            <a:ext cx="9908346" cy="5793287"/>
          </a:xfrm>
          <a:prstGeom prst="rect">
            <a:avLst/>
          </a:prstGeom>
        </p:spPr>
      </p:pic>
    </p:spTree>
    <p:extLst>
      <p:ext uri="{BB962C8B-B14F-4D97-AF65-F5344CB8AC3E}">
        <p14:creationId xmlns:p14="http://schemas.microsoft.com/office/powerpoint/2010/main" val="2567258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3A705EC-C901-9416-D908-2E6D5195AAB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Sensors Types for Human Activity Recognition</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38540121-723E-AFE9-8197-7A85999C6C74}"/>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pic>
        <p:nvPicPr>
          <p:cNvPr id="4" name="Picture 3">
            <a:extLst>
              <a:ext uri="{FF2B5EF4-FFF2-40B4-BE49-F238E27FC236}">
                <a16:creationId xmlns:a16="http://schemas.microsoft.com/office/drawing/2014/main" id="{F4E03B2A-5B7E-D8EE-C2BA-644AE6D2FFEA}"/>
              </a:ext>
            </a:extLst>
          </p:cNvPr>
          <p:cNvPicPr>
            <a:picLocks noChangeAspect="1"/>
          </p:cNvPicPr>
          <p:nvPr/>
        </p:nvPicPr>
        <p:blipFill>
          <a:blip r:embed="rId3"/>
          <a:srcRect l="1457" t="4017" r="692" b="5814"/>
          <a:stretch>
            <a:fillRect/>
          </a:stretch>
        </p:blipFill>
        <p:spPr>
          <a:xfrm>
            <a:off x="0" y="963561"/>
            <a:ext cx="12288032" cy="5374609"/>
          </a:xfrm>
          <a:prstGeom prst="rect">
            <a:avLst/>
          </a:prstGeom>
        </p:spPr>
      </p:pic>
    </p:spTree>
    <p:extLst>
      <p:ext uri="{BB962C8B-B14F-4D97-AF65-F5344CB8AC3E}">
        <p14:creationId xmlns:p14="http://schemas.microsoft.com/office/powerpoint/2010/main" val="1024940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AF45-51E3-C82C-DF05-241E9A30B9B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4A2D9A6-2C88-6E43-2980-C3F673F70A03}"/>
              </a:ext>
            </a:extLst>
          </p:cNvPr>
          <p:cNvSpPr/>
          <p:nvPr/>
        </p:nvSpPr>
        <p:spPr>
          <a:xfrm>
            <a:off x="89899" y="109580"/>
            <a:ext cx="1033229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Different Approaches to Data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5" name="object 17">
            <a:extLst>
              <a:ext uri="{FF2B5EF4-FFF2-40B4-BE49-F238E27FC236}">
                <a16:creationId xmlns:a16="http://schemas.microsoft.com/office/drawing/2014/main" id="{B02D4B01-710A-86C5-A0CB-81CC8560DFAB}"/>
              </a:ext>
            </a:extLst>
          </p:cNvPr>
          <p:cNvGrpSpPr/>
          <p:nvPr/>
        </p:nvGrpSpPr>
        <p:grpSpPr>
          <a:xfrm>
            <a:off x="0" y="6521507"/>
            <a:ext cx="12233562" cy="336508"/>
            <a:chOff x="0" y="3458426"/>
            <a:chExt cx="4623904" cy="109855"/>
          </a:xfrm>
        </p:grpSpPr>
        <p:sp>
          <p:nvSpPr>
            <p:cNvPr id="17" name="object 18">
              <a:extLst>
                <a:ext uri="{FF2B5EF4-FFF2-40B4-BE49-F238E27FC236}">
                  <a16:creationId xmlns:a16="http://schemas.microsoft.com/office/drawing/2014/main" id="{E8BCA60C-96D3-4416-AA7B-B29B2352EAD1}"/>
                </a:ext>
              </a:extLst>
            </p:cNvPr>
            <p:cNvSpPr/>
            <p:nvPr/>
          </p:nvSpPr>
          <p:spPr>
            <a:xfrm>
              <a:off x="0" y="3458426"/>
              <a:ext cx="1568890"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20" name="object 20">
              <a:extLst>
                <a:ext uri="{FF2B5EF4-FFF2-40B4-BE49-F238E27FC236}">
                  <a16:creationId xmlns:a16="http://schemas.microsoft.com/office/drawing/2014/main" id="{1351B9FD-352E-2A60-DD63-6CA89A4F8B2E}"/>
                </a:ext>
              </a:extLst>
            </p:cNvPr>
            <p:cNvSpPr/>
            <p:nvPr/>
          </p:nvSpPr>
          <p:spPr>
            <a:xfrm>
              <a:off x="3087839" y="3458426"/>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6/30</a:t>
              </a:r>
              <a:endParaRPr dirty="0"/>
            </a:p>
          </p:txBody>
        </p:sp>
      </p:grpSp>
      <p:sp>
        <p:nvSpPr>
          <p:cNvPr id="27" name="TextBox 26">
            <a:extLst>
              <a:ext uri="{FF2B5EF4-FFF2-40B4-BE49-F238E27FC236}">
                <a16:creationId xmlns:a16="http://schemas.microsoft.com/office/drawing/2014/main" id="{35A6BCE2-AB64-24CC-6FF4-2397CC1B198A}"/>
              </a:ext>
            </a:extLst>
          </p:cNvPr>
          <p:cNvSpPr txBox="1"/>
          <p:nvPr/>
        </p:nvSpPr>
        <p:spPr>
          <a:xfrm>
            <a:off x="1843750" y="5519240"/>
            <a:ext cx="7971251" cy="646331"/>
          </a:xfrm>
          <a:prstGeom prst="rect">
            <a:avLst/>
          </a:prstGeom>
          <a:noFill/>
        </p:spPr>
        <p:txBody>
          <a:bodyPr wrap="square">
            <a:spAutoFit/>
          </a:bodyPr>
          <a:lstStyle/>
          <a:p>
            <a:pPr algn="ctr"/>
            <a:r>
              <a:rPr lang="en-IN" sz="1800" b="1" dirty="0">
                <a:latin typeface="Times New Roman" panose="02020603050405020304" pitchFamily="18" charset="0"/>
                <a:cs typeface="Times New Roman" panose="02020603050405020304" pitchFamily="18" charset="0"/>
              </a:rPr>
              <a:t>Fig.1. Figure (a) Data collection using Kinect sensor and figure (b) Data collection using wearable sensors </a:t>
            </a:r>
          </a:p>
        </p:txBody>
      </p:sp>
      <p:sp>
        <p:nvSpPr>
          <p:cNvPr id="4" name="object 19">
            <a:extLst>
              <a:ext uri="{FF2B5EF4-FFF2-40B4-BE49-F238E27FC236}">
                <a16:creationId xmlns:a16="http://schemas.microsoft.com/office/drawing/2014/main" id="{00621A7D-E8CD-0F2D-AD6D-6EEEE81060C7}"/>
              </a:ext>
            </a:extLst>
          </p:cNvPr>
          <p:cNvSpPr/>
          <p:nvPr/>
        </p:nvSpPr>
        <p:spPr>
          <a:xfrm>
            <a:off x="4150846" y="6514836"/>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nvGrpSpPr>
          <p:cNvPr id="46" name="Group 45">
            <a:extLst>
              <a:ext uri="{FF2B5EF4-FFF2-40B4-BE49-F238E27FC236}">
                <a16:creationId xmlns:a16="http://schemas.microsoft.com/office/drawing/2014/main" id="{8AC412BF-FDE0-F4A6-F26C-9768BA118978}"/>
              </a:ext>
            </a:extLst>
          </p:cNvPr>
          <p:cNvGrpSpPr/>
          <p:nvPr/>
        </p:nvGrpSpPr>
        <p:grpSpPr>
          <a:xfrm>
            <a:off x="0" y="1015594"/>
            <a:ext cx="7854696" cy="4079242"/>
            <a:chOff x="219074" y="1008923"/>
            <a:chExt cx="8303134" cy="4276725"/>
          </a:xfrm>
        </p:grpSpPr>
        <p:pic>
          <p:nvPicPr>
            <p:cNvPr id="36" name="Picture 35">
              <a:extLst>
                <a:ext uri="{FF2B5EF4-FFF2-40B4-BE49-F238E27FC236}">
                  <a16:creationId xmlns:a16="http://schemas.microsoft.com/office/drawing/2014/main" id="{3E1896B6-3F5D-3C72-1701-46022E86582D}"/>
                </a:ext>
              </a:extLst>
            </p:cNvPr>
            <p:cNvPicPr>
              <a:picLocks noChangeAspect="1"/>
            </p:cNvPicPr>
            <p:nvPr/>
          </p:nvPicPr>
          <p:blipFill>
            <a:blip r:embed="rId3"/>
            <a:stretch>
              <a:fillRect/>
            </a:stretch>
          </p:blipFill>
          <p:spPr>
            <a:xfrm>
              <a:off x="219074" y="1008923"/>
              <a:ext cx="8303134" cy="4276725"/>
            </a:xfrm>
            <a:prstGeom prst="rect">
              <a:avLst/>
            </a:prstGeom>
          </p:spPr>
        </p:pic>
        <p:pic>
          <p:nvPicPr>
            <p:cNvPr id="39" name="Picture 38">
              <a:extLst>
                <a:ext uri="{FF2B5EF4-FFF2-40B4-BE49-F238E27FC236}">
                  <a16:creationId xmlns:a16="http://schemas.microsoft.com/office/drawing/2014/main" id="{D4A0178F-F01E-DE2D-C58A-C0883155A5F3}"/>
                </a:ext>
              </a:extLst>
            </p:cNvPr>
            <p:cNvPicPr>
              <a:picLocks noChangeAspect="1"/>
            </p:cNvPicPr>
            <p:nvPr/>
          </p:nvPicPr>
          <p:blipFill>
            <a:blip r:embed="rId4"/>
            <a:stretch>
              <a:fillRect/>
            </a:stretch>
          </p:blipFill>
          <p:spPr>
            <a:xfrm>
              <a:off x="466867" y="1322814"/>
              <a:ext cx="2733533" cy="3648942"/>
            </a:xfrm>
            <a:prstGeom prst="rect">
              <a:avLst/>
            </a:prstGeom>
          </p:spPr>
        </p:pic>
        <p:sp>
          <p:nvSpPr>
            <p:cNvPr id="42" name="Rectangle 41">
              <a:extLst>
                <a:ext uri="{FF2B5EF4-FFF2-40B4-BE49-F238E27FC236}">
                  <a16:creationId xmlns:a16="http://schemas.microsoft.com/office/drawing/2014/main" id="{1F0ABAB3-D2BE-157C-1118-7417F0275FCE}"/>
                </a:ext>
              </a:extLst>
            </p:cNvPr>
            <p:cNvSpPr/>
            <p:nvPr/>
          </p:nvSpPr>
          <p:spPr>
            <a:xfrm>
              <a:off x="1543574" y="5036075"/>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39DCA23E-4775-5BD5-7E3B-4D7A7C561A77}"/>
                </a:ext>
              </a:extLst>
            </p:cNvPr>
            <p:cNvSpPr/>
            <p:nvPr/>
          </p:nvSpPr>
          <p:spPr>
            <a:xfrm>
              <a:off x="4909447" y="4971756"/>
              <a:ext cx="246888" cy="247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41" name="Picture 40">
            <a:extLst>
              <a:ext uri="{FF2B5EF4-FFF2-40B4-BE49-F238E27FC236}">
                <a16:creationId xmlns:a16="http://schemas.microsoft.com/office/drawing/2014/main" id="{12D580C9-8802-D887-9401-8093BB6A1103}"/>
              </a:ext>
            </a:extLst>
          </p:cNvPr>
          <p:cNvPicPr>
            <a:picLocks noChangeAspect="1"/>
          </p:cNvPicPr>
          <p:nvPr/>
        </p:nvPicPr>
        <p:blipFill>
          <a:blip r:embed="rId5"/>
          <a:stretch>
            <a:fillRect/>
          </a:stretch>
        </p:blipFill>
        <p:spPr>
          <a:xfrm>
            <a:off x="7429501" y="1380923"/>
            <a:ext cx="4368327" cy="3529723"/>
          </a:xfrm>
          <a:prstGeom prst="rect">
            <a:avLst/>
          </a:prstGeom>
        </p:spPr>
      </p:pic>
      <p:pic>
        <p:nvPicPr>
          <p:cNvPr id="37" name="Google Shape;97;p14">
            <a:extLst>
              <a:ext uri="{FF2B5EF4-FFF2-40B4-BE49-F238E27FC236}">
                <a16:creationId xmlns:a16="http://schemas.microsoft.com/office/drawing/2014/main" id="{FE359CE8-2A05-AE67-6BCF-028CC1ABCE6F}"/>
              </a:ext>
            </a:extLst>
          </p:cNvPr>
          <p:cNvPicPr preferRelativeResize="0"/>
          <p:nvPr/>
        </p:nvPicPr>
        <p:blipFill rotWithShape="1">
          <a:blip r:embed="rId6">
            <a:alphaModFix/>
          </a:blip>
          <a:srcRect/>
          <a:stretch/>
        </p:blipFill>
        <p:spPr>
          <a:xfrm>
            <a:off x="11013048" y="0"/>
            <a:ext cx="1178952" cy="1153972"/>
          </a:xfrm>
          <a:prstGeom prst="rect">
            <a:avLst/>
          </a:prstGeom>
          <a:noFill/>
          <a:ln>
            <a:noFill/>
          </a:ln>
        </p:spPr>
      </p:pic>
      <p:sp>
        <p:nvSpPr>
          <p:cNvPr id="49" name="TextBox 48">
            <a:extLst>
              <a:ext uri="{FF2B5EF4-FFF2-40B4-BE49-F238E27FC236}">
                <a16:creationId xmlns:a16="http://schemas.microsoft.com/office/drawing/2014/main" id="{739B237E-7FC2-D5F1-2382-92BA6EEA784A}"/>
              </a:ext>
            </a:extLst>
          </p:cNvPr>
          <p:cNvSpPr txBox="1"/>
          <p:nvPr/>
        </p:nvSpPr>
        <p:spPr>
          <a:xfrm>
            <a:off x="3726011" y="5092670"/>
            <a:ext cx="402674" cy="307777"/>
          </a:xfrm>
          <a:prstGeom prst="rect">
            <a:avLst/>
          </a:prstGeom>
          <a:noFill/>
        </p:spPr>
        <p:txBody>
          <a:bodyPr wrap="none" rtlCol="0">
            <a:spAutoFit/>
          </a:bodyPr>
          <a:lstStyle/>
          <a:p>
            <a:r>
              <a:rPr lang="en-US" dirty="0"/>
              <a:t>(a)</a:t>
            </a:r>
            <a:endParaRPr lang="en-IN" dirty="0"/>
          </a:p>
        </p:txBody>
      </p:sp>
      <p:sp>
        <p:nvSpPr>
          <p:cNvPr id="50" name="TextBox 49">
            <a:extLst>
              <a:ext uri="{FF2B5EF4-FFF2-40B4-BE49-F238E27FC236}">
                <a16:creationId xmlns:a16="http://schemas.microsoft.com/office/drawing/2014/main" id="{A4169F07-788A-A455-DAD3-B167B678EFCD}"/>
              </a:ext>
            </a:extLst>
          </p:cNvPr>
          <p:cNvSpPr txBox="1"/>
          <p:nvPr/>
        </p:nvSpPr>
        <p:spPr>
          <a:xfrm>
            <a:off x="9412327" y="5092670"/>
            <a:ext cx="402674" cy="307777"/>
          </a:xfrm>
          <a:prstGeom prst="rect">
            <a:avLst/>
          </a:prstGeom>
          <a:noFill/>
        </p:spPr>
        <p:txBody>
          <a:bodyPr wrap="none" rtlCol="0">
            <a:spAutoFit/>
          </a:bodyPr>
          <a:lstStyle/>
          <a:p>
            <a:r>
              <a:rPr lang="en-US" dirty="0"/>
              <a:t>(b)</a:t>
            </a:r>
            <a:endParaRPr lang="en-IN" dirty="0"/>
          </a:p>
        </p:txBody>
      </p:sp>
    </p:spTree>
    <p:extLst>
      <p:ext uri="{BB962C8B-B14F-4D97-AF65-F5344CB8AC3E}">
        <p14:creationId xmlns:p14="http://schemas.microsoft.com/office/powerpoint/2010/main" val="70057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0"/>
            <a:lum/>
          </a:blip>
          <a:srcRect/>
          <a:stretch>
            <a:fillRect t="-39000" b="-39000"/>
          </a:stretch>
        </a:blipFill>
        <a:effectLst/>
      </p:bgPr>
    </p:bg>
    <p:spTree>
      <p:nvGrpSpPr>
        <p:cNvPr id="1" name="">
          <a:extLst>
            <a:ext uri="{FF2B5EF4-FFF2-40B4-BE49-F238E27FC236}">
              <a16:creationId xmlns:a16="http://schemas.microsoft.com/office/drawing/2014/main" id="{F73E6A26-1EA5-ECFF-DC50-C45667FEACA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7EEC279-9DC0-CCD2-E4AC-9E48E25BC62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Sensor Selection –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F5BEE8F-9F94-562B-FD5A-9576B8871C4A}"/>
              </a:ext>
            </a:extLst>
          </p:cNvPr>
          <p:cNvSpPr txBox="1"/>
          <p:nvPr/>
        </p:nvSpPr>
        <p:spPr>
          <a:xfrm>
            <a:off x="-58075" y="1084302"/>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979EF269-42CE-37D5-0EB1-5F37697AEDB8}"/>
              </a:ext>
            </a:extLst>
          </p:cNvPr>
          <p:cNvPicPr>
            <a:picLocks noChangeAspect="1"/>
          </p:cNvPicPr>
          <p:nvPr/>
        </p:nvPicPr>
        <p:blipFill>
          <a:blip r:embed="rId4"/>
          <a:stretch>
            <a:fillRect/>
          </a:stretch>
        </p:blipFill>
        <p:spPr>
          <a:xfrm>
            <a:off x="5586608" y="1257959"/>
            <a:ext cx="6188768" cy="3490852"/>
          </a:xfrm>
          <a:prstGeom prst="rect">
            <a:avLst/>
          </a:prstGeom>
        </p:spPr>
      </p:pic>
      <p:sp>
        <p:nvSpPr>
          <p:cNvPr id="10" name="Rectangle 1">
            <a:extLst>
              <a:ext uri="{FF2B5EF4-FFF2-40B4-BE49-F238E27FC236}">
                <a16:creationId xmlns:a16="http://schemas.microsoft.com/office/drawing/2014/main" id="{DA9BDAF3-6629-2BB2-F0E4-177DD6ECEE4A}"/>
              </a:ext>
            </a:extLst>
          </p:cNvPr>
          <p:cNvSpPr>
            <a:spLocks noChangeArrowheads="1"/>
          </p:cNvSpPr>
          <p:nvPr/>
        </p:nvSpPr>
        <p:spPr bwMode="auto">
          <a:xfrm>
            <a:off x="306967" y="1084302"/>
            <a:ext cx="5279641" cy="40164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provides </a:t>
            </a:r>
            <a:r>
              <a:rPr lang="en-US" altLang="en-US" sz="2000" b="1" dirty="0">
                <a:solidFill>
                  <a:schemeClr val="tx1"/>
                </a:solidFill>
                <a:latin typeface="Times New Roman" panose="02020603050405020304" pitchFamily="18" charset="0"/>
                <a:cs typeface="Times New Roman" panose="02020603050405020304" pitchFamily="18" charset="0"/>
              </a:rPr>
              <a:t>3D skeletal coordinates </a:t>
            </a:r>
            <a:r>
              <a:rPr lang="en-US" altLang="en-US" sz="2000" dirty="0">
                <a:solidFill>
                  <a:schemeClr val="tx1"/>
                </a:solidFill>
                <a:latin typeface="Times New Roman" panose="02020603050405020304" pitchFamily="18" charset="0"/>
                <a:cs typeface="Times New Roman" panose="02020603050405020304" pitchFamily="18" charset="0"/>
              </a:rPr>
              <a:t>(x, y, z) for 25 joints, supporting detailed posture and gait analysis.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It </a:t>
            </a:r>
            <a:r>
              <a:rPr lang="en-US" altLang="en-US" sz="2000" b="1" dirty="0">
                <a:solidFill>
                  <a:schemeClr val="tx1"/>
                </a:solidFill>
                <a:latin typeface="Times New Roman" panose="02020603050405020304" pitchFamily="18" charset="0"/>
                <a:cs typeface="Times New Roman" panose="02020603050405020304" pitchFamily="18" charset="0"/>
              </a:rPr>
              <a:t>captures motion contact-free</a:t>
            </a:r>
            <a:r>
              <a:rPr lang="en-US" altLang="en-US" sz="2000" dirty="0">
                <a:solidFill>
                  <a:schemeClr val="tx1"/>
                </a:solidFill>
                <a:latin typeface="Times New Roman" panose="02020603050405020304" pitchFamily="18" charset="0"/>
                <a:cs typeface="Times New Roman" panose="02020603050405020304" pitchFamily="18" charset="0"/>
              </a:rPr>
              <a:t>, avoiding discomfort and ensuring user independence.</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records full-body </a:t>
            </a:r>
            <a:r>
              <a:rPr lang="en-US" altLang="en-US" sz="2000" dirty="0">
                <a:solidFill>
                  <a:schemeClr val="tx1"/>
                </a:solidFill>
                <a:latin typeface="Times New Roman" panose="02020603050405020304" pitchFamily="18" charset="0"/>
                <a:cs typeface="Times New Roman" panose="02020603050405020304" pitchFamily="18" charset="0"/>
              </a:rPr>
              <a:t>movement in global coordinates, whereas wearables capture only local motion signals.</a:t>
            </a:r>
          </a:p>
          <a:p>
            <a:pPr marL="342900" lvl="0" indent="-342900" eaLnBrk="0" fontAlgn="base" hangingPunct="0">
              <a:spcBef>
                <a:spcPts val="600"/>
              </a:spcBef>
              <a:spcAft>
                <a:spcPct val="0"/>
              </a:spcAft>
              <a:buClrTx/>
              <a:buFont typeface="Wingdings" panose="05000000000000000000" pitchFamily="2" charset="2"/>
              <a:buChar char="q"/>
            </a:pPr>
            <a:r>
              <a:rPr lang="en-US" altLang="en-US" sz="2000" dirty="0">
                <a:solidFill>
                  <a:schemeClr val="tx1"/>
                </a:solidFill>
                <a:latin typeface="Times New Roman" panose="02020603050405020304" pitchFamily="18" charset="0"/>
                <a:cs typeface="Times New Roman" panose="02020603050405020304" pitchFamily="18" charset="0"/>
              </a:rPr>
              <a:t>Kinect </a:t>
            </a:r>
            <a:r>
              <a:rPr lang="en-US" altLang="en-US" sz="2000" b="1" dirty="0">
                <a:solidFill>
                  <a:schemeClr val="tx1"/>
                </a:solidFill>
                <a:latin typeface="Times New Roman" panose="02020603050405020304" pitchFamily="18" charset="0"/>
                <a:cs typeface="Times New Roman" panose="02020603050405020304" pitchFamily="18" charset="0"/>
              </a:rPr>
              <a:t>tracks multiple joints</a:t>
            </a:r>
            <a:r>
              <a:rPr lang="en-US" altLang="en-US" sz="2000" dirty="0">
                <a:solidFill>
                  <a:schemeClr val="tx1"/>
                </a:solidFill>
                <a:latin typeface="Times New Roman" panose="02020603050405020304" pitchFamily="18" charset="0"/>
                <a:cs typeface="Times New Roman" panose="02020603050405020304" pitchFamily="18" charset="0"/>
              </a:rPr>
              <a:t> simultaneously for coordinated movement detection; wearables typically monitor only one or few points, limiting context.</a:t>
            </a:r>
          </a:p>
        </p:txBody>
      </p:sp>
      <p:grpSp>
        <p:nvGrpSpPr>
          <p:cNvPr id="5" name="Group 4">
            <a:extLst>
              <a:ext uri="{FF2B5EF4-FFF2-40B4-BE49-F238E27FC236}">
                <a16:creationId xmlns:a16="http://schemas.microsoft.com/office/drawing/2014/main" id="{511BE368-3430-864F-E01B-C3E3883F6A4D}"/>
              </a:ext>
            </a:extLst>
          </p:cNvPr>
          <p:cNvGrpSpPr/>
          <p:nvPr/>
        </p:nvGrpSpPr>
        <p:grpSpPr>
          <a:xfrm>
            <a:off x="0" y="6515452"/>
            <a:ext cx="12192000" cy="387879"/>
            <a:chOff x="0" y="6470121"/>
            <a:chExt cx="12192000" cy="387879"/>
          </a:xfrm>
        </p:grpSpPr>
        <p:grpSp>
          <p:nvGrpSpPr>
            <p:cNvPr id="6" name="object 17">
              <a:extLst>
                <a:ext uri="{FF2B5EF4-FFF2-40B4-BE49-F238E27FC236}">
                  <a16:creationId xmlns:a16="http://schemas.microsoft.com/office/drawing/2014/main" id="{A6E2F0FB-81F1-3E8C-0BAA-1B12068088D0}"/>
                </a:ext>
              </a:extLst>
            </p:cNvPr>
            <p:cNvGrpSpPr/>
            <p:nvPr/>
          </p:nvGrpSpPr>
          <p:grpSpPr>
            <a:xfrm>
              <a:off x="0" y="6470121"/>
              <a:ext cx="12192000" cy="345448"/>
              <a:chOff x="0" y="3346348"/>
              <a:chExt cx="4608195" cy="109855"/>
            </a:xfrm>
          </p:grpSpPr>
          <p:sp>
            <p:nvSpPr>
              <p:cNvPr id="9" name="object 18">
                <a:extLst>
                  <a:ext uri="{FF2B5EF4-FFF2-40B4-BE49-F238E27FC236}">
                    <a16:creationId xmlns:a16="http://schemas.microsoft.com/office/drawing/2014/main" id="{BCC74342-1567-C3B5-7C38-7B83C199E76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99A16F8A-DA66-FC17-5B59-E7B582121E40}"/>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12" name="object 20">
                <a:extLst>
                  <a:ext uri="{FF2B5EF4-FFF2-40B4-BE49-F238E27FC236}">
                    <a16:creationId xmlns:a16="http://schemas.microsoft.com/office/drawing/2014/main" id="{54CCB4E0-F397-AC16-5FF2-D27EF240721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4/30                        </a:t>
                </a:r>
                <a:endParaRPr dirty="0"/>
              </a:p>
            </p:txBody>
          </p:sp>
        </p:grpSp>
        <p:sp>
          <p:nvSpPr>
            <p:cNvPr id="7" name="object 19">
              <a:extLst>
                <a:ext uri="{FF2B5EF4-FFF2-40B4-BE49-F238E27FC236}">
                  <a16:creationId xmlns:a16="http://schemas.microsoft.com/office/drawing/2014/main" id="{5AE8864F-3F3D-62A5-E843-6536BBDE4B26}"/>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grpSp>
      <p:pic>
        <p:nvPicPr>
          <p:cNvPr id="4" name="Google Shape;97;p14">
            <a:extLst>
              <a:ext uri="{FF2B5EF4-FFF2-40B4-BE49-F238E27FC236}">
                <a16:creationId xmlns:a16="http://schemas.microsoft.com/office/drawing/2014/main" id="{0BF32570-CF22-2891-CB88-DE3008C51298}"/>
              </a:ext>
            </a:extLst>
          </p:cNvPr>
          <p:cNvPicPr preferRelativeResize="0"/>
          <p:nvPr/>
        </p:nvPicPr>
        <p:blipFill rotWithShape="1">
          <a:blip r:embed="rId5">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157116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1E1CB984-8B57-D1F7-6C63-42B2270C1DDD}"/>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628BB712-2AAC-736B-21C4-8DF39F02AA1B}"/>
              </a:ext>
            </a:extLst>
          </p:cNvPr>
          <p:cNvSpPr/>
          <p:nvPr/>
        </p:nvSpPr>
        <p:spPr>
          <a:xfrm>
            <a:off x="89899" y="4637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4CE9EAC-4EF0-A101-F976-7E438BA29523}"/>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B4E9C99D-C726-F7EB-F99E-612100BEF8EE}"/>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C8EBB60D-1CFB-0B4D-211F-E07A98C8AFA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112B5C85-FEA9-4F10-FDAB-26C16558DB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7/30</a:t>
                </a:r>
                <a:endParaRPr dirty="0"/>
              </a:p>
            </p:txBody>
          </p:sp>
        </p:grpSp>
        <p:sp>
          <p:nvSpPr>
            <p:cNvPr id="9" name="object 19">
              <a:extLst>
                <a:ext uri="{FF2B5EF4-FFF2-40B4-BE49-F238E27FC236}">
                  <a16:creationId xmlns:a16="http://schemas.microsoft.com/office/drawing/2014/main" id="{4BB9FD2E-54AB-EF10-4DF3-A5EEBE2478FD}"/>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7" name="Google Shape;97;p14">
            <a:extLst>
              <a:ext uri="{FF2B5EF4-FFF2-40B4-BE49-F238E27FC236}">
                <a16:creationId xmlns:a16="http://schemas.microsoft.com/office/drawing/2014/main" id="{C7352718-8164-E201-B579-3916480AC6EF}"/>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graphicFrame>
        <p:nvGraphicFramePr>
          <p:cNvPr id="8" name="Table 7">
            <a:extLst>
              <a:ext uri="{FF2B5EF4-FFF2-40B4-BE49-F238E27FC236}">
                <a16:creationId xmlns:a16="http://schemas.microsoft.com/office/drawing/2014/main" id="{565C51A9-E26E-DAA9-2A32-C7AC29FA8F39}"/>
              </a:ext>
            </a:extLst>
          </p:cNvPr>
          <p:cNvGraphicFramePr>
            <a:graphicFrameLocks noGrp="1"/>
          </p:cNvGraphicFramePr>
          <p:nvPr>
            <p:extLst>
              <p:ext uri="{D42A27DB-BD31-4B8C-83A1-F6EECF244321}">
                <p14:modId xmlns:p14="http://schemas.microsoft.com/office/powerpoint/2010/main" val="3858606108"/>
              </p:ext>
            </p:extLst>
          </p:nvPr>
        </p:nvGraphicFramePr>
        <p:xfrm>
          <a:off x="89899" y="949569"/>
          <a:ext cx="11644901" cy="5496472"/>
        </p:xfrm>
        <a:graphic>
          <a:graphicData uri="http://schemas.openxmlformats.org/drawingml/2006/table">
            <a:tbl>
              <a:tblPr firstRow="1" bandRow="1">
                <a:tableStyleId>{5C22544A-7EE6-4342-B048-85BDC9FD1C3A}</a:tableStyleId>
              </a:tblPr>
              <a:tblGrid>
                <a:gridCol w="507978">
                  <a:extLst>
                    <a:ext uri="{9D8B030D-6E8A-4147-A177-3AD203B41FA5}">
                      <a16:colId xmlns:a16="http://schemas.microsoft.com/office/drawing/2014/main" val="1465534069"/>
                    </a:ext>
                  </a:extLst>
                </a:gridCol>
                <a:gridCol w="1477108">
                  <a:extLst>
                    <a:ext uri="{9D8B030D-6E8A-4147-A177-3AD203B41FA5}">
                      <a16:colId xmlns:a16="http://schemas.microsoft.com/office/drawing/2014/main" val="3561462080"/>
                    </a:ext>
                  </a:extLst>
                </a:gridCol>
                <a:gridCol w="3294184">
                  <a:extLst>
                    <a:ext uri="{9D8B030D-6E8A-4147-A177-3AD203B41FA5}">
                      <a16:colId xmlns:a16="http://schemas.microsoft.com/office/drawing/2014/main" val="3693561996"/>
                    </a:ext>
                  </a:extLst>
                </a:gridCol>
                <a:gridCol w="6365631">
                  <a:extLst>
                    <a:ext uri="{9D8B030D-6E8A-4147-A177-3AD203B41FA5}">
                      <a16:colId xmlns:a16="http://schemas.microsoft.com/office/drawing/2014/main" val="519534174"/>
                    </a:ext>
                  </a:extLst>
                </a:gridCol>
              </a:tblGrid>
              <a:tr h="454928">
                <a:tc>
                  <a:txBody>
                    <a:bodyPr/>
                    <a:lstStyle/>
                    <a:p>
                      <a:pPr algn="ctr">
                        <a:buNone/>
                      </a:pPr>
                      <a:r>
                        <a:rPr lang="en-IN" sz="1400" b="1" dirty="0">
                          <a:latin typeface="Times New Roman" panose="02020603050405020304" pitchFamily="18" charset="0"/>
                          <a:cs typeface="Times New Roman" panose="02020603050405020304" pitchFamily="18" charset="0"/>
                        </a:rPr>
                        <a:t>S. No.</a:t>
                      </a: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Authors &amp; Year</a:t>
                      </a:r>
                    </a:p>
                  </a:txBody>
                  <a:tcPr marL="19085" marR="19085" marT="9542" marB="9542" anchor="ctr"/>
                </a:tc>
                <a:tc>
                  <a:txBody>
                    <a:bodyPr/>
                    <a:lstStyle/>
                    <a:p>
                      <a:pPr algn="ctr">
                        <a:buNone/>
                      </a:pPr>
                      <a:r>
                        <a:rPr lang="en-US" sz="1400" b="1" dirty="0">
                          <a:latin typeface="Times New Roman" panose="02020603050405020304" pitchFamily="18" charset="0"/>
                          <a:cs typeface="Times New Roman" panose="02020603050405020304" pitchFamily="18" charset="0"/>
                        </a:rPr>
                        <a:t>Title</a:t>
                      </a:r>
                      <a:endParaRPr lang="en-IN" sz="1400" b="1" dirty="0">
                        <a:latin typeface="Times New Roman" panose="02020603050405020304" pitchFamily="18" charset="0"/>
                        <a:cs typeface="Times New Roman" panose="02020603050405020304" pitchFamily="18" charset="0"/>
                      </a:endParaRPr>
                    </a:p>
                  </a:txBody>
                  <a:tcPr marL="19085" marR="19085" marT="9542" marB="9542" anchor="ctr"/>
                </a:tc>
                <a:tc>
                  <a:txBody>
                    <a:bodyPr/>
                    <a:lstStyle/>
                    <a:p>
                      <a:pPr algn="ctr">
                        <a:buNone/>
                      </a:pPr>
                      <a:r>
                        <a:rPr lang="en-IN" sz="1400" b="1" dirty="0">
                          <a:latin typeface="Times New Roman" panose="02020603050405020304" pitchFamily="18" charset="0"/>
                          <a:cs typeface="Times New Roman" panose="02020603050405020304" pitchFamily="18" charset="0"/>
                        </a:rPr>
                        <a:t>Key Findings</a:t>
                      </a:r>
                    </a:p>
                  </a:txBody>
                  <a:tcPr marL="19085" marR="19085" marT="9542" marB="9542" anchor="ctr"/>
                </a:tc>
                <a:extLst>
                  <a:ext uri="{0D108BD9-81ED-4DB2-BD59-A6C34878D82A}">
                    <a16:rowId xmlns:a16="http://schemas.microsoft.com/office/drawing/2014/main" val="3405995661"/>
                  </a:ext>
                </a:extLst>
              </a:tr>
              <a:tr h="1131855">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1</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Lalwani et al., 2024</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Novel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 Hybrid Deep Learning Model for Human Activity Recognition.</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proposed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-GRU</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hybrid model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WISDM dataset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processes raw wearable sensor data with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minimal preprocessing</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findings have implications for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bipedal robotics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by enhancing human–robot interaction quality</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4220684924"/>
                  </a:ext>
                </a:extLst>
              </a:tr>
              <a:tr h="814046">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da-DK" sz="1400" b="0" kern="1200" dirty="0">
                          <a:solidFill>
                            <a:schemeClr val="dk1"/>
                          </a:solidFill>
                          <a:latin typeface="Times New Roman" panose="02020603050405020304" pitchFamily="18" charset="0"/>
                          <a:cs typeface="Times New Roman" panose="02020603050405020304" pitchFamily="18" charset="0"/>
                        </a:rPr>
                        <a:t>Ashwini K et al., 2020</a:t>
                      </a:r>
                      <a:endParaRPr lang="da-DK"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Skeletal Data based Activity Recognition System</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system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statistical features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derived from Kinect skeletal data.</a:t>
                      </a:r>
                      <a:r>
                        <a:rPr lang="en-US" sz="1400" b="0" kern="1200" dirty="0">
                          <a:solidFill>
                            <a:schemeClr val="dk1"/>
                          </a:solidFill>
                          <a:latin typeface="Times New Roman" panose="02020603050405020304" pitchFamily="18" charset="0"/>
                          <a:cs typeface="Times New Roman" panose="02020603050405020304" pitchFamily="18" charset="0"/>
                        </a:rPr>
                        <a:t> </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performed better than the KNN classifier</a:t>
                      </a:r>
                      <a:r>
                        <a:rPr lang="en-US" sz="1400" b="0" kern="1200" dirty="0">
                          <a:solidFill>
                            <a:schemeClr val="dk1"/>
                          </a:solidFill>
                          <a:latin typeface="Times New Roman" panose="02020603050405020304" pitchFamily="18" charset="0"/>
                          <a:cs typeface="Times New Roman" panose="02020603050405020304" pitchFamily="18" charset="0"/>
                        </a:rPr>
                        <a: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3776992934"/>
                  </a:ext>
                </a:extLst>
              </a:tr>
              <a:tr h="1157828">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3</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IN" sz="1400" b="0" dirty="0">
                          <a:solidFill>
                            <a:schemeClr val="dk1"/>
                          </a:solidFill>
                          <a:latin typeface="Times New Roman" panose="02020603050405020304" pitchFamily="18" charset="0"/>
                          <a:cs typeface="Times New Roman" panose="02020603050405020304" pitchFamily="18" charset="0"/>
                          <a:sym typeface="Times New Roman"/>
                        </a:rPr>
                        <a:t>Rahul Kala et al., 2016</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in Real-Times Environments using Skeleton Joints</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Artificial Neural Network (ANN)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classifier achieved the highest aggregate accuracy result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95.1%.</a:t>
                      </a:r>
                    </a:p>
                    <a:p>
                      <a:pPr marL="285750" marR="0" lvl="0" indent="-285750" algn="just"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Principal Component Analysis (PCA) was used for dimension reduction of 3D joint coordinates captured by the Kinect camera.</a:t>
                      </a:r>
                      <a:endParaRPr sz="1400" b="0"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356964958"/>
                  </a:ext>
                </a:extLst>
              </a:tr>
              <a:tr h="795085">
                <a:tc>
                  <a:txBody>
                    <a:bodyPr/>
                    <a:lstStyle/>
                    <a:p>
                      <a:pPr marL="0" marR="0" lvl="0" indent="0" algn="ctr" rtl="0">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rPr>
                        <a:t>4</a:t>
                      </a:r>
                      <a:endParaRPr sz="1400" b="0" dirty="0">
                        <a:solidFill>
                          <a:schemeClr val="dk1"/>
                        </a:solidFill>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l" rtl="0">
                        <a:lnSpc>
                          <a:spcPct val="100000"/>
                        </a:lnSpc>
                        <a:spcBef>
                          <a:spcPts val="0"/>
                        </a:spcBef>
                        <a:spcAft>
                          <a:spcPts val="0"/>
                        </a:spcAft>
                        <a:buNone/>
                      </a:pPr>
                      <a:r>
                        <a:rPr lang="en-US" sz="1400" b="0" dirty="0">
                          <a:solidFill>
                            <a:schemeClr val="dk1"/>
                          </a:solidFill>
                          <a:latin typeface="Times New Roman" panose="02020603050405020304" pitchFamily="18" charset="0"/>
                          <a:cs typeface="Times New Roman" panose="02020603050405020304" pitchFamily="18" charset="0"/>
                          <a:sym typeface="Times New Roman"/>
                        </a:rPr>
                        <a:t>Komang Mandira et al.,</a:t>
                      </a:r>
                      <a:r>
                        <a:rPr lang="en-US" sz="1400" b="0" dirty="0">
                          <a:solidFill>
                            <a:schemeClr val="dk1"/>
                          </a:solidFill>
                          <a:latin typeface="Times New Roman" panose="02020603050405020304" pitchFamily="18" charset="0"/>
                          <a:cs typeface="Times New Roman" panose="02020603050405020304" pitchFamily="18" charset="0"/>
                          <a:sym typeface="Arial"/>
                        </a:rPr>
                        <a:t> </a:t>
                      </a:r>
                      <a:r>
                        <a:rPr lang="en-IN" sz="1400" b="0" dirty="0">
                          <a:solidFill>
                            <a:schemeClr val="dk1"/>
                          </a:solidFill>
                          <a:latin typeface="Times New Roman" panose="02020603050405020304" pitchFamily="18" charset="0"/>
                          <a:cs typeface="Times New Roman" panose="02020603050405020304" pitchFamily="18" charset="0"/>
                          <a:sym typeface="Times New Roman"/>
                        </a:rPr>
                        <a:t>2019</a:t>
                      </a:r>
                      <a:endParaRPr sz="1400" b="0" dirty="0">
                        <a:latin typeface="Times New Roman" panose="02020603050405020304" pitchFamily="18" charset="0"/>
                        <a:cs typeface="Times New Roman" panose="02020603050405020304" pitchFamily="18" charset="0"/>
                      </a:endParaRPr>
                    </a:p>
                  </a:txBody>
                  <a:tcPr marL="91450" marR="91450" marT="45725" marB="45725" anchor="ctr"/>
                </a:tc>
                <a:tc>
                  <a:txBody>
                    <a:bodyPr/>
                    <a:lstStyle/>
                    <a:p>
                      <a:pPr marL="0" marR="0" lvl="0" indent="0" algn="just" rtl="0">
                        <a:lnSpc>
                          <a:spcPct val="100000"/>
                        </a:lnSpc>
                        <a:spcBef>
                          <a:spcPts val="0"/>
                        </a:spcBef>
                        <a:spcAft>
                          <a:spcPts val="0"/>
                        </a:spcAft>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Human activity recognition using skeleton data and support vector machine</a:t>
                      </a:r>
                      <a:endParaRPr lang="en-US" sz="1400" b="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tc>
                  <a:txBody>
                    <a:bodyPr/>
                    <a:lstStyle/>
                    <a:p>
                      <a:pPr marL="285750" marR="0" lvl="0" indent="-285750" algn="l" rtl="0">
                        <a:lnSpc>
                          <a:spcPct val="100000"/>
                        </a:lnSpc>
                        <a:spcBef>
                          <a:spcPts val="0"/>
                        </a:spcBef>
                        <a:spcAft>
                          <a:spcPts val="0"/>
                        </a:spcAft>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proposed using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Support Vector Machine (SVM) classification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skeleton data captured by a Kinect device with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93.75%.</a:t>
                      </a:r>
                      <a:endParaRPr sz="1400" b="1" dirty="0">
                        <a:solidFill>
                          <a:schemeClr val="lt1"/>
                        </a:solidFill>
                        <a:latin typeface="Times New Roman" panose="02020603050405020304" pitchFamily="18" charset="0"/>
                        <a:ea typeface="Times New Roman"/>
                        <a:cs typeface="Times New Roman" panose="02020603050405020304" pitchFamily="18" charset="0"/>
                        <a:sym typeface="Times New Roman"/>
                      </a:endParaRPr>
                    </a:p>
                  </a:txBody>
                  <a:tcPr marL="91450" marR="91450" marT="45725" marB="45725" anchor="ctr"/>
                </a:tc>
                <a:extLst>
                  <a:ext uri="{0D108BD9-81ED-4DB2-BD59-A6C34878D82A}">
                    <a16:rowId xmlns:a16="http://schemas.microsoft.com/office/drawing/2014/main" val="1519018479"/>
                  </a:ext>
                </a:extLst>
              </a:tr>
              <a:tr h="1142730">
                <a:tc>
                  <a:txBody>
                    <a:bodyPr/>
                    <a:lstStyle/>
                    <a:p>
                      <a:pPr marL="0" algn="ctr" defTabSz="914400" rtl="0" eaLnBrk="1" latinLnBrk="0" hangingPunct="1">
                        <a:buNone/>
                      </a:pPr>
                      <a:r>
                        <a:rPr lang="en-US" sz="1400" b="0" kern="1200" dirty="0">
                          <a:solidFill>
                            <a:schemeClr val="dk1"/>
                          </a:solidFill>
                          <a:latin typeface="Times New Roman" panose="02020603050405020304" pitchFamily="18" charset="0"/>
                          <a:cs typeface="Times New Roman" panose="02020603050405020304" pitchFamily="18" charset="0"/>
                        </a:rPr>
                        <a:t>5</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l" defTabSz="914400" rtl="0" eaLnBrk="1" latinLnBrk="0" hangingPunct="1">
                        <a:buNone/>
                      </a:pPr>
                      <a:r>
                        <a:rPr lang="en-IN" sz="1400" b="0" kern="1200" dirty="0">
                          <a:solidFill>
                            <a:schemeClr val="dk1"/>
                          </a:solidFill>
                          <a:latin typeface="Times New Roman" panose="02020603050405020304" pitchFamily="18" charset="0"/>
                          <a:cs typeface="Times New Roman" panose="02020603050405020304" pitchFamily="18" charset="0"/>
                        </a:rPr>
                        <a:t>Khatun et al., 2022</a:t>
                      </a:r>
                      <a:endParaRPr lang="en-IN"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0" algn="just" defTabSz="914400" rtl="0" eaLnBrk="1" latinLnBrk="0" hangingPunct="1">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Deep CNN-LSTM With Self-Attention Model for Human Activity Recognition Using Wearable Sensor</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tc>
                  <a:txBody>
                    <a:bodyPr/>
                    <a:lstStyle/>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hybrid deep learning model combining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CNN-LSTM and a self-attention algorithm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to enhance predictive capabilities</a:t>
                      </a:r>
                      <a:r>
                        <a:rPr lang="en-US" sz="1400" b="0" kern="1200" dirty="0">
                          <a:solidFill>
                            <a:schemeClr val="dk1"/>
                          </a:solidFill>
                          <a:latin typeface="Times New Roman" panose="02020603050405020304" pitchFamily="18" charset="0"/>
                          <a:cs typeface="Times New Roman" panose="02020603050405020304" pitchFamily="18" charset="0"/>
                        </a:rPr>
                        <a:t>.</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raw smartphone sensor data (accelerometer, gyroscope, and linear acceleration)</a:t>
                      </a:r>
                    </a:p>
                    <a:p>
                      <a:pPr marL="285750" indent="-285750" algn="just" defTabSz="914400" rtl="0" eaLnBrk="1" latinLnBrk="0" hangingPunct="1">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an accuracy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99.93%</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on the collected H-Activity dataset.</a:t>
                      </a:r>
                      <a:endParaRPr lang="en-US" sz="1400" b="0" kern="1200" dirty="0">
                        <a:solidFill>
                          <a:schemeClr val="dk1"/>
                        </a:solidFill>
                        <a:latin typeface="Times New Roman" panose="02020603050405020304" pitchFamily="18" charset="0"/>
                        <a:ea typeface="+mn-ea"/>
                        <a:cs typeface="Times New Roman" panose="02020603050405020304" pitchFamily="18" charset="0"/>
                      </a:endParaRPr>
                    </a:p>
                  </a:txBody>
                  <a:tcPr marL="19085" marR="19085" marT="9542" marB="9542" anchor="ctr"/>
                </a:tc>
                <a:extLst>
                  <a:ext uri="{0D108BD9-81ED-4DB2-BD59-A6C34878D82A}">
                    <a16:rowId xmlns:a16="http://schemas.microsoft.com/office/drawing/2014/main" val="2987469427"/>
                  </a:ext>
                </a:extLst>
              </a:tr>
            </a:tbl>
          </a:graphicData>
        </a:graphic>
      </p:graphicFrame>
    </p:spTree>
    <p:extLst>
      <p:ext uri="{BB962C8B-B14F-4D97-AF65-F5344CB8AC3E}">
        <p14:creationId xmlns:p14="http://schemas.microsoft.com/office/powerpoint/2010/main" val="25642228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a:extLst>
            <a:ext uri="{FF2B5EF4-FFF2-40B4-BE49-F238E27FC236}">
              <a16:creationId xmlns:a16="http://schemas.microsoft.com/office/drawing/2014/main" id="{A5E88850-9B07-5DFF-8C7C-663201052D6D}"/>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2A2738-D62A-810D-EA4D-069876F8BADB}"/>
              </a:ext>
            </a:extLst>
          </p:cNvPr>
          <p:cNvGraphicFramePr>
            <a:graphicFrameLocks noGrp="1"/>
          </p:cNvGraphicFramePr>
          <p:nvPr>
            <p:extLst>
              <p:ext uri="{D42A27DB-BD31-4B8C-83A1-F6EECF244321}">
                <p14:modId xmlns:p14="http://schemas.microsoft.com/office/powerpoint/2010/main" val="884265988"/>
              </p:ext>
            </p:extLst>
          </p:nvPr>
        </p:nvGraphicFramePr>
        <p:xfrm>
          <a:off x="158686" y="857665"/>
          <a:ext cx="11844192" cy="5568579"/>
        </p:xfrm>
        <a:graphic>
          <a:graphicData uri="http://schemas.openxmlformats.org/drawingml/2006/table">
            <a:tbl>
              <a:tblPr firstRow="1" bandRow="1">
                <a:tableStyleId>{5C22544A-7EE6-4342-B048-85BDC9FD1C3A}</a:tableStyleId>
              </a:tblPr>
              <a:tblGrid>
                <a:gridCol w="590040">
                  <a:extLst>
                    <a:ext uri="{9D8B030D-6E8A-4147-A177-3AD203B41FA5}">
                      <a16:colId xmlns:a16="http://schemas.microsoft.com/office/drawing/2014/main" val="1465534069"/>
                    </a:ext>
                  </a:extLst>
                </a:gridCol>
                <a:gridCol w="1512277">
                  <a:extLst>
                    <a:ext uri="{9D8B030D-6E8A-4147-A177-3AD203B41FA5}">
                      <a16:colId xmlns:a16="http://schemas.microsoft.com/office/drawing/2014/main" val="3561462080"/>
                    </a:ext>
                  </a:extLst>
                </a:gridCol>
                <a:gridCol w="3639940">
                  <a:extLst>
                    <a:ext uri="{9D8B030D-6E8A-4147-A177-3AD203B41FA5}">
                      <a16:colId xmlns:a16="http://schemas.microsoft.com/office/drawing/2014/main" val="2483098990"/>
                    </a:ext>
                  </a:extLst>
                </a:gridCol>
                <a:gridCol w="6101935">
                  <a:extLst>
                    <a:ext uri="{9D8B030D-6E8A-4147-A177-3AD203B41FA5}">
                      <a16:colId xmlns:a16="http://schemas.microsoft.com/office/drawing/2014/main" val="519534174"/>
                    </a:ext>
                  </a:extLst>
                </a:gridCol>
              </a:tblGrid>
              <a:tr h="277014">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S. No.</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Authors &amp; Year</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Title</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ctr" rtl="0">
                        <a:lnSpc>
                          <a:spcPct val="100000"/>
                        </a:lnSpc>
                        <a:spcBef>
                          <a:spcPts val="0"/>
                        </a:spcBef>
                        <a:spcAft>
                          <a:spcPts val="0"/>
                        </a:spcAft>
                        <a:buClr>
                          <a:srgbClr val="000000"/>
                        </a:buClr>
                        <a:buFont typeface="Arial"/>
                        <a:buNone/>
                      </a:pPr>
                      <a:r>
                        <a:rPr lang="en-IN" sz="1400" b="1" u="none" strike="noStrike" cap="none" dirty="0">
                          <a:solidFill>
                            <a:schemeClr val="lt1"/>
                          </a:solidFill>
                          <a:latin typeface="Times New Roman" panose="02020603050405020304" pitchFamily="18" charset="0"/>
                          <a:cs typeface="Times New Roman" panose="02020603050405020304" pitchFamily="18" charset="0"/>
                          <a:sym typeface="Arial"/>
                        </a:rPr>
                        <a:t>Key Findings</a:t>
                      </a:r>
                      <a:endParaRPr lang="en-IN" sz="1400" b="1" i="0" u="none" strike="noStrike" cap="none" dirty="0">
                        <a:solidFill>
                          <a:schemeClr val="lt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3405995661"/>
                  </a:ext>
                </a:extLst>
              </a:tr>
              <a:tr h="1479567">
                <a:tc>
                  <a:txBody>
                    <a:bodyPr/>
                    <a:lstStyle/>
                    <a:p>
                      <a:pPr marR="0" algn="ctr" rtl="0">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6</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IN"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Açış &amp; Güney</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2023</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R="0" algn="l" rtl="0">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Classification of human movements by using Kinect sensor</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maximum average classification success achieved was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98.85%</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This maximum success utilized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LSTM for feature extraction</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combined with a machine learning classifier (SVM Kernel/Logistic Regression/Medium Neural Network).</a:t>
                      </a:r>
                    </a:p>
                    <a:p>
                      <a:pPr marL="285750" marR="0" indent="-285750" algn="l" rtl="0">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study concluded that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joint data provided much more successful results</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for classification than image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2290422251"/>
                  </a:ext>
                </a:extLst>
              </a:tr>
              <a:tr h="1512277">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7</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Challa et al., 2022</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multibranch CNN-</a:t>
                      </a:r>
                      <a:r>
                        <a:rPr lang="en-US" sz="1400" b="0"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model for human activity recognition using wearable sensor data</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multibranch CNN-</a:t>
                      </a:r>
                      <a:r>
                        <a:rPr lang="en-US" sz="1400" b="1" i="0" u="none" strike="noStrike" cap="none" dirty="0" err="1">
                          <a:solidFill>
                            <a:schemeClr val="dk1"/>
                          </a:solidFill>
                          <a:effectLst/>
                          <a:latin typeface="Times New Roman" panose="02020603050405020304" pitchFamily="18" charset="0"/>
                          <a:ea typeface="+mn-ea"/>
                          <a:cs typeface="Times New Roman" panose="02020603050405020304" pitchFamily="18" charset="0"/>
                          <a:sym typeface="Arial"/>
                        </a:rPr>
                        <a:t>BiLSTM</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network</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was proposed for automatic feature extraction from raw sensor data</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The model uses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different convolutional filter sizes </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(3, 7, and 11) to capture various temporal local dependencies.</a:t>
                      </a:r>
                    </a:p>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achieved accuracies of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96.37%</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(UCI-HAR),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96.05%</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(WISDM), and </a:t>
                      </a:r>
                      <a:r>
                        <a:rPr lang="en-US" sz="1400" b="1"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94.29%</a:t>
                      </a: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 (PAMAP2) datasets.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20684924"/>
                  </a:ext>
                </a:extLst>
              </a:tr>
              <a:tr h="810890">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8</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sz="1400" b="0" u="none" strike="noStrike" cap="none" dirty="0" err="1">
                          <a:solidFill>
                            <a:schemeClr val="tx1"/>
                          </a:solidFill>
                          <a:latin typeface="Times New Roman" panose="02020603050405020304" pitchFamily="18" charset="0"/>
                          <a:cs typeface="Times New Roman" panose="02020603050405020304" pitchFamily="18" charset="0"/>
                          <a:sym typeface="Arial"/>
                        </a:rPr>
                        <a:t>Kaseris</a:t>
                      </a:r>
                      <a:r>
                        <a:rPr lang="en-IN" sz="1400" b="0" u="none" strike="noStrike" cap="none" dirty="0">
                          <a:solidFill>
                            <a:schemeClr val="tx1"/>
                          </a:solidFill>
                          <a:latin typeface="Times New Roman" panose="02020603050405020304" pitchFamily="18" charset="0"/>
                          <a:cs typeface="Times New Roman" panose="02020603050405020304" pitchFamily="18" charset="0"/>
                          <a:sym typeface="Arial"/>
                        </a:rPr>
                        <a:t> et al., 2024</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A Comprehensive Survey on Deep Learning Methods in Human Activity Recognition</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It investigates approaches utilizing diverse input modalities like accelerometer data, video sequences, and audio signals</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extLst>
                  <a:ext uri="{0D108BD9-81ED-4DB2-BD59-A6C34878D82A}">
                    <a16:rowId xmlns:a16="http://schemas.microsoft.com/office/drawing/2014/main" val="4219917004"/>
                  </a:ext>
                </a:extLst>
              </a:tr>
              <a:tr h="801062">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9</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IN" dirty="0">
                          <a:latin typeface="Times New Roman" panose="02020603050405020304" pitchFamily="18" charset="0"/>
                          <a:cs typeface="Times New Roman" panose="02020603050405020304" pitchFamily="18" charset="0"/>
                        </a:rPr>
                        <a:t>Sarveshwaran</a:t>
                      </a:r>
                      <a:r>
                        <a:rPr lang="en-US" sz="1400" b="0" u="none" strike="noStrike" cap="none" dirty="0">
                          <a:solidFill>
                            <a:schemeClr val="tx1"/>
                          </a:solidFill>
                          <a:latin typeface="Times New Roman" panose="02020603050405020304" pitchFamily="18" charset="0"/>
                          <a:cs typeface="Times New Roman" panose="02020603050405020304" pitchFamily="18" charset="0"/>
                          <a:sym typeface="Arial"/>
                        </a:rPr>
                        <a:t>, 2022</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cs typeface="Times New Roman" panose="02020603050405020304" pitchFamily="18" charset="0"/>
                          <a:sym typeface="Arial"/>
                        </a:rPr>
                        <a:t>I</a:t>
                      </a:r>
                      <a:r>
                        <a:rPr lang="en-US" dirty="0">
                          <a:latin typeface="Times New Roman" panose="02020603050405020304" pitchFamily="18" charset="0"/>
                          <a:cs typeface="Times New Roman" panose="02020603050405020304" pitchFamily="18" charset="0"/>
                        </a:rPr>
                        <a:t>nvestigation on Human Activity Recognition using Deep Learning</a:t>
                      </a:r>
                      <a:endPar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dirty="0">
                          <a:latin typeface="Times New Roman" panose="02020603050405020304" pitchFamily="18" charset="0"/>
                          <a:cs typeface="Times New Roman" panose="02020603050405020304" pitchFamily="18" charset="0"/>
                        </a:rPr>
                        <a:t>Discussion about the deep learning model, merits, demerits and dataset used in human activity recognition.</a:t>
                      </a:r>
                    </a:p>
                  </a:txBody>
                  <a:tcPr marL="19085" marR="19085" marT="9542" marB="9542" anchor="ctr"/>
                </a:tc>
                <a:extLst>
                  <a:ext uri="{0D108BD9-81ED-4DB2-BD59-A6C34878D82A}">
                    <a16:rowId xmlns:a16="http://schemas.microsoft.com/office/drawing/2014/main" val="2067203638"/>
                  </a:ext>
                </a:extLst>
              </a:tr>
              <a:tr h="687769">
                <a:tc>
                  <a:txBody>
                    <a:bodyPr/>
                    <a:lstStyle/>
                    <a:p>
                      <a:pPr marL="0" marR="0" algn="ctr"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10</a:t>
                      </a:r>
                      <a:endParaRPr lang="en-IN"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endParaRP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Morana et al., 2017</a:t>
                      </a:r>
                    </a:p>
                  </a:txBody>
                  <a:tcPr marL="19085" marR="19085" marT="9542" marB="9542" anchor="ctr"/>
                </a:tc>
                <a:tc>
                  <a:txBody>
                    <a:bodyPr/>
                    <a:lstStyle/>
                    <a:p>
                      <a:pPr marL="0" marR="0" algn="l" defTabSz="914400" rtl="0" eaLnBrk="1" latinLnBrk="0" hangingPunct="1">
                        <a:lnSpc>
                          <a:spcPct val="100000"/>
                        </a:lnSpc>
                        <a:spcBef>
                          <a:spcPts val="0"/>
                        </a:spcBef>
                        <a:spcAft>
                          <a:spcPts val="0"/>
                        </a:spcAft>
                        <a:buClr>
                          <a:srgbClr val="000000"/>
                        </a:buClr>
                        <a:buFont typeface="Arial"/>
                        <a:buNone/>
                      </a:pPr>
                      <a:r>
                        <a:rPr lang="en-US" sz="1400" b="0" i="0" u="none" strike="noStrike" cap="none" dirty="0">
                          <a:solidFill>
                            <a:schemeClr val="tx1"/>
                          </a:solidFill>
                          <a:latin typeface="Times New Roman" panose="02020603050405020304" pitchFamily="18" charset="0"/>
                          <a:ea typeface="+mn-ea"/>
                          <a:cs typeface="Times New Roman" panose="02020603050405020304" pitchFamily="18" charset="0"/>
                          <a:sym typeface="Arial"/>
                        </a:rPr>
                        <a:t>KARD - Kinect Activity Recognition Dataset</a:t>
                      </a:r>
                    </a:p>
                  </a:txBody>
                  <a:tcPr marL="19085" marR="19085" marT="9542" marB="9542" anchor="ctr"/>
                </a:tc>
                <a:tc>
                  <a:txBody>
                    <a:bodyPr/>
                    <a:lstStyle/>
                    <a:p>
                      <a:pPr marL="285750" marR="0" indent="-285750" algn="l" defTabSz="914400" rtl="0" eaLnBrk="1" latinLnBrk="0" hangingPunct="1">
                        <a:lnSpc>
                          <a:spcPct val="100000"/>
                        </a:lnSpc>
                        <a:spcBef>
                          <a:spcPts val="0"/>
                        </a:spcBef>
                        <a:spcAft>
                          <a:spcPts val="0"/>
                        </a:spcAft>
                        <a:buClr>
                          <a:srgbClr val="000000"/>
                        </a:buClr>
                        <a:buFont typeface="Wingdings" panose="05000000000000000000" pitchFamily="2" charset="2"/>
                        <a:buChar char="§"/>
                      </a:pPr>
                      <a:r>
                        <a:rPr lang="en-US" sz="1400" b="0" i="0" u="none" strike="noStrike" cap="none" dirty="0">
                          <a:solidFill>
                            <a:schemeClr val="dk1"/>
                          </a:solidFill>
                          <a:effectLst/>
                          <a:latin typeface="Times New Roman" panose="02020603050405020304" pitchFamily="18" charset="0"/>
                          <a:ea typeface="+mn-ea"/>
                          <a:cs typeface="Times New Roman" panose="02020603050405020304" pitchFamily="18" charset="0"/>
                          <a:sym typeface="Arial"/>
                        </a:rPr>
                        <a:t>KARD contains 18 Activities. Each activity is performed 3 times by 10 different subjects.</a:t>
                      </a:r>
                      <a:endParaRPr lang="en-US" dirty="0">
                        <a:latin typeface="Times New Roman" panose="02020603050405020304" pitchFamily="18" charset="0"/>
                        <a:cs typeface="Times New Roman" panose="02020603050405020304" pitchFamily="18" charset="0"/>
                      </a:endParaRPr>
                    </a:p>
                  </a:txBody>
                  <a:tcPr marL="19085" marR="19085" marT="9542" marB="9542" anchor="ctr"/>
                </a:tc>
                <a:extLst>
                  <a:ext uri="{0D108BD9-81ED-4DB2-BD59-A6C34878D82A}">
                    <a16:rowId xmlns:a16="http://schemas.microsoft.com/office/drawing/2014/main" val="1283891522"/>
                  </a:ext>
                </a:extLst>
              </a:tr>
            </a:tbl>
          </a:graphicData>
        </a:graphic>
      </p:graphicFrame>
      <p:sp>
        <p:nvSpPr>
          <p:cNvPr id="6" name="Rectangle: Rounded Corners 5">
            <a:extLst>
              <a:ext uri="{FF2B5EF4-FFF2-40B4-BE49-F238E27FC236}">
                <a16:creationId xmlns:a16="http://schemas.microsoft.com/office/drawing/2014/main" id="{02EB1A2D-F9F0-80A2-F496-08B4CA39DD5F}"/>
              </a:ext>
            </a:extLst>
          </p:cNvPr>
          <p:cNvSpPr/>
          <p:nvPr/>
        </p:nvSpPr>
        <p:spPr>
          <a:xfrm>
            <a:off x="0" y="20237"/>
            <a:ext cx="10687665"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Literature review</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F198624-CE45-098E-8870-34EED311FA8E}"/>
              </a:ext>
            </a:extLst>
          </p:cNvPr>
          <p:cNvGrpSpPr/>
          <p:nvPr/>
        </p:nvGrpSpPr>
        <p:grpSpPr>
          <a:xfrm>
            <a:off x="0" y="6512552"/>
            <a:ext cx="12102101" cy="351456"/>
            <a:chOff x="0" y="6512552"/>
            <a:chExt cx="12102101" cy="351456"/>
          </a:xfrm>
        </p:grpSpPr>
        <p:grpSp>
          <p:nvGrpSpPr>
            <p:cNvPr id="2" name="object 17">
              <a:extLst>
                <a:ext uri="{FF2B5EF4-FFF2-40B4-BE49-F238E27FC236}">
                  <a16:creationId xmlns:a16="http://schemas.microsoft.com/office/drawing/2014/main" id="{57107E53-B456-1CAB-7CAC-09FC03D8350B}"/>
                </a:ext>
              </a:extLst>
            </p:cNvPr>
            <p:cNvGrpSpPr/>
            <p:nvPr/>
          </p:nvGrpSpPr>
          <p:grpSpPr>
            <a:xfrm>
              <a:off x="0" y="6518560"/>
              <a:ext cx="12102101" cy="345448"/>
              <a:chOff x="0" y="3346348"/>
              <a:chExt cx="4608195" cy="109855"/>
            </a:xfrm>
          </p:grpSpPr>
          <p:sp>
            <p:nvSpPr>
              <p:cNvPr id="3" name="object 18">
                <a:extLst>
                  <a:ext uri="{FF2B5EF4-FFF2-40B4-BE49-F238E27FC236}">
                    <a16:creationId xmlns:a16="http://schemas.microsoft.com/office/drawing/2014/main" id="{DEC8EA88-D380-A57A-B687-80729E5A1230}"/>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92C36926-B692-B41A-0EE7-7E2FC329B0D1}"/>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8/30</a:t>
                </a:r>
                <a:endParaRPr dirty="0"/>
              </a:p>
            </p:txBody>
          </p:sp>
        </p:grpSp>
        <p:sp>
          <p:nvSpPr>
            <p:cNvPr id="8" name="object 19">
              <a:extLst>
                <a:ext uri="{FF2B5EF4-FFF2-40B4-BE49-F238E27FC236}">
                  <a16:creationId xmlns:a16="http://schemas.microsoft.com/office/drawing/2014/main" id="{73D0AB64-8109-19D8-265D-AC22C531A34C}"/>
                </a:ext>
              </a:extLst>
            </p:cNvPr>
            <p:cNvSpPr/>
            <p:nvPr/>
          </p:nvSpPr>
          <p:spPr>
            <a:xfrm>
              <a:off x="4033800" y="6512552"/>
              <a:ext cx="4093965"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egistration seminar </a:t>
              </a:r>
              <a:endParaRPr dirty="0">
                <a:latin typeface="Times New Roman" panose="02020603050405020304" pitchFamily="18" charset="0"/>
                <a:cs typeface="Times New Roman" panose="02020603050405020304" pitchFamily="18" charset="0"/>
              </a:endParaRPr>
            </a:p>
          </p:txBody>
        </p:sp>
      </p:grpSp>
      <p:pic>
        <p:nvPicPr>
          <p:cNvPr id="4" name="Google Shape;97;p14">
            <a:extLst>
              <a:ext uri="{FF2B5EF4-FFF2-40B4-BE49-F238E27FC236}">
                <a16:creationId xmlns:a16="http://schemas.microsoft.com/office/drawing/2014/main" id="{D781CC4F-2D66-DEC4-8189-7316868E0798}"/>
              </a:ext>
            </a:extLst>
          </p:cNvPr>
          <p:cNvPicPr preferRelativeResize="0"/>
          <p:nvPr/>
        </p:nvPicPr>
        <p:blipFill rotWithShape="1">
          <a:blip r:embed="rId3">
            <a:alphaModFix/>
          </a:blip>
          <a:srcRect/>
          <a:stretch/>
        </p:blipFill>
        <p:spPr>
          <a:xfrm>
            <a:off x="11133438" y="0"/>
            <a:ext cx="1058562" cy="882994"/>
          </a:xfrm>
          <a:prstGeom prst="rect">
            <a:avLst/>
          </a:prstGeom>
          <a:noFill/>
          <a:ln>
            <a:noFill/>
          </a:ln>
        </p:spPr>
      </p:pic>
    </p:spTree>
    <p:extLst>
      <p:ext uri="{BB962C8B-B14F-4D97-AF65-F5344CB8AC3E}">
        <p14:creationId xmlns:p14="http://schemas.microsoft.com/office/powerpoint/2010/main" val="23721586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001D86E2-DABC-A734-6B55-2C559001DF00}"/>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Research Gaps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4" name="Google Shape;97;p14">
            <a:extLst>
              <a:ext uri="{FF2B5EF4-FFF2-40B4-BE49-F238E27FC236}">
                <a16:creationId xmlns:a16="http://schemas.microsoft.com/office/drawing/2014/main" id="{6A4697F0-B944-83BB-6C7B-ECA099AFD44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sp>
        <p:nvSpPr>
          <p:cNvPr id="5" name="TextBox 4">
            <a:extLst>
              <a:ext uri="{FF2B5EF4-FFF2-40B4-BE49-F238E27FC236}">
                <a16:creationId xmlns:a16="http://schemas.microsoft.com/office/drawing/2014/main" id="{6EFF00D8-3FC9-E430-B36D-AEFB78ACC98A}"/>
              </a:ext>
            </a:extLst>
          </p:cNvPr>
          <p:cNvSpPr txBox="1"/>
          <p:nvPr/>
        </p:nvSpPr>
        <p:spPr>
          <a:xfrm>
            <a:off x="306967" y="1153972"/>
            <a:ext cx="5265108" cy="4539704"/>
          </a:xfrm>
          <a:prstGeom prst="rect">
            <a:avLst/>
          </a:prstGeom>
          <a:noFill/>
        </p:spPr>
        <p:txBody>
          <a:bodyPr wrap="square" numCol="1"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A. Data and Annotation Challenges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annotated datasets.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subject diversity.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Noisy, imbalanced real-world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High-cost vision data processing.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Reliance on handcrafted features.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Deep models lack interpretability.</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B. Activity and Complexity Modeling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Complex multi-sensor fusion required.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Subtle/overlapping motions cause difficulty.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Hard postural transition detection.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 suffers occlusion/clutter.</a:t>
            </a:r>
          </a:p>
          <a:p>
            <a:endParaRPr lang="en-US" dirty="0"/>
          </a:p>
        </p:txBody>
      </p:sp>
      <p:sp>
        <p:nvSpPr>
          <p:cNvPr id="6" name="TextBox 5">
            <a:extLst>
              <a:ext uri="{FF2B5EF4-FFF2-40B4-BE49-F238E27FC236}">
                <a16:creationId xmlns:a16="http://schemas.microsoft.com/office/drawing/2014/main" id="{5BB12039-1731-5A88-2A41-04D6D9A07CA9}"/>
              </a:ext>
            </a:extLst>
          </p:cNvPr>
          <p:cNvSpPr txBox="1"/>
          <p:nvPr/>
        </p:nvSpPr>
        <p:spPr>
          <a:xfrm>
            <a:off x="5903936" y="1153972"/>
            <a:ext cx="5695166" cy="4324261"/>
          </a:xfrm>
          <a:prstGeom prst="rect">
            <a:avLst/>
          </a:prstGeom>
          <a:noFill/>
        </p:spPr>
        <p:txBody>
          <a:bodyPr wrap="square" rtlCol="0">
            <a:spAutoFit/>
          </a:bodyPr>
          <a:lstStyle/>
          <a:p>
            <a:pPr>
              <a:spcBef>
                <a:spcPts val="600"/>
              </a:spcBef>
            </a:pPr>
            <a:r>
              <a:rPr lang="en-US" sz="2000" b="1" dirty="0">
                <a:latin typeface="Times New Roman" panose="02020603050405020304" pitchFamily="18" charset="0"/>
                <a:cs typeface="Times New Roman" panose="02020603050405020304" pitchFamily="18" charset="0"/>
              </a:rPr>
              <a:t>C. Architectural and Methodological Limitations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Heavy preprocessing overhead.</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multi-resolution encoding.</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RNNs are slow, and provide limited context.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CNN/RNN spatial–temporal mismatch.</a:t>
            </a:r>
          </a:p>
          <a:p>
            <a:endParaRPr lang="en-US" sz="2000" dirty="0">
              <a:latin typeface="Times New Roman" panose="02020603050405020304" pitchFamily="18" charset="0"/>
              <a:cs typeface="Times New Roman" panose="02020603050405020304" pitchFamily="18" charset="0"/>
            </a:endParaRPr>
          </a:p>
          <a:p>
            <a:pPr>
              <a:spcBef>
                <a:spcPts val="600"/>
              </a:spcBef>
            </a:pPr>
            <a:r>
              <a:rPr lang="en-US" sz="2000" b="1" dirty="0">
                <a:latin typeface="Times New Roman" panose="02020603050405020304" pitchFamily="18" charset="0"/>
                <a:cs typeface="Times New Roman" panose="02020603050405020304" pitchFamily="18" charset="0"/>
              </a:rPr>
              <a:t>D. Deployment and Real-World Challenges : </a:t>
            </a:r>
            <a:endParaRPr lang="en-US" sz="2000" dirty="0">
              <a:latin typeface="Times New Roman" panose="02020603050405020304" pitchFamily="18" charset="0"/>
              <a:cs typeface="Times New Roman" panose="02020603050405020304" pitchFamily="18" charset="0"/>
            </a:endParaRPr>
          </a:p>
          <a:p>
            <a:pPr marL="285750" indent="-285750">
              <a:spcBef>
                <a:spcPts val="600"/>
              </a:spcBef>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Severe domain shift issues.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Low wearable adoption.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 adaptive recalibration.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Embedded systems constraints.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Vision-based privacy concerns.</a:t>
            </a:r>
          </a:p>
        </p:txBody>
      </p:sp>
    </p:spTree>
    <p:extLst>
      <p:ext uri="{BB962C8B-B14F-4D97-AF65-F5344CB8AC3E}">
        <p14:creationId xmlns:p14="http://schemas.microsoft.com/office/powerpoint/2010/main" val="3043106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30A03F-44EE-CCD1-7490-34D435639FCF}"/>
              </a:ext>
            </a:extLst>
          </p:cNvPr>
          <p:cNvPicPr>
            <a:picLocks noChangeAspect="1"/>
          </p:cNvPicPr>
          <p:nvPr/>
        </p:nvPicPr>
        <p:blipFill>
          <a:blip r:embed="rId2"/>
          <a:stretch>
            <a:fillRect/>
          </a:stretch>
        </p:blipFill>
        <p:spPr>
          <a:xfrm>
            <a:off x="7231095" y="1153972"/>
            <a:ext cx="3781953" cy="4953691"/>
          </a:xfrm>
          <a:prstGeom prst="rect">
            <a:avLst/>
          </a:prstGeom>
        </p:spPr>
      </p:pic>
      <p:sp>
        <p:nvSpPr>
          <p:cNvPr id="5" name="Rectangle 1">
            <a:extLst>
              <a:ext uri="{FF2B5EF4-FFF2-40B4-BE49-F238E27FC236}">
                <a16:creationId xmlns:a16="http://schemas.microsoft.com/office/drawing/2014/main" id="{581A2102-9CEF-4A25-4774-6BC35D38B8A2}"/>
              </a:ext>
            </a:extLst>
          </p:cNvPr>
          <p:cNvSpPr>
            <a:spLocks noChangeArrowheads="1"/>
          </p:cNvSpPr>
          <p:nvPr/>
        </p:nvSpPr>
        <p:spPr bwMode="auto">
          <a:xfrm>
            <a:off x="463462" y="1167849"/>
            <a:ext cx="6112702" cy="50937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eaLnBrk="0" fontAlgn="base" hangingPunct="0">
              <a:spcBef>
                <a:spcPts val="600"/>
              </a:spcBef>
              <a:spcAft>
                <a:spcPct val="0"/>
              </a:spcAft>
              <a:buClrTx/>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HAR model that </a:t>
            </a:r>
            <a:r>
              <a:rPr lang="en-US" sz="2000" b="1" dirty="0">
                <a:latin typeface="Times New Roman" panose="02020603050405020304" pitchFamily="18" charset="0"/>
                <a:cs typeface="Times New Roman" panose="02020603050405020304" pitchFamily="18" charset="0"/>
              </a:rPr>
              <a:t>overcomes limitations </a:t>
            </a:r>
            <a:r>
              <a:rPr lang="en-US" sz="2000" dirty="0">
                <a:latin typeface="Times New Roman" panose="02020603050405020304" pitchFamily="18" charset="0"/>
                <a:cs typeface="Times New Roman" panose="02020603050405020304" pitchFamily="18" charset="0"/>
              </a:rPr>
              <a:t>in data scarcity, multi-sensor activity complexity, architectural inefficiencies, and real-world deployment constraints.</a:t>
            </a: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 Human Activity Recognition (HAR)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non-wearable Kinect (RGB-D / skeleton) data</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 Human Activity Recognition (HAR)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IMU sensor data</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 and compare activity recognition performance across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wearable and non-wearable sensing modalities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Map and transfer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recognized human motion patterns to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bipedal robot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60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Enable the robot to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imitate and reproduce human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accurately in real time.</a:t>
            </a:r>
          </a:p>
        </p:txBody>
      </p:sp>
      <p:sp>
        <p:nvSpPr>
          <p:cNvPr id="6" name="Rectangle: Rounded Corners 5">
            <a:extLst>
              <a:ext uri="{FF2B5EF4-FFF2-40B4-BE49-F238E27FC236}">
                <a16:creationId xmlns:a16="http://schemas.microsoft.com/office/drawing/2014/main" id="{B724FD76-7FAA-3ED4-12C8-96CB81ADA2C7}"/>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Objective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7" name="Google Shape;97;p14">
            <a:extLst>
              <a:ext uri="{FF2B5EF4-FFF2-40B4-BE49-F238E27FC236}">
                <a16:creationId xmlns:a16="http://schemas.microsoft.com/office/drawing/2014/main" id="{51CE1480-FF6A-4114-069A-28946E56466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1146845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91073-7110-89A1-5074-5123E188EE0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2E14977-DEC7-502E-430C-574F8E31E53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Work done so far</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CF8FD67-D742-C9BE-ED24-1605F3710100}"/>
              </a:ext>
            </a:extLst>
          </p:cNvPr>
          <p:cNvSpPr txBox="1"/>
          <p:nvPr/>
        </p:nvSpPr>
        <p:spPr>
          <a:xfrm>
            <a:off x="306967" y="963561"/>
            <a:ext cx="11480221" cy="4653646"/>
          </a:xfrm>
          <a:prstGeom prst="rect">
            <a:avLst/>
          </a:prstGeom>
          <a:noFill/>
        </p:spPr>
        <p:txBody>
          <a:bodyPr wrap="square" rtlCol="0">
            <a:spAutoFit/>
          </a:bodyPr>
          <a:lstStyle/>
          <a:p>
            <a:pPr marL="285750" indent="-285750" algn="just">
              <a:lnSpc>
                <a:spcPct val="150000"/>
              </a:lnSpc>
              <a:buFont typeface="Wingdings" panose="05000000000000000000" pitchFamily="2" charset="2"/>
              <a:buChar char="Ø"/>
            </a:pPr>
            <a:r>
              <a:rPr lang="en-US" sz="2000" b="1" dirty="0">
                <a:solidFill>
                  <a:schemeClr val="tx1"/>
                </a:solidFill>
                <a:latin typeface="Times New Roman" panose="02020603050405020304" pitchFamily="18" charset="0"/>
                <a:cs typeface="Times New Roman" panose="02020603050405020304" pitchFamily="18" charset="0"/>
              </a:rPr>
              <a:t>Created a Skeletal Joints Dataset </a:t>
            </a:r>
            <a:r>
              <a:rPr lang="en-US" sz="2000" dirty="0">
                <a:solidFill>
                  <a:schemeClr val="tx1"/>
                </a:solidFill>
                <a:latin typeface="Times New Roman" panose="02020603050405020304" pitchFamily="18" charset="0"/>
                <a:cs typeface="Times New Roman" panose="02020603050405020304" pitchFamily="18" charset="0"/>
              </a:rPr>
              <a:t>using Microsoft Kinect Sensor for Human Activity Recognition.</a:t>
            </a:r>
            <a:endParaRPr lang="en-US" sz="2000" i="1" dirty="0">
              <a:solidFill>
                <a:schemeClr val="tx1"/>
              </a:solidFill>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Studied skeletal joint movement patterns specific to each activity to enhance accurate feature capture for the 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Used a </a:t>
            </a:r>
            <a:r>
              <a:rPr lang="en-US" sz="2000" b="1" dirty="0">
                <a:solidFill>
                  <a:schemeClr val="tx1"/>
                </a:solidFill>
                <a:latin typeface="Times New Roman" panose="02020603050405020304" pitchFamily="18" charset="0"/>
                <a:cs typeface="Times New Roman" panose="02020603050405020304" pitchFamily="18" charset="0"/>
              </a:rPr>
              <a:t>multi-scale feature extraction </a:t>
            </a:r>
            <a:r>
              <a:rPr lang="en-US" sz="2000" dirty="0">
                <a:solidFill>
                  <a:schemeClr val="tx1"/>
                </a:solidFill>
                <a:latin typeface="Times New Roman" panose="02020603050405020304" pitchFamily="18" charset="0"/>
                <a:cs typeface="Times New Roman" panose="02020603050405020304" pitchFamily="18" charset="0"/>
              </a:rPr>
              <a:t>approach to </a:t>
            </a:r>
            <a:r>
              <a:rPr lang="en-US" sz="2000" b="1" dirty="0">
                <a:solidFill>
                  <a:schemeClr val="tx1"/>
                </a:solidFill>
                <a:latin typeface="Times New Roman" panose="02020603050405020304" pitchFamily="18" charset="0"/>
                <a:cs typeface="Times New Roman" panose="02020603050405020304" pitchFamily="18" charset="0"/>
              </a:rPr>
              <a:t>capture slow, medium, and fast </a:t>
            </a:r>
            <a:r>
              <a:rPr lang="en-US" sz="2000" dirty="0">
                <a:solidFill>
                  <a:schemeClr val="tx1"/>
                </a:solidFill>
                <a:latin typeface="Times New Roman" panose="02020603050405020304" pitchFamily="18" charset="0"/>
                <a:cs typeface="Times New Roman" panose="02020603050405020304" pitchFamily="18" charset="0"/>
              </a:rPr>
              <a:t>skeletal joint movements during activities for dataset creation.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Developed a hybrid deep learning architecture </a:t>
            </a:r>
            <a:r>
              <a:rPr lang="en-US" sz="2000" b="1" dirty="0">
                <a:solidFill>
                  <a:schemeClr val="tx1"/>
                </a:solidFill>
                <a:latin typeface="Times New Roman" panose="02020603050405020304" pitchFamily="18" charset="0"/>
                <a:cs typeface="Times New Roman" panose="02020603050405020304" pitchFamily="18" charset="0"/>
              </a:rPr>
              <a:t>Multi-Scale Gated Residual Skip </a:t>
            </a:r>
            <a:r>
              <a:rPr lang="en-US" sz="2000" b="1" dirty="0" err="1">
                <a:solidFill>
                  <a:schemeClr val="tx1"/>
                </a:solidFill>
                <a:latin typeface="Times New Roman" panose="02020603050405020304" pitchFamily="18" charset="0"/>
                <a:cs typeface="Times New Roman" panose="02020603050405020304" pitchFamily="18" charset="0"/>
              </a:rPr>
              <a:t>BiLSTM</a:t>
            </a: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model.</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Achieved a classification accuracy of </a:t>
            </a:r>
            <a:r>
              <a:rPr lang="en-US" sz="2000" b="1" dirty="0">
                <a:solidFill>
                  <a:schemeClr val="tx1"/>
                </a:solidFill>
                <a:latin typeface="Times New Roman" panose="02020603050405020304" pitchFamily="18" charset="0"/>
                <a:cs typeface="Times New Roman" panose="02020603050405020304" pitchFamily="18" charset="0"/>
              </a:rPr>
              <a:t>97.97%</a:t>
            </a:r>
            <a:r>
              <a:rPr lang="en-US" sz="2000" dirty="0">
                <a:solidFill>
                  <a:schemeClr val="tx1"/>
                </a:solidFill>
                <a:latin typeface="Times New Roman" panose="02020603050405020304" pitchFamily="18" charset="0"/>
                <a:cs typeface="Times New Roman" panose="02020603050405020304" pitchFamily="18" charset="0"/>
              </a:rPr>
              <a:t> using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skeletal joints dataset for Human Activity Recognition.</a:t>
            </a:r>
          </a:p>
          <a:p>
            <a:pPr marL="285750" indent="-285750" algn="just">
              <a:lnSpc>
                <a:spcPct val="150000"/>
              </a:lnSpc>
              <a:buFont typeface="Wingdings" panose="05000000000000000000" pitchFamily="2" charset="2"/>
              <a:buChar char="Ø"/>
            </a:pPr>
            <a:r>
              <a:rPr lang="en-US" sz="2000" dirty="0">
                <a:solidFill>
                  <a:schemeClr val="tx1"/>
                </a:solidFill>
                <a:latin typeface="Times New Roman" panose="02020603050405020304" pitchFamily="18" charset="0"/>
                <a:cs typeface="Times New Roman" panose="02020603050405020304" pitchFamily="18" charset="0"/>
              </a:rPr>
              <a:t>Evaluated 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model on the </a:t>
            </a:r>
            <a:r>
              <a:rPr lang="en-US" sz="2000" b="1" dirty="0">
                <a:solidFill>
                  <a:schemeClr val="tx1"/>
                </a:solidFill>
                <a:latin typeface="Times New Roman" panose="02020603050405020304" pitchFamily="18" charset="0"/>
                <a:cs typeface="Times New Roman" panose="02020603050405020304" pitchFamily="18" charset="0"/>
              </a:rPr>
              <a:t>KARD - Kinect Activity Recognition dataset </a:t>
            </a:r>
            <a:r>
              <a:rPr lang="en-US" sz="2000" dirty="0">
                <a:solidFill>
                  <a:schemeClr val="tx1"/>
                </a:solidFill>
                <a:latin typeface="Times New Roman" panose="02020603050405020304" pitchFamily="18" charset="0"/>
                <a:cs typeface="Times New Roman" panose="02020603050405020304" pitchFamily="18" charset="0"/>
              </a:rPr>
              <a:t>and achieved an accuracy of </a:t>
            </a:r>
            <a:r>
              <a:rPr lang="en-US" sz="2000" b="1" dirty="0">
                <a:solidFill>
                  <a:schemeClr val="tx1"/>
                </a:solidFill>
                <a:latin typeface="Times New Roman" panose="02020603050405020304" pitchFamily="18" charset="0"/>
                <a:cs typeface="Times New Roman" panose="02020603050405020304" pitchFamily="18" charset="0"/>
              </a:rPr>
              <a:t>98.77%</a:t>
            </a:r>
            <a:r>
              <a:rPr lang="en-US" sz="2000" dirty="0">
                <a:solidFill>
                  <a:schemeClr val="tx1"/>
                </a:solidFill>
                <a:latin typeface="Times New Roman" panose="02020603050405020304" pitchFamily="18" charset="0"/>
                <a:cs typeface="Times New Roman" panose="02020603050405020304" pitchFamily="18" charset="0"/>
              </a:rPr>
              <a:t>.</a:t>
            </a:r>
          </a:p>
        </p:txBody>
      </p:sp>
      <p:grpSp>
        <p:nvGrpSpPr>
          <p:cNvPr id="4" name="object 17">
            <a:extLst>
              <a:ext uri="{FF2B5EF4-FFF2-40B4-BE49-F238E27FC236}">
                <a16:creationId xmlns:a16="http://schemas.microsoft.com/office/drawing/2014/main" id="{5E20AA86-38F3-31EA-0F01-52985915494A}"/>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F8544819-DDFC-D7D5-F0E8-C692B785CB7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4B3B60F-34C1-1A0D-E751-7C696357702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7520E56E-94A6-4B3A-DDCC-6651886C23F7}"/>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10/30</a:t>
              </a:r>
              <a:endParaRPr dirty="0"/>
            </a:p>
          </p:txBody>
        </p:sp>
      </p:grpSp>
      <p:sp>
        <p:nvSpPr>
          <p:cNvPr id="9" name="object 19">
            <a:extLst>
              <a:ext uri="{FF2B5EF4-FFF2-40B4-BE49-F238E27FC236}">
                <a16:creationId xmlns:a16="http://schemas.microsoft.com/office/drawing/2014/main" id="{C091CBB8-F277-BB65-A1FF-25E09D5B0514}"/>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8225A95-0BF0-4476-D121-0D40B68764B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26605636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699C7-C789-6D2A-3B48-20BB60996A64}"/>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84518FDF-4923-5F5F-84DE-4DD0C820120B}"/>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Skeletal Joints Dataset - Using Kinect Sensor </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A91D75F5-85E6-D64B-9919-7BEE57577EF8}"/>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693B4FE0-3426-D45E-A495-D0A7D43B4086}"/>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DB864E64-3C0D-BFE1-039F-0A23A606828D}"/>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C57D2F4E-BCEA-BF74-C092-808DB6E46256}"/>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11/30</a:t>
              </a:r>
              <a:endParaRPr dirty="0"/>
            </a:p>
          </p:txBody>
        </p:sp>
      </p:grpSp>
      <p:sp>
        <p:nvSpPr>
          <p:cNvPr id="9" name="object 19">
            <a:extLst>
              <a:ext uri="{FF2B5EF4-FFF2-40B4-BE49-F238E27FC236}">
                <a16:creationId xmlns:a16="http://schemas.microsoft.com/office/drawing/2014/main" id="{08652D20-922B-EE4A-BC5A-071B32CC952E}"/>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cxnSp>
        <p:nvCxnSpPr>
          <p:cNvPr id="12" name="Straight Connector 11">
            <a:extLst>
              <a:ext uri="{FF2B5EF4-FFF2-40B4-BE49-F238E27FC236}">
                <a16:creationId xmlns:a16="http://schemas.microsoft.com/office/drawing/2014/main" id="{7FAA935A-53F8-BF7A-DB14-179ACD23568C}"/>
              </a:ext>
            </a:extLst>
          </p:cNvPr>
          <p:cNvCxnSpPr>
            <a:cxnSpLocks/>
          </p:cNvCxnSpPr>
          <p:nvPr/>
        </p:nvCxnSpPr>
        <p:spPr>
          <a:xfrm>
            <a:off x="8873635" y="2201158"/>
            <a:ext cx="0" cy="426896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 name="Google Shape;97;p14">
            <a:extLst>
              <a:ext uri="{FF2B5EF4-FFF2-40B4-BE49-F238E27FC236}">
                <a16:creationId xmlns:a16="http://schemas.microsoft.com/office/drawing/2014/main" id="{62E9445B-E67B-0F92-3713-C97A6C241F29}"/>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3" name="TextBox 22">
            <a:extLst>
              <a:ext uri="{FF2B5EF4-FFF2-40B4-BE49-F238E27FC236}">
                <a16:creationId xmlns:a16="http://schemas.microsoft.com/office/drawing/2014/main" id="{1333EF75-3FF1-A4C1-336E-26609953F50B}"/>
              </a:ext>
            </a:extLst>
          </p:cNvPr>
          <p:cNvSpPr txBox="1"/>
          <p:nvPr/>
        </p:nvSpPr>
        <p:spPr>
          <a:xfrm>
            <a:off x="457200" y="1676400"/>
            <a:ext cx="10555840" cy="307777"/>
          </a:xfrm>
          <a:prstGeom prst="rect">
            <a:avLst/>
          </a:prstGeom>
          <a:noFill/>
        </p:spPr>
        <p:txBody>
          <a:bodyPr wrap="square" rtlCol="0">
            <a:spAutoFit/>
          </a:bodyPr>
          <a:lstStyle/>
          <a:p>
            <a:pPr marL="285750" indent="-285750">
              <a:buFont typeface="Wingdings" panose="05000000000000000000" pitchFamily="2" charset="2"/>
              <a:buChar char="Ø"/>
            </a:pPr>
            <a:endParaRPr lang="en-IN" dirty="0"/>
          </a:p>
        </p:txBody>
      </p:sp>
      <p:pic>
        <p:nvPicPr>
          <p:cNvPr id="13" name="Picture 12">
            <a:extLst>
              <a:ext uri="{FF2B5EF4-FFF2-40B4-BE49-F238E27FC236}">
                <a16:creationId xmlns:a16="http://schemas.microsoft.com/office/drawing/2014/main" id="{00235ACF-A7CC-C3F4-5CF5-AF89AF355EFB}"/>
              </a:ext>
            </a:extLst>
          </p:cNvPr>
          <p:cNvPicPr>
            <a:picLocks noChangeAspect="1"/>
          </p:cNvPicPr>
          <p:nvPr/>
        </p:nvPicPr>
        <p:blipFill>
          <a:blip r:embed="rId4"/>
          <a:stretch>
            <a:fillRect/>
          </a:stretch>
        </p:blipFill>
        <p:spPr>
          <a:xfrm>
            <a:off x="4896672" y="1180540"/>
            <a:ext cx="7295328" cy="4680703"/>
          </a:xfrm>
          <a:prstGeom prst="rect">
            <a:avLst/>
          </a:prstGeom>
        </p:spPr>
      </p:pic>
      <p:sp>
        <p:nvSpPr>
          <p:cNvPr id="10" name="Rectangle 2">
            <a:extLst>
              <a:ext uri="{FF2B5EF4-FFF2-40B4-BE49-F238E27FC236}">
                <a16:creationId xmlns:a16="http://schemas.microsoft.com/office/drawing/2014/main" id="{183F9783-660D-E05E-B181-FA5350A3BE3C}"/>
              </a:ext>
            </a:extLst>
          </p:cNvPr>
          <p:cNvSpPr>
            <a:spLocks noChangeArrowheads="1"/>
          </p:cNvSpPr>
          <p:nvPr/>
        </p:nvSpPr>
        <p:spPr bwMode="auto">
          <a:xfrm>
            <a:off x="0" y="725135"/>
            <a:ext cx="4896672" cy="47243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captured using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Microsoft Kinect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RGB</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depth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3D skeletal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data.</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Kinect uses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25-joint skeleton model</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 y, z</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coordinates tracked over time.</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Dataset includes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30 individuals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variability in movement and posture.</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person performs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activities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bending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jumping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running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sitting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squat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standing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walking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285750" marR="0" lvl="0" indent="-285750" algn="l" defTabSz="914400" rtl="0" eaLnBrk="0" fontAlgn="base" latinLnBrk="0" hangingPunct="0">
              <a:lnSpc>
                <a:spcPct val="100000"/>
              </a:lnSpc>
              <a:spcBef>
                <a:spcPts val="60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Each activity is stored as a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time-series CSV</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timestamp</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body ID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joint coordinates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07068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A738C-D19F-4261-3605-650593C74289}"/>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A80733B-DAB5-3528-A16D-51E2061FA4EE}"/>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Dataset Collection</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3" name="object 17">
            <a:extLst>
              <a:ext uri="{FF2B5EF4-FFF2-40B4-BE49-F238E27FC236}">
                <a16:creationId xmlns:a16="http://schemas.microsoft.com/office/drawing/2014/main" id="{0EB8B76A-0D07-EC72-F941-02B7CC1B5C20}"/>
              </a:ext>
            </a:extLst>
          </p:cNvPr>
          <p:cNvGrpSpPr/>
          <p:nvPr/>
        </p:nvGrpSpPr>
        <p:grpSpPr>
          <a:xfrm>
            <a:off x="0" y="6518560"/>
            <a:ext cx="12102101" cy="345448"/>
            <a:chOff x="0" y="3346348"/>
            <a:chExt cx="4608195" cy="109855"/>
          </a:xfrm>
        </p:grpSpPr>
        <p:sp>
          <p:nvSpPr>
            <p:cNvPr id="4" name="object 18">
              <a:extLst>
                <a:ext uri="{FF2B5EF4-FFF2-40B4-BE49-F238E27FC236}">
                  <a16:creationId xmlns:a16="http://schemas.microsoft.com/office/drawing/2014/main" id="{E86AFBF6-E8A9-CB44-D2DD-CA7C8E70568F}"/>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19">
              <a:extLst>
                <a:ext uri="{FF2B5EF4-FFF2-40B4-BE49-F238E27FC236}">
                  <a16:creationId xmlns:a16="http://schemas.microsoft.com/office/drawing/2014/main" id="{973491E3-412C-1FBB-E9C4-C9E7E44B2F7A}"/>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6" name="object 20">
              <a:extLst>
                <a:ext uri="{FF2B5EF4-FFF2-40B4-BE49-F238E27FC236}">
                  <a16:creationId xmlns:a16="http://schemas.microsoft.com/office/drawing/2014/main" id="{60BD445B-F71C-639E-24B0-15C149562BDF}"/>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12/30</a:t>
              </a:r>
              <a:endParaRPr dirty="0"/>
            </a:p>
          </p:txBody>
        </p:sp>
      </p:grpSp>
      <p:sp>
        <p:nvSpPr>
          <p:cNvPr id="7" name="object 19">
            <a:extLst>
              <a:ext uri="{FF2B5EF4-FFF2-40B4-BE49-F238E27FC236}">
                <a16:creationId xmlns:a16="http://schemas.microsoft.com/office/drawing/2014/main" id="{D90AF505-3E0B-CA46-B82B-044DAE020A8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p:txBody>
      </p:sp>
      <p:sp>
        <p:nvSpPr>
          <p:cNvPr id="13" name="object 19">
            <a:extLst>
              <a:ext uri="{FF2B5EF4-FFF2-40B4-BE49-F238E27FC236}">
                <a16:creationId xmlns:a16="http://schemas.microsoft.com/office/drawing/2014/main" id="{843601B5-03F1-8149-6B08-59C5774B51F6}"/>
              </a:ext>
            </a:extLst>
          </p:cNvPr>
          <p:cNvSpPr/>
          <p:nvPr/>
        </p:nvSpPr>
        <p:spPr>
          <a:xfrm>
            <a:off x="4063765" y="6518560"/>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12" name="Google Shape;97;p14">
            <a:extLst>
              <a:ext uri="{FF2B5EF4-FFF2-40B4-BE49-F238E27FC236}">
                <a16:creationId xmlns:a16="http://schemas.microsoft.com/office/drawing/2014/main" id="{FB7D034F-085A-6ACE-26F3-55F21EDCC9A2}"/>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6" name="Picture 15">
            <a:extLst>
              <a:ext uri="{FF2B5EF4-FFF2-40B4-BE49-F238E27FC236}">
                <a16:creationId xmlns:a16="http://schemas.microsoft.com/office/drawing/2014/main" id="{72690DD2-13ED-711C-7971-176F582E8FE9}"/>
              </a:ext>
            </a:extLst>
          </p:cNvPr>
          <p:cNvPicPr>
            <a:picLocks noChangeAspect="1"/>
          </p:cNvPicPr>
          <p:nvPr/>
        </p:nvPicPr>
        <p:blipFill>
          <a:blip r:embed="rId4"/>
          <a:srcRect l="1023" t="7732" r="15636" b="14928"/>
          <a:stretch>
            <a:fillRect/>
          </a:stretch>
        </p:blipFill>
        <p:spPr>
          <a:xfrm>
            <a:off x="311310" y="1153972"/>
            <a:ext cx="6670516" cy="4040197"/>
          </a:xfrm>
          <a:prstGeom prst="rect">
            <a:avLst/>
          </a:prstGeom>
        </p:spPr>
      </p:pic>
      <p:pic>
        <p:nvPicPr>
          <p:cNvPr id="22" name="Picture 21">
            <a:extLst>
              <a:ext uri="{FF2B5EF4-FFF2-40B4-BE49-F238E27FC236}">
                <a16:creationId xmlns:a16="http://schemas.microsoft.com/office/drawing/2014/main" id="{E1A47E32-EF88-CEBB-66DE-C6CD75702C98}"/>
              </a:ext>
            </a:extLst>
          </p:cNvPr>
          <p:cNvPicPr>
            <a:picLocks noChangeAspect="1"/>
          </p:cNvPicPr>
          <p:nvPr/>
        </p:nvPicPr>
        <p:blipFill>
          <a:blip r:embed="rId5"/>
          <a:srcRect l="11143" t="6428" r="4286" b="8572"/>
          <a:stretch>
            <a:fillRect/>
          </a:stretch>
        </p:blipFill>
        <p:spPr>
          <a:xfrm>
            <a:off x="6241891" y="1028700"/>
            <a:ext cx="5638800" cy="5261054"/>
          </a:xfrm>
          <a:prstGeom prst="rect">
            <a:avLst/>
          </a:prstGeom>
        </p:spPr>
      </p:pic>
    </p:spTree>
    <p:extLst>
      <p:ext uri="{BB962C8B-B14F-4D97-AF65-F5344CB8AC3E}">
        <p14:creationId xmlns:p14="http://schemas.microsoft.com/office/powerpoint/2010/main" val="1538997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E4620D7-7AB8-22F4-DC1D-75E6370756D8}"/>
              </a:ext>
            </a:extLst>
          </p:cNvPr>
          <p:cNvSpPr/>
          <p:nvPr/>
        </p:nvSpPr>
        <p:spPr>
          <a:xfrm>
            <a:off x="311309" y="166223"/>
            <a:ext cx="10191934"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Models Used </a:t>
            </a:r>
            <a:endParaRPr lang="en-IN" sz="2800" b="1" dirty="0">
              <a:solidFill>
                <a:srgbClr val="002060"/>
              </a:solidFill>
              <a:latin typeface="Times New Roman" panose="02020603050405020304" pitchFamily="18" charset="0"/>
              <a:cs typeface="Times New Roman" panose="02020603050405020304" pitchFamily="18" charset="0"/>
            </a:endParaRPr>
          </a:p>
        </p:txBody>
      </p:sp>
      <p:pic>
        <p:nvPicPr>
          <p:cNvPr id="3" name="Google Shape;97;p14">
            <a:extLst>
              <a:ext uri="{FF2B5EF4-FFF2-40B4-BE49-F238E27FC236}">
                <a16:creationId xmlns:a16="http://schemas.microsoft.com/office/drawing/2014/main" id="{A4DDE570-FCD9-4D92-6BC8-72D5CFA7CD63}"/>
              </a:ext>
            </a:extLst>
          </p:cNvPr>
          <p:cNvPicPr preferRelativeResize="0"/>
          <p:nvPr/>
        </p:nvPicPr>
        <p:blipFill rotWithShape="1">
          <a:blip r:embed="rId2">
            <a:alphaModFix/>
          </a:blip>
          <a:srcRect/>
          <a:stretch/>
        </p:blipFill>
        <p:spPr>
          <a:xfrm>
            <a:off x="11013048" y="0"/>
            <a:ext cx="1178952" cy="1153972"/>
          </a:xfrm>
          <a:prstGeom prst="rect">
            <a:avLst/>
          </a:prstGeom>
          <a:noFill/>
          <a:ln>
            <a:noFill/>
          </a:ln>
        </p:spPr>
      </p:pic>
      <p:graphicFrame>
        <p:nvGraphicFramePr>
          <p:cNvPr id="4" name="Table 3">
            <a:extLst>
              <a:ext uri="{FF2B5EF4-FFF2-40B4-BE49-F238E27FC236}">
                <a16:creationId xmlns:a16="http://schemas.microsoft.com/office/drawing/2014/main" id="{4AC41C42-3327-930C-CED5-8E91876A2952}"/>
              </a:ext>
            </a:extLst>
          </p:cNvPr>
          <p:cNvGraphicFramePr>
            <a:graphicFrameLocks noGrp="1"/>
          </p:cNvGraphicFramePr>
          <p:nvPr>
            <p:extLst>
              <p:ext uri="{D42A27DB-BD31-4B8C-83A1-F6EECF244321}">
                <p14:modId xmlns:p14="http://schemas.microsoft.com/office/powerpoint/2010/main" val="3965144495"/>
              </p:ext>
            </p:extLst>
          </p:nvPr>
        </p:nvGraphicFramePr>
        <p:xfrm>
          <a:off x="112734" y="1153972"/>
          <a:ext cx="11711838" cy="5474036"/>
        </p:xfrm>
        <a:graphic>
          <a:graphicData uri="http://schemas.openxmlformats.org/drawingml/2006/table">
            <a:tbl>
              <a:tblPr>
                <a:tableStyleId>{36548CB8-554B-47B1-B464-9B95B1BBCFA0}</a:tableStyleId>
              </a:tblPr>
              <a:tblGrid>
                <a:gridCol w="1665962">
                  <a:extLst>
                    <a:ext uri="{9D8B030D-6E8A-4147-A177-3AD203B41FA5}">
                      <a16:colId xmlns:a16="http://schemas.microsoft.com/office/drawing/2014/main" val="2618100679"/>
                    </a:ext>
                  </a:extLst>
                </a:gridCol>
                <a:gridCol w="1528175">
                  <a:extLst>
                    <a:ext uri="{9D8B030D-6E8A-4147-A177-3AD203B41FA5}">
                      <a16:colId xmlns:a16="http://schemas.microsoft.com/office/drawing/2014/main" val="2567674809"/>
                    </a:ext>
                  </a:extLst>
                </a:gridCol>
                <a:gridCol w="1878904">
                  <a:extLst>
                    <a:ext uri="{9D8B030D-6E8A-4147-A177-3AD203B41FA5}">
                      <a16:colId xmlns:a16="http://schemas.microsoft.com/office/drawing/2014/main" val="1835998858"/>
                    </a:ext>
                  </a:extLst>
                </a:gridCol>
                <a:gridCol w="2734851">
                  <a:extLst>
                    <a:ext uri="{9D8B030D-6E8A-4147-A177-3AD203B41FA5}">
                      <a16:colId xmlns:a16="http://schemas.microsoft.com/office/drawing/2014/main" val="2287341766"/>
                    </a:ext>
                  </a:extLst>
                </a:gridCol>
                <a:gridCol w="2025040">
                  <a:extLst>
                    <a:ext uri="{9D8B030D-6E8A-4147-A177-3AD203B41FA5}">
                      <a16:colId xmlns:a16="http://schemas.microsoft.com/office/drawing/2014/main" val="2006504308"/>
                    </a:ext>
                  </a:extLst>
                </a:gridCol>
                <a:gridCol w="1878906">
                  <a:extLst>
                    <a:ext uri="{9D8B030D-6E8A-4147-A177-3AD203B41FA5}">
                      <a16:colId xmlns:a16="http://schemas.microsoft.com/office/drawing/2014/main" val="1881031806"/>
                    </a:ext>
                  </a:extLst>
                </a:gridCol>
              </a:tblGrid>
              <a:tr h="245371">
                <a:tc>
                  <a:txBody>
                    <a:bodyPr/>
                    <a:lstStyle/>
                    <a:p>
                      <a:pPr algn="ctr">
                        <a:buNone/>
                      </a:pPr>
                      <a:r>
                        <a:rPr lang="en-IN" sz="1400"/>
                        <a:t>Model</a:t>
                      </a:r>
                    </a:p>
                  </a:txBody>
                  <a:tcPr marL="58802" marR="58802" marT="29401" marB="29401" anchor="ctr"/>
                </a:tc>
                <a:tc>
                  <a:txBody>
                    <a:bodyPr/>
                    <a:lstStyle/>
                    <a:p>
                      <a:pPr algn="ctr">
                        <a:buNone/>
                      </a:pPr>
                      <a:r>
                        <a:rPr lang="en-IN" sz="1400"/>
                        <a:t>Key Idea</a:t>
                      </a:r>
                    </a:p>
                  </a:txBody>
                  <a:tcPr marL="58802" marR="58802" marT="29401" marB="29401" anchor="ctr"/>
                </a:tc>
                <a:tc>
                  <a:txBody>
                    <a:bodyPr/>
                    <a:lstStyle/>
                    <a:p>
                      <a:pPr algn="ctr">
                        <a:buNone/>
                      </a:pPr>
                      <a:r>
                        <a:rPr lang="en-IN" sz="1400"/>
                        <a:t>Architecture</a:t>
                      </a:r>
                    </a:p>
                  </a:txBody>
                  <a:tcPr marL="58802" marR="58802" marT="29401" marB="29401" anchor="ctr"/>
                </a:tc>
                <a:tc>
                  <a:txBody>
                    <a:bodyPr/>
                    <a:lstStyle/>
                    <a:p>
                      <a:pPr algn="ctr">
                        <a:buNone/>
                      </a:pPr>
                      <a:r>
                        <a:rPr lang="en-IN" sz="1400"/>
                        <a:t>Strengths</a:t>
                      </a:r>
                    </a:p>
                  </a:txBody>
                  <a:tcPr marL="58802" marR="58802" marT="29401" marB="29401" anchor="ctr"/>
                </a:tc>
                <a:tc>
                  <a:txBody>
                    <a:bodyPr/>
                    <a:lstStyle/>
                    <a:p>
                      <a:pPr algn="ctr">
                        <a:buNone/>
                      </a:pPr>
                      <a:r>
                        <a:rPr lang="en-IN" sz="1400"/>
                        <a:t>Limitations</a:t>
                      </a:r>
                    </a:p>
                  </a:txBody>
                  <a:tcPr marL="58802" marR="58802" marT="29401" marB="29401" anchor="ctr"/>
                </a:tc>
                <a:tc>
                  <a:txBody>
                    <a:bodyPr/>
                    <a:lstStyle/>
                    <a:p>
                      <a:pPr algn="ctr">
                        <a:buNone/>
                      </a:pPr>
                      <a:r>
                        <a:rPr lang="en-IN" sz="1400" dirty="0"/>
                        <a:t>Best Use Cases</a:t>
                      </a:r>
                    </a:p>
                  </a:txBody>
                  <a:tcPr marL="58802" marR="58802" marT="29401" marB="29401" anchor="ctr"/>
                </a:tc>
                <a:extLst>
                  <a:ext uri="{0D108BD9-81ED-4DB2-BD59-A6C34878D82A}">
                    <a16:rowId xmlns:a16="http://schemas.microsoft.com/office/drawing/2014/main" val="4106773302"/>
                  </a:ext>
                </a:extLst>
              </a:tr>
              <a:tr h="1447692">
                <a:tc>
                  <a:txBody>
                    <a:bodyPr/>
                    <a:lstStyle/>
                    <a:p>
                      <a:pPr algn="ctr">
                        <a:buNone/>
                      </a:pPr>
                      <a:r>
                        <a:rPr lang="en-IN" sz="1400" b="1" dirty="0"/>
                        <a:t>Long Short Term Memory (LSTM)</a:t>
                      </a:r>
                      <a:endParaRPr lang="en-IN" sz="1400" dirty="0"/>
                    </a:p>
                  </a:txBody>
                  <a:tcPr marL="58802" marR="58802" marT="29401" marB="29401" anchor="ctr"/>
                </a:tc>
                <a:tc>
                  <a:txBody>
                    <a:bodyPr/>
                    <a:lstStyle/>
                    <a:p>
                      <a:pPr algn="ctr">
                        <a:buNone/>
                      </a:pPr>
                      <a:r>
                        <a:rPr lang="en-US" sz="1400"/>
                        <a:t>Learns </a:t>
                      </a:r>
                      <a:r>
                        <a:rPr lang="en-US" sz="1400" b="1"/>
                        <a:t>long-term dependencies</a:t>
                      </a:r>
                      <a:r>
                        <a:rPr lang="en-US" sz="1400"/>
                        <a:t> in sequential data</a:t>
                      </a:r>
                    </a:p>
                  </a:txBody>
                  <a:tcPr marL="58802" marR="58802" marT="29401" marB="29401" anchor="ctr"/>
                </a:tc>
                <a:tc>
                  <a:txBody>
                    <a:bodyPr/>
                    <a:lstStyle/>
                    <a:p>
                      <a:pPr algn="ctr">
                        <a:buNone/>
                      </a:pPr>
                      <a:r>
                        <a:rPr lang="en-US" sz="1400"/>
                        <a:t>Single-direction recurrent unit with </a:t>
                      </a:r>
                      <a:r>
                        <a:rPr lang="en-US" sz="1400" b="1"/>
                        <a:t>input, forget, and output gates</a:t>
                      </a:r>
                      <a:endParaRPr lang="en-US" sz="1400"/>
                    </a:p>
                  </a:txBody>
                  <a:tcPr marL="58802" marR="58802" marT="29401" marB="29401" anchor="ctr"/>
                </a:tc>
                <a:tc>
                  <a:txBody>
                    <a:bodyPr/>
                    <a:lstStyle/>
                    <a:p>
                      <a:pPr marL="0" indent="0" algn="l">
                        <a:buFontTx/>
                        <a:buNone/>
                      </a:pPr>
                      <a:r>
                        <a:rPr lang="en-US" sz="1400" dirty="0"/>
                        <a:t>- Handles </a:t>
                      </a:r>
                      <a:r>
                        <a:rPr lang="en-US" sz="1400" b="1" dirty="0"/>
                        <a:t>vanishing gradient</a:t>
                      </a:r>
                      <a:r>
                        <a:rPr lang="en-US" sz="1400" dirty="0"/>
                        <a:t> problem- Good for </a:t>
                      </a:r>
                      <a:r>
                        <a:rPr lang="en-US" sz="1400" b="1" dirty="0"/>
                        <a:t>time-series / sequential classification.</a:t>
                      </a:r>
                    </a:p>
                    <a:p>
                      <a:pPr marL="0" indent="0" algn="l">
                        <a:buFont typeface="Arial" panose="020B0604020202020204" pitchFamily="34" charset="0"/>
                        <a:buNone/>
                      </a:pPr>
                      <a:r>
                        <a:rPr lang="en-US" sz="1400" dirty="0"/>
                        <a:t> - Captures </a:t>
                      </a:r>
                      <a:r>
                        <a:rPr lang="en-US" sz="1400" b="1" dirty="0"/>
                        <a:t>temporal memory</a:t>
                      </a:r>
                      <a:r>
                        <a:rPr lang="en-US" sz="1400" dirty="0"/>
                        <a:t> effectively.</a:t>
                      </a:r>
                    </a:p>
                  </a:txBody>
                  <a:tcPr marL="58802" marR="58802" marT="29401" marB="29401" anchor="ctr"/>
                </a:tc>
                <a:tc>
                  <a:txBody>
                    <a:bodyPr/>
                    <a:lstStyle/>
                    <a:p>
                      <a:pPr marL="0" indent="0" algn="l">
                        <a:buFontTx/>
                        <a:buNone/>
                      </a:pPr>
                      <a:r>
                        <a:rPr lang="en-US" sz="1400" dirty="0"/>
                        <a:t>- Loses information from </a:t>
                      </a:r>
                      <a:r>
                        <a:rPr lang="en-US" sz="1400" b="1" dirty="0"/>
                        <a:t>future context.</a:t>
                      </a:r>
                    </a:p>
                    <a:p>
                      <a:pPr marL="0" indent="0" algn="l">
                        <a:buFontTx/>
                        <a:buNone/>
                      </a:pPr>
                      <a:r>
                        <a:rPr lang="en-US" sz="1400" dirty="0"/>
                        <a:t>- May underperform on </a:t>
                      </a:r>
                      <a:r>
                        <a:rPr lang="en-US" sz="1400" b="1" dirty="0"/>
                        <a:t>complex motion patterns.</a:t>
                      </a:r>
                      <a:endParaRPr lang="en-US" sz="1400" dirty="0"/>
                    </a:p>
                  </a:txBody>
                  <a:tcPr marL="58802" marR="58802" marT="29401" marB="29401" anchor="ctr"/>
                </a:tc>
                <a:tc>
                  <a:txBody>
                    <a:bodyPr/>
                    <a:lstStyle/>
                    <a:p>
                      <a:pPr algn="ctr">
                        <a:buNone/>
                      </a:pPr>
                      <a:r>
                        <a:rPr lang="en-US" sz="1400"/>
                        <a:t>Basic </a:t>
                      </a:r>
                      <a:r>
                        <a:rPr lang="en-US" sz="1400" b="1"/>
                        <a:t>sequence forecasting</a:t>
                      </a:r>
                      <a:r>
                        <a:rPr lang="en-US" sz="1400"/>
                        <a:t>, simple </a:t>
                      </a:r>
                      <a:r>
                        <a:rPr lang="en-US" sz="1400" b="1"/>
                        <a:t>activity recognition</a:t>
                      </a:r>
                      <a:r>
                        <a:rPr lang="en-US" sz="1400"/>
                        <a:t>, speech modeling</a:t>
                      </a:r>
                    </a:p>
                  </a:txBody>
                  <a:tcPr marL="58802" marR="58802" marT="29401" marB="29401" anchor="ctr"/>
                </a:tc>
                <a:extLst>
                  <a:ext uri="{0D108BD9-81ED-4DB2-BD59-A6C34878D82A}">
                    <a16:rowId xmlns:a16="http://schemas.microsoft.com/office/drawing/2014/main" val="3985763223"/>
                  </a:ext>
                </a:extLst>
              </a:tr>
              <a:tr h="1447692">
                <a:tc>
                  <a:txBody>
                    <a:bodyPr/>
                    <a:lstStyle/>
                    <a:p>
                      <a:pPr algn="ctr">
                        <a:buNone/>
                      </a:pPr>
                      <a:r>
                        <a:rPr lang="en-IN" sz="1400" b="1" dirty="0"/>
                        <a:t>Bidirectional LSTM (</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Uses </a:t>
                      </a:r>
                      <a:r>
                        <a:rPr lang="en-US" sz="1400" b="1"/>
                        <a:t>past + future context</a:t>
                      </a:r>
                      <a:r>
                        <a:rPr lang="en-US" sz="1400"/>
                        <a:t> for each time step</a:t>
                      </a:r>
                    </a:p>
                  </a:txBody>
                  <a:tcPr marL="58802" marR="58802" marT="29401" marB="29401" anchor="ctr"/>
                </a:tc>
                <a:tc>
                  <a:txBody>
                    <a:bodyPr/>
                    <a:lstStyle/>
                    <a:p>
                      <a:pPr algn="ctr">
                        <a:buNone/>
                      </a:pPr>
                      <a:r>
                        <a:rPr lang="en-US" sz="1400"/>
                        <a:t>Two </a:t>
                      </a:r>
                      <a:r>
                        <a:rPr lang="en-US" sz="1400" b="1"/>
                        <a:t>LSTM</a:t>
                      </a:r>
                      <a:r>
                        <a:rPr lang="en-US" sz="1400"/>
                        <a:t> layers: one forward, one backward, outputs concatenated</a:t>
                      </a:r>
                    </a:p>
                  </a:txBody>
                  <a:tcPr marL="58802" marR="58802" marT="29401" marB="29401" anchor="ctr"/>
                </a:tc>
                <a:tc>
                  <a:txBody>
                    <a:bodyPr/>
                    <a:lstStyle/>
                    <a:p>
                      <a:pPr marL="0" indent="0" algn="l">
                        <a:buFontTx/>
                        <a:buNone/>
                      </a:pPr>
                      <a:r>
                        <a:rPr lang="en-US" sz="1400" dirty="0"/>
                        <a:t>- Strong </a:t>
                      </a:r>
                      <a:r>
                        <a:rPr lang="en-US" sz="1400" b="1" dirty="0"/>
                        <a:t>contextual understanding</a:t>
                      </a:r>
                      <a:r>
                        <a:rPr lang="en-US" sz="1400" dirty="0"/>
                        <a:t>- Captures </a:t>
                      </a:r>
                      <a:r>
                        <a:rPr lang="en-US" sz="1400" b="1" dirty="0"/>
                        <a:t>bidirectional motion patterns.</a:t>
                      </a:r>
                    </a:p>
                    <a:p>
                      <a:pPr marL="0" indent="0" algn="l">
                        <a:buFontTx/>
                        <a:buNone/>
                      </a:pPr>
                      <a:r>
                        <a:rPr lang="en-US" sz="1400" dirty="0"/>
                        <a:t>- Good for </a:t>
                      </a:r>
                      <a:r>
                        <a:rPr lang="en-US" sz="1400" b="1" dirty="0"/>
                        <a:t>overlapping / subtle movements.</a:t>
                      </a:r>
                      <a:endParaRPr lang="en-US" sz="1400" dirty="0"/>
                    </a:p>
                  </a:txBody>
                  <a:tcPr marL="58802" marR="58802" marT="29401" marB="29401" anchor="ctr"/>
                </a:tc>
                <a:tc>
                  <a:txBody>
                    <a:bodyPr/>
                    <a:lstStyle/>
                    <a:p>
                      <a:pPr marL="0" indent="0" algn="l">
                        <a:buFontTx/>
                        <a:buNone/>
                      </a:pPr>
                      <a:r>
                        <a:rPr lang="en-US" sz="1400" dirty="0"/>
                        <a:t>- Increased </a:t>
                      </a:r>
                      <a:r>
                        <a:rPr lang="en-US" sz="1400" b="1" dirty="0"/>
                        <a:t>computational load.</a:t>
                      </a:r>
                    </a:p>
                    <a:p>
                      <a:pPr marL="0" indent="0" algn="l">
                        <a:buFontTx/>
                        <a:buNone/>
                      </a:pPr>
                      <a:r>
                        <a:rPr lang="en-US" sz="1400" dirty="0"/>
                        <a:t>- More memory usage due to dual processing.</a:t>
                      </a:r>
                    </a:p>
                  </a:txBody>
                  <a:tcPr marL="58802" marR="58802" marT="29401" marB="29401" anchor="ctr"/>
                </a:tc>
                <a:tc>
                  <a:txBody>
                    <a:bodyPr/>
                    <a:lstStyle/>
                    <a:p>
                      <a:pPr algn="ctr">
                        <a:buNone/>
                      </a:pPr>
                      <a:r>
                        <a:rPr lang="en-US" sz="1400" b="1"/>
                        <a:t>Human activity recognition</a:t>
                      </a:r>
                      <a:r>
                        <a:rPr lang="en-US" sz="1400"/>
                        <a:t>, NLP tasks, gesture recognition</a:t>
                      </a:r>
                    </a:p>
                  </a:txBody>
                  <a:tcPr marL="58802" marR="58802" marT="29401" marB="29401" anchor="ctr"/>
                </a:tc>
                <a:extLst>
                  <a:ext uri="{0D108BD9-81ED-4DB2-BD59-A6C34878D82A}">
                    <a16:rowId xmlns:a16="http://schemas.microsoft.com/office/drawing/2014/main" val="439000357"/>
                  </a:ext>
                </a:extLst>
              </a:tr>
              <a:tr h="2306490">
                <a:tc>
                  <a:txBody>
                    <a:bodyPr/>
                    <a:lstStyle/>
                    <a:p>
                      <a:pPr algn="ctr">
                        <a:buNone/>
                      </a:pPr>
                      <a:r>
                        <a:rPr lang="en-IN" sz="1400" b="1" dirty="0"/>
                        <a:t>Gated Residual Skip </a:t>
                      </a:r>
                      <a:r>
                        <a:rPr lang="en-IN" sz="1400" b="1" dirty="0" err="1"/>
                        <a:t>BiLSTM</a:t>
                      </a:r>
                      <a:r>
                        <a:rPr lang="en-IN" sz="1400" b="1" dirty="0"/>
                        <a:t> (GRS-</a:t>
                      </a:r>
                      <a:r>
                        <a:rPr lang="en-IN" sz="1400" b="1" dirty="0" err="1"/>
                        <a:t>BiLSTM</a:t>
                      </a:r>
                      <a:r>
                        <a:rPr lang="en-IN" sz="1400" b="1" dirty="0"/>
                        <a:t>)</a:t>
                      </a:r>
                      <a:endParaRPr lang="en-IN" sz="1400" dirty="0"/>
                    </a:p>
                  </a:txBody>
                  <a:tcPr marL="58802" marR="58802" marT="29401" marB="29401" anchor="ctr"/>
                </a:tc>
                <a:tc>
                  <a:txBody>
                    <a:bodyPr/>
                    <a:lstStyle/>
                    <a:p>
                      <a:pPr algn="ctr">
                        <a:buNone/>
                      </a:pPr>
                      <a:r>
                        <a:rPr lang="en-US" sz="1400"/>
                        <a:t>Enhances BiLSTM with </a:t>
                      </a:r>
                      <a:r>
                        <a:rPr lang="en-US" sz="1400" b="1"/>
                        <a:t>Gated Residual Skip (GRS)</a:t>
                      </a:r>
                      <a:r>
                        <a:rPr lang="en-US" sz="1400"/>
                        <a:t> connections</a:t>
                      </a:r>
                    </a:p>
                  </a:txBody>
                  <a:tcPr marL="58802" marR="58802" marT="29401" marB="29401" anchor="ctr"/>
                </a:tc>
                <a:tc>
                  <a:txBody>
                    <a:bodyPr/>
                    <a:lstStyle/>
                    <a:p>
                      <a:pPr algn="ctr">
                        <a:buNone/>
                      </a:pPr>
                      <a:r>
                        <a:rPr lang="en-US" sz="1400" b="1" dirty="0" err="1"/>
                        <a:t>BiLSTM</a:t>
                      </a:r>
                      <a:r>
                        <a:rPr lang="en-US" sz="1400" b="1" dirty="0"/>
                        <a:t> backbone + gating layer + residual skip pathways</a:t>
                      </a:r>
                      <a:r>
                        <a:rPr lang="en-US" sz="1400" dirty="0"/>
                        <a:t> + optional </a:t>
                      </a:r>
                      <a:r>
                        <a:rPr lang="en-US" sz="1400" b="1" dirty="0"/>
                        <a:t>multi-scale inputs</a:t>
                      </a:r>
                      <a:endParaRPr lang="en-US" sz="1400" dirty="0"/>
                    </a:p>
                  </a:txBody>
                  <a:tcPr marL="58802" marR="58802" marT="29401" marB="29401" anchor="ctr"/>
                </a:tc>
                <a:tc>
                  <a:txBody>
                    <a:bodyPr/>
                    <a:lstStyle/>
                    <a:p>
                      <a:pPr marL="0" indent="0" algn="l">
                        <a:buFontTx/>
                        <a:buNone/>
                      </a:pPr>
                      <a:r>
                        <a:rPr lang="en-US" sz="1400" dirty="0"/>
                        <a:t>- Improved </a:t>
                      </a:r>
                      <a:r>
                        <a:rPr lang="en-US" sz="1400" b="1" dirty="0"/>
                        <a:t>gradient flow</a:t>
                      </a:r>
                      <a:r>
                        <a:rPr lang="en-US" sz="1400" dirty="0"/>
                        <a:t> and </a:t>
                      </a:r>
                      <a:r>
                        <a:rPr lang="en-US" sz="1400" b="1" dirty="0"/>
                        <a:t>training stability</a:t>
                      </a:r>
                      <a:r>
                        <a:rPr lang="en-US" sz="1400" dirty="0"/>
                        <a:t>- Better </a:t>
                      </a:r>
                      <a:r>
                        <a:rPr lang="en-US" sz="1400" b="1" dirty="0"/>
                        <a:t>multi-resolution temporal modeling.</a:t>
                      </a:r>
                    </a:p>
                    <a:p>
                      <a:pPr marL="0" indent="0" algn="l">
                        <a:buFontTx/>
                        <a:buNone/>
                      </a:pPr>
                      <a:r>
                        <a:rPr lang="en-US" sz="1400" dirty="0"/>
                        <a:t>- Handles </a:t>
                      </a:r>
                      <a:r>
                        <a:rPr lang="en-US" sz="1400" b="1" dirty="0"/>
                        <a:t>subtle transitions</a:t>
                      </a:r>
                      <a:r>
                        <a:rPr lang="en-US" sz="1400" dirty="0"/>
                        <a:t> and </a:t>
                      </a:r>
                      <a:r>
                        <a:rPr lang="en-US" sz="1400" b="1" dirty="0"/>
                        <a:t>long motion dependencies</a:t>
                      </a:r>
                      <a:r>
                        <a:rPr lang="en-US" sz="1400" dirty="0"/>
                        <a:t>- Reduces </a:t>
                      </a:r>
                      <a:r>
                        <a:rPr lang="en-US" sz="1400" b="1" dirty="0"/>
                        <a:t>over-smoothing and information loss.</a:t>
                      </a:r>
                      <a:endParaRPr lang="en-US" sz="1400" dirty="0"/>
                    </a:p>
                  </a:txBody>
                  <a:tcPr marL="58802" marR="58802" marT="29401" marB="29401" anchor="ctr"/>
                </a:tc>
                <a:tc>
                  <a:txBody>
                    <a:bodyPr/>
                    <a:lstStyle/>
                    <a:p>
                      <a:pPr marL="0" indent="0" algn="l">
                        <a:buFontTx/>
                        <a:buNone/>
                      </a:pPr>
                      <a:r>
                        <a:rPr lang="en-US" sz="1400" b="1" dirty="0"/>
                        <a:t>- Complex architecture</a:t>
                      </a:r>
                      <a:r>
                        <a:rPr lang="en-US" sz="1400" dirty="0"/>
                        <a:t> requiring careful tuning .</a:t>
                      </a:r>
                    </a:p>
                    <a:p>
                      <a:pPr marL="0" indent="0" algn="l">
                        <a:buFontTx/>
                        <a:buNone/>
                      </a:pPr>
                      <a:r>
                        <a:rPr lang="en-US" sz="1400" dirty="0"/>
                        <a:t>- Higher </a:t>
                      </a:r>
                      <a:r>
                        <a:rPr lang="en-US" sz="1400" b="1" dirty="0"/>
                        <a:t>training time</a:t>
                      </a:r>
                      <a:r>
                        <a:rPr lang="en-US" sz="1400" dirty="0"/>
                        <a:t> and </a:t>
                      </a:r>
                      <a:r>
                        <a:rPr lang="en-US" sz="1400" b="1" dirty="0"/>
                        <a:t>model size.</a:t>
                      </a:r>
                      <a:endParaRPr lang="en-US" sz="1400" dirty="0"/>
                    </a:p>
                  </a:txBody>
                  <a:tcPr marL="58802" marR="58802" marT="29401" marB="29401" anchor="ctr"/>
                </a:tc>
                <a:tc>
                  <a:txBody>
                    <a:bodyPr/>
                    <a:lstStyle/>
                    <a:p>
                      <a:pPr algn="ctr">
                        <a:buNone/>
                      </a:pPr>
                      <a:r>
                        <a:rPr lang="en-US" sz="1400" b="1" dirty="0"/>
                        <a:t>High-precision activity recognition</a:t>
                      </a:r>
                      <a:r>
                        <a:rPr lang="en-US" sz="1400" dirty="0"/>
                        <a:t>, </a:t>
                      </a:r>
                      <a:r>
                        <a:rPr lang="en-US" sz="1400" b="1" dirty="0"/>
                        <a:t>multi-sensor fusion</a:t>
                      </a:r>
                      <a:r>
                        <a:rPr lang="en-US" sz="1400" dirty="0"/>
                        <a:t>, real-world motion environments</a:t>
                      </a:r>
                    </a:p>
                  </a:txBody>
                  <a:tcPr marL="58802" marR="58802" marT="29401" marB="29401" anchor="ctr"/>
                </a:tc>
                <a:extLst>
                  <a:ext uri="{0D108BD9-81ED-4DB2-BD59-A6C34878D82A}">
                    <a16:rowId xmlns:a16="http://schemas.microsoft.com/office/drawing/2014/main" val="2840878820"/>
                  </a:ext>
                </a:extLst>
              </a:tr>
            </a:tbl>
          </a:graphicData>
        </a:graphic>
      </p:graphicFrame>
    </p:spTree>
    <p:extLst>
      <p:ext uri="{BB962C8B-B14F-4D97-AF65-F5344CB8AC3E}">
        <p14:creationId xmlns:p14="http://schemas.microsoft.com/office/powerpoint/2010/main" val="252412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07CDF-A9EE-42A7-3581-26FD9181660A}"/>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B453B93-707F-927D-B789-8A139F2C31A9}"/>
              </a:ext>
            </a:extLst>
          </p:cNvPr>
          <p:cNvSpPr/>
          <p:nvPr/>
        </p:nvSpPr>
        <p:spPr>
          <a:xfrm>
            <a:off x="127819" y="127819"/>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Proposed Model – MS-GRS-</a:t>
            </a:r>
            <a:r>
              <a:rPr lang="en-US" sz="2800" b="1" dirty="0" err="1">
                <a:solidFill>
                  <a:srgbClr val="002060"/>
                </a:solidFill>
                <a:latin typeface="Times New Roman" panose="02020603050405020304" pitchFamily="18" charset="0"/>
                <a:cs typeface="Times New Roman" panose="02020603050405020304" pitchFamily="18" charset="0"/>
              </a:rPr>
              <a:t>BiLSTM</a:t>
            </a:r>
            <a:r>
              <a:rPr lang="en-US" sz="2800" b="1" dirty="0">
                <a:solidFill>
                  <a:srgbClr val="002060"/>
                </a:solidFill>
                <a:latin typeface="Times New Roman" panose="02020603050405020304" pitchFamily="18" charset="0"/>
                <a:cs typeface="Times New Roman" panose="02020603050405020304" pitchFamily="18" charset="0"/>
              </a:rPr>
              <a:t> </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3" name="object 17">
            <a:extLst>
              <a:ext uri="{FF2B5EF4-FFF2-40B4-BE49-F238E27FC236}">
                <a16:creationId xmlns:a16="http://schemas.microsoft.com/office/drawing/2014/main" id="{F53BB855-4367-5DAF-9975-98313B2B0BE9}"/>
              </a:ext>
            </a:extLst>
          </p:cNvPr>
          <p:cNvGrpSpPr/>
          <p:nvPr/>
        </p:nvGrpSpPr>
        <p:grpSpPr>
          <a:xfrm>
            <a:off x="0" y="6518560"/>
            <a:ext cx="12102101" cy="345448"/>
            <a:chOff x="0" y="3346348"/>
            <a:chExt cx="4608195" cy="109855"/>
          </a:xfrm>
        </p:grpSpPr>
        <p:sp>
          <p:nvSpPr>
            <p:cNvPr id="4" name="object 18">
              <a:extLst>
                <a:ext uri="{FF2B5EF4-FFF2-40B4-BE49-F238E27FC236}">
                  <a16:creationId xmlns:a16="http://schemas.microsoft.com/office/drawing/2014/main" id="{ECD651C2-841F-E691-E127-01B8D3DE63B3}"/>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5" name="object 19">
              <a:extLst>
                <a:ext uri="{FF2B5EF4-FFF2-40B4-BE49-F238E27FC236}">
                  <a16:creationId xmlns:a16="http://schemas.microsoft.com/office/drawing/2014/main" id="{1BC52002-97F3-9517-AC1E-AD88D5398C17}"/>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6" name="object 20">
              <a:extLst>
                <a:ext uri="{FF2B5EF4-FFF2-40B4-BE49-F238E27FC236}">
                  <a16:creationId xmlns:a16="http://schemas.microsoft.com/office/drawing/2014/main" id="{F755537D-127D-C7E0-9A18-7B737D11865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13/30</a:t>
              </a:r>
              <a:endParaRPr lang="en-US" dirty="0"/>
            </a:p>
          </p:txBody>
        </p:sp>
      </p:grpSp>
      <p:sp>
        <p:nvSpPr>
          <p:cNvPr id="8" name="TextBox 7">
            <a:extLst>
              <a:ext uri="{FF2B5EF4-FFF2-40B4-BE49-F238E27FC236}">
                <a16:creationId xmlns:a16="http://schemas.microsoft.com/office/drawing/2014/main" id="{36D8B58F-620E-3924-4231-125ADB2B83C4}"/>
              </a:ext>
            </a:extLst>
          </p:cNvPr>
          <p:cNvSpPr txBox="1"/>
          <p:nvPr/>
        </p:nvSpPr>
        <p:spPr>
          <a:xfrm>
            <a:off x="127819" y="1333009"/>
            <a:ext cx="11915418" cy="4191981"/>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Name :</a:t>
            </a:r>
            <a:r>
              <a:rPr lang="en-US" sz="2000" dirty="0">
                <a:solidFill>
                  <a:schemeClr val="tx1"/>
                </a:solidFill>
                <a:latin typeface="Times New Roman" panose="02020603050405020304" pitchFamily="18" charset="0"/>
                <a:cs typeface="Times New Roman" panose="02020603050405020304" pitchFamily="18" charset="0"/>
              </a:rPr>
              <a:t> Multi-Scale Gated Residual Skip Bidirectional Long Short Term Memory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Goal :</a:t>
            </a:r>
            <a:r>
              <a:rPr lang="en-US" sz="2000" dirty="0">
                <a:solidFill>
                  <a:schemeClr val="tx1"/>
                </a:solidFill>
                <a:latin typeface="Times New Roman" panose="02020603050405020304" pitchFamily="18" charset="0"/>
                <a:cs typeface="Times New Roman" panose="02020603050405020304" pitchFamily="18" charset="0"/>
              </a:rPr>
              <a:t> classify short time-windows of sensor / joint data into activity classes.</a:t>
            </a:r>
          </a:p>
          <a:p>
            <a:pPr marL="285750" indent="-285750">
              <a:lnSpc>
                <a:spcPct val="150000"/>
              </a:lnSpc>
              <a:buFont typeface="Wingdings" panose="05000000000000000000" pitchFamily="2" charset="2"/>
              <a:buChar char="ü"/>
            </a:pPr>
            <a:r>
              <a:rPr lang="en-US" sz="2000" b="1" dirty="0">
                <a:solidFill>
                  <a:schemeClr val="tx1"/>
                </a:solidFill>
                <a:latin typeface="Times New Roman" panose="02020603050405020304" pitchFamily="18" charset="0"/>
                <a:cs typeface="Times New Roman" panose="02020603050405020304" pitchFamily="18" charset="0"/>
              </a:rPr>
              <a:t>Key ideas </a:t>
            </a:r>
            <a:r>
              <a:rPr lang="en-US" sz="2000" dirty="0">
                <a:solidFill>
                  <a:schemeClr val="tx1"/>
                </a:solidFill>
                <a:latin typeface="Times New Roman" panose="02020603050405020304" pitchFamily="18" charset="0"/>
                <a:cs typeface="Times New Roman" panose="02020603050405020304" pitchFamily="18" charset="0"/>
              </a:rPr>
              <a:t>: multi-scale temporal representation, learned gates to fuse scales, residual skip from raw input,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temporal modeling.</a:t>
            </a:r>
          </a:p>
          <a:p>
            <a:pPr marL="285750" indent="-285750">
              <a:lnSpc>
                <a:spcPct val="150000"/>
              </a:lnSpc>
              <a:buFont typeface="Wingdings" panose="05000000000000000000" pitchFamily="2" charset="2"/>
              <a:buChar char="ü"/>
            </a:pPr>
            <a:r>
              <a:rPr lang="en-US" sz="2000" dirty="0">
                <a:solidFill>
                  <a:schemeClr val="tx1"/>
                </a:solidFill>
                <a:latin typeface="Times New Roman" panose="02020603050405020304" pitchFamily="18" charset="0"/>
                <a:cs typeface="Times New Roman" panose="02020603050405020304" pitchFamily="18" charset="0"/>
              </a:rPr>
              <a:t>The MS-GRS-</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is </a:t>
            </a:r>
            <a:r>
              <a:rPr lang="en-US" sz="2000" b="1" dirty="0">
                <a:solidFill>
                  <a:schemeClr val="tx1"/>
                </a:solidFill>
                <a:latin typeface="Times New Roman" panose="02020603050405020304" pitchFamily="18" charset="0"/>
                <a:cs typeface="Times New Roman" panose="02020603050405020304" pitchFamily="18" charset="0"/>
              </a:rPr>
              <a:t>not just detecting momentary movement</a:t>
            </a:r>
            <a:r>
              <a:rPr lang="en-US" sz="2000" dirty="0">
                <a:solidFill>
                  <a:schemeClr val="tx1"/>
                </a:solidFill>
                <a:latin typeface="Times New Roman" panose="02020603050405020304" pitchFamily="18" charset="0"/>
                <a:cs typeface="Times New Roman" panose="02020603050405020304" pitchFamily="18" charset="0"/>
              </a:rPr>
              <a:t>, but is:	</a:t>
            </a:r>
          </a:p>
          <a:p>
            <a:pPr>
              <a:lnSpc>
                <a:spcPct val="150000"/>
              </a:lnSpc>
            </a:pPr>
            <a:r>
              <a:rPr lang="en-US" sz="2000" dirty="0">
                <a:solidFill>
                  <a:schemeClr val="tx1"/>
                </a:solidFill>
                <a:latin typeface="Times New Roman" panose="02020603050405020304" pitchFamily="18" charset="0"/>
                <a:cs typeface="Times New Roman" panose="02020603050405020304" pitchFamily="18" charset="0"/>
              </a:rPr>
              <a:t>	</a:t>
            </a:r>
            <a:r>
              <a:rPr lang="en-US" sz="2000" dirty="0">
                <a:solidFill>
                  <a:srgbClr val="00B0F0"/>
                </a:solidFill>
                <a:latin typeface="Times New Roman" panose="02020603050405020304" pitchFamily="18" charset="0"/>
                <a:cs typeface="Times New Roman" panose="02020603050405020304" pitchFamily="18" charset="0"/>
              </a:rPr>
              <a:t>Understanding the shape of motion over time, at multiple speeds, while carefully preserving useful 	information and filtering noise.</a:t>
            </a:r>
          </a:p>
          <a:p>
            <a:pPr>
              <a:lnSpc>
                <a:spcPct val="150000"/>
              </a:lnSpc>
            </a:pPr>
            <a:endParaRPr lang="en-US" sz="2000" dirty="0">
              <a:solidFill>
                <a:schemeClr val="tx1"/>
              </a:solidFill>
              <a:latin typeface="Times New Roman" panose="02020603050405020304" pitchFamily="18" charset="0"/>
              <a:cs typeface="Times New Roman" panose="02020603050405020304" pitchFamily="18" charset="0"/>
            </a:endParaRPr>
          </a:p>
          <a:p>
            <a:pPr marL="285750" lvl="5" indent="-285750">
              <a:lnSpc>
                <a:spcPct val="150000"/>
              </a:lnSpc>
              <a:buFont typeface="Wingdings" panose="05000000000000000000" pitchFamily="2" charset="2"/>
              <a:buChar char="ü"/>
            </a:pPr>
            <a:endParaRPr lang="en-US" sz="2000" dirty="0">
              <a:solidFill>
                <a:schemeClr val="tx1"/>
              </a:solidFill>
              <a:latin typeface="Times New Roman" panose="02020603050405020304" pitchFamily="18" charset="0"/>
              <a:cs typeface="Times New Roman" panose="02020603050405020304" pitchFamily="18" charset="0"/>
            </a:endParaRPr>
          </a:p>
        </p:txBody>
      </p:sp>
      <p:sp>
        <p:nvSpPr>
          <p:cNvPr id="10" name="object 19">
            <a:extLst>
              <a:ext uri="{FF2B5EF4-FFF2-40B4-BE49-F238E27FC236}">
                <a16:creationId xmlns:a16="http://schemas.microsoft.com/office/drawing/2014/main" id="{F6A68D7C-BFEB-94EE-D3CB-336163AB472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CE95CF3C-B449-B4C1-12BB-52183D9C0315}"/>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3427646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C2B10-FD0A-D143-9E4F-6AC0212F3C04}"/>
            </a:ext>
          </a:extLst>
        </p:cNvPr>
        <p:cNvGrpSpPr/>
        <p:nvPr/>
      </p:nvGrpSpPr>
      <p:grpSpPr>
        <a:xfrm>
          <a:off x="0" y="0"/>
          <a:ext cx="0" cy="0"/>
          <a:chOff x="0" y="0"/>
          <a:chExt cx="0" cy="0"/>
        </a:xfrm>
      </p:grpSpPr>
      <p:grpSp>
        <p:nvGrpSpPr>
          <p:cNvPr id="4" name="object 17">
            <a:extLst>
              <a:ext uri="{FF2B5EF4-FFF2-40B4-BE49-F238E27FC236}">
                <a16:creationId xmlns:a16="http://schemas.microsoft.com/office/drawing/2014/main" id="{FB36CBE0-92CD-8E08-C73A-8B78EEB84944}"/>
              </a:ext>
            </a:extLst>
          </p:cNvPr>
          <p:cNvGrpSpPr/>
          <p:nvPr/>
        </p:nvGrpSpPr>
        <p:grpSpPr>
          <a:xfrm>
            <a:off x="0" y="6518560"/>
            <a:ext cx="12102101" cy="345448"/>
            <a:chOff x="0" y="3346348"/>
            <a:chExt cx="4608195" cy="109855"/>
          </a:xfrm>
        </p:grpSpPr>
        <p:sp>
          <p:nvSpPr>
            <p:cNvPr id="5" name="object 18">
              <a:extLst>
                <a:ext uri="{FF2B5EF4-FFF2-40B4-BE49-F238E27FC236}">
                  <a16:creationId xmlns:a16="http://schemas.microsoft.com/office/drawing/2014/main" id="{E9E1FEFD-8216-EC7B-1CD1-9975DDBB1BE3}"/>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243DFBB1-DADB-89C3-A6C9-3EE46547E914}"/>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3A5DCE50-A6B9-70B6-1088-C74C8482448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15/30</a:t>
              </a:r>
              <a:endParaRPr lang="en-US" dirty="0"/>
            </a:p>
          </p:txBody>
        </p:sp>
      </p:grpSp>
      <p:sp>
        <p:nvSpPr>
          <p:cNvPr id="8" name="Rectangle: Rounded Corners 7">
            <a:extLst>
              <a:ext uri="{FF2B5EF4-FFF2-40B4-BE49-F238E27FC236}">
                <a16:creationId xmlns:a16="http://schemas.microsoft.com/office/drawing/2014/main" id="{44384069-DB2F-DC28-B455-1A3B69569822}"/>
              </a:ext>
            </a:extLst>
          </p:cNvPr>
          <p:cNvSpPr/>
          <p:nvPr/>
        </p:nvSpPr>
        <p:spPr>
          <a:xfrm>
            <a:off x="206478" y="152627"/>
            <a:ext cx="10007830" cy="892980"/>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US" sz="2800" b="1" dirty="0">
              <a:solidFill>
                <a:srgbClr val="002060"/>
              </a:solidFill>
              <a:latin typeface="Times New Roman" panose="02020603050405020304" pitchFamily="18" charset="0"/>
              <a:cs typeface="Times New Roman" panose="02020603050405020304" pitchFamily="18" charset="0"/>
            </a:endParaRPr>
          </a:p>
        </p:txBody>
      </p:sp>
      <p:sp>
        <p:nvSpPr>
          <p:cNvPr id="2" name="object 19">
            <a:extLst>
              <a:ext uri="{FF2B5EF4-FFF2-40B4-BE49-F238E27FC236}">
                <a16:creationId xmlns:a16="http://schemas.microsoft.com/office/drawing/2014/main" id="{FC2BDFEE-F685-D2C9-3091-CF6920AA897A}"/>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491E00DA-57D3-A16A-BC13-6FCCA5FA6C88}"/>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16" name="TextBox 15">
            <a:extLst>
              <a:ext uri="{FF2B5EF4-FFF2-40B4-BE49-F238E27FC236}">
                <a16:creationId xmlns:a16="http://schemas.microsoft.com/office/drawing/2014/main" id="{8CEACA88-6459-ABFD-68DE-175B4D92BF8F}"/>
              </a:ext>
            </a:extLst>
          </p:cNvPr>
          <p:cNvSpPr txBox="1"/>
          <p:nvPr/>
        </p:nvSpPr>
        <p:spPr>
          <a:xfrm>
            <a:off x="206478" y="1162404"/>
            <a:ext cx="10940902" cy="1323439"/>
          </a:xfrm>
          <a:prstGeom prst="rect">
            <a:avLst/>
          </a:prstGeom>
          <a:noFill/>
        </p:spPr>
        <p:txBody>
          <a:bodyPr wrap="square" rtlCol="0">
            <a:spAutoFit/>
          </a:bodyPr>
          <a:lstStyle/>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Why Multi-Scale (MS) is Needed ?</a:t>
            </a:r>
          </a:p>
          <a:p>
            <a:pPr>
              <a:spcBef>
                <a:spcPts val="1200"/>
              </a:spcBef>
            </a:pPr>
            <a:r>
              <a:rPr lang="en-US" sz="2000" b="1" dirty="0">
                <a:solidFill>
                  <a:schemeClr val="tx1"/>
                </a:solidFill>
                <a:latin typeface="Times New Roman" panose="02020603050405020304" pitchFamily="18" charset="0"/>
                <a:cs typeface="Times New Roman" panose="02020603050405020304" pitchFamily="18" charset="0"/>
              </a:rPr>
              <a:t>  </a:t>
            </a:r>
            <a:r>
              <a:rPr lang="en-US" sz="2000" dirty="0">
                <a:solidFill>
                  <a:schemeClr val="tx1"/>
                </a:solidFill>
                <a:latin typeface="Times New Roman" panose="02020603050405020304" pitchFamily="18" charset="0"/>
                <a:cs typeface="Times New Roman" panose="02020603050405020304" pitchFamily="18" charset="0"/>
              </a:rPr>
              <a:t>Different activities show patterns at </a:t>
            </a:r>
            <a:r>
              <a:rPr lang="en-US" sz="2000" b="1" dirty="0">
                <a:solidFill>
                  <a:schemeClr val="tx1"/>
                </a:solidFill>
                <a:latin typeface="Times New Roman" panose="02020603050405020304" pitchFamily="18" charset="0"/>
                <a:cs typeface="Times New Roman" panose="02020603050405020304" pitchFamily="18" charset="0"/>
              </a:rPr>
              <a:t>different time speeds</a:t>
            </a:r>
            <a:r>
              <a:rPr lang="en-US" sz="2000" dirty="0">
                <a:solidFill>
                  <a:schemeClr val="tx1"/>
                </a:solidFill>
                <a:latin typeface="Times New Roman" panose="02020603050405020304" pitchFamily="18" charset="0"/>
                <a:cs typeface="Times New Roman" panose="02020603050405020304" pitchFamily="18" charset="0"/>
              </a:rPr>
              <a:t>:</a:t>
            </a:r>
            <a:endParaRPr lang="en-IN" sz="2000" b="1" dirty="0">
              <a:solidFill>
                <a:schemeClr val="tx1"/>
              </a:solidFill>
              <a:latin typeface="Times New Roman" panose="02020603050405020304" pitchFamily="18" charset="0"/>
              <a:cs typeface="Times New Roman" panose="02020603050405020304" pitchFamily="18" charset="0"/>
            </a:endParaRPr>
          </a:p>
          <a:p>
            <a:pPr>
              <a:spcBef>
                <a:spcPts val="1200"/>
              </a:spcBef>
            </a:pPr>
            <a:endParaRPr lang="en-US" sz="2000" dirty="0">
              <a:solidFill>
                <a:schemeClr val="tx1"/>
              </a:solidFill>
              <a:latin typeface="Times New Roman" panose="02020603050405020304" pitchFamily="18" charset="0"/>
              <a:cs typeface="Times New Roman" panose="02020603050405020304" pitchFamily="18" charset="0"/>
            </a:endParaRPr>
          </a:p>
        </p:txBody>
      </p:sp>
      <p:graphicFrame>
        <p:nvGraphicFramePr>
          <p:cNvPr id="17" name="Table 16">
            <a:extLst>
              <a:ext uri="{FF2B5EF4-FFF2-40B4-BE49-F238E27FC236}">
                <a16:creationId xmlns:a16="http://schemas.microsoft.com/office/drawing/2014/main" id="{39DC9EB8-05D1-E9C6-AEDE-47D1078FAE99}"/>
              </a:ext>
            </a:extLst>
          </p:cNvPr>
          <p:cNvGraphicFramePr>
            <a:graphicFrameLocks noGrp="1"/>
          </p:cNvGraphicFramePr>
          <p:nvPr>
            <p:extLst>
              <p:ext uri="{D42A27DB-BD31-4B8C-83A1-F6EECF244321}">
                <p14:modId xmlns:p14="http://schemas.microsoft.com/office/powerpoint/2010/main" val="1810156285"/>
              </p:ext>
            </p:extLst>
          </p:nvPr>
        </p:nvGraphicFramePr>
        <p:xfrm>
          <a:off x="294101" y="2130916"/>
          <a:ext cx="6612027" cy="1321480"/>
        </p:xfrm>
        <a:graphic>
          <a:graphicData uri="http://schemas.openxmlformats.org/drawingml/2006/table">
            <a:tbl>
              <a:tblPr firstRow="1" bandRow="1">
                <a:tableStyleId>{7DF18680-E054-41AD-8BC1-D1AEF772440D}</a:tableStyleId>
              </a:tblPr>
              <a:tblGrid>
                <a:gridCol w="2204009">
                  <a:extLst>
                    <a:ext uri="{9D8B030D-6E8A-4147-A177-3AD203B41FA5}">
                      <a16:colId xmlns:a16="http://schemas.microsoft.com/office/drawing/2014/main" val="3111009123"/>
                    </a:ext>
                  </a:extLst>
                </a:gridCol>
                <a:gridCol w="2204009">
                  <a:extLst>
                    <a:ext uri="{9D8B030D-6E8A-4147-A177-3AD203B41FA5}">
                      <a16:colId xmlns:a16="http://schemas.microsoft.com/office/drawing/2014/main" val="3029207695"/>
                    </a:ext>
                  </a:extLst>
                </a:gridCol>
                <a:gridCol w="2204009">
                  <a:extLst>
                    <a:ext uri="{9D8B030D-6E8A-4147-A177-3AD203B41FA5}">
                      <a16:colId xmlns:a16="http://schemas.microsoft.com/office/drawing/2014/main" val="557257605"/>
                    </a:ext>
                  </a:extLst>
                </a:gridCol>
              </a:tblGrid>
              <a:tr h="330370">
                <a:tc>
                  <a:txBody>
                    <a:bodyPr/>
                    <a:lstStyle/>
                    <a:p>
                      <a:pPr algn="ctr"/>
                      <a:r>
                        <a:rPr lang="en-US" dirty="0"/>
                        <a:t>Activity Type </a:t>
                      </a:r>
                      <a:endParaRPr lang="en-IN" dirty="0"/>
                    </a:p>
                  </a:txBody>
                  <a:tcPr/>
                </a:tc>
                <a:tc>
                  <a:txBody>
                    <a:bodyPr/>
                    <a:lstStyle/>
                    <a:p>
                      <a:pPr algn="ctr"/>
                      <a:r>
                        <a:rPr lang="en-US" dirty="0"/>
                        <a:t>Activity Speed</a:t>
                      </a:r>
                      <a:endParaRPr lang="en-IN" dirty="0"/>
                    </a:p>
                  </a:txBody>
                  <a:tcPr/>
                </a:tc>
                <a:tc>
                  <a:txBody>
                    <a:bodyPr/>
                    <a:lstStyle/>
                    <a:p>
                      <a:pPr algn="ctr"/>
                      <a:r>
                        <a:rPr lang="en-US" dirty="0"/>
                        <a:t>Example</a:t>
                      </a:r>
                      <a:endParaRPr lang="en-IN" dirty="0"/>
                    </a:p>
                  </a:txBody>
                  <a:tcPr/>
                </a:tc>
                <a:extLst>
                  <a:ext uri="{0D108BD9-81ED-4DB2-BD59-A6C34878D82A}">
                    <a16:rowId xmlns:a16="http://schemas.microsoft.com/office/drawing/2014/main" val="488243764"/>
                  </a:ext>
                </a:extLst>
              </a:tr>
              <a:tr h="330370">
                <a:tc>
                  <a:txBody>
                    <a:bodyPr/>
                    <a:lstStyle/>
                    <a:p>
                      <a:pPr algn="ctr"/>
                      <a:r>
                        <a:rPr lang="en-IN" dirty="0"/>
                        <a:t>Quick &amp; Repetitive</a:t>
                      </a:r>
                    </a:p>
                  </a:txBody>
                  <a:tcPr/>
                </a:tc>
                <a:tc>
                  <a:txBody>
                    <a:bodyPr/>
                    <a:lstStyle/>
                    <a:p>
                      <a:pPr algn="ctr"/>
                      <a:r>
                        <a:rPr lang="en-IN" dirty="0"/>
                        <a:t>Fast</a:t>
                      </a:r>
                    </a:p>
                  </a:txBody>
                  <a:tcPr/>
                </a:tc>
                <a:tc>
                  <a:txBody>
                    <a:bodyPr/>
                    <a:lstStyle/>
                    <a:p>
                      <a:pPr algn="ctr">
                        <a:buNone/>
                      </a:pPr>
                      <a:r>
                        <a:rPr lang="en-IN" dirty="0"/>
                        <a:t>Running, Jumping</a:t>
                      </a:r>
                    </a:p>
                  </a:txBody>
                  <a:tcPr anchor="ctr"/>
                </a:tc>
                <a:extLst>
                  <a:ext uri="{0D108BD9-81ED-4DB2-BD59-A6C34878D82A}">
                    <a16:rowId xmlns:a16="http://schemas.microsoft.com/office/drawing/2014/main" val="856249194"/>
                  </a:ext>
                </a:extLst>
              </a:tr>
              <a:tr h="330370">
                <a:tc>
                  <a:txBody>
                    <a:bodyPr/>
                    <a:lstStyle/>
                    <a:p>
                      <a:pPr algn="ctr">
                        <a:buNone/>
                      </a:pPr>
                      <a:r>
                        <a:rPr lang="en-IN" dirty="0"/>
                        <a:t>Moderate Movement</a:t>
                      </a:r>
                    </a:p>
                  </a:txBody>
                  <a:tcPr anchor="ctr"/>
                </a:tc>
                <a:tc>
                  <a:txBody>
                    <a:bodyPr/>
                    <a:lstStyle/>
                    <a:p>
                      <a:pPr algn="ctr"/>
                      <a:r>
                        <a:rPr lang="en-IN" dirty="0"/>
                        <a:t>Medium</a:t>
                      </a:r>
                    </a:p>
                  </a:txBody>
                  <a:tcPr/>
                </a:tc>
                <a:tc>
                  <a:txBody>
                    <a:bodyPr/>
                    <a:lstStyle/>
                    <a:p>
                      <a:pPr algn="ctr"/>
                      <a:r>
                        <a:rPr lang="en-IN" dirty="0"/>
                        <a:t>Walking</a:t>
                      </a:r>
                    </a:p>
                  </a:txBody>
                  <a:tcPr/>
                </a:tc>
                <a:extLst>
                  <a:ext uri="{0D108BD9-81ED-4DB2-BD59-A6C34878D82A}">
                    <a16:rowId xmlns:a16="http://schemas.microsoft.com/office/drawing/2014/main" val="2332443241"/>
                  </a:ext>
                </a:extLst>
              </a:tr>
              <a:tr h="330370">
                <a:tc>
                  <a:txBody>
                    <a:bodyPr/>
                    <a:lstStyle/>
                    <a:p>
                      <a:pPr algn="ctr">
                        <a:buNone/>
                      </a:pPr>
                      <a:r>
                        <a:rPr lang="en-IN" dirty="0"/>
                        <a:t>Postural &amp; Stable</a:t>
                      </a:r>
                    </a:p>
                  </a:txBody>
                  <a:tcPr anchor="ctr"/>
                </a:tc>
                <a:tc>
                  <a:txBody>
                    <a:bodyPr/>
                    <a:lstStyle/>
                    <a:p>
                      <a:pPr algn="ctr"/>
                      <a:r>
                        <a:rPr lang="en-IN" dirty="0"/>
                        <a:t>Slow</a:t>
                      </a:r>
                    </a:p>
                  </a:txBody>
                  <a:tcPr/>
                </a:tc>
                <a:tc>
                  <a:txBody>
                    <a:bodyPr/>
                    <a:lstStyle/>
                    <a:p>
                      <a:pPr algn="ctr">
                        <a:buNone/>
                      </a:pPr>
                      <a:r>
                        <a:rPr lang="en-IN" dirty="0"/>
                        <a:t>Standing, Sitting</a:t>
                      </a:r>
                    </a:p>
                  </a:txBody>
                  <a:tcPr anchor="ctr"/>
                </a:tc>
                <a:extLst>
                  <a:ext uri="{0D108BD9-81ED-4DB2-BD59-A6C34878D82A}">
                    <a16:rowId xmlns:a16="http://schemas.microsoft.com/office/drawing/2014/main" val="3535650079"/>
                  </a:ext>
                </a:extLst>
              </a:tr>
            </a:tbl>
          </a:graphicData>
        </a:graphic>
      </p:graphicFrame>
      <p:sp>
        <p:nvSpPr>
          <p:cNvPr id="19" name="TextBox 18">
            <a:extLst>
              <a:ext uri="{FF2B5EF4-FFF2-40B4-BE49-F238E27FC236}">
                <a16:creationId xmlns:a16="http://schemas.microsoft.com/office/drawing/2014/main" id="{13A283D7-464D-C5F9-1D65-7C950FFE0C6F}"/>
              </a:ext>
            </a:extLst>
          </p:cNvPr>
          <p:cNvSpPr txBox="1"/>
          <p:nvPr/>
        </p:nvSpPr>
        <p:spPr>
          <a:xfrm>
            <a:off x="206478" y="3535274"/>
            <a:ext cx="7132785" cy="3170099"/>
          </a:xfrm>
          <a:prstGeom prst="rect">
            <a:avLst/>
          </a:prstGeom>
          <a:noFill/>
        </p:spPr>
        <p:txBody>
          <a:bodyPr wrap="square" rtlCol="0">
            <a:spAutoFit/>
          </a:bodyPr>
          <a:lstStyle/>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To capture these differences, the model </a:t>
            </a:r>
            <a:r>
              <a:rPr lang="en-US" sz="2000" b="1" dirty="0">
                <a:solidFill>
                  <a:schemeClr val="tx1"/>
                </a:solidFill>
                <a:latin typeface="Times New Roman" panose="02020603050405020304" pitchFamily="18" charset="0"/>
                <a:cs typeface="Times New Roman" panose="02020603050405020304" pitchFamily="18" charset="0"/>
              </a:rPr>
              <a:t>creates 3 versions</a:t>
            </a:r>
            <a:r>
              <a:rPr lang="en-US" sz="2000" dirty="0">
                <a:solidFill>
                  <a:schemeClr val="tx1"/>
                </a:solidFill>
                <a:latin typeface="Times New Roman" panose="02020603050405020304" pitchFamily="18" charset="0"/>
                <a:cs typeface="Times New Roman" panose="02020603050405020304" pitchFamily="18" charset="0"/>
              </a:rPr>
              <a:t> of each input window:</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Full detail (original resolution)</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Medium-scaled (every 2nd time step)</a:t>
            </a:r>
          </a:p>
          <a:p>
            <a:pPr marL="285750" indent="-285750">
              <a:spcBef>
                <a:spcPts val="1200"/>
              </a:spcBef>
              <a:buFont typeface="Courier New" panose="02070309020205020404" pitchFamily="49" charset="0"/>
              <a:buChar char="o"/>
            </a:pPr>
            <a:r>
              <a:rPr lang="en-US" sz="2000" dirty="0">
                <a:solidFill>
                  <a:schemeClr val="tx1"/>
                </a:solidFill>
                <a:latin typeface="Times New Roman" panose="02020603050405020304" pitchFamily="18" charset="0"/>
                <a:cs typeface="Times New Roman" panose="02020603050405020304" pitchFamily="18" charset="0"/>
              </a:rPr>
              <a:t>Coarse-scaled (every 4th time step)</a:t>
            </a:r>
          </a:p>
          <a:p>
            <a:pPr>
              <a:spcBef>
                <a:spcPts val="1200"/>
              </a:spcBef>
            </a:pPr>
            <a:r>
              <a:rPr lang="en-US" sz="2000" dirty="0">
                <a:solidFill>
                  <a:schemeClr val="tx1"/>
                </a:solidFill>
                <a:latin typeface="Times New Roman" panose="02020603050405020304" pitchFamily="18" charset="0"/>
                <a:cs typeface="Times New Roman" panose="02020603050405020304" pitchFamily="18" charset="0"/>
              </a:rPr>
              <a:t>This allows the network to </a:t>
            </a:r>
            <a:r>
              <a:rPr lang="en-US" sz="2000" b="1" dirty="0">
                <a:solidFill>
                  <a:schemeClr val="tx1"/>
                </a:solidFill>
                <a:latin typeface="Times New Roman" panose="02020603050405020304" pitchFamily="18" charset="0"/>
                <a:cs typeface="Times New Roman" panose="02020603050405020304" pitchFamily="18" charset="0"/>
              </a:rPr>
              <a:t>understand both short, rapid motions and longer, slower movement trends</a:t>
            </a:r>
            <a:r>
              <a:rPr lang="en-US" sz="2000" dirty="0">
                <a:solidFill>
                  <a:schemeClr val="tx1"/>
                </a:solidFill>
                <a:latin typeface="Times New Roman" panose="02020603050405020304" pitchFamily="18" charset="0"/>
                <a:cs typeface="Times New Roman" panose="02020603050405020304" pitchFamily="18" charset="0"/>
              </a:rPr>
              <a:t>.</a:t>
            </a:r>
          </a:p>
          <a:p>
            <a:endParaRPr lang="en-IN" sz="2000" dirty="0">
              <a:solidFill>
                <a:schemeClr val="tx1"/>
              </a:solidFill>
              <a:latin typeface="Times New Roman" panose="02020603050405020304" pitchFamily="18" charset="0"/>
              <a:cs typeface="Times New Roman" panose="02020603050405020304" pitchFamily="18" charset="0"/>
            </a:endParaRPr>
          </a:p>
        </p:txBody>
      </p:sp>
      <p:pic>
        <p:nvPicPr>
          <p:cNvPr id="27" name="Picture 26">
            <a:extLst>
              <a:ext uri="{FF2B5EF4-FFF2-40B4-BE49-F238E27FC236}">
                <a16:creationId xmlns:a16="http://schemas.microsoft.com/office/drawing/2014/main" id="{DDE5D346-216E-314C-2AF7-938D24E2AC77}"/>
              </a:ext>
            </a:extLst>
          </p:cNvPr>
          <p:cNvPicPr>
            <a:picLocks noChangeAspect="1"/>
          </p:cNvPicPr>
          <p:nvPr/>
        </p:nvPicPr>
        <p:blipFill>
          <a:blip r:embed="rId4"/>
          <a:stretch>
            <a:fillRect/>
          </a:stretch>
        </p:blipFill>
        <p:spPr>
          <a:xfrm>
            <a:off x="7825685" y="1532203"/>
            <a:ext cx="3824463" cy="2325539"/>
          </a:xfrm>
          <a:prstGeom prst="rect">
            <a:avLst/>
          </a:prstGeom>
        </p:spPr>
      </p:pic>
      <p:pic>
        <p:nvPicPr>
          <p:cNvPr id="29" name="Picture 28">
            <a:extLst>
              <a:ext uri="{FF2B5EF4-FFF2-40B4-BE49-F238E27FC236}">
                <a16:creationId xmlns:a16="http://schemas.microsoft.com/office/drawing/2014/main" id="{B5695669-291C-D2F5-C6B0-73364DBB924B}"/>
              </a:ext>
            </a:extLst>
          </p:cNvPr>
          <p:cNvPicPr>
            <a:picLocks noChangeAspect="1"/>
          </p:cNvPicPr>
          <p:nvPr/>
        </p:nvPicPr>
        <p:blipFill>
          <a:blip r:embed="rId5"/>
          <a:stretch>
            <a:fillRect/>
          </a:stretch>
        </p:blipFill>
        <p:spPr>
          <a:xfrm>
            <a:off x="7498992" y="3857742"/>
            <a:ext cx="4498059" cy="1679432"/>
          </a:xfrm>
          <a:prstGeom prst="rect">
            <a:avLst/>
          </a:prstGeom>
        </p:spPr>
      </p:pic>
      <p:sp>
        <p:nvSpPr>
          <p:cNvPr id="30" name="TextBox 29">
            <a:extLst>
              <a:ext uri="{FF2B5EF4-FFF2-40B4-BE49-F238E27FC236}">
                <a16:creationId xmlns:a16="http://schemas.microsoft.com/office/drawing/2014/main" id="{8B78F003-0B26-158D-F734-6EF062D96A15}"/>
              </a:ext>
            </a:extLst>
          </p:cNvPr>
          <p:cNvSpPr txBox="1"/>
          <p:nvPr/>
        </p:nvSpPr>
        <p:spPr>
          <a:xfrm>
            <a:off x="7498992" y="1356918"/>
            <a:ext cx="1178528" cy="338554"/>
          </a:xfrm>
          <a:prstGeom prst="rect">
            <a:avLst/>
          </a:prstGeom>
          <a:noFill/>
        </p:spPr>
        <p:txBody>
          <a:bodyPr wrap="none" rtlCol="0">
            <a:spAutoFit/>
          </a:bodyPr>
          <a:lstStyle/>
          <a:p>
            <a:r>
              <a:rPr lang="en-US" sz="1600" b="1" dirty="0"/>
              <a:t>Formula : </a:t>
            </a:r>
            <a:endParaRPr lang="en-IN" sz="1600" b="1" dirty="0"/>
          </a:p>
        </p:txBody>
      </p:sp>
    </p:spTree>
    <p:extLst>
      <p:ext uri="{BB962C8B-B14F-4D97-AF65-F5344CB8AC3E}">
        <p14:creationId xmlns:p14="http://schemas.microsoft.com/office/powerpoint/2010/main" val="2618844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9B72E-998F-E635-3BCF-C46EFF7BB6E0}"/>
            </a:ext>
          </a:extLst>
        </p:cNvPr>
        <p:cNvGrpSpPr/>
        <p:nvPr/>
      </p:nvGrpSpPr>
      <p:grpSpPr>
        <a:xfrm>
          <a:off x="0" y="0"/>
          <a:ext cx="0" cy="0"/>
          <a:chOff x="0" y="0"/>
          <a:chExt cx="0" cy="0"/>
        </a:xfrm>
      </p:grpSpPr>
      <p:pic>
        <p:nvPicPr>
          <p:cNvPr id="12" name="Google Shape;97;p14">
            <a:extLst>
              <a:ext uri="{FF2B5EF4-FFF2-40B4-BE49-F238E27FC236}">
                <a16:creationId xmlns:a16="http://schemas.microsoft.com/office/drawing/2014/main" id="{BC6AF00C-B48F-40D4-D8A6-B4B739362A43}"/>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4F40FD71-C418-40FD-13DB-ADCB763AF7E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D340CD8C-3632-83B7-1ECD-4F1EFBC67056}"/>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B4E799F2-321F-8E4E-B5CE-D4531869556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3E3B437-29AC-5962-21C8-E02A0A9D2F94}"/>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623D26AF-DA47-2158-505F-AAD835F2ED0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16/30</a:t>
              </a:r>
              <a:endParaRPr lang="en-US" dirty="0"/>
            </a:p>
          </p:txBody>
        </p:sp>
      </p:grpSp>
      <p:sp>
        <p:nvSpPr>
          <p:cNvPr id="9" name="object 19">
            <a:extLst>
              <a:ext uri="{FF2B5EF4-FFF2-40B4-BE49-F238E27FC236}">
                <a16:creationId xmlns:a16="http://schemas.microsoft.com/office/drawing/2014/main" id="{4A15D3CA-F4B3-AA62-E5A4-B9FCDAA85E40}"/>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Rectangle 2">
            <a:extLst>
              <a:ext uri="{FF2B5EF4-FFF2-40B4-BE49-F238E27FC236}">
                <a16:creationId xmlns:a16="http://schemas.microsoft.com/office/drawing/2014/main" id="{257007C7-CB82-35FB-69FD-F220C0BAFC06}"/>
              </a:ext>
            </a:extLst>
          </p:cNvPr>
          <p:cNvSpPr>
            <a:spLocks noChangeArrowheads="1"/>
          </p:cNvSpPr>
          <p:nvPr/>
        </p:nvSpPr>
        <p:spPr bwMode="auto">
          <a:xfrm>
            <a:off x="306967" y="963561"/>
            <a:ext cx="6138134"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buClrTx/>
            </a:pPr>
            <a:r>
              <a:rPr lang="en-IN" sz="2000" b="1" dirty="0">
                <a:solidFill>
                  <a:schemeClr val="tx1"/>
                </a:solidFill>
                <a:latin typeface="Times New Roman" panose="02020603050405020304" pitchFamily="18" charset="0"/>
                <a:cs typeface="Times New Roman" panose="02020603050405020304" pitchFamily="18" charset="0"/>
              </a:rPr>
              <a:t>Gated Residual Skip (GRS) Blocks contains</a:t>
            </a:r>
            <a:r>
              <a:rPr lang="en-IN" sz="2000" dirty="0">
                <a:solidFill>
                  <a:schemeClr val="tx1"/>
                </a:solidFill>
                <a:latin typeface="Times New Roman" panose="02020603050405020304" pitchFamily="18" charset="0"/>
                <a:cs typeface="Times New Roman" panose="02020603050405020304" pitchFamily="18" charset="0"/>
              </a:rPr>
              <a:t> : </a:t>
            </a:r>
            <a:endParaRPr lang="en-US" altLang="en-US" sz="2000" b="1" dirty="0">
              <a:solidFill>
                <a:schemeClr val="tx1"/>
              </a:solidFill>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Projection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Simplifies the signal and extracts essential structure.</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BiLSTM</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Layer</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Reads the movement pattern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forward and backward in time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his is important because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what happened just before and just after each moment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helps define the action (e.g., lowering before a jump).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Gating Mechanism </a:t>
            </a: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 learned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filter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decides:</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new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use</a:t>
            </a:r>
          </a:p>
          <a:p>
            <a:pPr lvl="8" eaLnBrk="0" fontAlgn="base" hangingPunct="0">
              <a:spcBef>
                <a:spcPts val="1200"/>
              </a:spcBef>
              <a:spcAft>
                <a:spcPct val="0"/>
              </a:spcAft>
              <a:buClrTx/>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ii)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How much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previous information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keep</a:t>
            </a:r>
          </a:p>
          <a:p>
            <a:pPr marL="342900" marR="0" lvl="0" indent="-342900" algn="l" defTabSz="914400" rtl="0" eaLnBrk="0" fontAlgn="base" latinLnBrk="0" hangingPunct="0">
              <a:lnSpc>
                <a:spcPct val="100000"/>
              </a:lnSpc>
              <a:spcBef>
                <a:spcPts val="120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Residual Skip Connection</a:t>
            </a:r>
            <a:r>
              <a:rPr lang="en-US" altLang="en-US" sz="2000" dirty="0">
                <a:solidFill>
                  <a:schemeClr val="tx1"/>
                </a:solidFill>
                <a:latin typeface="Times New Roman" panose="02020603050405020304" pitchFamily="18" charset="0"/>
                <a:cs typeface="Times New Roman" panose="02020603050405020304" pitchFamily="18" charset="0"/>
              </a:rPr>
              <a:t> :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Passes earlier information forward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without loss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preventing the model from forgetting important details.</a:t>
            </a:r>
            <a:endParaRPr lang="en-US" altLang="en-US" sz="2000" dirty="0">
              <a:solidFill>
                <a:schemeClr val="tx1"/>
              </a:solidFill>
              <a:latin typeface="Times New Roman" panose="02020603050405020304" pitchFamily="18" charset="0"/>
              <a:cs typeface="Times New Roman" panose="02020603050405020304" pitchFamily="18" charset="0"/>
            </a:endParaRPr>
          </a:p>
          <a:p>
            <a:pPr marR="0" lvl="0" algn="l" defTabSz="914400" rtl="0" eaLnBrk="0" fontAlgn="base" latinLnBrk="0" hangingPunct="0">
              <a:lnSpc>
                <a:spcPct val="100000"/>
              </a:lnSpc>
              <a:spcBef>
                <a:spcPts val="1200"/>
              </a:spcBef>
              <a:spcAft>
                <a:spcPct val="0"/>
              </a:spcAft>
              <a:buClrTx/>
              <a:buSzTx/>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32" name="Picture 31">
            <a:extLst>
              <a:ext uri="{FF2B5EF4-FFF2-40B4-BE49-F238E27FC236}">
                <a16:creationId xmlns:a16="http://schemas.microsoft.com/office/drawing/2014/main" id="{B2F80A22-E846-E421-19D4-F8929325D223}"/>
              </a:ext>
            </a:extLst>
          </p:cNvPr>
          <p:cNvPicPr>
            <a:picLocks noChangeAspect="1"/>
          </p:cNvPicPr>
          <p:nvPr/>
        </p:nvPicPr>
        <p:blipFill>
          <a:blip r:embed="rId4"/>
          <a:stretch>
            <a:fillRect/>
          </a:stretch>
        </p:blipFill>
        <p:spPr>
          <a:xfrm>
            <a:off x="6590749" y="2997339"/>
            <a:ext cx="5601251" cy="2376618"/>
          </a:xfrm>
          <a:prstGeom prst="rect">
            <a:avLst/>
          </a:prstGeom>
        </p:spPr>
      </p:pic>
      <p:pic>
        <p:nvPicPr>
          <p:cNvPr id="34" name="Picture 33">
            <a:extLst>
              <a:ext uri="{FF2B5EF4-FFF2-40B4-BE49-F238E27FC236}">
                <a16:creationId xmlns:a16="http://schemas.microsoft.com/office/drawing/2014/main" id="{803E784E-675B-001D-7AA3-4B6B6669F0D3}"/>
              </a:ext>
            </a:extLst>
          </p:cNvPr>
          <p:cNvPicPr>
            <a:picLocks noChangeAspect="1"/>
          </p:cNvPicPr>
          <p:nvPr/>
        </p:nvPicPr>
        <p:blipFill>
          <a:blip r:embed="rId5"/>
          <a:stretch>
            <a:fillRect/>
          </a:stretch>
        </p:blipFill>
        <p:spPr>
          <a:xfrm>
            <a:off x="7769277" y="1486617"/>
            <a:ext cx="2346522" cy="1468291"/>
          </a:xfrm>
          <a:prstGeom prst="rect">
            <a:avLst/>
          </a:prstGeom>
        </p:spPr>
      </p:pic>
      <p:sp>
        <p:nvSpPr>
          <p:cNvPr id="35" name="TextBox 34">
            <a:extLst>
              <a:ext uri="{FF2B5EF4-FFF2-40B4-BE49-F238E27FC236}">
                <a16:creationId xmlns:a16="http://schemas.microsoft.com/office/drawing/2014/main" id="{91D4A83D-6F63-E145-EF4E-2213CC063A15}"/>
              </a:ext>
            </a:extLst>
          </p:cNvPr>
          <p:cNvSpPr txBox="1"/>
          <p:nvPr/>
        </p:nvSpPr>
        <p:spPr>
          <a:xfrm>
            <a:off x="6590749" y="1196403"/>
            <a:ext cx="1178528" cy="338554"/>
          </a:xfrm>
          <a:prstGeom prst="rect">
            <a:avLst/>
          </a:prstGeom>
          <a:noFill/>
        </p:spPr>
        <p:txBody>
          <a:bodyPr wrap="none" rtlCol="0">
            <a:spAutoFit/>
          </a:bodyPr>
          <a:lstStyle/>
          <a:p>
            <a:r>
              <a:rPr lang="en-US" sz="1600" b="1" dirty="0"/>
              <a:t>Formula : </a:t>
            </a:r>
            <a:endParaRPr lang="en-IN" sz="1600" b="1" dirty="0"/>
          </a:p>
        </p:txBody>
      </p:sp>
    </p:spTree>
    <p:extLst>
      <p:ext uri="{BB962C8B-B14F-4D97-AF65-F5344CB8AC3E}">
        <p14:creationId xmlns:p14="http://schemas.microsoft.com/office/powerpoint/2010/main" val="269477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8C02A-FBC3-7241-C4C7-C51C112F3434}"/>
            </a:ext>
          </a:extLst>
        </p:cNvPr>
        <p:cNvGrpSpPr/>
        <p:nvPr/>
      </p:nvGrpSpPr>
      <p:grpSpPr>
        <a:xfrm>
          <a:off x="0" y="0"/>
          <a:ext cx="0" cy="0"/>
          <a:chOff x="0" y="0"/>
          <a:chExt cx="0" cy="0"/>
        </a:xfrm>
      </p:grpSpPr>
      <p:pic>
        <p:nvPicPr>
          <p:cNvPr id="10" name="Google Shape;97;p14">
            <a:extLst>
              <a:ext uri="{FF2B5EF4-FFF2-40B4-BE49-F238E27FC236}">
                <a16:creationId xmlns:a16="http://schemas.microsoft.com/office/drawing/2014/main" id="{5460E120-4BE3-752A-77AD-FB5D127F773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2" name="Rectangle: Rounded Corners 1">
            <a:extLst>
              <a:ext uri="{FF2B5EF4-FFF2-40B4-BE49-F238E27FC236}">
                <a16:creationId xmlns:a16="http://schemas.microsoft.com/office/drawing/2014/main" id="{5BD979BE-2CF3-AD94-D65A-3EBBE1FBA16F}"/>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8B15868-2018-E663-8B47-7BBFB471B421}"/>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3B9C3B30-554C-0FEB-CEBE-D0048A762CA5}"/>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32144CB5-BB56-3545-FAFB-C5F3B9BF273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FE337FE-57CA-D439-BC3A-B5C3F648E44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8F7862D2-C877-6356-4647-26D9B5FFDB69}"/>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17/30</a:t>
              </a:r>
              <a:endParaRPr dirty="0"/>
            </a:p>
          </p:txBody>
        </p:sp>
      </p:grpSp>
      <p:sp>
        <p:nvSpPr>
          <p:cNvPr id="9" name="object 19">
            <a:extLst>
              <a:ext uri="{FF2B5EF4-FFF2-40B4-BE49-F238E27FC236}">
                <a16:creationId xmlns:a16="http://schemas.microsoft.com/office/drawing/2014/main" id="{26DA1C1D-6A04-F14A-E9D2-DEAF985AC81C}"/>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3981AC85-8A7F-7F30-C42E-3F0C2E857EF1}"/>
              </a:ext>
            </a:extLst>
          </p:cNvPr>
          <p:cNvSpPr txBox="1"/>
          <p:nvPr/>
        </p:nvSpPr>
        <p:spPr>
          <a:xfrm>
            <a:off x="306967" y="1120878"/>
            <a:ext cx="7029530" cy="3170099"/>
          </a:xfrm>
          <a:prstGeom prst="rect">
            <a:avLst/>
          </a:prstGeom>
          <a:noFill/>
        </p:spPr>
        <p:txBody>
          <a:bodyPr wrap="square" rtlCol="0">
            <a:spAutoFit/>
          </a:bodyPr>
          <a:lstStyle/>
          <a:p>
            <a:pPr lvl="0" eaLnBrk="0" fontAlgn="base" hangingPunct="0">
              <a:spcBef>
                <a:spcPct val="0"/>
              </a:spcBef>
              <a:spcAft>
                <a:spcPct val="0"/>
              </a:spcAft>
              <a:buClrTx/>
            </a:pPr>
            <a:r>
              <a:rPr lang="en-US" altLang="en-US" sz="2000" dirty="0">
                <a:solidFill>
                  <a:schemeClr val="tx1"/>
                </a:solidFill>
                <a:latin typeface="Times New Roman" panose="02020603050405020304" pitchFamily="18" charset="0"/>
                <a:cs typeface="Times New Roman" panose="02020603050405020304" pitchFamily="18" charset="0"/>
              </a:rPr>
              <a:t>LSTM is a type of neural network used for </a:t>
            </a:r>
            <a:r>
              <a:rPr lang="en-US" altLang="en-US" sz="2000" b="1" dirty="0">
                <a:solidFill>
                  <a:schemeClr val="tx1"/>
                </a:solidFill>
                <a:latin typeface="Times New Roman" panose="02020603050405020304" pitchFamily="18" charset="0"/>
                <a:cs typeface="Times New Roman" panose="02020603050405020304" pitchFamily="18" charset="0"/>
              </a:rPr>
              <a:t>time-series or sequential data</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lvl="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has </a:t>
            </a:r>
            <a:r>
              <a:rPr lang="en-US" altLang="en-US" sz="2000" b="1" dirty="0">
                <a:solidFill>
                  <a:schemeClr val="tx1"/>
                </a:solidFill>
                <a:latin typeface="Times New Roman" panose="02020603050405020304" pitchFamily="18" charset="0"/>
                <a:cs typeface="Times New Roman" panose="02020603050405020304" pitchFamily="18" charset="0"/>
              </a:rPr>
              <a:t>memory cells </a:t>
            </a:r>
            <a:r>
              <a:rPr lang="en-US" altLang="en-US" sz="2000" dirty="0">
                <a:solidFill>
                  <a:schemeClr val="tx1"/>
                </a:solidFill>
                <a:latin typeface="Times New Roman" panose="02020603050405020304" pitchFamily="18" charset="0"/>
                <a:cs typeface="Times New Roman" panose="02020603050405020304" pitchFamily="18" charset="0"/>
              </a:rPr>
              <a:t>that allow it to </a:t>
            </a:r>
            <a:r>
              <a:rPr lang="en-US" altLang="en-US" sz="2000" b="1" dirty="0">
                <a:solidFill>
                  <a:schemeClr val="tx1"/>
                </a:solidFill>
                <a:latin typeface="Times New Roman" panose="02020603050405020304" pitchFamily="18" charset="0"/>
                <a:cs typeface="Times New Roman" panose="02020603050405020304" pitchFamily="18" charset="0"/>
              </a:rPr>
              <a:t>retain important past information</a:t>
            </a:r>
            <a:r>
              <a:rPr lang="en-US" altLang="en-US" sz="2000" dirty="0">
                <a:solidFill>
                  <a:schemeClr val="tx1"/>
                </a:solidFill>
                <a:latin typeface="Times New Roman" panose="02020603050405020304" pitchFamily="18" charset="0"/>
                <a:cs typeface="Times New Roman" panose="02020603050405020304" pitchFamily="18" charset="0"/>
              </a:rPr>
              <a:t>.</a:t>
            </a:r>
          </a:p>
          <a:p>
            <a:pPr marL="342900" indent="-342900" eaLnBrk="0" fontAlgn="base" hangingPunct="0">
              <a:spcBef>
                <a:spcPct val="0"/>
              </a:spcBef>
              <a:spcAft>
                <a:spcPct val="0"/>
              </a:spcAft>
              <a:buClrTx/>
              <a:buFont typeface="Arial" panose="020B0604020202020204" pitchFamily="34" charset="0"/>
              <a:buChar char="•"/>
            </a:pPr>
            <a:r>
              <a:rPr lang="en-US" altLang="en-US" sz="2000" dirty="0">
                <a:solidFill>
                  <a:schemeClr val="tx1"/>
                </a:solidFill>
                <a:latin typeface="Times New Roman" panose="02020603050405020304" pitchFamily="18" charset="0"/>
                <a:cs typeface="Times New Roman" panose="02020603050405020304" pitchFamily="18" charset="0"/>
              </a:rPr>
              <a:t>It uses </a:t>
            </a:r>
            <a:r>
              <a:rPr lang="en-US" altLang="en-US" sz="2000" b="1" dirty="0">
                <a:solidFill>
                  <a:schemeClr val="tx1"/>
                </a:solidFill>
                <a:latin typeface="Times New Roman" panose="02020603050405020304" pitchFamily="18" charset="0"/>
                <a:cs typeface="Times New Roman" panose="02020603050405020304" pitchFamily="18" charset="0"/>
              </a:rPr>
              <a:t>gates</a:t>
            </a:r>
            <a:r>
              <a:rPr lang="en-US" altLang="en-US" sz="2000" dirty="0">
                <a:solidFill>
                  <a:schemeClr val="tx1"/>
                </a:solidFill>
                <a:latin typeface="Times New Roman" panose="02020603050405020304" pitchFamily="18" charset="0"/>
                <a:cs typeface="Times New Roman" panose="02020603050405020304" pitchFamily="18" charset="0"/>
              </a:rPr>
              <a:t> to decide what to </a:t>
            </a:r>
            <a:r>
              <a:rPr lang="en-US" altLang="en-US" sz="2000" b="1" dirty="0">
                <a:solidFill>
                  <a:schemeClr val="tx1"/>
                </a:solidFill>
                <a:latin typeface="Times New Roman" panose="02020603050405020304" pitchFamily="18" charset="0"/>
                <a:cs typeface="Times New Roman" panose="02020603050405020304" pitchFamily="18" charset="0"/>
              </a:rPr>
              <a:t>keep</a:t>
            </a:r>
            <a:r>
              <a:rPr lang="en-US" altLang="en-US" sz="2000" dirty="0">
                <a:solidFill>
                  <a:schemeClr val="tx1"/>
                </a:solidFill>
                <a:latin typeface="Times New Roman" panose="02020603050405020304" pitchFamily="18" charset="0"/>
                <a:cs typeface="Times New Roman" panose="02020603050405020304" pitchFamily="18" charset="0"/>
              </a:rPr>
              <a:t>, what to </a:t>
            </a:r>
            <a:r>
              <a:rPr lang="en-US" altLang="en-US" sz="2000" b="1" dirty="0">
                <a:solidFill>
                  <a:schemeClr val="tx1"/>
                </a:solidFill>
                <a:latin typeface="Times New Roman" panose="02020603050405020304" pitchFamily="18" charset="0"/>
                <a:cs typeface="Times New Roman" panose="02020603050405020304" pitchFamily="18" charset="0"/>
              </a:rPr>
              <a:t>update</a:t>
            </a:r>
            <a:r>
              <a:rPr lang="en-US" altLang="en-US" sz="2000" dirty="0">
                <a:solidFill>
                  <a:schemeClr val="tx1"/>
                </a:solidFill>
                <a:latin typeface="Times New Roman" panose="02020603050405020304" pitchFamily="18" charset="0"/>
                <a:cs typeface="Times New Roman" panose="02020603050405020304" pitchFamily="18" charset="0"/>
              </a:rPr>
              <a:t>, and what to </a:t>
            </a:r>
            <a:r>
              <a:rPr lang="en-US" altLang="en-US" sz="2000" b="1" dirty="0">
                <a:solidFill>
                  <a:schemeClr val="tx1"/>
                </a:solidFill>
                <a:latin typeface="Times New Roman" panose="02020603050405020304" pitchFamily="18" charset="0"/>
                <a:cs typeface="Times New Roman" panose="02020603050405020304" pitchFamily="18" charset="0"/>
              </a:rPr>
              <a:t>forget</a:t>
            </a:r>
            <a:r>
              <a:rPr lang="en-US" altLang="en-US" sz="2000" dirty="0">
                <a:solidFill>
                  <a:schemeClr val="tx1"/>
                </a:solidFill>
                <a:latin typeface="Times New Roman" panose="02020603050405020304" pitchFamily="18" charset="0"/>
                <a:cs typeface="Times New Roman" panose="02020603050405020304" pitchFamily="18" charset="0"/>
              </a:rPr>
              <a:t>.</a:t>
            </a:r>
            <a:endParaRPr lang="en-US" sz="200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A </a:t>
            </a:r>
            <a:r>
              <a:rPr lang="en-US" sz="2000" dirty="0" err="1">
                <a:solidFill>
                  <a:schemeClr val="tx1"/>
                </a:solidFill>
                <a:latin typeface="Times New Roman" panose="02020603050405020304" pitchFamily="18" charset="0"/>
                <a:cs typeface="Times New Roman" panose="02020603050405020304" pitchFamily="18" charset="0"/>
              </a:rPr>
              <a:t>BiLSTM</a:t>
            </a:r>
            <a:r>
              <a:rPr lang="en-US" sz="2000" dirty="0">
                <a:solidFill>
                  <a:schemeClr val="tx1"/>
                </a:solidFill>
                <a:latin typeface="Times New Roman" panose="02020603050405020304" pitchFamily="18" charset="0"/>
                <a:cs typeface="Times New Roman" panose="02020603050405020304" pitchFamily="18" charset="0"/>
              </a:rPr>
              <a:t> processes the sequence in </a:t>
            </a:r>
            <a:r>
              <a:rPr lang="en-US" sz="2000" b="1" dirty="0">
                <a:solidFill>
                  <a:schemeClr val="tx1"/>
                </a:solidFill>
                <a:latin typeface="Times New Roman" panose="02020603050405020304" pitchFamily="18" charset="0"/>
                <a:cs typeface="Times New Roman" panose="02020603050405020304" pitchFamily="18" charset="0"/>
              </a:rPr>
              <a:t>two directions</a:t>
            </a:r>
            <a:r>
              <a:rPr lang="en-US" sz="2000" dirty="0">
                <a:solidFill>
                  <a:schemeClr val="tx1"/>
                </a:solidFill>
                <a:latin typeface="Times New Roman" panose="02020603050405020304" pitchFamily="18" charset="0"/>
                <a:cs typeface="Times New Roman" panose="02020603050405020304" pitchFamily="18" charset="0"/>
              </a:rPr>
              <a:t>:</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Forward: earlier → later time steps</a:t>
            </a:r>
          </a:p>
          <a:p>
            <a:pPr marL="342900" indent="-342900">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Backward: later → earlier time steps</a:t>
            </a:r>
          </a:p>
          <a:p>
            <a:r>
              <a:rPr lang="en-US" sz="2000" dirty="0">
                <a:solidFill>
                  <a:schemeClr val="tx1"/>
                </a:solidFill>
                <a:latin typeface="Times New Roman" panose="02020603050405020304" pitchFamily="18" charset="0"/>
                <a:cs typeface="Times New Roman" panose="02020603050405020304" pitchFamily="18" charset="0"/>
              </a:rPr>
              <a:t>This gives it </a:t>
            </a:r>
            <a:r>
              <a:rPr lang="en-US" sz="2000" b="1" dirty="0">
                <a:solidFill>
                  <a:schemeClr val="tx1"/>
                </a:solidFill>
                <a:latin typeface="Times New Roman" panose="02020603050405020304" pitchFamily="18" charset="0"/>
                <a:cs typeface="Times New Roman" panose="02020603050405020304" pitchFamily="18" charset="0"/>
              </a:rPr>
              <a:t>context from both past and future </a:t>
            </a:r>
            <a:r>
              <a:rPr lang="en-US" sz="2000" dirty="0">
                <a:solidFill>
                  <a:schemeClr val="tx1"/>
                </a:solidFill>
                <a:latin typeface="Times New Roman" panose="02020603050405020304" pitchFamily="18" charset="0"/>
                <a:cs typeface="Times New Roman" panose="02020603050405020304" pitchFamily="18" charset="0"/>
              </a:rPr>
              <a:t>time steps, </a:t>
            </a:r>
          </a:p>
        </p:txBody>
      </p:sp>
      <p:pic>
        <p:nvPicPr>
          <p:cNvPr id="22" name="Picture 21">
            <a:extLst>
              <a:ext uri="{FF2B5EF4-FFF2-40B4-BE49-F238E27FC236}">
                <a16:creationId xmlns:a16="http://schemas.microsoft.com/office/drawing/2014/main" id="{2EB9CCD4-F1F6-5B33-DEB2-15E217127183}"/>
              </a:ext>
            </a:extLst>
          </p:cNvPr>
          <p:cNvPicPr>
            <a:picLocks noChangeAspect="1"/>
          </p:cNvPicPr>
          <p:nvPr/>
        </p:nvPicPr>
        <p:blipFill>
          <a:blip r:embed="rId4"/>
          <a:stretch>
            <a:fillRect/>
          </a:stretch>
        </p:blipFill>
        <p:spPr>
          <a:xfrm>
            <a:off x="7531500" y="1436533"/>
            <a:ext cx="4353533" cy="1676634"/>
          </a:xfrm>
          <a:prstGeom prst="rect">
            <a:avLst/>
          </a:prstGeom>
        </p:spPr>
      </p:pic>
      <p:pic>
        <p:nvPicPr>
          <p:cNvPr id="24" name="Picture 23">
            <a:extLst>
              <a:ext uri="{FF2B5EF4-FFF2-40B4-BE49-F238E27FC236}">
                <a16:creationId xmlns:a16="http://schemas.microsoft.com/office/drawing/2014/main" id="{DF171B2F-51C9-FF50-EBCC-0BA149B1A085}"/>
              </a:ext>
            </a:extLst>
          </p:cNvPr>
          <p:cNvPicPr>
            <a:picLocks noChangeAspect="1"/>
          </p:cNvPicPr>
          <p:nvPr/>
        </p:nvPicPr>
        <p:blipFill>
          <a:blip r:embed="rId5"/>
          <a:stretch>
            <a:fillRect/>
          </a:stretch>
        </p:blipFill>
        <p:spPr>
          <a:xfrm>
            <a:off x="7409990" y="3230230"/>
            <a:ext cx="3603058" cy="3113211"/>
          </a:xfrm>
          <a:prstGeom prst="rect">
            <a:avLst/>
          </a:prstGeom>
        </p:spPr>
      </p:pic>
      <p:pic>
        <p:nvPicPr>
          <p:cNvPr id="28" name="Picture 27">
            <a:extLst>
              <a:ext uri="{FF2B5EF4-FFF2-40B4-BE49-F238E27FC236}">
                <a16:creationId xmlns:a16="http://schemas.microsoft.com/office/drawing/2014/main" id="{3C33EDEC-7BCC-015A-07FD-3C8E1530B6EF}"/>
              </a:ext>
            </a:extLst>
          </p:cNvPr>
          <p:cNvPicPr>
            <a:picLocks noChangeAspect="1"/>
          </p:cNvPicPr>
          <p:nvPr/>
        </p:nvPicPr>
        <p:blipFill>
          <a:blip r:embed="rId6"/>
          <a:stretch>
            <a:fillRect/>
          </a:stretch>
        </p:blipFill>
        <p:spPr>
          <a:xfrm>
            <a:off x="3042252" y="4613603"/>
            <a:ext cx="4294245" cy="1367796"/>
          </a:xfrm>
          <a:prstGeom prst="rect">
            <a:avLst/>
          </a:prstGeom>
        </p:spPr>
      </p:pic>
      <p:sp>
        <p:nvSpPr>
          <p:cNvPr id="29" name="TextBox 28">
            <a:extLst>
              <a:ext uri="{FF2B5EF4-FFF2-40B4-BE49-F238E27FC236}">
                <a16:creationId xmlns:a16="http://schemas.microsoft.com/office/drawing/2014/main" id="{F36A603E-778D-DB27-AEAA-1C685CA77F32}"/>
              </a:ext>
            </a:extLst>
          </p:cNvPr>
          <p:cNvSpPr txBox="1"/>
          <p:nvPr/>
        </p:nvSpPr>
        <p:spPr>
          <a:xfrm>
            <a:off x="7036638" y="1106028"/>
            <a:ext cx="1178528" cy="338554"/>
          </a:xfrm>
          <a:prstGeom prst="rect">
            <a:avLst/>
          </a:prstGeom>
          <a:noFill/>
        </p:spPr>
        <p:txBody>
          <a:bodyPr wrap="none" rtlCol="0">
            <a:spAutoFit/>
          </a:bodyPr>
          <a:lstStyle/>
          <a:p>
            <a:r>
              <a:rPr lang="en-US" sz="1600" b="1" dirty="0"/>
              <a:t>Formula : </a:t>
            </a:r>
            <a:endParaRPr lang="en-IN" sz="1600" b="1" dirty="0"/>
          </a:p>
        </p:txBody>
      </p:sp>
      <p:sp>
        <p:nvSpPr>
          <p:cNvPr id="30" name="TextBox 29">
            <a:extLst>
              <a:ext uri="{FF2B5EF4-FFF2-40B4-BE49-F238E27FC236}">
                <a16:creationId xmlns:a16="http://schemas.microsoft.com/office/drawing/2014/main" id="{CECDBA4B-BA1A-020E-434E-E5BD9F5CF0B7}"/>
              </a:ext>
            </a:extLst>
          </p:cNvPr>
          <p:cNvSpPr txBox="1"/>
          <p:nvPr/>
        </p:nvSpPr>
        <p:spPr>
          <a:xfrm>
            <a:off x="115924" y="4535435"/>
            <a:ext cx="1178528" cy="338554"/>
          </a:xfrm>
          <a:prstGeom prst="rect">
            <a:avLst/>
          </a:prstGeom>
          <a:noFill/>
        </p:spPr>
        <p:txBody>
          <a:bodyPr wrap="none" rtlCol="0">
            <a:spAutoFit/>
          </a:bodyPr>
          <a:lstStyle/>
          <a:p>
            <a:r>
              <a:rPr lang="en-US" sz="1600" b="1" dirty="0"/>
              <a:t>Formula : </a:t>
            </a:r>
            <a:endParaRPr lang="en-IN" sz="1600" b="1" dirty="0"/>
          </a:p>
        </p:txBody>
      </p:sp>
      <p:pic>
        <p:nvPicPr>
          <p:cNvPr id="32" name="Picture 31">
            <a:extLst>
              <a:ext uri="{FF2B5EF4-FFF2-40B4-BE49-F238E27FC236}">
                <a16:creationId xmlns:a16="http://schemas.microsoft.com/office/drawing/2014/main" id="{5C696149-1529-6B16-3F5E-FF001E624696}"/>
              </a:ext>
            </a:extLst>
          </p:cNvPr>
          <p:cNvPicPr>
            <a:picLocks noChangeAspect="1"/>
          </p:cNvPicPr>
          <p:nvPr/>
        </p:nvPicPr>
        <p:blipFill>
          <a:blip r:embed="rId7"/>
          <a:stretch>
            <a:fillRect/>
          </a:stretch>
        </p:blipFill>
        <p:spPr>
          <a:xfrm>
            <a:off x="732219" y="4870225"/>
            <a:ext cx="2236540" cy="1027905"/>
          </a:xfrm>
          <a:prstGeom prst="rect">
            <a:avLst/>
          </a:prstGeom>
        </p:spPr>
      </p:pic>
      <p:pic>
        <p:nvPicPr>
          <p:cNvPr id="34" name="Picture 33">
            <a:extLst>
              <a:ext uri="{FF2B5EF4-FFF2-40B4-BE49-F238E27FC236}">
                <a16:creationId xmlns:a16="http://schemas.microsoft.com/office/drawing/2014/main" id="{FB527340-52B6-79A0-2D18-0591B2CA70CA}"/>
              </a:ext>
            </a:extLst>
          </p:cNvPr>
          <p:cNvPicPr>
            <a:picLocks noChangeAspect="1"/>
          </p:cNvPicPr>
          <p:nvPr/>
        </p:nvPicPr>
        <p:blipFill>
          <a:blip r:embed="rId8"/>
          <a:stretch>
            <a:fillRect/>
          </a:stretch>
        </p:blipFill>
        <p:spPr>
          <a:xfrm>
            <a:off x="745665" y="5898130"/>
            <a:ext cx="1286217" cy="370605"/>
          </a:xfrm>
          <a:prstGeom prst="rect">
            <a:avLst/>
          </a:prstGeom>
        </p:spPr>
      </p:pic>
    </p:spTree>
    <p:extLst>
      <p:ext uri="{BB962C8B-B14F-4D97-AF65-F5344CB8AC3E}">
        <p14:creationId xmlns:p14="http://schemas.microsoft.com/office/powerpoint/2010/main" val="1897366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17">
            <a:extLst>
              <a:ext uri="{FF2B5EF4-FFF2-40B4-BE49-F238E27FC236}">
                <a16:creationId xmlns:a16="http://schemas.microsoft.com/office/drawing/2014/main" id="{BA0AB8EA-1632-3A46-AEF1-D2DBACC21135}"/>
              </a:ext>
            </a:extLst>
          </p:cNvPr>
          <p:cNvGrpSpPr/>
          <p:nvPr/>
        </p:nvGrpSpPr>
        <p:grpSpPr>
          <a:xfrm>
            <a:off x="89899" y="6470121"/>
            <a:ext cx="12102101" cy="345448"/>
            <a:chOff x="0" y="3346348"/>
            <a:chExt cx="4608195" cy="109855"/>
          </a:xfrm>
        </p:grpSpPr>
        <p:sp>
          <p:nvSpPr>
            <p:cNvPr id="6" name="object 18">
              <a:extLst>
                <a:ext uri="{FF2B5EF4-FFF2-40B4-BE49-F238E27FC236}">
                  <a16:creationId xmlns:a16="http://schemas.microsoft.com/office/drawing/2014/main" id="{C8407B4D-A939-8422-89F8-8990E9915972}"/>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EE3D9ED5-3A05-849E-4FCA-A0F9F57FEDBF}"/>
                </a:ext>
              </a:extLst>
            </p:cNvPr>
            <p:cNvSpPr/>
            <p:nvPr/>
          </p:nvSpPr>
          <p:spPr>
            <a:xfrm>
              <a:off x="1518949"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9" name="object 20">
              <a:extLst>
                <a:ext uri="{FF2B5EF4-FFF2-40B4-BE49-F238E27FC236}">
                  <a16:creationId xmlns:a16="http://schemas.microsoft.com/office/drawing/2014/main" id="{ED94D095-3B53-12D8-329B-0A849782986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14/30</a:t>
              </a:r>
              <a:endParaRPr lang="en-US" dirty="0"/>
            </a:p>
          </p:txBody>
        </p:sp>
      </p:grpSp>
      <p:sp>
        <p:nvSpPr>
          <p:cNvPr id="27" name="Rectangle: Rounded Corners 26">
            <a:extLst>
              <a:ext uri="{FF2B5EF4-FFF2-40B4-BE49-F238E27FC236}">
                <a16:creationId xmlns:a16="http://schemas.microsoft.com/office/drawing/2014/main" id="{353AA9B6-A0BB-FB1F-F361-D039ABAD0CBB}"/>
              </a:ext>
            </a:extLst>
          </p:cNvPr>
          <p:cNvSpPr/>
          <p:nvPr/>
        </p:nvSpPr>
        <p:spPr>
          <a:xfrm>
            <a:off x="89899" y="100206"/>
            <a:ext cx="10332295"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MS-GRS-</a:t>
            </a:r>
            <a:r>
              <a:rPr lang="en-US" sz="2800" b="1" dirty="0" err="1">
                <a:solidFill>
                  <a:srgbClr val="002060"/>
                </a:solidFill>
                <a:latin typeface="Times New Roman" panose="02020603050405020304" pitchFamily="18" charset="0"/>
                <a:cs typeface="Times New Roman" panose="02020603050405020304" pitchFamily="18" charset="0"/>
              </a:rPr>
              <a:t>BiLSTM</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11" name="object 19">
            <a:extLst>
              <a:ext uri="{FF2B5EF4-FFF2-40B4-BE49-F238E27FC236}">
                <a16:creationId xmlns:a16="http://schemas.microsoft.com/office/drawing/2014/main" id="{105ABA6C-124F-55C0-A90D-760F7E808938}"/>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sp>
        <p:nvSpPr>
          <p:cNvPr id="2" name="TextBox 1">
            <a:extLst>
              <a:ext uri="{FF2B5EF4-FFF2-40B4-BE49-F238E27FC236}">
                <a16:creationId xmlns:a16="http://schemas.microsoft.com/office/drawing/2014/main" id="{06C67953-D092-F5E2-589F-4D980EAF1C81}"/>
              </a:ext>
            </a:extLst>
          </p:cNvPr>
          <p:cNvSpPr txBox="1"/>
          <p:nvPr/>
        </p:nvSpPr>
        <p:spPr>
          <a:xfrm>
            <a:off x="89899" y="1043731"/>
            <a:ext cx="12012202" cy="4431983"/>
          </a:xfrm>
          <a:prstGeom prst="rect">
            <a:avLst/>
          </a:prstGeom>
          <a:noFill/>
        </p:spPr>
        <p:txBody>
          <a:bodyPr wrap="square" rtlCol="0">
            <a:spAutoFit/>
          </a:bodyPr>
          <a:lstStyle/>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a:t>
            </a:r>
            <a:r>
              <a:rPr lang="en-US" sz="2200" dirty="0">
                <a:solidFill>
                  <a:srgbClr val="00B0F0"/>
                </a:solidFill>
                <a:latin typeface="Times New Roman" panose="02020603050405020304" pitchFamily="18" charset="0"/>
                <a:cs typeface="Times New Roman" panose="02020603050405020304" pitchFamily="18" charset="0"/>
              </a:rPr>
              <a:t>MS-GRS-</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model is designed to recognize human activities by analyzing </a:t>
            </a:r>
            <a:r>
              <a:rPr lang="en-US" sz="2200" dirty="0">
                <a:solidFill>
                  <a:srgbClr val="00B0F0"/>
                </a:solidFill>
                <a:latin typeface="Times New Roman" panose="02020603050405020304" pitchFamily="18" charset="0"/>
                <a:cs typeface="Times New Roman" panose="02020603050405020304" pitchFamily="18" charset="0"/>
              </a:rPr>
              <a:t>short segments of time-series sensor data </a:t>
            </a:r>
            <a:r>
              <a:rPr lang="en-US" sz="2200" dirty="0">
                <a:latin typeface="Times New Roman" panose="02020603050405020304" pitchFamily="18" charset="0"/>
                <a:cs typeface="Times New Roman" panose="02020603050405020304" pitchFamily="18" charset="0"/>
              </a:rPr>
              <a:t>(e.g., accelerometer and gyroscope signals).</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It processes the same input at </a:t>
            </a:r>
            <a:r>
              <a:rPr lang="en-US" sz="2200" dirty="0">
                <a:solidFill>
                  <a:srgbClr val="FF0066"/>
                </a:solidFill>
                <a:latin typeface="Times New Roman" panose="02020603050405020304" pitchFamily="18" charset="0"/>
                <a:cs typeface="Times New Roman" panose="02020603050405020304" pitchFamily="18" charset="0"/>
              </a:rPr>
              <a:t>multiple time scales </a:t>
            </a:r>
            <a:r>
              <a:rPr lang="en-US" sz="2200" dirty="0">
                <a:latin typeface="Times New Roman" panose="02020603050405020304" pitchFamily="18" charset="0"/>
                <a:cs typeface="Times New Roman" panose="02020603050405020304" pitchFamily="18" charset="0"/>
              </a:rPr>
              <a:t>(full speed, half speed, and quarter speed), allowing it to capture both </a:t>
            </a:r>
            <a:r>
              <a:rPr lang="en-US" sz="2200" dirty="0">
                <a:solidFill>
                  <a:srgbClr val="FF0066"/>
                </a:solidFill>
                <a:latin typeface="Times New Roman" panose="02020603050405020304" pitchFamily="18" charset="0"/>
                <a:cs typeface="Times New Roman" panose="02020603050405020304" pitchFamily="18" charset="0"/>
              </a:rPr>
              <a:t>fast movements </a:t>
            </a:r>
            <a:r>
              <a:rPr lang="en-US" sz="2200" dirty="0">
                <a:latin typeface="Times New Roman" panose="02020603050405020304" pitchFamily="18" charset="0"/>
                <a:cs typeface="Times New Roman" panose="02020603050405020304" pitchFamily="18" charset="0"/>
              </a:rPr>
              <a:t>(like running) and </a:t>
            </a:r>
            <a:r>
              <a:rPr lang="en-US" sz="2200" dirty="0">
                <a:solidFill>
                  <a:srgbClr val="FF0066"/>
                </a:solidFill>
                <a:latin typeface="Times New Roman" panose="02020603050405020304" pitchFamily="18" charset="0"/>
                <a:cs typeface="Times New Roman" panose="02020603050405020304" pitchFamily="18" charset="0"/>
              </a:rPr>
              <a:t>slower postural changes</a:t>
            </a:r>
            <a:r>
              <a:rPr lang="en-US" sz="2200" dirty="0">
                <a:latin typeface="Times New Roman" panose="02020603050405020304" pitchFamily="18" charset="0"/>
                <a:cs typeface="Times New Roman" panose="02020603050405020304" pitchFamily="18" charset="0"/>
              </a:rPr>
              <a:t> (like sitting).</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Each scale is passed through </a:t>
            </a:r>
            <a:r>
              <a:rPr lang="en-US" sz="2200" dirty="0">
                <a:solidFill>
                  <a:srgbClr val="00B0F0"/>
                </a:solidFill>
                <a:latin typeface="Times New Roman" panose="02020603050405020304" pitchFamily="18" charset="0"/>
                <a:cs typeface="Times New Roman" panose="02020603050405020304" pitchFamily="18" charset="0"/>
              </a:rPr>
              <a:t>Gated Residual Skip (GRS) blocks</a:t>
            </a:r>
            <a:r>
              <a:rPr lang="en-US" sz="2200" dirty="0">
                <a:latin typeface="Times New Roman" panose="02020603050405020304" pitchFamily="18" charset="0"/>
                <a:cs typeface="Times New Roman" panose="02020603050405020304" pitchFamily="18" charset="0"/>
              </a:rPr>
              <a:t>, which combine </a:t>
            </a:r>
            <a:r>
              <a:rPr lang="en-US" sz="2200" dirty="0">
                <a:solidFill>
                  <a:srgbClr val="00B0F0"/>
                </a:solidFill>
                <a:latin typeface="Times New Roman" panose="02020603050405020304" pitchFamily="18" charset="0"/>
                <a:cs typeface="Times New Roman" panose="02020603050405020304" pitchFamily="18" charset="0"/>
              </a:rPr>
              <a:t>simple feature extraction </a:t>
            </a:r>
            <a:r>
              <a:rPr lang="en-US" sz="2200" dirty="0">
                <a:latin typeface="Times New Roman" panose="02020603050405020304" pitchFamily="18" charset="0"/>
                <a:cs typeface="Times New Roman" panose="02020603050405020304" pitchFamily="18" charset="0"/>
              </a:rPr>
              <a:t>and </a:t>
            </a:r>
            <a:r>
              <a:rPr lang="en-US" sz="2200" dirty="0" err="1">
                <a:solidFill>
                  <a:srgbClr val="00B0F0"/>
                </a:solidFill>
                <a:latin typeface="Times New Roman" panose="02020603050405020304" pitchFamily="18" charset="0"/>
                <a:cs typeface="Times New Roman" panose="02020603050405020304" pitchFamily="18" charset="0"/>
              </a:rPr>
              <a:t>BiLSTM</a:t>
            </a:r>
            <a:r>
              <a:rPr lang="en-US" sz="2200" dirty="0">
                <a:solidFill>
                  <a:srgbClr val="00B0F0"/>
                </a:solidFill>
                <a:latin typeface="Times New Roman" panose="02020603050405020304" pitchFamily="18" charset="0"/>
                <a:cs typeface="Times New Roman" panose="02020603050405020304" pitchFamily="18" charset="0"/>
              </a:rPr>
              <a:t>-based temporal learning</a:t>
            </a:r>
            <a:r>
              <a:rPr lang="en-US" sz="2200" dirty="0">
                <a:latin typeface="Times New Roman" panose="02020603050405020304" pitchFamily="18" charset="0"/>
                <a:cs typeface="Times New Roman" panose="02020603050405020304" pitchFamily="18" charset="0"/>
              </a:rPr>
              <a:t>, while preserving important information using </a:t>
            </a:r>
            <a:r>
              <a:rPr lang="en-US" sz="2200" dirty="0">
                <a:solidFill>
                  <a:srgbClr val="00B0F0"/>
                </a:solidFill>
                <a:latin typeface="Times New Roman" panose="02020603050405020304" pitchFamily="18" charset="0"/>
                <a:cs typeface="Times New Roman" panose="02020603050405020304" pitchFamily="18" charset="0"/>
              </a:rPr>
              <a:t>skip connections</a:t>
            </a:r>
            <a:r>
              <a:rPr lang="en-US" sz="2200" dirty="0">
                <a:latin typeface="Times New Roman" panose="02020603050405020304" pitchFamily="18" charset="0"/>
                <a:cs typeface="Times New Roman" panose="02020603050405020304" pitchFamily="18" charset="0"/>
              </a:rPr>
              <a:t>.</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a:t>
            </a:r>
            <a:r>
              <a:rPr lang="en-US" sz="2200" dirty="0" err="1">
                <a:solidFill>
                  <a:srgbClr val="FF0066"/>
                </a:solidFill>
                <a:latin typeface="Times New Roman" panose="02020603050405020304" pitchFamily="18" charset="0"/>
                <a:cs typeface="Times New Roman" panose="02020603050405020304" pitchFamily="18" charset="0"/>
              </a:rPr>
              <a:t>BiLSTM</a:t>
            </a:r>
            <a:r>
              <a:rPr lang="en-US" sz="2200" dirty="0">
                <a:latin typeface="Times New Roman" panose="02020603050405020304" pitchFamily="18" charset="0"/>
                <a:cs typeface="Times New Roman" panose="02020603050405020304" pitchFamily="18" charset="0"/>
              </a:rPr>
              <a:t> reads the movement sequence </a:t>
            </a:r>
            <a:r>
              <a:rPr lang="en-US" sz="2200" dirty="0">
                <a:solidFill>
                  <a:srgbClr val="FF0066"/>
                </a:solidFill>
                <a:latin typeface="Times New Roman" panose="02020603050405020304" pitchFamily="18" charset="0"/>
                <a:cs typeface="Times New Roman" panose="02020603050405020304" pitchFamily="18" charset="0"/>
              </a:rPr>
              <a:t>forward and backward in time</a:t>
            </a:r>
            <a:r>
              <a:rPr lang="en-US" sz="2200" dirty="0">
                <a:latin typeface="Times New Roman" panose="02020603050405020304" pitchFamily="18" charset="0"/>
                <a:cs typeface="Times New Roman" panose="02020603050405020304" pitchFamily="18" charset="0"/>
              </a:rPr>
              <a:t>, helping the model understand transitions and the context of motion.</a:t>
            </a:r>
          </a:p>
          <a:p>
            <a:pPr marL="285750" indent="-285750">
              <a:spcBef>
                <a:spcPts val="1200"/>
              </a:spcBef>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Features extracted from all scales are </a:t>
            </a:r>
            <a:r>
              <a:rPr lang="en-US" sz="2200" dirty="0">
                <a:solidFill>
                  <a:srgbClr val="00B0F0"/>
                </a:solidFill>
                <a:latin typeface="Times New Roman" panose="02020603050405020304" pitchFamily="18" charset="0"/>
                <a:cs typeface="Times New Roman" panose="02020603050405020304" pitchFamily="18" charset="0"/>
              </a:rPr>
              <a:t>merged</a:t>
            </a:r>
            <a:r>
              <a:rPr lang="en-US" sz="2200" dirty="0">
                <a:latin typeface="Times New Roman" panose="02020603050405020304" pitchFamily="18" charset="0"/>
                <a:cs typeface="Times New Roman" panose="02020603050405020304" pitchFamily="18" charset="0"/>
              </a:rPr>
              <a:t> and passed through a final </a:t>
            </a:r>
            <a:r>
              <a:rPr lang="en-US" sz="2200" dirty="0">
                <a:solidFill>
                  <a:srgbClr val="00B0F0"/>
                </a:solidFill>
                <a:latin typeface="Times New Roman" panose="02020603050405020304" pitchFamily="18" charset="0"/>
                <a:cs typeface="Times New Roman" panose="02020603050405020304" pitchFamily="18" charset="0"/>
              </a:rPr>
              <a:t>classification layer</a:t>
            </a:r>
            <a:r>
              <a:rPr lang="en-US" sz="2200" dirty="0">
                <a:latin typeface="Times New Roman" panose="02020603050405020304" pitchFamily="18" charset="0"/>
                <a:cs typeface="Times New Roman" panose="02020603050405020304" pitchFamily="18" charset="0"/>
              </a:rPr>
              <a:t> to determine the most likely activity.</a:t>
            </a:r>
            <a:endParaRPr lang="en-IN" sz="22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83A894C-C45D-8C4D-FF00-0AB544162D6C}"/>
              </a:ext>
            </a:extLst>
          </p:cNvPr>
          <p:cNvPicPr>
            <a:picLocks noChangeAspect="1"/>
          </p:cNvPicPr>
          <p:nvPr/>
        </p:nvPicPr>
        <p:blipFill>
          <a:blip r:embed="rId3"/>
          <a:srcRect b="17600"/>
          <a:stretch>
            <a:fillRect/>
          </a:stretch>
        </p:blipFill>
        <p:spPr>
          <a:xfrm>
            <a:off x="0" y="901580"/>
            <a:ext cx="12192000" cy="5096884"/>
          </a:xfrm>
          <a:prstGeom prst="rect">
            <a:avLst/>
          </a:prstGeom>
        </p:spPr>
      </p:pic>
      <p:pic>
        <p:nvPicPr>
          <p:cNvPr id="10" name="Google Shape;97;p14">
            <a:extLst>
              <a:ext uri="{FF2B5EF4-FFF2-40B4-BE49-F238E27FC236}">
                <a16:creationId xmlns:a16="http://schemas.microsoft.com/office/drawing/2014/main" id="{6DB2BCAB-61B9-69E3-471B-4C6885FF44CA}"/>
              </a:ext>
            </a:extLst>
          </p:cNvPr>
          <p:cNvPicPr preferRelativeResize="0"/>
          <p:nvPr/>
        </p:nvPicPr>
        <p:blipFill rotWithShape="1">
          <a:blip r:embed="rId4">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1160658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F075007-1B4D-806C-22AD-5C4FCDFCF581}"/>
              </a:ext>
            </a:extLst>
          </p:cNvPr>
          <p:cNvSpPr txBox="1"/>
          <p:nvPr/>
        </p:nvSpPr>
        <p:spPr>
          <a:xfrm>
            <a:off x="2450592" y="1700784"/>
            <a:ext cx="4837176" cy="307777"/>
          </a:xfrm>
          <a:prstGeom prst="rect">
            <a:avLst/>
          </a:prstGeom>
          <a:noFill/>
        </p:spPr>
        <p:txBody>
          <a:bodyPr wrap="square" rtlCol="0">
            <a:spAutoFit/>
          </a:bodyPr>
          <a:lstStyle/>
          <a:p>
            <a:r>
              <a:rPr lang="en-US" dirty="0"/>
              <a:t>Metrics for precision, recall fi1 accuracy formula </a:t>
            </a:r>
            <a:endParaRPr lang="en-IN" dirty="0"/>
          </a:p>
        </p:txBody>
      </p:sp>
    </p:spTree>
    <p:extLst>
      <p:ext uri="{BB962C8B-B14F-4D97-AF65-F5344CB8AC3E}">
        <p14:creationId xmlns:p14="http://schemas.microsoft.com/office/powerpoint/2010/main" val="2066701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6E6BA-8031-EC46-C59A-4C08EB2BC39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30B1176C-DAAA-0516-4233-5A1C686AC9A9}"/>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 a) My Dataset</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53A1CAD-9DDD-D58A-267A-EE68B8EAB2E0}"/>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F398B074-A932-762A-7B24-4067783A725C}"/>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EA8DEFC3-0B8D-F44A-A833-684AB5E9BB2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BDBB3752-EFB5-5CB9-0971-2E306D7A90B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D2B9F499-8C26-66EF-7B08-25A9A2DE1DED}"/>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18/30</a:t>
              </a:r>
              <a:endParaRPr dirty="0"/>
            </a:p>
          </p:txBody>
        </p:sp>
      </p:grpSp>
      <p:sp>
        <p:nvSpPr>
          <p:cNvPr id="9" name="object 19">
            <a:extLst>
              <a:ext uri="{FF2B5EF4-FFF2-40B4-BE49-F238E27FC236}">
                <a16:creationId xmlns:a16="http://schemas.microsoft.com/office/drawing/2014/main" id="{2C87DBEC-F9AC-0B26-3D13-6FBE363174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522AF93D-9CC8-C04D-1E23-AB894293363B}"/>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pic>
        <p:nvPicPr>
          <p:cNvPr id="15" name="Picture 14">
            <a:extLst>
              <a:ext uri="{FF2B5EF4-FFF2-40B4-BE49-F238E27FC236}">
                <a16:creationId xmlns:a16="http://schemas.microsoft.com/office/drawing/2014/main" id="{CDAFF207-A217-A49F-5B5D-0A7BF87AD1F7}"/>
              </a:ext>
            </a:extLst>
          </p:cNvPr>
          <p:cNvPicPr>
            <a:picLocks noChangeAspect="1"/>
          </p:cNvPicPr>
          <p:nvPr/>
        </p:nvPicPr>
        <p:blipFill>
          <a:blip r:embed="rId4"/>
          <a:stretch>
            <a:fillRect/>
          </a:stretch>
        </p:blipFill>
        <p:spPr>
          <a:xfrm>
            <a:off x="6191469" y="1153972"/>
            <a:ext cx="5888866" cy="4416649"/>
          </a:xfrm>
          <a:prstGeom prst="rect">
            <a:avLst/>
          </a:prstGeom>
        </p:spPr>
      </p:pic>
      <p:graphicFrame>
        <p:nvGraphicFramePr>
          <p:cNvPr id="28" name="Table 27">
            <a:extLst>
              <a:ext uri="{FF2B5EF4-FFF2-40B4-BE49-F238E27FC236}">
                <a16:creationId xmlns:a16="http://schemas.microsoft.com/office/drawing/2014/main" id="{3467A4FC-EBB0-BE32-4CFC-A64C3BA7AC93}"/>
              </a:ext>
            </a:extLst>
          </p:cNvPr>
          <p:cNvGraphicFramePr>
            <a:graphicFrameLocks noGrp="1"/>
          </p:cNvGraphicFramePr>
          <p:nvPr>
            <p:extLst>
              <p:ext uri="{D42A27DB-BD31-4B8C-83A1-F6EECF244321}">
                <p14:modId xmlns:p14="http://schemas.microsoft.com/office/powerpoint/2010/main" val="1186801932"/>
              </p:ext>
            </p:extLst>
          </p:nvPr>
        </p:nvGraphicFramePr>
        <p:xfrm>
          <a:off x="310796" y="1398269"/>
          <a:ext cx="5531732" cy="4172352"/>
        </p:xfrm>
        <a:graphic>
          <a:graphicData uri="http://schemas.openxmlformats.org/drawingml/2006/table">
            <a:tbl>
              <a:tblPr firstRow="1" bandRow="1">
                <a:tableStyleId>{00A15C55-8517-42AA-B614-E9B94910E393}</a:tableStyleId>
              </a:tblPr>
              <a:tblGrid>
                <a:gridCol w="1382933">
                  <a:extLst>
                    <a:ext uri="{9D8B030D-6E8A-4147-A177-3AD203B41FA5}">
                      <a16:colId xmlns:a16="http://schemas.microsoft.com/office/drawing/2014/main" val="3187092594"/>
                    </a:ext>
                  </a:extLst>
                </a:gridCol>
                <a:gridCol w="1382933">
                  <a:extLst>
                    <a:ext uri="{9D8B030D-6E8A-4147-A177-3AD203B41FA5}">
                      <a16:colId xmlns:a16="http://schemas.microsoft.com/office/drawing/2014/main" val="3441527458"/>
                    </a:ext>
                  </a:extLst>
                </a:gridCol>
                <a:gridCol w="1382933">
                  <a:extLst>
                    <a:ext uri="{9D8B030D-6E8A-4147-A177-3AD203B41FA5}">
                      <a16:colId xmlns:a16="http://schemas.microsoft.com/office/drawing/2014/main" val="1498230877"/>
                    </a:ext>
                  </a:extLst>
                </a:gridCol>
                <a:gridCol w="1382933">
                  <a:extLst>
                    <a:ext uri="{9D8B030D-6E8A-4147-A177-3AD203B41FA5}">
                      <a16:colId xmlns:a16="http://schemas.microsoft.com/office/drawing/2014/main" val="3942958361"/>
                    </a:ext>
                  </a:extLst>
                </a:gridCol>
              </a:tblGrid>
              <a:tr h="319756">
                <a:tc>
                  <a:txBody>
                    <a:bodyPr/>
                    <a:lstStyle/>
                    <a:p>
                      <a:pPr algn="ctr">
                        <a:buNone/>
                      </a:pPr>
                      <a:r>
                        <a:rPr lang="en-IN" sz="1600" b="1" dirty="0"/>
                        <a:t>Class</a:t>
                      </a:r>
                    </a:p>
                  </a:txBody>
                  <a:tcPr anchor="ctr"/>
                </a:tc>
                <a:tc>
                  <a:txBody>
                    <a:bodyPr/>
                    <a:lstStyle/>
                    <a:p>
                      <a:pPr algn="ctr">
                        <a:buNone/>
                      </a:pPr>
                      <a:r>
                        <a:rPr lang="en-IN" sz="1600" b="1" dirty="0"/>
                        <a:t>Precision</a:t>
                      </a:r>
                    </a:p>
                  </a:txBody>
                  <a:tcPr anchor="ctr"/>
                </a:tc>
                <a:tc>
                  <a:txBody>
                    <a:bodyPr/>
                    <a:lstStyle/>
                    <a:p>
                      <a:pPr algn="ctr">
                        <a:buNone/>
                      </a:pPr>
                      <a:r>
                        <a:rPr lang="en-IN" sz="1600" b="1" dirty="0"/>
                        <a:t>Recall</a:t>
                      </a:r>
                    </a:p>
                  </a:txBody>
                  <a:tcPr anchor="ctr"/>
                </a:tc>
                <a:tc>
                  <a:txBody>
                    <a:bodyPr/>
                    <a:lstStyle/>
                    <a:p>
                      <a:pPr algn="ctr">
                        <a:buNone/>
                      </a:pPr>
                      <a:r>
                        <a:rPr lang="en-IN" sz="1600" b="1" dirty="0"/>
                        <a:t>F1-Score</a:t>
                      </a:r>
                    </a:p>
                  </a:txBody>
                  <a:tcPr anchor="ctr"/>
                </a:tc>
                <a:extLst>
                  <a:ext uri="{0D108BD9-81ED-4DB2-BD59-A6C34878D82A}">
                    <a16:rowId xmlns:a16="http://schemas.microsoft.com/office/drawing/2014/main" val="3222999003"/>
                  </a:ext>
                </a:extLst>
              </a:tr>
              <a:tr h="319756">
                <a:tc>
                  <a:txBody>
                    <a:bodyPr/>
                    <a:lstStyle/>
                    <a:p>
                      <a:pPr algn="ctr">
                        <a:buNone/>
                      </a:pPr>
                      <a:r>
                        <a:rPr lang="en-IN" sz="1400" dirty="0"/>
                        <a:t>Bending</a:t>
                      </a:r>
                    </a:p>
                  </a:txBody>
                  <a:tcPr anchor="ctr"/>
                </a:tc>
                <a:tc>
                  <a:txBody>
                    <a:bodyPr/>
                    <a:lstStyle/>
                    <a:p>
                      <a:pPr algn="ctr">
                        <a:buNone/>
                      </a:pPr>
                      <a:r>
                        <a:rPr lang="en-IN" sz="1400" dirty="0"/>
                        <a:t>0.9982</a:t>
                      </a:r>
                    </a:p>
                  </a:txBody>
                  <a:tcPr anchor="ctr"/>
                </a:tc>
                <a:tc>
                  <a:txBody>
                    <a:bodyPr/>
                    <a:lstStyle/>
                    <a:p>
                      <a:pPr algn="ctr">
                        <a:buNone/>
                      </a:pPr>
                      <a:r>
                        <a:rPr lang="en-IN" sz="1400" dirty="0"/>
                        <a:t>0.9972</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72507151"/>
                  </a:ext>
                </a:extLst>
              </a:tr>
              <a:tr h="319756">
                <a:tc>
                  <a:txBody>
                    <a:bodyPr/>
                    <a:lstStyle/>
                    <a:p>
                      <a:pPr algn="ctr">
                        <a:buNone/>
                      </a:pPr>
                      <a:r>
                        <a:rPr lang="en-IN" sz="1400" dirty="0"/>
                        <a:t>Jumping</a:t>
                      </a:r>
                    </a:p>
                  </a:txBody>
                  <a:tcPr anchor="ctr"/>
                </a:tc>
                <a:tc>
                  <a:txBody>
                    <a:bodyPr/>
                    <a:lstStyle/>
                    <a:p>
                      <a:pPr algn="ctr">
                        <a:buNone/>
                      </a:pPr>
                      <a:r>
                        <a:rPr lang="en-IN" sz="1400" dirty="0"/>
                        <a:t>0.9344</a:t>
                      </a:r>
                    </a:p>
                  </a:txBody>
                  <a:tcPr anchor="ctr"/>
                </a:tc>
                <a:tc>
                  <a:txBody>
                    <a:bodyPr/>
                    <a:lstStyle/>
                    <a:p>
                      <a:pPr algn="ctr">
                        <a:buNone/>
                      </a:pPr>
                      <a:r>
                        <a:rPr lang="en-IN" sz="1400" dirty="0"/>
                        <a:t>0.9597</a:t>
                      </a:r>
                    </a:p>
                  </a:txBody>
                  <a:tcPr anchor="ctr"/>
                </a:tc>
                <a:tc>
                  <a:txBody>
                    <a:bodyPr/>
                    <a:lstStyle/>
                    <a:p>
                      <a:pPr algn="ctr">
                        <a:buNone/>
                      </a:pPr>
                      <a:r>
                        <a:rPr lang="en-IN" sz="1400" dirty="0"/>
                        <a:t>0.9469</a:t>
                      </a:r>
                    </a:p>
                  </a:txBody>
                  <a:tcPr anchor="ctr"/>
                </a:tc>
                <a:extLst>
                  <a:ext uri="{0D108BD9-81ED-4DB2-BD59-A6C34878D82A}">
                    <a16:rowId xmlns:a16="http://schemas.microsoft.com/office/drawing/2014/main" val="2651611495"/>
                  </a:ext>
                </a:extLst>
              </a:tr>
              <a:tr h="319756">
                <a:tc>
                  <a:txBody>
                    <a:bodyPr/>
                    <a:lstStyle/>
                    <a:p>
                      <a:pPr algn="ctr">
                        <a:buNone/>
                      </a:pPr>
                      <a:r>
                        <a:rPr lang="en-IN" sz="1400" dirty="0"/>
                        <a:t>Running</a:t>
                      </a:r>
                    </a:p>
                  </a:txBody>
                  <a:tcPr anchor="ctr"/>
                </a:tc>
                <a:tc>
                  <a:txBody>
                    <a:bodyPr/>
                    <a:lstStyle/>
                    <a:p>
                      <a:pPr algn="ctr">
                        <a:buNone/>
                      </a:pPr>
                      <a:r>
                        <a:rPr lang="en-IN" sz="1400" dirty="0"/>
                        <a:t>0.9571</a:t>
                      </a:r>
                    </a:p>
                  </a:txBody>
                  <a:tcPr anchor="ctr"/>
                </a:tc>
                <a:tc>
                  <a:txBody>
                    <a:bodyPr/>
                    <a:lstStyle/>
                    <a:p>
                      <a:pPr algn="ctr">
                        <a:buNone/>
                      </a:pPr>
                      <a:r>
                        <a:rPr lang="en-IN" sz="1400" dirty="0"/>
                        <a:t>0.9365</a:t>
                      </a:r>
                    </a:p>
                  </a:txBody>
                  <a:tcPr anchor="ctr"/>
                </a:tc>
                <a:tc>
                  <a:txBody>
                    <a:bodyPr/>
                    <a:lstStyle/>
                    <a:p>
                      <a:pPr algn="ctr">
                        <a:buNone/>
                      </a:pPr>
                      <a:r>
                        <a:rPr lang="en-IN" sz="1400" dirty="0"/>
                        <a:t>0.9467</a:t>
                      </a:r>
                    </a:p>
                  </a:txBody>
                  <a:tcPr anchor="ctr"/>
                </a:tc>
                <a:extLst>
                  <a:ext uri="{0D108BD9-81ED-4DB2-BD59-A6C34878D82A}">
                    <a16:rowId xmlns:a16="http://schemas.microsoft.com/office/drawing/2014/main" val="2876726538"/>
                  </a:ext>
                </a:extLst>
              </a:tr>
              <a:tr h="319756">
                <a:tc>
                  <a:txBody>
                    <a:bodyPr/>
                    <a:lstStyle/>
                    <a:p>
                      <a:pPr algn="ctr">
                        <a:buNone/>
                      </a:pPr>
                      <a:r>
                        <a:rPr lang="en-IN" sz="1400" dirty="0"/>
                        <a:t>Sitting</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tc>
                  <a:txBody>
                    <a:bodyPr/>
                    <a:lstStyle/>
                    <a:p>
                      <a:pPr algn="ctr">
                        <a:buNone/>
                      </a:pPr>
                      <a:r>
                        <a:rPr lang="en-IN" sz="1400" dirty="0"/>
                        <a:t>1.0000</a:t>
                      </a:r>
                    </a:p>
                  </a:txBody>
                  <a:tcPr anchor="ctr"/>
                </a:tc>
                <a:extLst>
                  <a:ext uri="{0D108BD9-81ED-4DB2-BD59-A6C34878D82A}">
                    <a16:rowId xmlns:a16="http://schemas.microsoft.com/office/drawing/2014/main" val="1129984714"/>
                  </a:ext>
                </a:extLst>
              </a:tr>
              <a:tr h="319756">
                <a:tc>
                  <a:txBody>
                    <a:bodyPr/>
                    <a:lstStyle/>
                    <a:p>
                      <a:pPr algn="ctr">
                        <a:buNone/>
                      </a:pPr>
                      <a:r>
                        <a:rPr lang="en-IN" sz="1400" dirty="0"/>
                        <a:t>Squat</a:t>
                      </a:r>
                    </a:p>
                  </a:txBody>
                  <a:tcPr anchor="ctr"/>
                </a:tc>
                <a:tc>
                  <a:txBody>
                    <a:bodyPr/>
                    <a:lstStyle/>
                    <a:p>
                      <a:pPr algn="ctr">
                        <a:buNone/>
                      </a:pPr>
                      <a:r>
                        <a:rPr lang="en-IN" sz="1400" dirty="0"/>
                        <a:t>1.0000</a:t>
                      </a:r>
                    </a:p>
                  </a:txBody>
                  <a:tcPr anchor="ctr"/>
                </a:tc>
                <a:tc>
                  <a:txBody>
                    <a:bodyPr/>
                    <a:lstStyle/>
                    <a:p>
                      <a:pPr algn="ctr">
                        <a:buNone/>
                      </a:pPr>
                      <a:r>
                        <a:rPr lang="en-IN" sz="1400" dirty="0"/>
                        <a:t>0.9952</a:t>
                      </a:r>
                    </a:p>
                  </a:txBody>
                  <a:tcPr anchor="ctr"/>
                </a:tc>
                <a:tc>
                  <a:txBody>
                    <a:bodyPr/>
                    <a:lstStyle/>
                    <a:p>
                      <a:pPr algn="ctr">
                        <a:buNone/>
                      </a:pPr>
                      <a:r>
                        <a:rPr lang="en-IN" sz="1400" dirty="0"/>
                        <a:t>0.9976</a:t>
                      </a:r>
                    </a:p>
                  </a:txBody>
                  <a:tcPr anchor="ctr"/>
                </a:tc>
                <a:extLst>
                  <a:ext uri="{0D108BD9-81ED-4DB2-BD59-A6C34878D82A}">
                    <a16:rowId xmlns:a16="http://schemas.microsoft.com/office/drawing/2014/main" val="2945523780"/>
                  </a:ext>
                </a:extLst>
              </a:tr>
              <a:tr h="319756">
                <a:tc>
                  <a:txBody>
                    <a:bodyPr/>
                    <a:lstStyle/>
                    <a:p>
                      <a:pPr algn="ctr">
                        <a:buNone/>
                      </a:pPr>
                      <a:r>
                        <a:rPr lang="en-IN" sz="1400" dirty="0"/>
                        <a:t>Standing</a:t>
                      </a:r>
                    </a:p>
                  </a:txBody>
                  <a:tcPr anchor="ctr"/>
                </a:tc>
                <a:tc>
                  <a:txBody>
                    <a:bodyPr/>
                    <a:lstStyle/>
                    <a:p>
                      <a:pPr algn="ctr">
                        <a:buNone/>
                      </a:pPr>
                      <a:r>
                        <a:rPr lang="en-IN" sz="1400" dirty="0"/>
                        <a:t>0.9955</a:t>
                      </a:r>
                    </a:p>
                  </a:txBody>
                  <a:tcPr anchor="ctr"/>
                </a:tc>
                <a:tc>
                  <a:txBody>
                    <a:bodyPr/>
                    <a:lstStyle/>
                    <a:p>
                      <a:pPr algn="ctr">
                        <a:buNone/>
                      </a:pPr>
                      <a:r>
                        <a:rPr lang="en-IN" sz="1400" dirty="0"/>
                        <a:t>1.0000</a:t>
                      </a:r>
                    </a:p>
                  </a:txBody>
                  <a:tcPr anchor="ctr"/>
                </a:tc>
                <a:tc>
                  <a:txBody>
                    <a:bodyPr/>
                    <a:lstStyle/>
                    <a:p>
                      <a:pPr algn="ctr">
                        <a:buNone/>
                      </a:pPr>
                      <a:r>
                        <a:rPr lang="en-IN" sz="1400" dirty="0"/>
                        <a:t>0.9977</a:t>
                      </a:r>
                    </a:p>
                  </a:txBody>
                  <a:tcPr anchor="ctr"/>
                </a:tc>
                <a:extLst>
                  <a:ext uri="{0D108BD9-81ED-4DB2-BD59-A6C34878D82A}">
                    <a16:rowId xmlns:a16="http://schemas.microsoft.com/office/drawing/2014/main" val="2901727970"/>
                  </a:ext>
                </a:extLst>
              </a:tr>
              <a:tr h="319756">
                <a:tc>
                  <a:txBody>
                    <a:bodyPr/>
                    <a:lstStyle/>
                    <a:p>
                      <a:pPr algn="ctr">
                        <a:buNone/>
                      </a:pPr>
                      <a:r>
                        <a:rPr lang="en-IN" sz="1400" dirty="0"/>
                        <a:t>Walking</a:t>
                      </a:r>
                    </a:p>
                  </a:txBody>
                  <a:tcPr anchor="ctr"/>
                </a:tc>
                <a:tc>
                  <a:txBody>
                    <a:bodyPr/>
                    <a:lstStyle/>
                    <a:p>
                      <a:pPr algn="ctr">
                        <a:buNone/>
                      </a:pPr>
                      <a:r>
                        <a:rPr lang="en-IN" sz="1400" dirty="0"/>
                        <a:t>1.0000</a:t>
                      </a:r>
                    </a:p>
                  </a:txBody>
                  <a:tcPr anchor="ctr"/>
                </a:tc>
                <a:tc>
                  <a:txBody>
                    <a:bodyPr/>
                    <a:lstStyle/>
                    <a:p>
                      <a:pPr algn="ctr">
                        <a:buNone/>
                      </a:pPr>
                      <a:r>
                        <a:rPr lang="en-IN" sz="1400" dirty="0"/>
                        <a:t>0.9942</a:t>
                      </a:r>
                    </a:p>
                  </a:txBody>
                  <a:tcPr anchor="ctr"/>
                </a:tc>
                <a:tc>
                  <a:txBody>
                    <a:bodyPr/>
                    <a:lstStyle/>
                    <a:p>
                      <a:pPr algn="ctr">
                        <a:buNone/>
                      </a:pPr>
                      <a:r>
                        <a:rPr lang="en-IN" sz="1400" dirty="0"/>
                        <a:t>0.9971</a:t>
                      </a:r>
                    </a:p>
                  </a:txBody>
                  <a:tcPr anchor="ctr"/>
                </a:tc>
                <a:extLst>
                  <a:ext uri="{0D108BD9-81ED-4DB2-BD59-A6C34878D82A}">
                    <a16:rowId xmlns:a16="http://schemas.microsoft.com/office/drawing/2014/main" val="1823142717"/>
                  </a:ext>
                </a:extLst>
              </a:tr>
              <a:tr h="319756">
                <a:tc>
                  <a:txBody>
                    <a:bodyPr/>
                    <a:lstStyle/>
                    <a:p>
                      <a:pPr algn="ctr"/>
                      <a:endParaRPr lang="en-IN" sz="1400"/>
                    </a:p>
                  </a:txBody>
                  <a:tcPr/>
                </a:tc>
                <a:tc>
                  <a:txBody>
                    <a:bodyPr/>
                    <a:lstStyle/>
                    <a:p>
                      <a:pPr algn="ctr"/>
                      <a:endParaRPr lang="en-IN" sz="1400"/>
                    </a:p>
                  </a:txBody>
                  <a:tcPr/>
                </a:tc>
                <a:tc>
                  <a:txBody>
                    <a:bodyPr/>
                    <a:lstStyle/>
                    <a:p>
                      <a:pPr algn="ctr"/>
                      <a:endParaRPr lang="en-IN" sz="1400"/>
                    </a:p>
                  </a:txBody>
                  <a:tcPr/>
                </a:tc>
                <a:tc>
                  <a:txBody>
                    <a:bodyPr/>
                    <a:lstStyle/>
                    <a:p>
                      <a:pPr algn="ctr"/>
                      <a:endParaRPr lang="en-IN" sz="1400" dirty="0"/>
                    </a:p>
                  </a:txBody>
                  <a:tcPr/>
                </a:tc>
                <a:extLst>
                  <a:ext uri="{0D108BD9-81ED-4DB2-BD59-A6C34878D82A}">
                    <a16:rowId xmlns:a16="http://schemas.microsoft.com/office/drawing/2014/main" val="212715257"/>
                  </a:ext>
                </a:extLst>
              </a:tr>
              <a:tr h="319756">
                <a:tc>
                  <a:txBody>
                    <a:bodyPr/>
                    <a:lstStyle/>
                    <a:p>
                      <a:pPr algn="ctr">
                        <a:buNone/>
                      </a:pPr>
                      <a:r>
                        <a:rPr lang="en-IN" sz="1400" b="1" dirty="0"/>
                        <a:t>Overall Metric</a:t>
                      </a:r>
                    </a:p>
                  </a:txBody>
                  <a:tcPr anchor="ctr"/>
                </a:tc>
                <a:tc>
                  <a:txBody>
                    <a:bodyPr/>
                    <a:lstStyle/>
                    <a:p>
                      <a:pPr algn="ctr">
                        <a:buNone/>
                      </a:pPr>
                      <a:r>
                        <a:rPr lang="en-IN" sz="1400" b="1" dirty="0"/>
                        <a:t>Precision</a:t>
                      </a:r>
                    </a:p>
                  </a:txBody>
                  <a:tcPr anchor="ctr"/>
                </a:tc>
                <a:tc>
                  <a:txBody>
                    <a:bodyPr/>
                    <a:lstStyle/>
                    <a:p>
                      <a:pPr algn="ctr">
                        <a:buNone/>
                      </a:pPr>
                      <a:r>
                        <a:rPr lang="en-IN" sz="1400" b="1" dirty="0"/>
                        <a:t>Recall</a:t>
                      </a:r>
                    </a:p>
                  </a:txBody>
                  <a:tcPr anchor="ctr"/>
                </a:tc>
                <a:tc>
                  <a:txBody>
                    <a:bodyPr/>
                    <a:lstStyle/>
                    <a:p>
                      <a:pPr algn="ctr">
                        <a:buNone/>
                      </a:pPr>
                      <a:r>
                        <a:rPr lang="en-IN" sz="1400" b="1" dirty="0"/>
                        <a:t>F1-Score</a:t>
                      </a:r>
                    </a:p>
                  </a:txBody>
                  <a:tcPr anchor="ctr"/>
                </a:tc>
                <a:extLst>
                  <a:ext uri="{0D108BD9-81ED-4DB2-BD59-A6C34878D82A}">
                    <a16:rowId xmlns:a16="http://schemas.microsoft.com/office/drawing/2014/main" val="1242013638"/>
                  </a:ext>
                </a:extLst>
              </a:tr>
              <a:tr h="319756">
                <a:tc>
                  <a:txBody>
                    <a:bodyPr/>
                    <a:lstStyle/>
                    <a:p>
                      <a:pPr algn="ctr">
                        <a:buNone/>
                      </a:pPr>
                      <a:r>
                        <a:rPr lang="en-IN" sz="1400"/>
                        <a:t>Accuracy</a:t>
                      </a:r>
                    </a:p>
                  </a:txBody>
                  <a:tcPr anchor="ctr"/>
                </a:tc>
                <a:tc>
                  <a:txBody>
                    <a:bodyPr/>
                    <a:lstStyle/>
                    <a:p>
                      <a:pPr algn="ctr">
                        <a:buNone/>
                      </a:pPr>
                      <a:r>
                        <a:rPr lang="en-US" sz="1400" dirty="0"/>
                        <a:t>-</a:t>
                      </a:r>
                      <a:endParaRPr lang="en-IN" sz="1400" dirty="0"/>
                    </a:p>
                  </a:txBody>
                  <a:tcPr anchor="ctr"/>
                </a:tc>
                <a:tc>
                  <a:txBody>
                    <a:bodyPr/>
                    <a:lstStyle/>
                    <a:p>
                      <a:pPr algn="ctr">
                        <a:buNone/>
                      </a:pPr>
                      <a:r>
                        <a:rPr lang="en-IN" sz="1400" dirty="0"/>
                        <a:t>-</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400" dirty="0"/>
                        <a:t>0.9835</a:t>
                      </a:r>
                    </a:p>
                  </a:txBody>
                  <a:tcPr anchor="ctr"/>
                </a:tc>
                <a:extLst>
                  <a:ext uri="{0D108BD9-81ED-4DB2-BD59-A6C34878D82A}">
                    <a16:rowId xmlns:a16="http://schemas.microsoft.com/office/drawing/2014/main" val="1701912023"/>
                  </a:ext>
                </a:extLst>
              </a:tr>
              <a:tr h="319756">
                <a:tc>
                  <a:txBody>
                    <a:bodyPr/>
                    <a:lstStyle/>
                    <a:p>
                      <a:pPr algn="ctr">
                        <a:buNone/>
                      </a:pPr>
                      <a:r>
                        <a:rPr lang="en-IN" sz="1400"/>
                        <a:t>Macro Avg</a:t>
                      </a:r>
                    </a:p>
                  </a:txBody>
                  <a:tcPr anchor="ctr"/>
                </a:tc>
                <a:tc>
                  <a:txBody>
                    <a:bodyPr/>
                    <a:lstStyle/>
                    <a:p>
                      <a:pPr algn="ctr">
                        <a:buNone/>
                      </a:pPr>
                      <a:r>
                        <a:rPr lang="en-IN" sz="1400" dirty="0"/>
                        <a:t>0.9836</a:t>
                      </a:r>
                    </a:p>
                  </a:txBody>
                  <a:tcPr anchor="ctr"/>
                </a:tc>
                <a:tc>
                  <a:txBody>
                    <a:bodyPr/>
                    <a:lstStyle/>
                    <a:p>
                      <a:pPr algn="ctr">
                        <a:buNone/>
                      </a:pPr>
                      <a:r>
                        <a:rPr lang="en-IN" sz="1400" dirty="0"/>
                        <a:t>0.9833</a:t>
                      </a:r>
                    </a:p>
                  </a:txBody>
                  <a:tcPr anchor="ctr"/>
                </a:tc>
                <a:tc>
                  <a:txBody>
                    <a:bodyPr/>
                    <a:lstStyle/>
                    <a:p>
                      <a:pPr algn="ctr">
                        <a:buNone/>
                      </a:pPr>
                      <a:r>
                        <a:rPr lang="en-IN" sz="1400" dirty="0"/>
                        <a:t>0.9834</a:t>
                      </a:r>
                    </a:p>
                  </a:txBody>
                  <a:tcPr anchor="ctr"/>
                </a:tc>
                <a:extLst>
                  <a:ext uri="{0D108BD9-81ED-4DB2-BD59-A6C34878D82A}">
                    <a16:rowId xmlns:a16="http://schemas.microsoft.com/office/drawing/2014/main" val="2204205540"/>
                  </a:ext>
                </a:extLst>
              </a:tr>
              <a:tr h="319756">
                <a:tc>
                  <a:txBody>
                    <a:bodyPr/>
                    <a:lstStyle/>
                    <a:p>
                      <a:pPr algn="ctr">
                        <a:buNone/>
                      </a:pPr>
                      <a:r>
                        <a:rPr lang="en-IN" sz="1400" dirty="0"/>
                        <a:t>Weighted </a:t>
                      </a:r>
                      <a:r>
                        <a:rPr lang="en-IN" sz="1400" dirty="0" err="1"/>
                        <a:t>Avg</a:t>
                      </a:r>
                      <a:endParaRPr lang="en-IN" sz="1400" dirty="0"/>
                    </a:p>
                  </a:txBody>
                  <a:tcPr anchor="ctr"/>
                </a:tc>
                <a:tc>
                  <a:txBody>
                    <a:bodyPr/>
                    <a:lstStyle/>
                    <a:p>
                      <a:pPr algn="ctr">
                        <a:buNone/>
                      </a:pPr>
                      <a:r>
                        <a:rPr lang="en-IN" sz="1400" dirty="0"/>
                        <a:t>0.9836</a:t>
                      </a:r>
                    </a:p>
                  </a:txBody>
                  <a:tcPr anchor="ctr"/>
                </a:tc>
                <a:tc>
                  <a:txBody>
                    <a:bodyPr/>
                    <a:lstStyle/>
                    <a:p>
                      <a:pPr algn="ctr">
                        <a:buNone/>
                      </a:pPr>
                      <a:r>
                        <a:rPr lang="en-IN" sz="1400" dirty="0"/>
                        <a:t>0.9835</a:t>
                      </a:r>
                    </a:p>
                  </a:txBody>
                  <a:tcPr anchor="ctr"/>
                </a:tc>
                <a:tc>
                  <a:txBody>
                    <a:bodyPr/>
                    <a:lstStyle/>
                    <a:p>
                      <a:pPr algn="ctr">
                        <a:buNone/>
                      </a:pPr>
                      <a:r>
                        <a:rPr lang="en-IN" sz="1400" dirty="0"/>
                        <a:t>0.9835</a:t>
                      </a:r>
                    </a:p>
                  </a:txBody>
                  <a:tcPr anchor="ctr"/>
                </a:tc>
                <a:extLst>
                  <a:ext uri="{0D108BD9-81ED-4DB2-BD59-A6C34878D82A}">
                    <a16:rowId xmlns:a16="http://schemas.microsoft.com/office/drawing/2014/main" val="1763151371"/>
                  </a:ext>
                </a:extLst>
              </a:tr>
            </a:tbl>
          </a:graphicData>
        </a:graphic>
      </p:graphicFrame>
    </p:spTree>
    <p:extLst>
      <p:ext uri="{BB962C8B-B14F-4D97-AF65-F5344CB8AC3E}">
        <p14:creationId xmlns:p14="http://schemas.microsoft.com/office/powerpoint/2010/main" val="598752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9B6CD-1FE9-D3E3-55EA-5C4EF6744812}"/>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10F129D1-FB48-E382-160E-3A48D08728F2}"/>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Results – b) Online Dataset (KARD)</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8A6077F7-4323-A9EC-8156-4B7FBFBBF19B}"/>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D874FA6F-858F-53D5-23CB-BAA07374CEE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A5AF2C36-6192-8445-63BE-38BD5370DAFC}"/>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14CDBF0E-CC10-617F-D3FA-45B73E26E93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19/30</a:t>
              </a:r>
              <a:endParaRPr lang="en-US" dirty="0"/>
            </a:p>
          </p:txBody>
        </p:sp>
      </p:grpSp>
      <p:sp>
        <p:nvSpPr>
          <p:cNvPr id="9" name="object 19">
            <a:extLst>
              <a:ext uri="{FF2B5EF4-FFF2-40B4-BE49-F238E27FC236}">
                <a16:creationId xmlns:a16="http://schemas.microsoft.com/office/drawing/2014/main" id="{133CB3EB-4000-E4B6-6CD5-035B705D7B16}"/>
              </a:ext>
            </a:extLst>
          </p:cNvPr>
          <p:cNvSpPr/>
          <p:nvPr/>
        </p:nvSpPr>
        <p:spPr>
          <a:xfrm>
            <a:off x="4123934" y="650906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5" name="Google Shape;97;p14">
            <a:extLst>
              <a:ext uri="{FF2B5EF4-FFF2-40B4-BE49-F238E27FC236}">
                <a16:creationId xmlns:a16="http://schemas.microsoft.com/office/drawing/2014/main" id="{89D95B9A-DEC1-BA37-507D-BFF815C3D2AC}"/>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2" name="Table 1">
            <a:extLst>
              <a:ext uri="{FF2B5EF4-FFF2-40B4-BE49-F238E27FC236}">
                <a16:creationId xmlns:a16="http://schemas.microsoft.com/office/drawing/2014/main" id="{F73DC211-33EB-1D3C-199F-0B905DAE9EED}"/>
              </a:ext>
            </a:extLst>
          </p:cNvPr>
          <p:cNvGraphicFramePr>
            <a:graphicFrameLocks noGrp="1"/>
          </p:cNvGraphicFramePr>
          <p:nvPr>
            <p:extLst>
              <p:ext uri="{D42A27DB-BD31-4B8C-83A1-F6EECF244321}">
                <p14:modId xmlns:p14="http://schemas.microsoft.com/office/powerpoint/2010/main" val="3274117289"/>
              </p:ext>
            </p:extLst>
          </p:nvPr>
        </p:nvGraphicFramePr>
        <p:xfrm>
          <a:off x="328662" y="967444"/>
          <a:ext cx="5470560" cy="5532120"/>
        </p:xfrm>
        <a:graphic>
          <a:graphicData uri="http://schemas.openxmlformats.org/drawingml/2006/table">
            <a:tbl>
              <a:tblPr firstRow="1" bandRow="1">
                <a:tableStyleId>{00A15C55-8517-42AA-B614-E9B94910E393}</a:tableStyleId>
              </a:tblPr>
              <a:tblGrid>
                <a:gridCol w="1367640">
                  <a:extLst>
                    <a:ext uri="{9D8B030D-6E8A-4147-A177-3AD203B41FA5}">
                      <a16:colId xmlns:a16="http://schemas.microsoft.com/office/drawing/2014/main" val="2245271657"/>
                    </a:ext>
                  </a:extLst>
                </a:gridCol>
                <a:gridCol w="1367640">
                  <a:extLst>
                    <a:ext uri="{9D8B030D-6E8A-4147-A177-3AD203B41FA5}">
                      <a16:colId xmlns:a16="http://schemas.microsoft.com/office/drawing/2014/main" val="2100777284"/>
                    </a:ext>
                  </a:extLst>
                </a:gridCol>
                <a:gridCol w="1367640">
                  <a:extLst>
                    <a:ext uri="{9D8B030D-6E8A-4147-A177-3AD203B41FA5}">
                      <a16:colId xmlns:a16="http://schemas.microsoft.com/office/drawing/2014/main" val="748139408"/>
                    </a:ext>
                  </a:extLst>
                </a:gridCol>
                <a:gridCol w="1367640">
                  <a:extLst>
                    <a:ext uri="{9D8B030D-6E8A-4147-A177-3AD203B41FA5}">
                      <a16:colId xmlns:a16="http://schemas.microsoft.com/office/drawing/2014/main" val="886052029"/>
                    </a:ext>
                  </a:extLst>
                </a:gridCol>
              </a:tblGrid>
              <a:tr h="236969">
                <a:tc>
                  <a:txBody>
                    <a:bodyPr/>
                    <a:lstStyle/>
                    <a:p>
                      <a:pPr algn="ctr">
                        <a:buNone/>
                      </a:pPr>
                      <a:r>
                        <a:rPr lang="en-IN" sz="1050" b="1" dirty="0"/>
                        <a:t>Class</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2554357604"/>
                  </a:ext>
                </a:extLst>
              </a:tr>
              <a:tr h="236969">
                <a:tc>
                  <a:txBody>
                    <a:bodyPr/>
                    <a:lstStyle/>
                    <a:p>
                      <a:pPr algn="ctr">
                        <a:buNone/>
                      </a:pPr>
                      <a:r>
                        <a:rPr lang="en-IN" sz="1050"/>
                        <a:t>Action_0</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236827511"/>
                  </a:ext>
                </a:extLst>
              </a:tr>
              <a:tr h="236969">
                <a:tc>
                  <a:txBody>
                    <a:bodyPr/>
                    <a:lstStyle/>
                    <a:p>
                      <a:pPr algn="ctr">
                        <a:buNone/>
                      </a:pPr>
                      <a:r>
                        <a:rPr lang="en-IN" sz="1050"/>
                        <a:t>Action_1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106112958"/>
                  </a:ext>
                </a:extLst>
              </a:tr>
              <a:tr h="236969">
                <a:tc>
                  <a:txBody>
                    <a:bodyPr/>
                    <a:lstStyle/>
                    <a:p>
                      <a:pPr algn="ctr">
                        <a:buNone/>
                      </a:pPr>
                      <a:r>
                        <a:rPr lang="en-IN" sz="1050"/>
                        <a:t>Action_2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842835753"/>
                  </a:ext>
                </a:extLst>
              </a:tr>
              <a:tr h="236969">
                <a:tc>
                  <a:txBody>
                    <a:bodyPr/>
                    <a:lstStyle/>
                    <a:p>
                      <a:pPr algn="ctr">
                        <a:buNone/>
                      </a:pPr>
                      <a:r>
                        <a:rPr lang="en-IN" sz="1050"/>
                        <a:t>Action_3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56362032"/>
                  </a:ext>
                </a:extLst>
              </a:tr>
              <a:tr h="236969">
                <a:tc>
                  <a:txBody>
                    <a:bodyPr/>
                    <a:lstStyle/>
                    <a:p>
                      <a:pPr algn="ctr">
                        <a:buNone/>
                      </a:pPr>
                      <a:r>
                        <a:rPr lang="en-IN" sz="1050"/>
                        <a:t>Action_4</a:t>
                      </a:r>
                      <a:endParaRPr lang="en-IN" sz="1050" dirty="0"/>
                    </a:p>
                  </a:txBody>
                  <a:tcPr anchor="ctr"/>
                </a:tc>
                <a:tc>
                  <a:txBody>
                    <a:bodyPr/>
                    <a:lstStyle/>
                    <a:p>
                      <a:pPr algn="ctr">
                        <a:buNone/>
                      </a:pPr>
                      <a:r>
                        <a:rPr lang="en-IN" sz="1050"/>
                        <a:t>0.8333</a:t>
                      </a:r>
                    </a:p>
                  </a:txBody>
                  <a:tcPr anchor="ctr"/>
                </a:tc>
                <a:tc>
                  <a:txBody>
                    <a:bodyPr/>
                    <a:lstStyle/>
                    <a:p>
                      <a:pPr algn="ctr">
                        <a:buNone/>
                      </a:pPr>
                      <a:r>
                        <a:rPr lang="en-IN" sz="1050" dirty="0"/>
                        <a:t>1.0000</a:t>
                      </a:r>
                    </a:p>
                  </a:txBody>
                  <a:tcPr anchor="ctr"/>
                </a:tc>
                <a:tc>
                  <a:txBody>
                    <a:bodyPr/>
                    <a:lstStyle/>
                    <a:p>
                      <a:pPr algn="ctr">
                        <a:buNone/>
                      </a:pPr>
                      <a:r>
                        <a:rPr lang="en-IN" sz="1050"/>
                        <a:t>0.9091</a:t>
                      </a:r>
                    </a:p>
                  </a:txBody>
                  <a:tcPr anchor="ctr"/>
                </a:tc>
                <a:extLst>
                  <a:ext uri="{0D108BD9-81ED-4DB2-BD59-A6C34878D82A}">
                    <a16:rowId xmlns:a16="http://schemas.microsoft.com/office/drawing/2014/main" val="2773665488"/>
                  </a:ext>
                </a:extLst>
              </a:tr>
              <a:tr h="236969">
                <a:tc>
                  <a:txBody>
                    <a:bodyPr/>
                    <a:lstStyle/>
                    <a:p>
                      <a:pPr algn="ctr">
                        <a:buNone/>
                      </a:pPr>
                      <a:r>
                        <a:rPr lang="en-IN" sz="1050"/>
                        <a:t>Action_5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706022754"/>
                  </a:ext>
                </a:extLst>
              </a:tr>
              <a:tr h="236969">
                <a:tc>
                  <a:txBody>
                    <a:bodyPr/>
                    <a:lstStyle/>
                    <a:p>
                      <a:pPr algn="ctr">
                        <a:buNone/>
                      </a:pPr>
                      <a:r>
                        <a:rPr lang="en-IN" sz="1050"/>
                        <a:t>Action_6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94397843"/>
                  </a:ext>
                </a:extLst>
              </a:tr>
              <a:tr h="236969">
                <a:tc>
                  <a:txBody>
                    <a:bodyPr/>
                    <a:lstStyle/>
                    <a:p>
                      <a:pPr algn="ctr">
                        <a:buNone/>
                      </a:pPr>
                      <a:r>
                        <a:rPr lang="en-IN" sz="1050"/>
                        <a:t>Action_7</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979852858"/>
                  </a:ext>
                </a:extLst>
              </a:tr>
              <a:tr h="236969">
                <a:tc>
                  <a:txBody>
                    <a:bodyPr/>
                    <a:lstStyle/>
                    <a:p>
                      <a:pPr algn="ctr">
                        <a:buNone/>
                      </a:pPr>
                      <a:r>
                        <a:rPr lang="en-IN" sz="1050"/>
                        <a:t>Action_8</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160584728"/>
                  </a:ext>
                </a:extLst>
              </a:tr>
              <a:tr h="236969">
                <a:tc>
                  <a:txBody>
                    <a:bodyPr/>
                    <a:lstStyle/>
                    <a:p>
                      <a:pPr algn="ctr">
                        <a:buNone/>
                      </a:pPr>
                      <a:r>
                        <a:rPr lang="en-IN" sz="1050"/>
                        <a:t>Action_9</a:t>
                      </a:r>
                      <a:endParaRPr lang="en-IN" sz="1050" dirty="0"/>
                    </a:p>
                  </a:txBody>
                  <a:tcPr anchor="ctr"/>
                </a:tc>
                <a:tc>
                  <a:txBody>
                    <a:bodyPr/>
                    <a:lstStyle/>
                    <a:p>
                      <a:pPr algn="ctr">
                        <a:buNone/>
                      </a:pPr>
                      <a:r>
                        <a:rPr lang="en-IN" sz="1050" dirty="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4013809071"/>
                  </a:ext>
                </a:extLst>
              </a:tr>
              <a:tr h="236969">
                <a:tc>
                  <a:txBody>
                    <a:bodyPr/>
                    <a:lstStyle/>
                    <a:p>
                      <a:pPr algn="ctr">
                        <a:buNone/>
                      </a:pPr>
                      <a:r>
                        <a:rPr lang="en-IN" sz="1050"/>
                        <a:t>Action_10</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338143951"/>
                  </a:ext>
                </a:extLst>
              </a:tr>
              <a:tr h="236969">
                <a:tc>
                  <a:txBody>
                    <a:bodyPr/>
                    <a:lstStyle/>
                    <a:p>
                      <a:pPr algn="ctr">
                        <a:buNone/>
                      </a:pPr>
                      <a:r>
                        <a:rPr lang="en-IN" sz="1050"/>
                        <a:t>Action_11</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139975371"/>
                  </a:ext>
                </a:extLst>
              </a:tr>
              <a:tr h="236969">
                <a:tc>
                  <a:txBody>
                    <a:bodyPr/>
                    <a:lstStyle/>
                    <a:p>
                      <a:pPr algn="ctr">
                        <a:buNone/>
                      </a:pPr>
                      <a:r>
                        <a:rPr lang="en-IN" sz="1050"/>
                        <a:t>Action_12</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23983775"/>
                  </a:ext>
                </a:extLst>
              </a:tr>
              <a:tr h="236969">
                <a:tc>
                  <a:txBody>
                    <a:bodyPr/>
                    <a:lstStyle/>
                    <a:p>
                      <a:pPr algn="ctr">
                        <a:buNone/>
                      </a:pPr>
                      <a:r>
                        <a:rPr lang="en-IN" sz="1050"/>
                        <a:t>Action_13</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860594054"/>
                  </a:ext>
                </a:extLst>
              </a:tr>
              <a:tr h="236969">
                <a:tc>
                  <a:txBody>
                    <a:bodyPr/>
                    <a:lstStyle/>
                    <a:p>
                      <a:pPr algn="ctr">
                        <a:buNone/>
                      </a:pPr>
                      <a:r>
                        <a:rPr lang="en-IN" sz="1050"/>
                        <a:t>Action_14</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258009860"/>
                  </a:ext>
                </a:extLst>
              </a:tr>
              <a:tr h="236969">
                <a:tc>
                  <a:txBody>
                    <a:bodyPr/>
                    <a:lstStyle/>
                    <a:p>
                      <a:pPr algn="ctr">
                        <a:buNone/>
                      </a:pPr>
                      <a:r>
                        <a:rPr lang="en-IN" sz="1050"/>
                        <a:t>Action_15</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0.7500</a:t>
                      </a:r>
                    </a:p>
                  </a:txBody>
                  <a:tcPr anchor="ctr"/>
                </a:tc>
                <a:tc>
                  <a:txBody>
                    <a:bodyPr/>
                    <a:lstStyle/>
                    <a:p>
                      <a:pPr algn="ctr">
                        <a:buNone/>
                      </a:pPr>
                      <a:r>
                        <a:rPr lang="en-IN" sz="1050" dirty="0"/>
                        <a:t>0.8571</a:t>
                      </a:r>
                    </a:p>
                  </a:txBody>
                  <a:tcPr anchor="ctr"/>
                </a:tc>
                <a:extLst>
                  <a:ext uri="{0D108BD9-81ED-4DB2-BD59-A6C34878D82A}">
                    <a16:rowId xmlns:a16="http://schemas.microsoft.com/office/drawing/2014/main" val="3447037345"/>
                  </a:ext>
                </a:extLst>
              </a:tr>
              <a:tr h="236969">
                <a:tc>
                  <a:txBody>
                    <a:bodyPr/>
                    <a:lstStyle/>
                    <a:p>
                      <a:pPr algn="ctr">
                        <a:buNone/>
                      </a:pPr>
                      <a:r>
                        <a:rPr lang="en-IN" sz="1050"/>
                        <a:t>Action_16</a:t>
                      </a:r>
                      <a:endParaRPr lang="en-IN" sz="1050" dirty="0"/>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extLst>
                  <a:ext uri="{0D108BD9-81ED-4DB2-BD59-A6C34878D82A}">
                    <a16:rowId xmlns:a16="http://schemas.microsoft.com/office/drawing/2014/main" val="3807781498"/>
                  </a:ext>
                </a:extLst>
              </a:tr>
              <a:tr h="236969">
                <a:tc>
                  <a:txBody>
                    <a:bodyPr/>
                    <a:lstStyle/>
                    <a:p>
                      <a:pPr algn="ctr">
                        <a:buNone/>
                      </a:pPr>
                      <a:r>
                        <a:rPr lang="en-IN" sz="1050" dirty="0"/>
                        <a:t>Action_17</a:t>
                      </a:r>
                    </a:p>
                  </a:txBody>
                  <a:tcPr anchor="ctr"/>
                </a:tc>
                <a:tc>
                  <a:txBody>
                    <a:bodyPr/>
                    <a:lstStyle/>
                    <a:p>
                      <a:pPr algn="ctr">
                        <a:buNone/>
                      </a:pPr>
                      <a:r>
                        <a:rPr lang="en-IN" sz="1050"/>
                        <a:t>1.0000</a:t>
                      </a:r>
                    </a:p>
                  </a:txBody>
                  <a:tcPr anchor="ctr"/>
                </a:tc>
                <a:tc>
                  <a:txBody>
                    <a:bodyPr/>
                    <a:lstStyle/>
                    <a:p>
                      <a:pPr algn="ctr">
                        <a:buNone/>
                      </a:pPr>
                      <a:r>
                        <a:rPr lang="en-IN" sz="1050"/>
                        <a:t>1.0000</a:t>
                      </a:r>
                    </a:p>
                  </a:txBody>
                  <a:tcPr anchor="ctr"/>
                </a:tc>
                <a:tc>
                  <a:txBody>
                    <a:bodyPr/>
                    <a:lstStyle/>
                    <a:p>
                      <a:pPr algn="ctr">
                        <a:buNone/>
                      </a:pPr>
                      <a:r>
                        <a:rPr lang="en-IN" sz="1050" dirty="0"/>
                        <a:t>1.0000</a:t>
                      </a:r>
                    </a:p>
                  </a:txBody>
                  <a:tcPr anchor="ctr"/>
                </a:tc>
                <a:extLst>
                  <a:ext uri="{0D108BD9-81ED-4DB2-BD59-A6C34878D82A}">
                    <a16:rowId xmlns:a16="http://schemas.microsoft.com/office/drawing/2014/main" val="2593030063"/>
                  </a:ext>
                </a:extLst>
              </a:tr>
              <a:tr h="236969">
                <a:tc>
                  <a:txBody>
                    <a:bodyPr/>
                    <a:lstStyle/>
                    <a:p>
                      <a:pPr algn="ctr">
                        <a:buNone/>
                      </a:pPr>
                      <a:r>
                        <a:rPr lang="en-IN" sz="1050" b="1" dirty="0"/>
                        <a:t>Overall Metric</a:t>
                      </a:r>
                    </a:p>
                  </a:txBody>
                  <a:tcPr anchor="ctr"/>
                </a:tc>
                <a:tc>
                  <a:txBody>
                    <a:bodyPr/>
                    <a:lstStyle/>
                    <a:p>
                      <a:pPr algn="ctr">
                        <a:buNone/>
                      </a:pPr>
                      <a:r>
                        <a:rPr lang="en-IN" sz="1050" b="1"/>
                        <a:t>Precision</a:t>
                      </a:r>
                    </a:p>
                  </a:txBody>
                  <a:tcPr anchor="ctr"/>
                </a:tc>
                <a:tc>
                  <a:txBody>
                    <a:bodyPr/>
                    <a:lstStyle/>
                    <a:p>
                      <a:pPr algn="ctr">
                        <a:buNone/>
                      </a:pPr>
                      <a:r>
                        <a:rPr lang="en-IN" sz="1050" b="1"/>
                        <a:t>Recall</a:t>
                      </a:r>
                    </a:p>
                  </a:txBody>
                  <a:tcPr anchor="ctr"/>
                </a:tc>
                <a:tc>
                  <a:txBody>
                    <a:bodyPr/>
                    <a:lstStyle/>
                    <a:p>
                      <a:pPr algn="ctr">
                        <a:buNone/>
                      </a:pPr>
                      <a:r>
                        <a:rPr lang="en-IN" sz="1050" b="1" dirty="0"/>
                        <a:t>F1-Score</a:t>
                      </a:r>
                    </a:p>
                  </a:txBody>
                  <a:tcPr anchor="ctr"/>
                </a:tc>
                <a:extLst>
                  <a:ext uri="{0D108BD9-81ED-4DB2-BD59-A6C34878D82A}">
                    <a16:rowId xmlns:a16="http://schemas.microsoft.com/office/drawing/2014/main" val="731962766"/>
                  </a:ext>
                </a:extLst>
              </a:tr>
              <a:tr h="236969">
                <a:tc>
                  <a:txBody>
                    <a:bodyPr/>
                    <a:lstStyle/>
                    <a:p>
                      <a:pPr algn="ctr">
                        <a:buNone/>
                      </a:pPr>
                      <a:r>
                        <a:rPr lang="en-IN" sz="1050" dirty="0"/>
                        <a:t>Macro </a:t>
                      </a:r>
                      <a:r>
                        <a:rPr lang="en-IN" sz="1050" dirty="0" err="1"/>
                        <a:t>Avg</a:t>
                      </a:r>
                      <a:endParaRPr lang="en-IN" sz="1050" dirty="0"/>
                    </a:p>
                  </a:txBody>
                  <a:tcPr anchor="ctr"/>
                </a:tc>
                <a:tc>
                  <a:txBody>
                    <a:bodyPr/>
                    <a:lstStyle/>
                    <a:p>
                      <a:pPr algn="ctr">
                        <a:buNone/>
                      </a:pPr>
                      <a:r>
                        <a:rPr lang="en-IN" sz="1050"/>
                        <a:t>0.9907</a:t>
                      </a:r>
                    </a:p>
                  </a:txBody>
                  <a:tcPr anchor="ctr"/>
                </a:tc>
                <a:tc>
                  <a:txBody>
                    <a:bodyPr/>
                    <a:lstStyle/>
                    <a:p>
                      <a:pPr algn="ctr">
                        <a:buNone/>
                      </a:pPr>
                      <a:r>
                        <a:rPr lang="en-IN" sz="1050"/>
                        <a:t>0.9861</a:t>
                      </a:r>
                    </a:p>
                  </a:txBody>
                  <a:tcPr anchor="ctr"/>
                </a:tc>
                <a:tc>
                  <a:txBody>
                    <a:bodyPr/>
                    <a:lstStyle/>
                    <a:p>
                      <a:pPr algn="ctr">
                        <a:buNone/>
                      </a:pPr>
                      <a:r>
                        <a:rPr lang="en-IN" sz="1050" dirty="0"/>
                        <a:t>0.9870</a:t>
                      </a:r>
                    </a:p>
                  </a:txBody>
                  <a:tcPr anchor="ctr"/>
                </a:tc>
                <a:extLst>
                  <a:ext uri="{0D108BD9-81ED-4DB2-BD59-A6C34878D82A}">
                    <a16:rowId xmlns:a16="http://schemas.microsoft.com/office/drawing/2014/main" val="124298948"/>
                  </a:ext>
                </a:extLst>
              </a:tr>
              <a:tr h="236969">
                <a:tc>
                  <a:txBody>
                    <a:bodyPr/>
                    <a:lstStyle/>
                    <a:p>
                      <a:pPr algn="ctr">
                        <a:buNone/>
                      </a:pPr>
                      <a:r>
                        <a:rPr lang="en-IN" sz="1050" dirty="0"/>
                        <a:t>Weighted </a:t>
                      </a:r>
                      <a:r>
                        <a:rPr lang="en-IN" sz="1050" dirty="0" err="1"/>
                        <a:t>Avg</a:t>
                      </a:r>
                      <a:endParaRPr lang="en-IN" sz="1050" dirty="0"/>
                    </a:p>
                  </a:txBody>
                  <a:tcPr anchor="ctr"/>
                </a:tc>
                <a:tc>
                  <a:txBody>
                    <a:bodyPr/>
                    <a:lstStyle/>
                    <a:p>
                      <a:pPr algn="ctr">
                        <a:buNone/>
                      </a:pPr>
                      <a:r>
                        <a:rPr lang="en-IN" sz="1050" dirty="0"/>
                        <a:t>0.9897</a:t>
                      </a:r>
                    </a:p>
                  </a:txBody>
                  <a:tcPr anchor="ctr"/>
                </a:tc>
                <a:tc>
                  <a:txBody>
                    <a:bodyPr/>
                    <a:lstStyle/>
                    <a:p>
                      <a:pPr algn="ctr"/>
                      <a:r>
                        <a:rPr lang="en-US" sz="1050" dirty="0"/>
                        <a:t>0.9877</a:t>
                      </a:r>
                      <a:endParaRPr lang="en-IN" sz="1050" dirty="0"/>
                    </a:p>
                  </a:txBody>
                  <a:tcPr/>
                </a:tc>
                <a:tc>
                  <a:txBody>
                    <a:bodyPr/>
                    <a:lstStyle/>
                    <a:p>
                      <a:pPr algn="ctr"/>
                      <a:r>
                        <a:rPr lang="en-US" sz="1050" dirty="0"/>
                        <a:t>0.9833</a:t>
                      </a:r>
                      <a:endParaRPr lang="en-IN" sz="1050" dirty="0"/>
                    </a:p>
                  </a:txBody>
                  <a:tcPr/>
                </a:tc>
                <a:extLst>
                  <a:ext uri="{0D108BD9-81ED-4DB2-BD59-A6C34878D82A}">
                    <a16:rowId xmlns:a16="http://schemas.microsoft.com/office/drawing/2014/main" val="3270983080"/>
                  </a:ext>
                </a:extLst>
              </a:tr>
            </a:tbl>
          </a:graphicData>
        </a:graphic>
      </p:graphicFrame>
      <p:pic>
        <p:nvPicPr>
          <p:cNvPr id="12" name="Picture 11">
            <a:extLst>
              <a:ext uri="{FF2B5EF4-FFF2-40B4-BE49-F238E27FC236}">
                <a16:creationId xmlns:a16="http://schemas.microsoft.com/office/drawing/2014/main" id="{22DDCDBE-2329-89AF-6422-51E400E21449}"/>
              </a:ext>
            </a:extLst>
          </p:cNvPr>
          <p:cNvPicPr>
            <a:picLocks noChangeAspect="1"/>
          </p:cNvPicPr>
          <p:nvPr/>
        </p:nvPicPr>
        <p:blipFill>
          <a:blip r:embed="rId4"/>
          <a:srcRect r="8168"/>
          <a:stretch>
            <a:fillRect/>
          </a:stretch>
        </p:blipFill>
        <p:spPr>
          <a:xfrm>
            <a:off x="5874601" y="1019764"/>
            <a:ext cx="6230172" cy="5427480"/>
          </a:xfrm>
          <a:prstGeom prst="rect">
            <a:avLst/>
          </a:prstGeom>
        </p:spPr>
      </p:pic>
    </p:spTree>
    <p:extLst>
      <p:ext uri="{BB962C8B-B14F-4D97-AF65-F5344CB8AC3E}">
        <p14:creationId xmlns:p14="http://schemas.microsoft.com/office/powerpoint/2010/main" val="32658157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17">
            <a:extLst>
              <a:ext uri="{FF2B5EF4-FFF2-40B4-BE49-F238E27FC236}">
                <a16:creationId xmlns:a16="http://schemas.microsoft.com/office/drawing/2014/main" id="{9D921DFC-9C3F-3E3B-9AEA-AC88B21F0ED4}"/>
              </a:ext>
            </a:extLst>
          </p:cNvPr>
          <p:cNvGrpSpPr/>
          <p:nvPr/>
        </p:nvGrpSpPr>
        <p:grpSpPr>
          <a:xfrm>
            <a:off x="0" y="6537797"/>
            <a:ext cx="12192000" cy="277771"/>
            <a:chOff x="0" y="3346348"/>
            <a:chExt cx="4608195" cy="109855"/>
          </a:xfrm>
        </p:grpSpPr>
        <p:sp>
          <p:nvSpPr>
            <p:cNvPr id="3" name="object 18">
              <a:extLst>
                <a:ext uri="{FF2B5EF4-FFF2-40B4-BE49-F238E27FC236}">
                  <a16:creationId xmlns:a16="http://schemas.microsoft.com/office/drawing/2014/main" id="{A290E766-3217-F43C-2941-1A1B40AE461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4" name="object 19">
              <a:extLst>
                <a:ext uri="{FF2B5EF4-FFF2-40B4-BE49-F238E27FC236}">
                  <a16:creationId xmlns:a16="http://schemas.microsoft.com/office/drawing/2014/main" id="{321AF4D0-0439-BBBF-8A5D-4ED2FBD6ED5A}"/>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endParaRPr dirty="0">
                <a:latin typeface="Times New Roman" panose="02020603050405020304" pitchFamily="18" charset="0"/>
                <a:cs typeface="Times New Roman" panose="02020603050405020304" pitchFamily="18" charset="0"/>
              </a:endParaRPr>
            </a:p>
          </p:txBody>
        </p:sp>
        <p:sp>
          <p:nvSpPr>
            <p:cNvPr id="5" name="object 20">
              <a:extLst>
                <a:ext uri="{FF2B5EF4-FFF2-40B4-BE49-F238E27FC236}">
                  <a16:creationId xmlns:a16="http://schemas.microsoft.com/office/drawing/2014/main" id="{7D64E5D2-CDDE-A3EB-4E90-3B95F9F3A088}"/>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20/30</a:t>
              </a:r>
              <a:endParaRPr lang="en-US" dirty="0"/>
            </a:p>
          </p:txBody>
        </p:sp>
      </p:grpSp>
      <p:sp>
        <p:nvSpPr>
          <p:cNvPr id="10" name="Rectangle: Rounded Corners 9">
            <a:extLst>
              <a:ext uri="{FF2B5EF4-FFF2-40B4-BE49-F238E27FC236}">
                <a16:creationId xmlns:a16="http://schemas.microsoft.com/office/drawing/2014/main" id="{2FABD49D-5098-396A-040F-C0333A5D31EB}"/>
              </a:ext>
            </a:extLst>
          </p:cNvPr>
          <p:cNvSpPr/>
          <p:nvPr/>
        </p:nvSpPr>
        <p:spPr>
          <a:xfrm>
            <a:off x="328662" y="169785"/>
            <a:ext cx="10609007"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pPr>
              <a:buNone/>
            </a:pPr>
            <a:r>
              <a:rPr lang="en-US" sz="2800" b="1" dirty="0">
                <a:solidFill>
                  <a:srgbClr val="002060"/>
                </a:solidFill>
                <a:latin typeface="Times New Roman" panose="02020603050405020304" pitchFamily="18" charset="0"/>
                <a:cs typeface="Times New Roman" panose="02020603050405020304" pitchFamily="18" charset="0"/>
              </a:rPr>
              <a:t>Comparison </a:t>
            </a:r>
          </a:p>
        </p:txBody>
      </p:sp>
      <p:sp>
        <p:nvSpPr>
          <p:cNvPr id="6" name="object 19">
            <a:extLst>
              <a:ext uri="{FF2B5EF4-FFF2-40B4-BE49-F238E27FC236}">
                <a16:creationId xmlns:a16="http://schemas.microsoft.com/office/drawing/2014/main" id="{F3604FCB-95E6-3337-B80E-BAF4E5497D09}"/>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1" name="Google Shape;97;p14">
            <a:extLst>
              <a:ext uri="{FF2B5EF4-FFF2-40B4-BE49-F238E27FC236}">
                <a16:creationId xmlns:a16="http://schemas.microsoft.com/office/drawing/2014/main" id="{0F201838-F4CC-7C75-2815-8EF7F9E5D0A4}"/>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9" name="Chart 8">
            <a:extLst>
              <a:ext uri="{FF2B5EF4-FFF2-40B4-BE49-F238E27FC236}">
                <a16:creationId xmlns:a16="http://schemas.microsoft.com/office/drawing/2014/main" id="{DFE59110-FC01-4E2B-A0F1-129EA62DA47D}"/>
              </a:ext>
            </a:extLst>
          </p:cNvPr>
          <p:cNvGraphicFramePr>
            <a:graphicFrameLocks/>
          </p:cNvGraphicFramePr>
          <p:nvPr>
            <p:extLst>
              <p:ext uri="{D42A27DB-BD31-4B8C-83A1-F6EECF244321}">
                <p14:modId xmlns:p14="http://schemas.microsoft.com/office/powerpoint/2010/main" val="1279387353"/>
              </p:ext>
            </p:extLst>
          </p:nvPr>
        </p:nvGraphicFramePr>
        <p:xfrm>
          <a:off x="5633165" y="1153972"/>
          <a:ext cx="6428874" cy="40787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Table 11">
            <a:extLst>
              <a:ext uri="{FF2B5EF4-FFF2-40B4-BE49-F238E27FC236}">
                <a16:creationId xmlns:a16="http://schemas.microsoft.com/office/drawing/2014/main" id="{2C087B83-0F27-A501-D9B2-A4686440FF41}"/>
              </a:ext>
            </a:extLst>
          </p:cNvPr>
          <p:cNvGraphicFramePr>
            <a:graphicFrameLocks noGrp="1"/>
          </p:cNvGraphicFramePr>
          <p:nvPr>
            <p:extLst>
              <p:ext uri="{D42A27DB-BD31-4B8C-83A1-F6EECF244321}">
                <p14:modId xmlns:p14="http://schemas.microsoft.com/office/powerpoint/2010/main" val="1680241537"/>
              </p:ext>
            </p:extLst>
          </p:nvPr>
        </p:nvGraphicFramePr>
        <p:xfrm>
          <a:off x="89894" y="1677261"/>
          <a:ext cx="5413310" cy="3032125"/>
        </p:xfrm>
        <a:graphic>
          <a:graphicData uri="http://schemas.openxmlformats.org/drawingml/2006/table">
            <a:tbl>
              <a:tblPr firstRow="1" bandRow="1">
                <a:tableStyleId>{00A15C55-8517-42AA-B614-E9B94910E393}</a:tableStyleId>
              </a:tblPr>
              <a:tblGrid>
                <a:gridCol w="1082662">
                  <a:extLst>
                    <a:ext uri="{9D8B030D-6E8A-4147-A177-3AD203B41FA5}">
                      <a16:colId xmlns:a16="http://schemas.microsoft.com/office/drawing/2014/main" val="2867144366"/>
                    </a:ext>
                  </a:extLst>
                </a:gridCol>
                <a:gridCol w="1082662">
                  <a:extLst>
                    <a:ext uri="{9D8B030D-6E8A-4147-A177-3AD203B41FA5}">
                      <a16:colId xmlns:a16="http://schemas.microsoft.com/office/drawing/2014/main" val="118019708"/>
                    </a:ext>
                  </a:extLst>
                </a:gridCol>
                <a:gridCol w="1082662">
                  <a:extLst>
                    <a:ext uri="{9D8B030D-6E8A-4147-A177-3AD203B41FA5}">
                      <a16:colId xmlns:a16="http://schemas.microsoft.com/office/drawing/2014/main" val="28157161"/>
                    </a:ext>
                  </a:extLst>
                </a:gridCol>
                <a:gridCol w="1082662">
                  <a:extLst>
                    <a:ext uri="{9D8B030D-6E8A-4147-A177-3AD203B41FA5}">
                      <a16:colId xmlns:a16="http://schemas.microsoft.com/office/drawing/2014/main" val="372070279"/>
                    </a:ext>
                  </a:extLst>
                </a:gridCol>
                <a:gridCol w="1082662">
                  <a:extLst>
                    <a:ext uri="{9D8B030D-6E8A-4147-A177-3AD203B41FA5}">
                      <a16:colId xmlns:a16="http://schemas.microsoft.com/office/drawing/2014/main" val="351420326"/>
                    </a:ext>
                  </a:extLst>
                </a:gridCol>
              </a:tblGrid>
              <a:tr h="370840">
                <a:tc>
                  <a:txBody>
                    <a:bodyPr/>
                    <a:lstStyle/>
                    <a:p>
                      <a:pPr algn="ctr" fontAlgn="b">
                        <a:buNone/>
                      </a:pPr>
                      <a:r>
                        <a:rPr lang="en-IN" sz="1400" b="1" u="none" strike="noStrike" dirty="0">
                          <a:solidFill>
                            <a:schemeClr val="bg1"/>
                          </a:solidFill>
                          <a:effectLst/>
                        </a:rPr>
                        <a:t>Activities / Models </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a:solidFill>
                            <a:schemeClr val="bg1"/>
                          </a:solidFill>
                          <a:effectLst/>
                        </a:rPr>
                        <a:t>GRS-BiLSTM</a:t>
                      </a:r>
                      <a:endParaRPr lang="en-IN" sz="1400" b="1" i="0" u="none" strike="noStrike">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400" b="1" u="none" strike="noStrike" dirty="0">
                          <a:solidFill>
                            <a:schemeClr val="bg1"/>
                          </a:solidFill>
                          <a:effectLst/>
                        </a:rPr>
                        <a:t>MS-GRS-</a:t>
                      </a:r>
                      <a:r>
                        <a:rPr lang="en-IN" sz="1400" b="1" u="none" strike="noStrike" dirty="0" err="1">
                          <a:solidFill>
                            <a:schemeClr val="bg1"/>
                          </a:solidFill>
                          <a:effectLst/>
                        </a:rPr>
                        <a:t>BiLSTM</a:t>
                      </a:r>
                      <a:endParaRPr lang="en-IN" sz="1400" b="1" i="0" u="none" strike="noStrike" dirty="0">
                        <a:solidFill>
                          <a:schemeClr val="bg1"/>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583110051"/>
                  </a:ext>
                </a:extLst>
              </a:tr>
              <a:tr h="370840">
                <a:tc>
                  <a:txBody>
                    <a:bodyPr/>
                    <a:lstStyle/>
                    <a:p>
                      <a:pPr algn="ctr" rtl="0" fontAlgn="ctr">
                        <a:buNone/>
                      </a:pPr>
                      <a:r>
                        <a:rPr lang="en-IN" sz="1400" b="0" u="none" strike="noStrike">
                          <a:solidFill>
                            <a:srgbClr val="000000"/>
                          </a:solidFill>
                          <a:effectLst/>
                        </a:rPr>
                        <a:t>Bending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0.9091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63246838"/>
                  </a:ext>
                </a:extLst>
              </a:tr>
              <a:tr h="370840">
                <a:tc>
                  <a:txBody>
                    <a:bodyPr/>
                    <a:lstStyle/>
                    <a:p>
                      <a:pPr algn="ctr" rtl="0" fontAlgn="ctr">
                        <a:buNone/>
                      </a:pPr>
                      <a:r>
                        <a:rPr lang="en-IN" sz="1400" b="0" u="none" strike="noStrike">
                          <a:solidFill>
                            <a:srgbClr val="000000"/>
                          </a:solidFill>
                          <a:effectLst/>
                        </a:rPr>
                        <a:t>Jumping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0.8571</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0.4900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0.7300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0.9469</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468370675"/>
                  </a:ext>
                </a:extLst>
              </a:tr>
              <a:tr h="370840">
                <a:tc>
                  <a:txBody>
                    <a:bodyPr/>
                    <a:lstStyle/>
                    <a:p>
                      <a:pPr algn="ctr" rtl="0" fontAlgn="ctr">
                        <a:buNone/>
                      </a:pPr>
                      <a:r>
                        <a:rPr lang="en-IN" sz="1400" b="0" u="none" strike="noStrike">
                          <a:solidFill>
                            <a:srgbClr val="000000"/>
                          </a:solidFill>
                          <a:effectLst/>
                        </a:rPr>
                        <a:t>Running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a:solidFill>
                            <a:srgbClr val="000000"/>
                          </a:solidFill>
                          <a:effectLst/>
                        </a:rPr>
                        <a:t>0.7692</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0.7400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0.9467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884887689"/>
                  </a:ext>
                </a:extLst>
              </a:tr>
              <a:tr h="370840">
                <a:tc>
                  <a:txBody>
                    <a:bodyPr/>
                    <a:lstStyle/>
                    <a:p>
                      <a:pPr algn="ctr" rtl="0" fontAlgn="ctr">
                        <a:buNone/>
                      </a:pPr>
                      <a:r>
                        <a:rPr lang="en-IN" sz="1400" b="0" u="none" strike="noStrike">
                          <a:solidFill>
                            <a:srgbClr val="000000"/>
                          </a:solidFill>
                          <a:effectLst/>
                        </a:rPr>
                        <a:t>Sitting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0.4000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323744355"/>
                  </a:ext>
                </a:extLst>
              </a:tr>
              <a:tr h="370840">
                <a:tc>
                  <a:txBody>
                    <a:bodyPr/>
                    <a:lstStyle/>
                    <a:p>
                      <a:pPr algn="ctr" rtl="0" fontAlgn="ctr">
                        <a:buNone/>
                      </a:pPr>
                      <a:r>
                        <a:rPr lang="en-IN" sz="1400" b="0" u="none" strike="noStrike">
                          <a:solidFill>
                            <a:srgbClr val="000000"/>
                          </a:solidFill>
                          <a:effectLst/>
                        </a:rPr>
                        <a:t>Squat</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0.9976</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809729832"/>
                  </a:ext>
                </a:extLst>
              </a:tr>
              <a:tr h="370840">
                <a:tc>
                  <a:txBody>
                    <a:bodyPr/>
                    <a:lstStyle/>
                    <a:p>
                      <a:pPr algn="ctr" rtl="0" fontAlgn="ctr">
                        <a:buNone/>
                      </a:pPr>
                      <a:r>
                        <a:rPr lang="en-IN" sz="1400" b="0" u="none" strike="noStrike">
                          <a:solidFill>
                            <a:srgbClr val="000000"/>
                          </a:solidFill>
                          <a:effectLst/>
                        </a:rPr>
                        <a:t>Standing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0.5000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0.9200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0.9800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a:solidFill>
                            <a:srgbClr val="000000"/>
                          </a:solidFill>
                          <a:effectLst/>
                        </a:rPr>
                        <a:t>0.9977</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4185383768"/>
                  </a:ext>
                </a:extLst>
              </a:tr>
              <a:tr h="370840">
                <a:tc>
                  <a:txBody>
                    <a:bodyPr/>
                    <a:lstStyle/>
                    <a:p>
                      <a:pPr algn="ctr" rtl="0" fontAlgn="ctr">
                        <a:buNone/>
                      </a:pPr>
                      <a:r>
                        <a:rPr lang="en-IN" sz="1400" b="0" u="none" strike="noStrike">
                          <a:solidFill>
                            <a:srgbClr val="000000"/>
                          </a:solidFill>
                          <a:effectLst/>
                        </a:rPr>
                        <a:t>Walking</a:t>
                      </a:r>
                      <a:endParaRPr lang="en-IN" sz="14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0.8333</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0.9700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400" b="0" u="none" strike="noStrike" dirty="0">
                          <a:solidFill>
                            <a:srgbClr val="000000"/>
                          </a:solidFill>
                          <a:effectLst/>
                        </a:rPr>
                        <a:t>1.0000</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rtl="0" fontAlgn="ctr">
                        <a:buNone/>
                      </a:pPr>
                      <a:r>
                        <a:rPr lang="en-IN" sz="1400" b="0" u="none" strike="noStrike" dirty="0">
                          <a:solidFill>
                            <a:srgbClr val="000000"/>
                          </a:solidFill>
                          <a:effectLst/>
                        </a:rPr>
                        <a:t>0.9971</a:t>
                      </a:r>
                      <a:endParaRPr lang="en-IN"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283692192"/>
                  </a:ext>
                </a:extLst>
              </a:tr>
            </a:tbl>
          </a:graphicData>
        </a:graphic>
      </p:graphicFrame>
    </p:spTree>
    <p:extLst>
      <p:ext uri="{BB962C8B-B14F-4D97-AF65-F5344CB8AC3E}">
        <p14:creationId xmlns:p14="http://schemas.microsoft.com/office/powerpoint/2010/main" val="888711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BD7D3-B9A0-0F5C-9A19-6A681C7DDADE}"/>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A056C29-86C9-7293-F2D4-2C0BF666C5F3}"/>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Comparison</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9725ED-2363-B3CB-D65D-E5516F658EFF}"/>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D0EF6B22-B355-B85F-A9D0-FEC737E4260F}"/>
              </a:ext>
            </a:extLst>
          </p:cNvPr>
          <p:cNvGrpSpPr/>
          <p:nvPr/>
        </p:nvGrpSpPr>
        <p:grpSpPr>
          <a:xfrm>
            <a:off x="0" y="6470121"/>
            <a:ext cx="12191765" cy="345448"/>
            <a:chOff x="0" y="3346348"/>
            <a:chExt cx="4608106" cy="109855"/>
          </a:xfrm>
        </p:grpSpPr>
        <p:sp>
          <p:nvSpPr>
            <p:cNvPr id="5" name="object 18">
              <a:extLst>
                <a:ext uri="{FF2B5EF4-FFF2-40B4-BE49-F238E27FC236}">
                  <a16:creationId xmlns:a16="http://schemas.microsoft.com/office/drawing/2014/main" id="{8EC1457E-ADA7-D4F7-A384-85DE17CB56AD}"/>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FDF8B1E3-0446-1D3B-8B24-619C8912A19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C5629689-BE17-F791-A41D-2E4402D290C5}"/>
                </a:ext>
              </a:extLst>
            </p:cNvPr>
            <p:cNvSpPr/>
            <p:nvPr/>
          </p:nvSpPr>
          <p:spPr>
            <a:xfrm>
              <a:off x="3072041"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21/30</a:t>
              </a:r>
              <a:endParaRPr dirty="0"/>
            </a:p>
          </p:txBody>
        </p:sp>
      </p:grpSp>
      <p:sp>
        <p:nvSpPr>
          <p:cNvPr id="9" name="object 19">
            <a:extLst>
              <a:ext uri="{FF2B5EF4-FFF2-40B4-BE49-F238E27FC236}">
                <a16:creationId xmlns:a16="http://schemas.microsoft.com/office/drawing/2014/main" id="{B7BF6386-437E-690D-E239-912CB2522C23}"/>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pic>
        <p:nvPicPr>
          <p:cNvPr id="10" name="Google Shape;97;p14">
            <a:extLst>
              <a:ext uri="{FF2B5EF4-FFF2-40B4-BE49-F238E27FC236}">
                <a16:creationId xmlns:a16="http://schemas.microsoft.com/office/drawing/2014/main" id="{D2AC535D-E1AB-F8E1-0456-7DF79EA2726A}"/>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graphicFrame>
        <p:nvGraphicFramePr>
          <p:cNvPr id="12" name="Table 11">
            <a:extLst>
              <a:ext uri="{FF2B5EF4-FFF2-40B4-BE49-F238E27FC236}">
                <a16:creationId xmlns:a16="http://schemas.microsoft.com/office/drawing/2014/main" id="{EA13F258-5B78-6D9A-012E-226739B9C488}"/>
              </a:ext>
            </a:extLst>
          </p:cNvPr>
          <p:cNvGraphicFramePr>
            <a:graphicFrameLocks noGrp="1"/>
          </p:cNvGraphicFramePr>
          <p:nvPr>
            <p:extLst>
              <p:ext uri="{D42A27DB-BD31-4B8C-83A1-F6EECF244321}">
                <p14:modId xmlns:p14="http://schemas.microsoft.com/office/powerpoint/2010/main" val="1249162522"/>
              </p:ext>
            </p:extLst>
          </p:nvPr>
        </p:nvGraphicFramePr>
        <p:xfrm>
          <a:off x="497445" y="1153972"/>
          <a:ext cx="10515603" cy="2164080"/>
        </p:xfrm>
        <a:graphic>
          <a:graphicData uri="http://schemas.openxmlformats.org/drawingml/2006/table">
            <a:tbl>
              <a:tblPr/>
              <a:tblGrid>
                <a:gridCol w="1502229">
                  <a:extLst>
                    <a:ext uri="{9D8B030D-6E8A-4147-A177-3AD203B41FA5}">
                      <a16:colId xmlns:a16="http://schemas.microsoft.com/office/drawing/2014/main" val="3807800342"/>
                    </a:ext>
                  </a:extLst>
                </a:gridCol>
                <a:gridCol w="1502229">
                  <a:extLst>
                    <a:ext uri="{9D8B030D-6E8A-4147-A177-3AD203B41FA5}">
                      <a16:colId xmlns:a16="http://schemas.microsoft.com/office/drawing/2014/main" val="2859664045"/>
                    </a:ext>
                  </a:extLst>
                </a:gridCol>
                <a:gridCol w="1502229">
                  <a:extLst>
                    <a:ext uri="{9D8B030D-6E8A-4147-A177-3AD203B41FA5}">
                      <a16:colId xmlns:a16="http://schemas.microsoft.com/office/drawing/2014/main" val="848835103"/>
                    </a:ext>
                  </a:extLst>
                </a:gridCol>
                <a:gridCol w="1502229">
                  <a:extLst>
                    <a:ext uri="{9D8B030D-6E8A-4147-A177-3AD203B41FA5}">
                      <a16:colId xmlns:a16="http://schemas.microsoft.com/office/drawing/2014/main" val="2754493910"/>
                    </a:ext>
                  </a:extLst>
                </a:gridCol>
                <a:gridCol w="1502229">
                  <a:extLst>
                    <a:ext uri="{9D8B030D-6E8A-4147-A177-3AD203B41FA5}">
                      <a16:colId xmlns:a16="http://schemas.microsoft.com/office/drawing/2014/main" val="1876569640"/>
                    </a:ext>
                  </a:extLst>
                </a:gridCol>
                <a:gridCol w="1502229">
                  <a:extLst>
                    <a:ext uri="{9D8B030D-6E8A-4147-A177-3AD203B41FA5}">
                      <a16:colId xmlns:a16="http://schemas.microsoft.com/office/drawing/2014/main" val="17690054"/>
                    </a:ext>
                  </a:extLst>
                </a:gridCol>
                <a:gridCol w="1502229">
                  <a:extLst>
                    <a:ext uri="{9D8B030D-6E8A-4147-A177-3AD203B41FA5}">
                      <a16:colId xmlns:a16="http://schemas.microsoft.com/office/drawing/2014/main" val="1695417567"/>
                    </a:ext>
                  </a:extLst>
                </a:gridCol>
              </a:tblGrid>
              <a:tr h="731520">
                <a:tc>
                  <a:txBody>
                    <a:bodyPr/>
                    <a:lstStyle/>
                    <a:p>
                      <a:pPr>
                        <a:buNone/>
                      </a:pPr>
                      <a:r>
                        <a:rPr lang="en-IN" sz="1400"/>
                        <a:t>Model</a:t>
                      </a:r>
                    </a:p>
                  </a:txBody>
                  <a:tcPr anchor="ctr">
                    <a:lnL>
                      <a:noFill/>
                    </a:lnL>
                    <a:lnR>
                      <a:noFill/>
                    </a:lnR>
                    <a:lnT>
                      <a:noFill/>
                    </a:lnT>
                    <a:lnB>
                      <a:noFill/>
                    </a:lnB>
                    <a:noFill/>
                  </a:tcPr>
                </a:tc>
                <a:tc>
                  <a:txBody>
                    <a:bodyPr/>
                    <a:lstStyle/>
                    <a:p>
                      <a:pPr>
                        <a:buNone/>
                      </a:pPr>
                      <a:r>
                        <a:rPr lang="en-IN" sz="1400"/>
                        <a:t>Test Accuracy</a:t>
                      </a:r>
                    </a:p>
                  </a:txBody>
                  <a:tcPr anchor="ctr">
                    <a:lnL>
                      <a:noFill/>
                    </a:lnL>
                    <a:lnR>
                      <a:noFill/>
                    </a:lnR>
                    <a:lnT>
                      <a:noFill/>
                    </a:lnT>
                    <a:lnB>
                      <a:noFill/>
                    </a:lnB>
                    <a:noFill/>
                  </a:tcPr>
                </a:tc>
                <a:tc>
                  <a:txBody>
                    <a:bodyPr/>
                    <a:lstStyle/>
                    <a:p>
                      <a:pPr>
                        <a:buNone/>
                      </a:pPr>
                      <a:r>
                        <a:rPr lang="en-IN" sz="1400"/>
                        <a:t>Macro Precision</a:t>
                      </a:r>
                    </a:p>
                  </a:txBody>
                  <a:tcPr anchor="ctr">
                    <a:lnL>
                      <a:noFill/>
                    </a:lnL>
                    <a:lnR>
                      <a:noFill/>
                    </a:lnR>
                    <a:lnT>
                      <a:noFill/>
                    </a:lnT>
                    <a:lnB>
                      <a:noFill/>
                    </a:lnB>
                    <a:noFill/>
                  </a:tcPr>
                </a:tc>
                <a:tc>
                  <a:txBody>
                    <a:bodyPr/>
                    <a:lstStyle/>
                    <a:p>
                      <a:pPr>
                        <a:buNone/>
                      </a:pPr>
                      <a:r>
                        <a:rPr lang="en-IN" sz="1400"/>
                        <a:t>Macro Recall</a:t>
                      </a:r>
                    </a:p>
                  </a:txBody>
                  <a:tcPr anchor="ctr">
                    <a:lnL>
                      <a:noFill/>
                    </a:lnL>
                    <a:lnR>
                      <a:noFill/>
                    </a:lnR>
                    <a:lnT>
                      <a:noFill/>
                    </a:lnT>
                    <a:lnB>
                      <a:noFill/>
                    </a:lnB>
                    <a:noFill/>
                  </a:tcPr>
                </a:tc>
                <a:tc>
                  <a:txBody>
                    <a:bodyPr/>
                    <a:lstStyle/>
                    <a:p>
                      <a:pPr>
                        <a:buNone/>
                      </a:pPr>
                      <a:r>
                        <a:rPr lang="en-IN" sz="1400"/>
                        <a:t>Macro F1-Score</a:t>
                      </a:r>
                    </a:p>
                  </a:txBody>
                  <a:tcPr anchor="ctr">
                    <a:lnL>
                      <a:noFill/>
                    </a:lnL>
                    <a:lnR>
                      <a:noFill/>
                    </a:lnR>
                    <a:lnT>
                      <a:noFill/>
                    </a:lnT>
                    <a:lnB>
                      <a:noFill/>
                    </a:lnB>
                    <a:noFill/>
                  </a:tcPr>
                </a:tc>
                <a:tc>
                  <a:txBody>
                    <a:bodyPr/>
                    <a:lstStyle/>
                    <a:p>
                      <a:pPr>
                        <a:buNone/>
                      </a:pPr>
                      <a:r>
                        <a:rPr lang="en-IN" sz="1400"/>
                        <a:t>Model Size</a:t>
                      </a:r>
                    </a:p>
                  </a:txBody>
                  <a:tcPr anchor="ctr">
                    <a:lnL>
                      <a:noFill/>
                    </a:lnL>
                    <a:lnR>
                      <a:noFill/>
                    </a:lnR>
                    <a:lnT>
                      <a:noFill/>
                    </a:lnT>
                    <a:lnB>
                      <a:noFill/>
                    </a:lnB>
                    <a:noFill/>
                  </a:tcPr>
                </a:tc>
                <a:tc>
                  <a:txBody>
                    <a:bodyPr/>
                    <a:lstStyle/>
                    <a:p>
                      <a:pPr>
                        <a:buNone/>
                      </a:pPr>
                      <a:r>
                        <a:rPr lang="en-US" sz="1400"/>
                        <a:t>Avg Inference Time per Sample</a:t>
                      </a:r>
                    </a:p>
                  </a:txBody>
                  <a:tcPr anchor="ctr">
                    <a:lnL>
                      <a:noFill/>
                    </a:lnL>
                    <a:lnR>
                      <a:noFill/>
                    </a:lnR>
                    <a:lnT>
                      <a:noFill/>
                    </a:lnT>
                    <a:lnB>
                      <a:noFill/>
                    </a:lnB>
                    <a:noFill/>
                  </a:tcPr>
                </a:tc>
                <a:extLst>
                  <a:ext uri="{0D108BD9-81ED-4DB2-BD59-A6C34878D82A}">
                    <a16:rowId xmlns:a16="http://schemas.microsoft.com/office/drawing/2014/main" val="3339355786"/>
                  </a:ext>
                </a:extLst>
              </a:tr>
              <a:tr h="304800">
                <a:tc>
                  <a:txBody>
                    <a:bodyPr/>
                    <a:lstStyle/>
                    <a:p>
                      <a:pPr>
                        <a:buNone/>
                      </a:pPr>
                      <a:r>
                        <a:rPr lang="en-IN" sz="1400" b="1"/>
                        <a:t>LSTM</a:t>
                      </a:r>
                      <a:endParaRPr lang="en-IN" sz="1400"/>
                    </a:p>
                  </a:txBody>
                  <a:tcPr anchor="ctr">
                    <a:lnL>
                      <a:noFill/>
                    </a:lnL>
                    <a:lnR>
                      <a:noFill/>
                    </a:lnR>
                    <a:lnT>
                      <a:noFill/>
                    </a:lnT>
                    <a:lnB>
                      <a:noFill/>
                    </a:lnB>
                    <a:noFill/>
                  </a:tcPr>
                </a:tc>
                <a:tc>
                  <a:txBody>
                    <a:bodyPr/>
                    <a:lstStyle/>
                    <a:p>
                      <a:pPr>
                        <a:buNone/>
                      </a:pPr>
                      <a:r>
                        <a:rPr lang="en-IN" sz="1400" b="1"/>
                        <a:t>76.19%</a:t>
                      </a:r>
                      <a:endParaRPr lang="en-IN" sz="1400"/>
                    </a:p>
                  </a:txBody>
                  <a:tcPr anchor="ctr">
                    <a:lnL>
                      <a:noFill/>
                    </a:lnL>
                    <a:lnR>
                      <a:noFill/>
                    </a:lnR>
                    <a:lnT>
                      <a:noFill/>
                    </a:lnT>
                    <a:lnB>
                      <a:noFill/>
                    </a:lnB>
                    <a:noFill/>
                  </a:tcPr>
                </a:tc>
                <a:tc>
                  <a:txBody>
                    <a:bodyPr/>
                    <a:lstStyle/>
                    <a:p>
                      <a:pPr>
                        <a:buNone/>
                      </a:pPr>
                      <a:r>
                        <a:rPr lang="en-IN" sz="1400"/>
                        <a:t>0.7568</a:t>
                      </a:r>
                    </a:p>
                  </a:txBody>
                  <a:tcPr anchor="ctr">
                    <a:lnL>
                      <a:noFill/>
                    </a:lnL>
                    <a:lnR>
                      <a:noFill/>
                    </a:lnR>
                    <a:lnT>
                      <a:noFill/>
                    </a:lnT>
                    <a:lnB>
                      <a:noFill/>
                    </a:lnB>
                    <a:noFill/>
                  </a:tcPr>
                </a:tc>
                <a:tc>
                  <a:txBody>
                    <a:bodyPr/>
                    <a:lstStyle/>
                    <a:p>
                      <a:pPr>
                        <a:buNone/>
                      </a:pPr>
                      <a:r>
                        <a:rPr lang="en-IN" sz="1400"/>
                        <a:t>0.7619</a:t>
                      </a:r>
                    </a:p>
                  </a:txBody>
                  <a:tcPr anchor="ctr">
                    <a:lnL>
                      <a:noFill/>
                    </a:lnL>
                    <a:lnR>
                      <a:noFill/>
                    </a:lnR>
                    <a:lnT>
                      <a:noFill/>
                    </a:lnT>
                    <a:lnB>
                      <a:noFill/>
                    </a:lnB>
                    <a:noFill/>
                  </a:tcPr>
                </a:tc>
                <a:tc>
                  <a:txBody>
                    <a:bodyPr/>
                    <a:lstStyle/>
                    <a:p>
                      <a:pPr>
                        <a:buNone/>
                      </a:pPr>
                      <a:r>
                        <a:rPr lang="en-IN" sz="1400"/>
                        <a:t>0.7527</a:t>
                      </a:r>
                    </a:p>
                  </a:txBody>
                  <a:tcPr anchor="ctr">
                    <a:lnL>
                      <a:noFill/>
                    </a:lnL>
                    <a:lnR>
                      <a:noFill/>
                    </a:lnR>
                    <a:lnT>
                      <a:noFill/>
                    </a:lnT>
                    <a:lnB>
                      <a:noFill/>
                    </a:lnB>
                    <a:noFill/>
                  </a:tcPr>
                </a:tc>
                <a:tc>
                  <a:txBody>
                    <a:bodyPr/>
                    <a:lstStyle/>
                    <a:p>
                      <a:pPr>
                        <a:buNone/>
                      </a:pPr>
                      <a:r>
                        <a:rPr lang="en-IN" sz="1400" b="1"/>
                        <a:t>1.86 MB</a:t>
                      </a:r>
                      <a:endParaRPr lang="en-IN" sz="1400"/>
                    </a:p>
                  </a:txBody>
                  <a:tcPr anchor="ctr">
                    <a:lnL>
                      <a:noFill/>
                    </a:lnL>
                    <a:lnR>
                      <a:noFill/>
                    </a:lnR>
                    <a:lnT>
                      <a:noFill/>
                    </a:lnT>
                    <a:lnB>
                      <a:noFill/>
                    </a:lnB>
                    <a:noFill/>
                  </a:tcPr>
                </a:tc>
                <a:tc>
                  <a:txBody>
                    <a:bodyPr/>
                    <a:lstStyle/>
                    <a:p>
                      <a:pPr>
                        <a:buNone/>
                      </a:pPr>
                      <a:r>
                        <a:rPr lang="en-IN" sz="1400" b="1"/>
                        <a:t>31.01 ms</a:t>
                      </a:r>
                      <a:endParaRPr lang="en-IN" sz="1400"/>
                    </a:p>
                  </a:txBody>
                  <a:tcPr anchor="ctr">
                    <a:lnL>
                      <a:noFill/>
                    </a:lnL>
                    <a:lnR>
                      <a:noFill/>
                    </a:lnR>
                    <a:lnT>
                      <a:noFill/>
                    </a:lnT>
                    <a:lnB>
                      <a:noFill/>
                    </a:lnB>
                    <a:noFill/>
                  </a:tcPr>
                </a:tc>
                <a:extLst>
                  <a:ext uri="{0D108BD9-81ED-4DB2-BD59-A6C34878D82A}">
                    <a16:rowId xmlns:a16="http://schemas.microsoft.com/office/drawing/2014/main" val="4122507044"/>
                  </a:ext>
                </a:extLst>
              </a:tr>
              <a:tr h="304800">
                <a:tc>
                  <a:txBody>
                    <a:bodyPr/>
                    <a:lstStyle/>
                    <a:p>
                      <a:pPr>
                        <a:buNone/>
                      </a:pPr>
                      <a:r>
                        <a:rPr lang="en-IN" sz="1400" b="1"/>
                        <a:t>BiLSTM</a:t>
                      </a:r>
                      <a:endParaRPr lang="en-IN" sz="1400"/>
                    </a:p>
                  </a:txBody>
                  <a:tcPr anchor="ctr">
                    <a:lnL>
                      <a:noFill/>
                    </a:lnL>
                    <a:lnR>
                      <a:noFill/>
                    </a:lnR>
                    <a:lnT>
                      <a:noFill/>
                    </a:lnT>
                    <a:lnB>
                      <a:noFill/>
                    </a:lnB>
                    <a:noFill/>
                  </a:tcPr>
                </a:tc>
                <a:tc>
                  <a:txBody>
                    <a:bodyPr/>
                    <a:lstStyle/>
                    <a:p>
                      <a:pPr>
                        <a:buNone/>
                      </a:pPr>
                      <a:r>
                        <a:rPr lang="en-IN" sz="1400" b="1"/>
                        <a:t>88.10%</a:t>
                      </a:r>
                      <a:endParaRPr lang="en-IN" sz="1400"/>
                    </a:p>
                  </a:txBody>
                  <a:tcPr anchor="ctr">
                    <a:lnL>
                      <a:noFill/>
                    </a:lnL>
                    <a:lnR>
                      <a:noFill/>
                    </a:lnR>
                    <a:lnT>
                      <a:noFill/>
                    </a:lnT>
                    <a:lnB>
                      <a:noFill/>
                    </a:lnB>
                    <a:noFill/>
                  </a:tcPr>
                </a:tc>
                <a:tc>
                  <a:txBody>
                    <a:bodyPr/>
                    <a:lstStyle/>
                    <a:p>
                      <a:pPr>
                        <a:buNone/>
                      </a:pPr>
                      <a:r>
                        <a:rPr lang="en-IN" sz="1400"/>
                        <a:t>0.89</a:t>
                      </a:r>
                    </a:p>
                  </a:txBody>
                  <a:tcPr anchor="ctr">
                    <a:lnL>
                      <a:noFill/>
                    </a:lnL>
                    <a:lnR>
                      <a:noFill/>
                    </a:lnR>
                    <a:lnT>
                      <a:noFill/>
                    </a:lnT>
                    <a:lnB>
                      <a:noFill/>
                    </a:lnB>
                    <a:noFill/>
                  </a:tcPr>
                </a:tc>
                <a:tc>
                  <a:txBody>
                    <a:bodyPr/>
                    <a:lstStyle/>
                    <a:p>
                      <a:pPr>
                        <a:buNone/>
                      </a:pPr>
                      <a:r>
                        <a:rPr lang="en-IN" sz="1400"/>
                        <a:t>0.88</a:t>
                      </a:r>
                    </a:p>
                  </a:txBody>
                  <a:tcPr anchor="ctr">
                    <a:lnL>
                      <a:noFill/>
                    </a:lnL>
                    <a:lnR>
                      <a:noFill/>
                    </a:lnR>
                    <a:lnT>
                      <a:noFill/>
                    </a:lnT>
                    <a:lnB>
                      <a:noFill/>
                    </a:lnB>
                    <a:noFill/>
                  </a:tcPr>
                </a:tc>
                <a:tc>
                  <a:txBody>
                    <a:bodyPr/>
                    <a:lstStyle/>
                    <a:p>
                      <a:pPr>
                        <a:buNone/>
                      </a:pPr>
                      <a:r>
                        <a:rPr lang="en-IN" sz="1400"/>
                        <a:t>0.87</a:t>
                      </a:r>
                    </a:p>
                  </a:txBody>
                  <a:tcPr anchor="ctr">
                    <a:lnL>
                      <a:noFill/>
                    </a:lnL>
                    <a:lnR>
                      <a:noFill/>
                    </a:lnR>
                    <a:lnT>
                      <a:noFill/>
                    </a:lnT>
                    <a:lnB>
                      <a:noFill/>
                    </a:lnB>
                    <a:noFill/>
                  </a:tcPr>
                </a:tc>
                <a:tc>
                  <a:txBody>
                    <a:bodyPr/>
                    <a:lstStyle/>
                    <a:p>
                      <a:pPr>
                        <a:buNone/>
                      </a:pPr>
                      <a:r>
                        <a:rPr lang="en-IN" sz="1400" b="1"/>
                        <a:t>1.43 MB</a:t>
                      </a:r>
                      <a:endParaRPr lang="en-IN" sz="1400"/>
                    </a:p>
                  </a:txBody>
                  <a:tcPr anchor="ctr">
                    <a:lnL>
                      <a:noFill/>
                    </a:lnL>
                    <a:lnR>
                      <a:noFill/>
                    </a:lnR>
                    <a:lnT>
                      <a:noFill/>
                    </a:lnT>
                    <a:lnB>
                      <a:noFill/>
                    </a:lnB>
                    <a:noFill/>
                  </a:tcPr>
                </a:tc>
                <a:tc>
                  <a:txBody>
                    <a:bodyPr/>
                    <a:lstStyle/>
                    <a:p>
                      <a:pPr>
                        <a:buNone/>
                      </a:pPr>
                      <a:r>
                        <a:rPr lang="en-IN" sz="1400" b="1"/>
                        <a:t>27.03 ms</a:t>
                      </a:r>
                      <a:endParaRPr lang="en-IN" sz="1400"/>
                    </a:p>
                  </a:txBody>
                  <a:tcPr anchor="ctr">
                    <a:lnL>
                      <a:noFill/>
                    </a:lnL>
                    <a:lnR>
                      <a:noFill/>
                    </a:lnR>
                    <a:lnT>
                      <a:noFill/>
                    </a:lnT>
                    <a:lnB>
                      <a:noFill/>
                    </a:lnB>
                    <a:noFill/>
                  </a:tcPr>
                </a:tc>
                <a:extLst>
                  <a:ext uri="{0D108BD9-81ED-4DB2-BD59-A6C34878D82A}">
                    <a16:rowId xmlns:a16="http://schemas.microsoft.com/office/drawing/2014/main" val="2188487179"/>
                  </a:ext>
                </a:extLst>
              </a:tr>
              <a:tr h="304800">
                <a:tc>
                  <a:txBody>
                    <a:bodyPr/>
                    <a:lstStyle/>
                    <a:p>
                      <a:pPr>
                        <a:buNone/>
                      </a:pPr>
                      <a:r>
                        <a:rPr lang="en-IN" sz="1400" b="1"/>
                        <a:t>GRS-BiLSTM</a:t>
                      </a:r>
                      <a:endParaRPr lang="en-IN" sz="1400"/>
                    </a:p>
                  </a:txBody>
                  <a:tcPr anchor="ctr">
                    <a:lnL>
                      <a:noFill/>
                    </a:lnL>
                    <a:lnR>
                      <a:noFill/>
                    </a:lnR>
                    <a:lnT>
                      <a:noFill/>
                    </a:lnT>
                    <a:lnB>
                      <a:noFill/>
                    </a:lnB>
                    <a:noFill/>
                  </a:tcPr>
                </a:tc>
                <a:tc>
                  <a:txBody>
                    <a:bodyPr/>
                    <a:lstStyle/>
                    <a:p>
                      <a:pPr>
                        <a:buNone/>
                      </a:pPr>
                      <a:r>
                        <a:rPr lang="en-IN" sz="1400" b="1"/>
                        <a:t>93.33%</a:t>
                      </a:r>
                      <a:endParaRPr lang="en-IN" sz="1400"/>
                    </a:p>
                  </a:txBody>
                  <a:tcPr anchor="ctr">
                    <a:lnL>
                      <a:noFill/>
                    </a:lnL>
                    <a:lnR>
                      <a:noFill/>
                    </a:lnR>
                    <a:lnT>
                      <a:noFill/>
                    </a:lnT>
                    <a:lnB>
                      <a:noFill/>
                    </a:lnB>
                    <a:noFill/>
                  </a:tcPr>
                </a:tc>
                <a:tc>
                  <a:txBody>
                    <a:bodyPr/>
                    <a:lstStyle/>
                    <a:p>
                      <a:pPr>
                        <a:buNone/>
                      </a:pPr>
                      <a:r>
                        <a:rPr lang="en-IN" sz="1400"/>
                        <a:t>0.94</a:t>
                      </a:r>
                    </a:p>
                  </a:txBody>
                  <a:tcPr anchor="ctr">
                    <a:lnL>
                      <a:noFill/>
                    </a:lnL>
                    <a:lnR>
                      <a:noFill/>
                    </a:lnR>
                    <a:lnT>
                      <a:noFill/>
                    </a:lnT>
                    <a:lnB>
                      <a:noFill/>
                    </a:lnB>
                    <a:noFill/>
                  </a:tcPr>
                </a:tc>
                <a:tc>
                  <a:txBody>
                    <a:bodyPr/>
                    <a:lstStyle/>
                    <a:p>
                      <a:pPr>
                        <a:buNone/>
                      </a:pPr>
                      <a:r>
                        <a:rPr lang="en-IN" sz="1400"/>
                        <a:t>0.93</a:t>
                      </a:r>
                    </a:p>
                  </a:txBody>
                  <a:tcPr anchor="ctr">
                    <a:lnL>
                      <a:noFill/>
                    </a:lnL>
                    <a:lnR>
                      <a:noFill/>
                    </a:lnR>
                    <a:lnT>
                      <a:noFill/>
                    </a:lnT>
                    <a:lnB>
                      <a:noFill/>
                    </a:lnB>
                    <a:noFill/>
                  </a:tcPr>
                </a:tc>
                <a:tc>
                  <a:txBody>
                    <a:bodyPr/>
                    <a:lstStyle/>
                    <a:p>
                      <a:pPr>
                        <a:buNone/>
                      </a:pPr>
                      <a:r>
                        <a:rPr lang="en-IN" sz="1400" dirty="0"/>
                        <a:t>0.93</a:t>
                      </a:r>
                    </a:p>
                  </a:txBody>
                  <a:tcPr anchor="ctr">
                    <a:lnL>
                      <a:noFill/>
                    </a:lnL>
                    <a:lnR>
                      <a:noFill/>
                    </a:lnR>
                    <a:lnT>
                      <a:noFill/>
                    </a:lnT>
                    <a:lnB>
                      <a:noFill/>
                    </a:lnB>
                    <a:noFill/>
                  </a:tcPr>
                </a:tc>
                <a:tc>
                  <a:txBody>
                    <a:bodyPr/>
                    <a:lstStyle/>
                    <a:p>
                      <a:pPr>
                        <a:buNone/>
                      </a:pPr>
                      <a:r>
                        <a:rPr lang="en-IN" sz="1400" b="1"/>
                        <a:t>22.56 MB</a:t>
                      </a:r>
                      <a:endParaRPr lang="en-IN" sz="1400"/>
                    </a:p>
                  </a:txBody>
                  <a:tcPr anchor="ctr">
                    <a:lnL>
                      <a:noFill/>
                    </a:lnL>
                    <a:lnR>
                      <a:noFill/>
                    </a:lnR>
                    <a:lnT>
                      <a:noFill/>
                    </a:lnT>
                    <a:lnB>
                      <a:noFill/>
                    </a:lnB>
                    <a:noFill/>
                  </a:tcPr>
                </a:tc>
                <a:tc>
                  <a:txBody>
                    <a:bodyPr/>
                    <a:lstStyle/>
                    <a:p>
                      <a:pPr>
                        <a:buNone/>
                      </a:pPr>
                      <a:r>
                        <a:rPr lang="en-IN" sz="1400" b="1"/>
                        <a:t>31.86 ms</a:t>
                      </a:r>
                      <a:endParaRPr lang="en-IN" sz="1400"/>
                    </a:p>
                  </a:txBody>
                  <a:tcPr anchor="ctr">
                    <a:lnL>
                      <a:noFill/>
                    </a:lnL>
                    <a:lnR>
                      <a:noFill/>
                    </a:lnR>
                    <a:lnT>
                      <a:noFill/>
                    </a:lnT>
                    <a:lnB>
                      <a:noFill/>
                    </a:lnB>
                    <a:noFill/>
                  </a:tcPr>
                </a:tc>
                <a:extLst>
                  <a:ext uri="{0D108BD9-81ED-4DB2-BD59-A6C34878D82A}">
                    <a16:rowId xmlns:a16="http://schemas.microsoft.com/office/drawing/2014/main" val="4177892918"/>
                  </a:ext>
                </a:extLst>
              </a:tr>
              <a:tr h="518160">
                <a:tc>
                  <a:txBody>
                    <a:bodyPr/>
                    <a:lstStyle/>
                    <a:p>
                      <a:pPr>
                        <a:buNone/>
                      </a:pPr>
                      <a:r>
                        <a:rPr lang="en-IN" sz="1400" b="1"/>
                        <a:t>MS-GRS-BiLSTM</a:t>
                      </a:r>
                      <a:endParaRPr lang="en-IN" sz="1400"/>
                    </a:p>
                  </a:txBody>
                  <a:tcPr anchor="ctr">
                    <a:lnL>
                      <a:noFill/>
                    </a:lnL>
                    <a:lnR>
                      <a:noFill/>
                    </a:lnR>
                    <a:lnT>
                      <a:noFill/>
                    </a:lnT>
                    <a:lnB>
                      <a:noFill/>
                    </a:lnB>
                    <a:noFill/>
                  </a:tcPr>
                </a:tc>
                <a:tc>
                  <a:txBody>
                    <a:bodyPr/>
                    <a:lstStyle/>
                    <a:p>
                      <a:pPr>
                        <a:buNone/>
                      </a:pPr>
                      <a:r>
                        <a:rPr lang="en-IN" sz="1400" b="1"/>
                        <a:t>98.35%</a:t>
                      </a:r>
                      <a:endParaRPr lang="en-IN" sz="1400"/>
                    </a:p>
                  </a:txBody>
                  <a:tcPr anchor="ctr">
                    <a:lnL>
                      <a:noFill/>
                    </a:lnL>
                    <a:lnR>
                      <a:noFill/>
                    </a:lnR>
                    <a:lnT>
                      <a:noFill/>
                    </a:lnT>
                    <a:lnB>
                      <a:noFill/>
                    </a:lnB>
                    <a:noFill/>
                  </a:tcPr>
                </a:tc>
                <a:tc>
                  <a:txBody>
                    <a:bodyPr/>
                    <a:lstStyle/>
                    <a:p>
                      <a:pPr>
                        <a:buNone/>
                      </a:pPr>
                      <a:r>
                        <a:rPr lang="en-IN" sz="1400"/>
                        <a:t>0.9836</a:t>
                      </a:r>
                    </a:p>
                  </a:txBody>
                  <a:tcPr anchor="ctr">
                    <a:lnL>
                      <a:noFill/>
                    </a:lnL>
                    <a:lnR>
                      <a:noFill/>
                    </a:lnR>
                    <a:lnT>
                      <a:noFill/>
                    </a:lnT>
                    <a:lnB>
                      <a:noFill/>
                    </a:lnB>
                    <a:noFill/>
                  </a:tcPr>
                </a:tc>
                <a:tc>
                  <a:txBody>
                    <a:bodyPr/>
                    <a:lstStyle/>
                    <a:p>
                      <a:pPr>
                        <a:buNone/>
                      </a:pPr>
                      <a:r>
                        <a:rPr lang="en-IN" sz="1400"/>
                        <a:t>0.9833</a:t>
                      </a:r>
                    </a:p>
                  </a:txBody>
                  <a:tcPr anchor="ctr">
                    <a:lnL>
                      <a:noFill/>
                    </a:lnL>
                    <a:lnR>
                      <a:noFill/>
                    </a:lnR>
                    <a:lnT>
                      <a:noFill/>
                    </a:lnT>
                    <a:lnB>
                      <a:noFill/>
                    </a:lnB>
                    <a:noFill/>
                  </a:tcPr>
                </a:tc>
                <a:tc>
                  <a:txBody>
                    <a:bodyPr/>
                    <a:lstStyle/>
                    <a:p>
                      <a:pPr>
                        <a:buNone/>
                      </a:pPr>
                      <a:r>
                        <a:rPr lang="en-IN" sz="1400"/>
                        <a:t>0.9834</a:t>
                      </a:r>
                    </a:p>
                  </a:txBody>
                  <a:tcPr anchor="ctr">
                    <a:lnL>
                      <a:noFill/>
                    </a:lnL>
                    <a:lnR>
                      <a:noFill/>
                    </a:lnR>
                    <a:lnT>
                      <a:noFill/>
                    </a:lnT>
                    <a:lnB>
                      <a:noFill/>
                    </a:lnB>
                    <a:noFill/>
                  </a:tcPr>
                </a:tc>
                <a:tc>
                  <a:txBody>
                    <a:bodyPr/>
                    <a:lstStyle/>
                    <a:p>
                      <a:pPr>
                        <a:buNone/>
                      </a:pPr>
                      <a:r>
                        <a:rPr lang="en-IN" sz="1400" b="1"/>
                        <a:t>6.82 MB</a:t>
                      </a:r>
                      <a:endParaRPr lang="en-IN" sz="1400"/>
                    </a:p>
                  </a:txBody>
                  <a:tcPr anchor="ctr">
                    <a:lnL>
                      <a:noFill/>
                    </a:lnL>
                    <a:lnR>
                      <a:noFill/>
                    </a:lnR>
                    <a:lnT>
                      <a:noFill/>
                    </a:lnT>
                    <a:lnB>
                      <a:noFill/>
                    </a:lnB>
                    <a:noFill/>
                  </a:tcPr>
                </a:tc>
                <a:tc>
                  <a:txBody>
                    <a:bodyPr/>
                    <a:lstStyle/>
                    <a:p>
                      <a:pPr>
                        <a:buNone/>
                      </a:pPr>
                      <a:r>
                        <a:rPr lang="en-IN" sz="1400" b="1" dirty="0"/>
                        <a:t>1.857 </a:t>
                      </a:r>
                      <a:r>
                        <a:rPr lang="en-IN" sz="1400" b="1" dirty="0" err="1"/>
                        <a:t>ms</a:t>
                      </a:r>
                      <a:endParaRPr lang="en-IN" sz="1400" dirty="0"/>
                    </a:p>
                  </a:txBody>
                  <a:tcPr anchor="ctr">
                    <a:lnL>
                      <a:noFill/>
                    </a:lnL>
                    <a:lnR>
                      <a:noFill/>
                    </a:lnR>
                    <a:lnT>
                      <a:noFill/>
                    </a:lnT>
                    <a:lnB>
                      <a:noFill/>
                    </a:lnB>
                    <a:noFill/>
                  </a:tcPr>
                </a:tc>
                <a:extLst>
                  <a:ext uri="{0D108BD9-81ED-4DB2-BD59-A6C34878D82A}">
                    <a16:rowId xmlns:a16="http://schemas.microsoft.com/office/drawing/2014/main" val="1384092186"/>
                  </a:ext>
                </a:extLst>
              </a:tr>
            </a:tbl>
          </a:graphicData>
        </a:graphic>
      </p:graphicFrame>
    </p:spTree>
    <p:extLst>
      <p:ext uri="{BB962C8B-B14F-4D97-AF65-F5344CB8AC3E}">
        <p14:creationId xmlns:p14="http://schemas.microsoft.com/office/powerpoint/2010/main" val="2405740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AE1090-BF9B-FBC9-BBFA-47B59D8E7605}"/>
              </a:ext>
            </a:extLst>
          </p:cNvPr>
          <p:cNvPicPr>
            <a:picLocks noChangeAspect="1"/>
          </p:cNvPicPr>
          <p:nvPr/>
        </p:nvPicPr>
        <p:blipFill>
          <a:blip r:embed="rId2"/>
          <a:stretch>
            <a:fillRect/>
          </a:stretch>
        </p:blipFill>
        <p:spPr>
          <a:xfrm>
            <a:off x="0" y="1"/>
            <a:ext cx="8340811" cy="2316892"/>
          </a:xfrm>
          <a:prstGeom prst="rect">
            <a:avLst/>
          </a:prstGeom>
        </p:spPr>
      </p:pic>
      <p:pic>
        <p:nvPicPr>
          <p:cNvPr id="8" name="Picture 7">
            <a:extLst>
              <a:ext uri="{FF2B5EF4-FFF2-40B4-BE49-F238E27FC236}">
                <a16:creationId xmlns:a16="http://schemas.microsoft.com/office/drawing/2014/main" id="{2AC68A3B-C2EB-8BE6-75FC-B481981846CE}"/>
              </a:ext>
            </a:extLst>
          </p:cNvPr>
          <p:cNvPicPr>
            <a:picLocks noChangeAspect="1"/>
          </p:cNvPicPr>
          <p:nvPr/>
        </p:nvPicPr>
        <p:blipFill>
          <a:blip r:embed="rId3"/>
          <a:stretch>
            <a:fillRect/>
          </a:stretch>
        </p:blipFill>
        <p:spPr>
          <a:xfrm>
            <a:off x="3369276" y="2186575"/>
            <a:ext cx="8320224" cy="2311173"/>
          </a:xfrm>
          <a:prstGeom prst="rect">
            <a:avLst/>
          </a:prstGeom>
        </p:spPr>
      </p:pic>
      <p:pic>
        <p:nvPicPr>
          <p:cNvPr id="5" name="Picture 4">
            <a:extLst>
              <a:ext uri="{FF2B5EF4-FFF2-40B4-BE49-F238E27FC236}">
                <a16:creationId xmlns:a16="http://schemas.microsoft.com/office/drawing/2014/main" id="{FC7A3589-9D84-ECCB-BFC8-9BD920E89C50}"/>
              </a:ext>
            </a:extLst>
          </p:cNvPr>
          <p:cNvPicPr>
            <a:picLocks noChangeAspect="1"/>
          </p:cNvPicPr>
          <p:nvPr/>
        </p:nvPicPr>
        <p:blipFill>
          <a:blip r:embed="rId4"/>
          <a:stretch>
            <a:fillRect/>
          </a:stretch>
        </p:blipFill>
        <p:spPr>
          <a:xfrm>
            <a:off x="376878" y="4497748"/>
            <a:ext cx="8340813" cy="2316893"/>
          </a:xfrm>
          <a:prstGeom prst="rect">
            <a:avLst/>
          </a:prstGeom>
        </p:spPr>
      </p:pic>
      <p:sp>
        <p:nvSpPr>
          <p:cNvPr id="2" name="TextBox 1">
            <a:extLst>
              <a:ext uri="{FF2B5EF4-FFF2-40B4-BE49-F238E27FC236}">
                <a16:creationId xmlns:a16="http://schemas.microsoft.com/office/drawing/2014/main" id="{1DAD4707-6CAE-A634-2F77-48529ABE0A82}"/>
              </a:ext>
            </a:extLst>
          </p:cNvPr>
          <p:cNvSpPr txBox="1"/>
          <p:nvPr/>
        </p:nvSpPr>
        <p:spPr>
          <a:xfrm>
            <a:off x="8773297" y="568411"/>
            <a:ext cx="184731" cy="307777"/>
          </a:xfrm>
          <a:prstGeom prst="rect">
            <a:avLst/>
          </a:prstGeom>
          <a:noFill/>
        </p:spPr>
        <p:txBody>
          <a:bodyPr wrap="none" rtlCol="0">
            <a:spAutoFit/>
          </a:bodyPr>
          <a:lstStyle/>
          <a:p>
            <a:endParaRPr lang="en-IN" dirty="0"/>
          </a:p>
        </p:txBody>
      </p:sp>
      <p:sp>
        <p:nvSpPr>
          <p:cNvPr id="10" name="object 20">
            <a:extLst>
              <a:ext uri="{FF2B5EF4-FFF2-40B4-BE49-F238E27FC236}">
                <a16:creationId xmlns:a16="http://schemas.microsoft.com/office/drawing/2014/main" id="{2F4473D7-FFAC-5C00-9740-98D7A1E5BF71}"/>
              </a:ext>
            </a:extLst>
          </p:cNvPr>
          <p:cNvSpPr/>
          <p:nvPr/>
        </p:nvSpPr>
        <p:spPr>
          <a:xfrm>
            <a:off x="8654986" y="6463473"/>
            <a:ext cx="3537014"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22/30</a:t>
            </a:r>
            <a:endParaRPr dirty="0"/>
          </a:p>
        </p:txBody>
      </p:sp>
      <p:pic>
        <p:nvPicPr>
          <p:cNvPr id="6" name="Google Shape;97;p14">
            <a:extLst>
              <a:ext uri="{FF2B5EF4-FFF2-40B4-BE49-F238E27FC236}">
                <a16:creationId xmlns:a16="http://schemas.microsoft.com/office/drawing/2014/main" id="{A7102F04-7FA6-646E-9EB5-007A88C6EDCF}"/>
              </a:ext>
            </a:extLst>
          </p:cNvPr>
          <p:cNvPicPr preferRelativeResize="0"/>
          <p:nvPr/>
        </p:nvPicPr>
        <p:blipFill rotWithShape="1">
          <a:blip r:embed="rId5">
            <a:alphaModFix/>
          </a:blip>
          <a:srcRect/>
          <a:stretch/>
        </p:blipFill>
        <p:spPr>
          <a:xfrm>
            <a:off x="11013048" y="0"/>
            <a:ext cx="1178952" cy="1153972"/>
          </a:xfrm>
          <a:prstGeom prst="rect">
            <a:avLst/>
          </a:prstGeom>
          <a:noFill/>
          <a:ln>
            <a:noFill/>
          </a:ln>
        </p:spPr>
      </p:pic>
      <p:sp>
        <p:nvSpPr>
          <p:cNvPr id="9" name="TextBox 8">
            <a:extLst>
              <a:ext uri="{FF2B5EF4-FFF2-40B4-BE49-F238E27FC236}">
                <a16:creationId xmlns:a16="http://schemas.microsoft.com/office/drawing/2014/main" id="{3EB34FD2-383F-5DF6-5B95-F65683F037E0}"/>
              </a:ext>
            </a:extLst>
          </p:cNvPr>
          <p:cNvSpPr txBox="1"/>
          <p:nvPr/>
        </p:nvSpPr>
        <p:spPr>
          <a:xfrm>
            <a:off x="8544696" y="1351386"/>
            <a:ext cx="2625812" cy="640688"/>
          </a:xfrm>
          <a:prstGeom prst="rect">
            <a:avLst/>
          </a:prstGeom>
          <a:noFill/>
        </p:spPr>
        <p:txBody>
          <a:bodyPr wrap="square">
            <a:spAutoFit/>
          </a:bodyPr>
          <a:lstStyle/>
          <a:p>
            <a:pPr algn="just">
              <a:lnSpc>
                <a:spcPct val="115000"/>
              </a:lnSpc>
              <a:spcAft>
                <a:spcPts val="800"/>
              </a:spcAft>
              <a:buNone/>
            </a:pPr>
            <a:r>
              <a:rPr lang="en-IN" sz="160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Fig.8. Training and testing data of KNN model</a:t>
            </a:r>
            <a:endParaRPr lang="en-IN" sz="1600" b="1"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id="{13D3E58A-DCAC-C937-1484-AA44805C6E54}"/>
              </a:ext>
            </a:extLst>
          </p:cNvPr>
          <p:cNvSpPr txBox="1"/>
          <p:nvPr/>
        </p:nvSpPr>
        <p:spPr>
          <a:xfrm>
            <a:off x="8841828" y="5506614"/>
            <a:ext cx="2625812" cy="640688"/>
          </a:xfrm>
          <a:prstGeom prst="rect">
            <a:avLst/>
          </a:prstGeom>
          <a:noFill/>
        </p:spPr>
        <p:txBody>
          <a:bodyPr wrap="square">
            <a:spAutoFit/>
          </a:bodyPr>
          <a:lstStyle/>
          <a:p>
            <a:pPr algn="just">
              <a:lnSpc>
                <a:spcPct val="115000"/>
              </a:lnSpc>
              <a:spcAft>
                <a:spcPts val="800"/>
              </a:spcAft>
              <a:buNone/>
            </a:pPr>
            <a:r>
              <a:rPr lang="en-IN" sz="160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Fig.10. Training and testing data of RF model</a:t>
            </a:r>
            <a:endParaRPr lang="en-IN" sz="1600" b="1"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TextBox 11">
            <a:extLst>
              <a:ext uri="{FF2B5EF4-FFF2-40B4-BE49-F238E27FC236}">
                <a16:creationId xmlns:a16="http://schemas.microsoft.com/office/drawing/2014/main" id="{548B3179-801B-C6AA-A382-271D90D3D21B}"/>
              </a:ext>
            </a:extLst>
          </p:cNvPr>
          <p:cNvSpPr txBox="1"/>
          <p:nvPr/>
        </p:nvSpPr>
        <p:spPr>
          <a:xfrm>
            <a:off x="502500" y="3429000"/>
            <a:ext cx="2625812" cy="640688"/>
          </a:xfrm>
          <a:prstGeom prst="rect">
            <a:avLst/>
          </a:prstGeom>
          <a:noFill/>
        </p:spPr>
        <p:txBody>
          <a:bodyPr wrap="square">
            <a:spAutoFit/>
          </a:bodyPr>
          <a:lstStyle/>
          <a:p>
            <a:pPr algn="just">
              <a:lnSpc>
                <a:spcPct val="115000"/>
              </a:lnSpc>
              <a:spcAft>
                <a:spcPts val="800"/>
              </a:spcAft>
              <a:buNone/>
            </a:pPr>
            <a:r>
              <a:rPr lang="en-IN" sz="160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Fig.9. Training and testing data of XGBoost model</a:t>
            </a:r>
            <a:endParaRPr lang="en-IN" sz="1600" b="1"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08697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8AE30-F279-6267-0691-25E851CEF7B7}"/>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121E068-2A04-DEE3-E41F-2D726BC696B5}"/>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 Result and Discussion </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C70C505E-6A72-083F-68F8-F31D5E568C3F}"/>
              </a:ext>
            </a:extLst>
          </p:cNvPr>
          <p:cNvGrpSpPr/>
          <p:nvPr/>
        </p:nvGrpSpPr>
        <p:grpSpPr>
          <a:xfrm>
            <a:off x="0" y="6470121"/>
            <a:ext cx="12192000" cy="345448"/>
            <a:chOff x="0" y="3346348"/>
            <a:chExt cx="4608195" cy="109855"/>
          </a:xfrm>
        </p:grpSpPr>
        <p:sp>
          <p:nvSpPr>
            <p:cNvPr id="5" name="object 18">
              <a:extLst>
                <a:ext uri="{FF2B5EF4-FFF2-40B4-BE49-F238E27FC236}">
                  <a16:creationId xmlns:a16="http://schemas.microsoft.com/office/drawing/2014/main" id="{E200DB80-95F5-B271-0CAA-8B7BAF5A2F7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586A9BD5-02C8-1276-9543-D663AF66A921}"/>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2214D8DB-788A-A895-528E-A1204832373C}"/>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23/30</a:t>
              </a:r>
              <a:endParaRPr dirty="0"/>
            </a:p>
          </p:txBody>
        </p:sp>
      </p:grpSp>
      <p:sp>
        <p:nvSpPr>
          <p:cNvPr id="9" name="object 19">
            <a:extLst>
              <a:ext uri="{FF2B5EF4-FFF2-40B4-BE49-F238E27FC236}">
                <a16:creationId xmlns:a16="http://schemas.microsoft.com/office/drawing/2014/main" id="{43B57BF7-5E63-3456-09C1-AE8D42F7CE60}"/>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graphicFrame>
        <p:nvGraphicFramePr>
          <p:cNvPr id="12" name="Table 11">
            <a:extLst>
              <a:ext uri="{FF2B5EF4-FFF2-40B4-BE49-F238E27FC236}">
                <a16:creationId xmlns:a16="http://schemas.microsoft.com/office/drawing/2014/main" id="{22193D58-A329-4DA7-68CE-36D36D89050A}"/>
              </a:ext>
            </a:extLst>
          </p:cNvPr>
          <p:cNvGraphicFramePr>
            <a:graphicFrameLocks noGrp="1"/>
          </p:cNvGraphicFramePr>
          <p:nvPr>
            <p:extLst>
              <p:ext uri="{D42A27DB-BD31-4B8C-83A1-F6EECF244321}">
                <p14:modId xmlns:p14="http://schemas.microsoft.com/office/powerpoint/2010/main" val="1595416415"/>
              </p:ext>
            </p:extLst>
          </p:nvPr>
        </p:nvGraphicFramePr>
        <p:xfrm>
          <a:off x="306967" y="1000429"/>
          <a:ext cx="9475482" cy="3078796"/>
        </p:xfrm>
        <a:graphic>
          <a:graphicData uri="http://schemas.openxmlformats.org/drawingml/2006/table">
            <a:tbl>
              <a:tblPr>
                <a:tableStyleId>{775DCB02-9BB8-47FD-8907-85C794F793BA}</a:tableStyleId>
              </a:tblPr>
              <a:tblGrid>
                <a:gridCol w="3004576">
                  <a:extLst>
                    <a:ext uri="{9D8B030D-6E8A-4147-A177-3AD203B41FA5}">
                      <a16:colId xmlns:a16="http://schemas.microsoft.com/office/drawing/2014/main" val="3092801209"/>
                    </a:ext>
                  </a:extLst>
                </a:gridCol>
                <a:gridCol w="1706365">
                  <a:extLst>
                    <a:ext uri="{9D8B030D-6E8A-4147-A177-3AD203B41FA5}">
                      <a16:colId xmlns:a16="http://schemas.microsoft.com/office/drawing/2014/main" val="976623646"/>
                    </a:ext>
                  </a:extLst>
                </a:gridCol>
                <a:gridCol w="1525726">
                  <a:extLst>
                    <a:ext uri="{9D8B030D-6E8A-4147-A177-3AD203B41FA5}">
                      <a16:colId xmlns:a16="http://schemas.microsoft.com/office/drawing/2014/main" val="593135761"/>
                    </a:ext>
                  </a:extLst>
                </a:gridCol>
                <a:gridCol w="1525726">
                  <a:extLst>
                    <a:ext uri="{9D8B030D-6E8A-4147-A177-3AD203B41FA5}">
                      <a16:colId xmlns:a16="http://schemas.microsoft.com/office/drawing/2014/main" val="922993174"/>
                    </a:ext>
                  </a:extLst>
                </a:gridCol>
                <a:gridCol w="1713089">
                  <a:extLst>
                    <a:ext uri="{9D8B030D-6E8A-4147-A177-3AD203B41FA5}">
                      <a16:colId xmlns:a16="http://schemas.microsoft.com/office/drawing/2014/main" val="3710034047"/>
                    </a:ext>
                  </a:extLst>
                </a:gridCol>
              </a:tblGrid>
              <a:tr h="239326">
                <a:tc>
                  <a:txBody>
                    <a:bodyPr/>
                    <a:lstStyle/>
                    <a:p>
                      <a:pPr algn="ctr" fontAlgn="b">
                        <a:buNone/>
                      </a:pPr>
                      <a:r>
                        <a:rPr lang="en-IN" sz="1600" b="1" u="none" strike="noStrike" dirty="0">
                          <a:solidFill>
                            <a:srgbClr val="0000FF"/>
                          </a:solidFill>
                          <a:effectLst/>
                        </a:rPr>
                        <a:t>Bead Height (mm)</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R</a:t>
                      </a:r>
                      <a:r>
                        <a:rPr lang="en-IN" sz="1600" b="1" u="none" strike="noStrike" baseline="30000" dirty="0">
                          <a:effectLst/>
                          <a:latin typeface="Times New Roman" panose="02020603050405020304" pitchFamily="18" charset="0"/>
                          <a:cs typeface="Times New Roman" panose="02020603050405020304" pitchFamily="18" charset="0"/>
                        </a:rPr>
                        <a:t>2</a:t>
                      </a:r>
                      <a:endParaRPr lang="en-IN" sz="1600" b="1" i="0" u="none" strike="noStrike" baseline="30000"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b="1" u="none" strike="noStrike">
                          <a:effectLst/>
                          <a:latin typeface="Times New Roman" panose="02020603050405020304" pitchFamily="18" charset="0"/>
                          <a:cs typeface="Times New Roman" panose="02020603050405020304" pitchFamily="18" charset="0"/>
                        </a:rPr>
                        <a:t>MAE</a:t>
                      </a:r>
                      <a:endParaRPr lang="en-IN" sz="1600" b="1"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RMSE</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ACCURACY</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565226098"/>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0.956</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0.482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0.1074</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98.32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02555986"/>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KNN</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0.949</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0.2304</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0.2583</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91.82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286680589"/>
                  </a:ext>
                </a:extLst>
              </a:tr>
              <a:tr h="291781">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RF</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0.817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0.1189</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0.1563</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95.85</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089182357"/>
                  </a:ext>
                </a:extLst>
              </a:tr>
              <a:tr h="239326">
                <a:tc>
                  <a:txBody>
                    <a:bodyPr/>
                    <a:lstStyle/>
                    <a:p>
                      <a:pPr algn="ctr" fontAlgn="b">
                        <a:buNone/>
                      </a:pPr>
                      <a:r>
                        <a:rPr lang="en-IN" sz="1600" b="1" i="0" u="none" strike="noStrike" cap="none" dirty="0">
                          <a:solidFill>
                            <a:srgbClr val="0000FF"/>
                          </a:solidFill>
                          <a:effectLst/>
                          <a:latin typeface="Times New Roman" panose="02020603050405020304" pitchFamily="18" charset="0"/>
                          <a:ea typeface="+mn-ea"/>
                          <a:cs typeface="Times New Roman" panose="02020603050405020304" pitchFamily="18" charset="0"/>
                          <a:sym typeface="Arial"/>
                        </a:rPr>
                        <a:t>Bead width (mm)</a:t>
                      </a: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 </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 </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 </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 </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074915858"/>
                  </a:ext>
                </a:extLst>
              </a:tr>
              <a:tr h="239326">
                <a:tc>
                  <a:txBody>
                    <a:bodyPr/>
                    <a:lstStyle/>
                    <a:p>
                      <a:pPr algn="ctr" fontAlgn="b">
                        <a:buNone/>
                      </a:pPr>
                      <a:r>
                        <a:rPr lang="en-IN" sz="1600" b="1" u="none" strike="noStrike" dirty="0" err="1">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0.970</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0.073</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0.1708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99.1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519135606"/>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KNN</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0.874</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0.7588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0.7871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90.31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963736128"/>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RF</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0.907</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0.316</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0.4251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96.12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302050476"/>
                  </a:ext>
                </a:extLst>
              </a:tr>
              <a:tr h="239326">
                <a:tc>
                  <a:txBody>
                    <a:bodyPr/>
                    <a:lstStyle/>
                    <a:p>
                      <a:pPr marR="0" algn="ctr" rtl="0" fontAlgn="b">
                        <a:lnSpc>
                          <a:spcPct val="100000"/>
                        </a:lnSpc>
                        <a:spcBef>
                          <a:spcPts val="0"/>
                        </a:spcBef>
                        <a:spcAft>
                          <a:spcPts val="0"/>
                        </a:spcAft>
                        <a:buClr>
                          <a:srgbClr val="000000"/>
                        </a:buClr>
                        <a:buFont typeface="Arial"/>
                        <a:buNone/>
                      </a:pPr>
                      <a:r>
                        <a:rPr lang="en-IN" sz="1600" b="1" i="0" u="none" strike="noStrike" cap="none" dirty="0">
                          <a:solidFill>
                            <a:srgbClr val="0000FF"/>
                          </a:solidFill>
                          <a:effectLst/>
                          <a:latin typeface="Times New Roman" panose="02020603050405020304" pitchFamily="18" charset="0"/>
                          <a:ea typeface="+mn-ea"/>
                          <a:cs typeface="Times New Roman" panose="02020603050405020304" pitchFamily="18" charset="0"/>
                          <a:sym typeface="Arial"/>
                        </a:rPr>
                        <a:t>Bead Depth (mm)</a:t>
                      </a: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 </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 </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 </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 </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56445272"/>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0.950</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0.038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0.0901</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96.53</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615117469"/>
                  </a:ext>
                </a:extLst>
              </a:tr>
              <a:tr h="0">
                <a:tc>
                  <a:txBody>
                    <a:bodyPr/>
                    <a:lstStyle/>
                    <a:p>
                      <a:pPr algn="ctr" fontAlgn="b">
                        <a:buNone/>
                      </a:pPr>
                      <a:r>
                        <a:rPr lang="en-IN" sz="1600" b="1" u="none" strike="noStrike">
                          <a:effectLst/>
                          <a:latin typeface="Times New Roman" panose="02020603050405020304" pitchFamily="18" charset="0"/>
                          <a:cs typeface="Times New Roman" panose="02020603050405020304" pitchFamily="18" charset="0"/>
                        </a:rPr>
                        <a:t>KNN</a:t>
                      </a:r>
                      <a:endParaRPr lang="en-IN" sz="1600" b="1"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0.945</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0.172</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a:effectLst/>
                          <a:latin typeface="Times New Roman" panose="02020603050405020304" pitchFamily="18" charset="0"/>
                          <a:cs typeface="Times New Roman" panose="02020603050405020304" pitchFamily="18" charset="0"/>
                        </a:rPr>
                        <a:t>0.2106</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86.23</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963954472"/>
                  </a:ext>
                </a:extLst>
              </a:tr>
              <a:tr h="239326">
                <a:tc>
                  <a:txBody>
                    <a:bodyPr/>
                    <a:lstStyle/>
                    <a:p>
                      <a:pPr algn="ctr" fontAlgn="b">
                        <a:buNone/>
                      </a:pPr>
                      <a:r>
                        <a:rPr lang="en-IN" sz="1600" b="1" u="none" strike="noStrike" dirty="0">
                          <a:effectLst/>
                          <a:latin typeface="Times New Roman" panose="02020603050405020304" pitchFamily="18" charset="0"/>
                          <a:cs typeface="Times New Roman" panose="02020603050405020304" pitchFamily="18" charset="0"/>
                        </a:rPr>
                        <a:t>RF</a:t>
                      </a:r>
                      <a:endParaRPr lang="en-IN"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0.800</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0.1418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0.1792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b">
                        <a:buNone/>
                      </a:pPr>
                      <a:r>
                        <a:rPr lang="en-IN" sz="1600" u="none" strike="noStrike" dirty="0">
                          <a:effectLst/>
                          <a:latin typeface="Times New Roman" panose="02020603050405020304" pitchFamily="18" charset="0"/>
                          <a:cs typeface="Times New Roman" panose="02020603050405020304" pitchFamily="18" charset="0"/>
                        </a:rPr>
                        <a:t>87.05</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580519850"/>
                  </a:ext>
                </a:extLst>
              </a:tr>
            </a:tbl>
          </a:graphicData>
        </a:graphic>
      </p:graphicFrame>
      <p:graphicFrame>
        <p:nvGraphicFramePr>
          <p:cNvPr id="10" name="Table 9">
            <a:extLst>
              <a:ext uri="{FF2B5EF4-FFF2-40B4-BE49-F238E27FC236}">
                <a16:creationId xmlns:a16="http://schemas.microsoft.com/office/drawing/2014/main" id="{17BFD2F5-F7CD-E5D4-E32C-14374E1C79B7}"/>
              </a:ext>
            </a:extLst>
          </p:cNvPr>
          <p:cNvGraphicFramePr>
            <a:graphicFrameLocks noGrp="1"/>
          </p:cNvGraphicFramePr>
          <p:nvPr>
            <p:extLst>
              <p:ext uri="{D42A27DB-BD31-4B8C-83A1-F6EECF244321}">
                <p14:modId xmlns:p14="http://schemas.microsoft.com/office/powerpoint/2010/main" val="3790139448"/>
              </p:ext>
            </p:extLst>
          </p:nvPr>
        </p:nvGraphicFramePr>
        <p:xfrm>
          <a:off x="2337576" y="4158791"/>
          <a:ext cx="9561979" cy="2268899"/>
        </p:xfrm>
        <a:graphic>
          <a:graphicData uri="http://schemas.openxmlformats.org/drawingml/2006/table">
            <a:tbl>
              <a:tblPr>
                <a:tableStyleId>{284E427A-3D55-4303-BF80-6455036E1DE7}</a:tableStyleId>
              </a:tblPr>
              <a:tblGrid>
                <a:gridCol w="445541">
                  <a:extLst>
                    <a:ext uri="{9D8B030D-6E8A-4147-A177-3AD203B41FA5}">
                      <a16:colId xmlns:a16="http://schemas.microsoft.com/office/drawing/2014/main" val="175587587"/>
                    </a:ext>
                  </a:extLst>
                </a:gridCol>
                <a:gridCol w="636006">
                  <a:extLst>
                    <a:ext uri="{9D8B030D-6E8A-4147-A177-3AD203B41FA5}">
                      <a16:colId xmlns:a16="http://schemas.microsoft.com/office/drawing/2014/main" val="2337527907"/>
                    </a:ext>
                  </a:extLst>
                </a:gridCol>
                <a:gridCol w="636006">
                  <a:extLst>
                    <a:ext uri="{9D8B030D-6E8A-4147-A177-3AD203B41FA5}">
                      <a16:colId xmlns:a16="http://schemas.microsoft.com/office/drawing/2014/main" val="2964385742"/>
                    </a:ext>
                  </a:extLst>
                </a:gridCol>
                <a:gridCol w="636006">
                  <a:extLst>
                    <a:ext uri="{9D8B030D-6E8A-4147-A177-3AD203B41FA5}">
                      <a16:colId xmlns:a16="http://schemas.microsoft.com/office/drawing/2014/main" val="4237650215"/>
                    </a:ext>
                  </a:extLst>
                </a:gridCol>
                <a:gridCol w="843768">
                  <a:extLst>
                    <a:ext uri="{9D8B030D-6E8A-4147-A177-3AD203B41FA5}">
                      <a16:colId xmlns:a16="http://schemas.microsoft.com/office/drawing/2014/main" val="3179703682"/>
                    </a:ext>
                  </a:extLst>
                </a:gridCol>
                <a:gridCol w="636006">
                  <a:extLst>
                    <a:ext uri="{9D8B030D-6E8A-4147-A177-3AD203B41FA5}">
                      <a16:colId xmlns:a16="http://schemas.microsoft.com/office/drawing/2014/main" val="2693037391"/>
                    </a:ext>
                  </a:extLst>
                </a:gridCol>
                <a:gridCol w="636006">
                  <a:extLst>
                    <a:ext uri="{9D8B030D-6E8A-4147-A177-3AD203B41FA5}">
                      <a16:colId xmlns:a16="http://schemas.microsoft.com/office/drawing/2014/main" val="2866725284"/>
                    </a:ext>
                  </a:extLst>
                </a:gridCol>
                <a:gridCol w="636006">
                  <a:extLst>
                    <a:ext uri="{9D8B030D-6E8A-4147-A177-3AD203B41FA5}">
                      <a16:colId xmlns:a16="http://schemas.microsoft.com/office/drawing/2014/main" val="218496021"/>
                    </a:ext>
                  </a:extLst>
                </a:gridCol>
                <a:gridCol w="843768">
                  <a:extLst>
                    <a:ext uri="{9D8B030D-6E8A-4147-A177-3AD203B41FA5}">
                      <a16:colId xmlns:a16="http://schemas.microsoft.com/office/drawing/2014/main" val="1127853379"/>
                    </a:ext>
                  </a:extLst>
                </a:gridCol>
                <a:gridCol w="636006">
                  <a:extLst>
                    <a:ext uri="{9D8B030D-6E8A-4147-A177-3AD203B41FA5}">
                      <a16:colId xmlns:a16="http://schemas.microsoft.com/office/drawing/2014/main" val="4060462623"/>
                    </a:ext>
                  </a:extLst>
                </a:gridCol>
                <a:gridCol w="636006">
                  <a:extLst>
                    <a:ext uri="{9D8B030D-6E8A-4147-A177-3AD203B41FA5}">
                      <a16:colId xmlns:a16="http://schemas.microsoft.com/office/drawing/2014/main" val="111254627"/>
                    </a:ext>
                  </a:extLst>
                </a:gridCol>
                <a:gridCol w="638918">
                  <a:extLst>
                    <a:ext uri="{9D8B030D-6E8A-4147-A177-3AD203B41FA5}">
                      <a16:colId xmlns:a16="http://schemas.microsoft.com/office/drawing/2014/main" val="2605569452"/>
                    </a:ext>
                  </a:extLst>
                </a:gridCol>
                <a:gridCol w="878597">
                  <a:extLst>
                    <a:ext uri="{9D8B030D-6E8A-4147-A177-3AD203B41FA5}">
                      <a16:colId xmlns:a16="http://schemas.microsoft.com/office/drawing/2014/main" val="554822519"/>
                    </a:ext>
                  </a:extLst>
                </a:gridCol>
                <a:gridCol w="823339">
                  <a:extLst>
                    <a:ext uri="{9D8B030D-6E8A-4147-A177-3AD203B41FA5}">
                      <a16:colId xmlns:a16="http://schemas.microsoft.com/office/drawing/2014/main" val="3254215096"/>
                    </a:ext>
                  </a:extLst>
                </a:gridCol>
              </a:tblGrid>
              <a:tr h="391804">
                <a:tc rowSpan="2">
                  <a:txBody>
                    <a:bodyPr/>
                    <a:lstStyle/>
                    <a:p>
                      <a:pPr algn="ctr"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Exp. No</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gridSpan="4">
                  <a:txBody>
                    <a:bodyPr/>
                    <a:lstStyle/>
                    <a:p>
                      <a:pPr algn="ctr"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HWB (mm)</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gridSpan="4">
                  <a:txBody>
                    <a:bodyPr/>
                    <a:lstStyle/>
                    <a:p>
                      <a:pPr algn="ctr"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WWB (mm)</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gridSpan="4">
                  <a:txBody>
                    <a:bodyPr/>
                    <a:lstStyle/>
                    <a:p>
                      <a:pPr algn="ctr"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DWB (mm)</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rowSpan="2">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Accuracy (%)</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1237160576"/>
                  </a:ext>
                </a:extLst>
              </a:tr>
              <a:tr h="701683">
                <a:tc vMerge="1">
                  <a:txBody>
                    <a:bodyPr/>
                    <a:lstStyle/>
                    <a:p>
                      <a:endParaRPr lang="en-IN"/>
                    </a:p>
                  </a:txBody>
                  <a:tcP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Exp</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KNN</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RF</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err="1">
                          <a:solidFill>
                            <a:srgbClr val="0000FF"/>
                          </a:solidFill>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a:solidFill>
                            <a:srgbClr val="0000FF"/>
                          </a:solidFill>
                          <a:effectLst/>
                          <a:latin typeface="Times New Roman" panose="02020603050405020304" pitchFamily="18" charset="0"/>
                          <a:cs typeface="Times New Roman" panose="02020603050405020304" pitchFamily="18" charset="0"/>
                        </a:rPr>
                        <a:t>Exp</a:t>
                      </a:r>
                      <a:endParaRPr lang="en-IN" sz="1600" b="1" i="0" u="none" strike="noStrike">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KNN</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RF</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Exp</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a:solidFill>
                            <a:srgbClr val="0000FF"/>
                          </a:solidFill>
                          <a:effectLst/>
                          <a:latin typeface="Times New Roman" panose="02020603050405020304" pitchFamily="18" charset="0"/>
                          <a:cs typeface="Times New Roman" panose="02020603050405020304" pitchFamily="18" charset="0"/>
                        </a:rPr>
                        <a:t>KNN</a:t>
                      </a:r>
                      <a:endParaRPr lang="en-IN" sz="1600" b="1" i="0" u="none" strike="noStrike">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a:solidFill>
                            <a:srgbClr val="0000FF"/>
                          </a:solidFill>
                          <a:effectLst/>
                          <a:latin typeface="Times New Roman" panose="02020603050405020304" pitchFamily="18" charset="0"/>
                          <a:cs typeface="Times New Roman" panose="02020603050405020304" pitchFamily="18" charset="0"/>
                        </a:rPr>
                        <a:t>RF</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l" fontAlgn="ctr">
                        <a:buNone/>
                      </a:pPr>
                      <a:r>
                        <a:rPr lang="en-IN" sz="1600" b="1" u="none" strike="noStrike" dirty="0" err="1">
                          <a:solidFill>
                            <a:srgbClr val="0000FF"/>
                          </a:solidFill>
                          <a:effectLst/>
                          <a:latin typeface="Times New Roman" panose="02020603050405020304" pitchFamily="18" charset="0"/>
                          <a:cs typeface="Times New Roman" panose="02020603050405020304" pitchFamily="18" charset="0"/>
                        </a:rPr>
                        <a:t>XGBoost</a:t>
                      </a:r>
                      <a:endParaRPr lang="en-IN" sz="1600" b="1" i="0" u="none" strike="noStrike" dirty="0">
                        <a:solidFill>
                          <a:srgbClr val="0000FF"/>
                        </a:solidFill>
                        <a:effectLst/>
                        <a:latin typeface="Times New Roman" panose="02020603050405020304" pitchFamily="18" charset="0"/>
                        <a:cs typeface="Times New Roman" panose="02020603050405020304" pitchFamily="18" charset="0"/>
                      </a:endParaRPr>
                    </a:p>
                  </a:txBody>
                  <a:tcPr marL="9525" marR="9525" marT="9525" marB="0" anchor="ctr"/>
                </a:tc>
                <a:tc vMerge="1">
                  <a:txBody>
                    <a:bodyPr/>
                    <a:lstStyle/>
                    <a:p>
                      <a:endParaRPr lang="en-IN"/>
                    </a:p>
                  </a:txBody>
                  <a:tcPr/>
                </a:tc>
                <a:extLst>
                  <a:ext uri="{0D108BD9-81ED-4DB2-BD59-A6C34878D82A}">
                    <a16:rowId xmlns:a16="http://schemas.microsoft.com/office/drawing/2014/main" val="2688589211"/>
                  </a:ext>
                </a:extLst>
              </a:tr>
              <a:tr h="391804">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4</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3.2280</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3.2283</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3.1571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3.2277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7.6846</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7.6843</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7.6952</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7.6847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0.8737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0.8737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0.9128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0.8737</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99.25</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726943926"/>
                  </a:ext>
                </a:extLst>
              </a:tr>
              <a:tr h="391804">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2.5951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2.5921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2.5919</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2.5859</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8.5456</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8.5456</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8.4921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8.5455</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1.4547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1.4547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1.3803</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1.4555</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99.30</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2359675721"/>
                  </a:ext>
                </a:extLst>
              </a:tr>
              <a:tr h="391804">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14</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2.4808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2.4908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2.4331</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a:effectLst/>
                          <a:latin typeface="Times New Roman" panose="02020603050405020304" pitchFamily="18" charset="0"/>
                          <a:cs typeface="Times New Roman" panose="02020603050405020304" pitchFamily="18" charset="0"/>
                        </a:rPr>
                        <a:t>2.4899</a:t>
                      </a:r>
                      <a:endParaRPr lang="en-IN" sz="1600" b="0" i="0" u="none" strike="noStrike">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9.3928</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9.3924</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9.2412</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9.3927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1.3965</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1.3960</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1.4449</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1.3971</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tc>
                  <a:txBody>
                    <a:bodyPr/>
                    <a:lstStyle/>
                    <a:p>
                      <a:pPr algn="ctr" fontAlgn="ctr">
                        <a:buNone/>
                      </a:pPr>
                      <a:r>
                        <a:rPr lang="en-IN" sz="1600" u="none" strike="noStrike" dirty="0">
                          <a:effectLst/>
                          <a:latin typeface="Times New Roman" panose="02020603050405020304" pitchFamily="18" charset="0"/>
                          <a:cs typeface="Times New Roman" panose="02020603050405020304" pitchFamily="18" charset="0"/>
                        </a:rPr>
                        <a:t>99.17</a:t>
                      </a:r>
                      <a:endParaRPr lang="en-IN"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9525" marR="9525" marT="9525" marB="0" anchor="ctr"/>
                </a:tc>
                <a:extLst>
                  <a:ext uri="{0D108BD9-81ED-4DB2-BD59-A6C34878D82A}">
                    <a16:rowId xmlns:a16="http://schemas.microsoft.com/office/drawing/2014/main" val="3140482918"/>
                  </a:ext>
                </a:extLst>
              </a:tr>
            </a:tbl>
          </a:graphicData>
        </a:graphic>
      </p:graphicFrame>
      <p:pic>
        <p:nvPicPr>
          <p:cNvPr id="3" name="Google Shape;97;p14">
            <a:extLst>
              <a:ext uri="{FF2B5EF4-FFF2-40B4-BE49-F238E27FC236}">
                <a16:creationId xmlns:a16="http://schemas.microsoft.com/office/drawing/2014/main" id="{270604FA-B2CD-71CF-8CF7-FF5B9319D5AF}"/>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
        <p:nvSpPr>
          <p:cNvPr id="8" name="TextBox 7">
            <a:extLst>
              <a:ext uri="{FF2B5EF4-FFF2-40B4-BE49-F238E27FC236}">
                <a16:creationId xmlns:a16="http://schemas.microsoft.com/office/drawing/2014/main" id="{934001A0-6427-6FE6-6A0C-78EA8AEBFE70}"/>
              </a:ext>
            </a:extLst>
          </p:cNvPr>
          <p:cNvSpPr txBox="1"/>
          <p:nvPr/>
        </p:nvSpPr>
        <p:spPr>
          <a:xfrm>
            <a:off x="9723826" y="2058842"/>
            <a:ext cx="2578443" cy="640368"/>
          </a:xfrm>
          <a:prstGeom prst="rect">
            <a:avLst/>
          </a:prstGeom>
          <a:noFill/>
        </p:spPr>
        <p:txBody>
          <a:bodyPr wrap="square">
            <a:spAutoFit/>
          </a:bodyPr>
          <a:lstStyle/>
          <a:p>
            <a:pPr algn="ctr">
              <a:lnSpc>
                <a:spcPct val="115000"/>
              </a:lnSpc>
              <a:spcAft>
                <a:spcPts val="800"/>
              </a:spcAft>
              <a:buNone/>
            </a:pPr>
            <a:r>
              <a:rPr lang="en-IN" sz="1600" b="1" kern="100"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Table 7: </a:t>
            </a:r>
            <a:r>
              <a:rPr lang="en-IN" sz="1600" b="1" dirty="0">
                <a:solidFill>
                  <a:srgbClr val="0070C0"/>
                </a:solidFill>
                <a:latin typeface="Times New Roman" panose="02020603050405020304" pitchFamily="18" charset="0"/>
                <a:cs typeface="Times New Roman" panose="02020603050405020304" pitchFamily="18" charset="0"/>
              </a:rPr>
              <a:t>Analysis of the statistical metrices </a:t>
            </a:r>
            <a:endParaRPr lang="en-IN" sz="1600" b="1" kern="100"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id="{C2193857-7C47-681A-7FFB-21F00DAEDCC8}"/>
              </a:ext>
            </a:extLst>
          </p:cNvPr>
          <p:cNvSpPr txBox="1"/>
          <p:nvPr/>
        </p:nvSpPr>
        <p:spPr>
          <a:xfrm>
            <a:off x="-152012" y="4938473"/>
            <a:ext cx="2641600" cy="919098"/>
          </a:xfrm>
          <a:prstGeom prst="rect">
            <a:avLst/>
          </a:prstGeom>
          <a:noFill/>
        </p:spPr>
        <p:txBody>
          <a:bodyPr wrap="square">
            <a:spAutoFit/>
          </a:bodyPr>
          <a:lstStyle/>
          <a:p>
            <a:pPr algn="ctr">
              <a:lnSpc>
                <a:spcPct val="115000"/>
              </a:lnSpc>
              <a:spcAft>
                <a:spcPts val="800"/>
              </a:spcAft>
              <a:buNone/>
            </a:pPr>
            <a:r>
              <a:rPr lang="en-IN" sz="1600" b="1" kern="100"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Table 8:</a:t>
            </a:r>
            <a:r>
              <a:rPr lang="en-IN" sz="1600" b="1" dirty="0">
                <a:solidFill>
                  <a:srgbClr val="0070C0"/>
                </a:solidFill>
                <a:latin typeface="Times New Roman" panose="02020603050405020304" pitchFamily="18" charset="0"/>
                <a:cs typeface="Times New Roman" panose="02020603050405020304" pitchFamily="18" charset="0"/>
              </a:rPr>
              <a:t>Best optimized parameter validation with accuracy</a:t>
            </a:r>
            <a:r>
              <a:rPr lang="en-IN" sz="1600" b="1" kern="100"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IN" sz="1600" b="1" kern="100"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 </a:t>
            </a:r>
          </a:p>
        </p:txBody>
      </p:sp>
      <p:sp>
        <p:nvSpPr>
          <p:cNvPr id="13" name="Rectangle: Rounded Corners 12">
            <a:extLst>
              <a:ext uri="{FF2B5EF4-FFF2-40B4-BE49-F238E27FC236}">
                <a16:creationId xmlns:a16="http://schemas.microsoft.com/office/drawing/2014/main" id="{78B1579F-55AC-A0FF-8CEA-30B1FCE4FB71}"/>
              </a:ext>
            </a:extLst>
          </p:cNvPr>
          <p:cNvSpPr/>
          <p:nvPr/>
        </p:nvSpPr>
        <p:spPr>
          <a:xfrm>
            <a:off x="8501449" y="1235178"/>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9D19D97A-BC78-9B5A-7582-E9CC4E834882}"/>
              </a:ext>
            </a:extLst>
          </p:cNvPr>
          <p:cNvSpPr/>
          <p:nvPr/>
        </p:nvSpPr>
        <p:spPr>
          <a:xfrm>
            <a:off x="8493226" y="3270994"/>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Rounded Corners 14">
            <a:extLst>
              <a:ext uri="{FF2B5EF4-FFF2-40B4-BE49-F238E27FC236}">
                <a16:creationId xmlns:a16="http://schemas.microsoft.com/office/drawing/2014/main" id="{925C2430-E4BF-9155-946C-02CFA92E1CE5}"/>
              </a:ext>
            </a:extLst>
          </p:cNvPr>
          <p:cNvSpPr/>
          <p:nvPr/>
        </p:nvSpPr>
        <p:spPr>
          <a:xfrm>
            <a:off x="8493227" y="2223813"/>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Rounded Corners 15">
            <a:extLst>
              <a:ext uri="{FF2B5EF4-FFF2-40B4-BE49-F238E27FC236}">
                <a16:creationId xmlns:a16="http://schemas.microsoft.com/office/drawing/2014/main" id="{21FB389D-B9EE-D0BE-866B-FEE282AF1450}"/>
              </a:ext>
            </a:extLst>
          </p:cNvPr>
          <p:cNvSpPr/>
          <p:nvPr/>
        </p:nvSpPr>
        <p:spPr>
          <a:xfrm>
            <a:off x="5379327" y="2265135"/>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Rounded Corners 16">
            <a:extLst>
              <a:ext uri="{FF2B5EF4-FFF2-40B4-BE49-F238E27FC236}">
                <a16:creationId xmlns:a16="http://schemas.microsoft.com/office/drawing/2014/main" id="{EC8DE361-1064-E443-F7D4-5904880C722D}"/>
              </a:ext>
            </a:extLst>
          </p:cNvPr>
          <p:cNvSpPr/>
          <p:nvPr/>
        </p:nvSpPr>
        <p:spPr>
          <a:xfrm>
            <a:off x="5379328" y="3270994"/>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Rounded Corners 17">
            <a:extLst>
              <a:ext uri="{FF2B5EF4-FFF2-40B4-BE49-F238E27FC236}">
                <a16:creationId xmlns:a16="http://schemas.microsoft.com/office/drawing/2014/main" id="{FC117C21-3415-0692-A706-A5F7A0FC57EC}"/>
              </a:ext>
            </a:extLst>
          </p:cNvPr>
          <p:cNvSpPr/>
          <p:nvPr/>
        </p:nvSpPr>
        <p:spPr>
          <a:xfrm>
            <a:off x="2337577" y="5285430"/>
            <a:ext cx="380910" cy="1142259"/>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Rounded Corners 18">
            <a:extLst>
              <a:ext uri="{FF2B5EF4-FFF2-40B4-BE49-F238E27FC236}">
                <a16:creationId xmlns:a16="http://schemas.microsoft.com/office/drawing/2014/main" id="{CE845840-AA2A-FCAF-B37D-C31F86114993}"/>
              </a:ext>
            </a:extLst>
          </p:cNvPr>
          <p:cNvSpPr/>
          <p:nvPr/>
        </p:nvSpPr>
        <p:spPr>
          <a:xfrm>
            <a:off x="5379326" y="1782146"/>
            <a:ext cx="877329"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Rounded Corners 19">
            <a:extLst>
              <a:ext uri="{FF2B5EF4-FFF2-40B4-BE49-F238E27FC236}">
                <a16:creationId xmlns:a16="http://schemas.microsoft.com/office/drawing/2014/main" id="{2BFEFC27-1F2D-1950-D1A0-C8C567D63D5F}"/>
              </a:ext>
            </a:extLst>
          </p:cNvPr>
          <p:cNvSpPr/>
          <p:nvPr/>
        </p:nvSpPr>
        <p:spPr>
          <a:xfrm>
            <a:off x="11221613" y="5275143"/>
            <a:ext cx="677941" cy="1194978"/>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Rectangle: Rounded Corners 20">
            <a:extLst>
              <a:ext uri="{FF2B5EF4-FFF2-40B4-BE49-F238E27FC236}">
                <a16:creationId xmlns:a16="http://schemas.microsoft.com/office/drawing/2014/main" id="{C0D2E5CB-024E-E458-82A2-47C775AF14F5}"/>
              </a:ext>
            </a:extLst>
          </p:cNvPr>
          <p:cNvSpPr/>
          <p:nvPr/>
        </p:nvSpPr>
        <p:spPr>
          <a:xfrm>
            <a:off x="10335107" y="5293240"/>
            <a:ext cx="677940" cy="316014"/>
          </a:xfrm>
          <a:prstGeom prst="roundRect">
            <a:avLst/>
          </a:prstGeom>
          <a:solidFill>
            <a:schemeClr val="accent1">
              <a:alpha val="0"/>
            </a:schemeClr>
          </a:solid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43010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E003-03DB-FE85-AD64-929CA12F4256}"/>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BAD54F1-A711-6579-4E1D-FFDF70A33D43}"/>
              </a:ext>
            </a:extLst>
          </p:cNvPr>
          <p:cNvSpPr/>
          <p:nvPr/>
        </p:nvSpPr>
        <p:spPr>
          <a:xfrm>
            <a:off x="306967" y="173322"/>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a:solidFill>
                  <a:srgbClr val="002060"/>
                </a:solidFill>
                <a:latin typeface="Times New Roman" panose="02020603050405020304" pitchFamily="18" charset="0"/>
                <a:cs typeface="Times New Roman" panose="02020603050405020304" pitchFamily="18" charset="0"/>
              </a:rPr>
              <a:t>Conclusions </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7F9A95-57EA-E8A3-261B-960F6F91F132}"/>
              </a:ext>
            </a:extLst>
          </p:cNvPr>
          <p:cNvSpPr txBox="1"/>
          <p:nvPr/>
        </p:nvSpPr>
        <p:spPr>
          <a:xfrm>
            <a:off x="306967" y="1120878"/>
            <a:ext cx="11071123" cy="584775"/>
          </a:xfrm>
          <a:prstGeom prst="rect">
            <a:avLst/>
          </a:prstGeom>
          <a:noFill/>
        </p:spPr>
        <p:txBody>
          <a:bodyPr wrap="square" rtlCol="0">
            <a:spAutoFit/>
          </a:bodyPr>
          <a:lstStyle/>
          <a:p>
            <a:endParaRPr lang="en-US" sz="1800" b="0" i="0" u="none" strike="noStrike" baseline="0" dirty="0">
              <a:solidFill>
                <a:srgbClr val="000000"/>
              </a:solidFill>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grpSp>
        <p:nvGrpSpPr>
          <p:cNvPr id="4" name="object 17">
            <a:extLst>
              <a:ext uri="{FF2B5EF4-FFF2-40B4-BE49-F238E27FC236}">
                <a16:creationId xmlns:a16="http://schemas.microsoft.com/office/drawing/2014/main" id="{CEB0443E-40F1-F88A-26DB-43AB666261A7}"/>
              </a:ext>
            </a:extLst>
          </p:cNvPr>
          <p:cNvGrpSpPr/>
          <p:nvPr/>
        </p:nvGrpSpPr>
        <p:grpSpPr>
          <a:xfrm>
            <a:off x="0" y="6470103"/>
            <a:ext cx="12192000" cy="345460"/>
            <a:chOff x="0" y="3346348"/>
            <a:chExt cx="4608195" cy="109859"/>
          </a:xfrm>
        </p:grpSpPr>
        <p:sp>
          <p:nvSpPr>
            <p:cNvPr id="5" name="object 18">
              <a:extLst>
                <a:ext uri="{FF2B5EF4-FFF2-40B4-BE49-F238E27FC236}">
                  <a16:creationId xmlns:a16="http://schemas.microsoft.com/office/drawing/2014/main" id="{B3A1D4DB-F0FC-BA97-FB02-5C99FE479763}"/>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lnSpc>
                  <a:spcPct val="150000"/>
                </a:lnSpc>
              </a:pP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6" name="object 19">
              <a:extLst>
                <a:ext uri="{FF2B5EF4-FFF2-40B4-BE49-F238E27FC236}">
                  <a16:creationId xmlns:a16="http://schemas.microsoft.com/office/drawing/2014/main" id="{F192D90A-2F87-E9B3-730F-74B81FAD1F39}"/>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lnSpc>
                  <a:spcPct val="150000"/>
                </a:lnSpc>
              </a:pP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7" name="object 20">
              <a:extLst>
                <a:ext uri="{FF2B5EF4-FFF2-40B4-BE49-F238E27FC236}">
                  <a16:creationId xmlns:a16="http://schemas.microsoft.com/office/drawing/2014/main" id="{23E8F28E-5E2B-CC04-A91A-EAD25DCC4933}"/>
                </a:ext>
              </a:extLst>
            </p:cNvPr>
            <p:cNvSpPr/>
            <p:nvPr/>
          </p:nvSpPr>
          <p:spPr>
            <a:xfrm>
              <a:off x="3072130" y="3346352"/>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lnSpc>
                  <a:spcPct val="150000"/>
                </a:lnSpc>
              </a:pPr>
              <a:r>
                <a:rPr lang="en-US" dirty="0">
                  <a:latin typeface="Times New Roman" panose="02020603050405020304" pitchFamily="18" charset="0"/>
                  <a:cs typeface="Times New Roman" panose="02020603050405020304" pitchFamily="18" charset="0"/>
                </a:rPr>
                <a:t>July 2025                        24/30</a:t>
              </a:r>
              <a:endParaRPr dirty="0"/>
            </a:p>
          </p:txBody>
        </p:sp>
      </p:grpSp>
      <p:sp>
        <p:nvSpPr>
          <p:cNvPr id="9" name="object 19">
            <a:extLst>
              <a:ext uri="{FF2B5EF4-FFF2-40B4-BE49-F238E27FC236}">
                <a16:creationId xmlns:a16="http://schemas.microsoft.com/office/drawing/2014/main" id="{CA202F07-F5D1-4517-AD3E-746E56D6FCAB}"/>
              </a:ext>
            </a:extLst>
          </p:cNvPr>
          <p:cNvSpPr/>
          <p:nvPr/>
        </p:nvSpPr>
        <p:spPr>
          <a:xfrm>
            <a:off x="4063765" y="6521818"/>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sz="1400" dirty="0">
                <a:latin typeface="Times New Roman" panose="02020603050405020304" pitchFamily="18" charset="0"/>
                <a:cs typeface="Times New Roman" panose="02020603050405020304" pitchFamily="18" charset="0"/>
              </a:rPr>
              <a:t>Ph.D</a:t>
            </a:r>
            <a:r>
              <a:rPr lang="en-US" sz="1400"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endParaRPr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48266FE-AD9A-487D-EA9A-790A20560AC2}"/>
              </a:ext>
            </a:extLst>
          </p:cNvPr>
          <p:cNvSpPr txBox="1"/>
          <p:nvPr/>
        </p:nvSpPr>
        <p:spPr>
          <a:xfrm>
            <a:off x="306966" y="924294"/>
            <a:ext cx="11456665" cy="5649239"/>
          </a:xfrm>
          <a:prstGeom prst="rect">
            <a:avLst/>
          </a:prstGeom>
          <a:noFill/>
        </p:spPr>
        <p:txBody>
          <a:bodyPr wrap="square">
            <a:spAutoFit/>
          </a:bodyPr>
          <a:lstStyle/>
          <a:p>
            <a:pPr marL="342900" lvl="0" indent="-342900" algn="just">
              <a:lnSpc>
                <a:spcPct val="150000"/>
              </a:lnSpc>
              <a:spcAft>
                <a:spcPts val="800"/>
              </a:spcAft>
              <a:buSzPct val="150000"/>
              <a:buFont typeface="Arial" panose="020B0604020202020204" pitchFamily="34" charset="0"/>
              <a:buChar char="•"/>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As weld speed increased, bead height decreased because rapid torch travel reduced interaction time between the tool and substrate, causing adequate deposition. High feed rate enhanced material flow resulted in increased bead volume. Meanwhile, the presence of higher voltage contributed to arc dispersion, resulting in a flatter bead profile.</a:t>
            </a:r>
          </a:p>
          <a:p>
            <a:pPr marL="342900" indent="-342900" algn="just">
              <a:lnSpc>
                <a:spcPct val="150000"/>
              </a:lnSpc>
              <a:spcAft>
                <a:spcPts val="800"/>
              </a:spcAft>
              <a:buSzPct val="150000"/>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High levels of predictive strength are observed, particularly in XGBoost achieving R² values (&gt;0.95) across all outputs, showing model credibility for HWB, WWB, and DWB.</a:t>
            </a:r>
            <a:r>
              <a:rPr lang="en-IN" sz="1800" b="1" dirty="0">
                <a:latin typeface="Times New Roman" panose="02020603050405020304" pitchFamily="18" charset="0"/>
                <a:cs typeface="Times New Roman" panose="02020603050405020304" pitchFamily="18" charset="0"/>
              </a:rPr>
              <a:t> </a:t>
            </a:r>
            <a:r>
              <a:rPr lang="en-IN" sz="1800" dirty="0">
                <a:latin typeface="Times New Roman" panose="02020603050405020304" pitchFamily="18" charset="0"/>
                <a:cs typeface="Times New Roman" panose="02020603050405020304" pitchFamily="18" charset="0"/>
              </a:rPr>
              <a:t>The lower RMSE values indicate modelling superiority for XGBoost and better performance than neural networks even on a smaller dataset.</a:t>
            </a:r>
          </a:p>
          <a:p>
            <a:pPr marL="285750" lvl="0" indent="-285750" algn="just">
              <a:lnSpc>
                <a:spcPct val="150000"/>
              </a:lnSpc>
              <a:buSzPct val="150000"/>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The optimization process of 3 ML models is validated with experimental results and identified 3 best optimized parameters. Under the bead (L04), the process parameters are 6 mm/s of WS, 7.5 m/min of WF, and 21.5 V. Under bead (L09), the process parameters are 5.5 mm/s of WS, 7.5 m/min of WF, and 23 V. Under bead (L14), the process parameters are 6 mm/s of WS, 6.5 m/min of WF, and 23 V.</a:t>
            </a:r>
          </a:p>
          <a:p>
            <a:pPr marL="285750" lvl="0" indent="-285750" algn="just">
              <a:lnSpc>
                <a:spcPct val="150000"/>
              </a:lnSpc>
              <a:buSzPct val="150000"/>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Prioritizing depth of penetration, the bead sample L04 is suitable for industrial applications. Because weld strength and strong fusion are more important in critical joints than bead height. The excess bead height also leads to stress concentration and crack initiation.</a:t>
            </a:r>
          </a:p>
        </p:txBody>
      </p:sp>
      <p:pic>
        <p:nvPicPr>
          <p:cNvPr id="10" name="Google Shape;97;p14">
            <a:extLst>
              <a:ext uri="{FF2B5EF4-FFF2-40B4-BE49-F238E27FC236}">
                <a16:creationId xmlns:a16="http://schemas.microsoft.com/office/drawing/2014/main" id="{46FEBBE8-3CD7-F4E6-8EF0-10D9EA703793}"/>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4036846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FEE-A643-DB7A-57C3-6A39BF9FF6EF}"/>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365833D-69EA-F500-AF82-9A33AB9E17BC}"/>
              </a:ext>
            </a:extLst>
          </p:cNvPr>
          <p:cNvSpPr/>
          <p:nvPr/>
        </p:nvSpPr>
        <p:spPr>
          <a:xfrm>
            <a:off x="453366" y="218221"/>
            <a:ext cx="10144723" cy="790239"/>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Publications</a:t>
            </a:r>
            <a:endParaRPr lang="en-IN" sz="2800" b="1" dirty="0">
              <a:solidFill>
                <a:srgbClr val="002060"/>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C85DDE6-10D6-DBF1-7E47-44C8F885C84F}"/>
              </a:ext>
            </a:extLst>
          </p:cNvPr>
          <p:cNvSpPr txBox="1"/>
          <p:nvPr/>
        </p:nvSpPr>
        <p:spPr>
          <a:xfrm>
            <a:off x="453366" y="1196404"/>
            <a:ext cx="10144723" cy="1615827"/>
          </a:xfrm>
          <a:prstGeom prst="rect">
            <a:avLst/>
          </a:prstGeom>
          <a:noFill/>
        </p:spPr>
        <p:txBody>
          <a:bodyPr wrap="square" rtlCol="0">
            <a:spAutoFit/>
          </a:bodyPr>
          <a:lstStyle/>
          <a:p>
            <a:pPr marL="268288" indent="-268288" algn="just">
              <a:lnSpc>
                <a:spcPct val="150000"/>
              </a:lnSpc>
            </a:pPr>
            <a:r>
              <a:rPr lang="en-US" sz="1800" dirty="0">
                <a:solidFill>
                  <a:schemeClr val="tx1"/>
                </a:solidFill>
                <a:latin typeface="Times New Roman" panose="02020603050405020304" pitchFamily="18" charset="0"/>
                <a:cs typeface="Times New Roman" panose="02020603050405020304" pitchFamily="18" charset="0"/>
              </a:rPr>
              <a:t>1. V V D Praveen </a:t>
            </a:r>
            <a:r>
              <a:rPr lang="en-US" sz="1800" dirty="0" err="1">
                <a:solidFill>
                  <a:schemeClr val="tx1"/>
                </a:solidFill>
                <a:latin typeface="Times New Roman" panose="02020603050405020304" pitchFamily="18" charset="0"/>
                <a:cs typeface="Times New Roman" panose="02020603050405020304" pitchFamily="18" charset="0"/>
              </a:rPr>
              <a:t>Kalepu</a:t>
            </a:r>
            <a:r>
              <a:rPr lang="en-US" sz="1800" dirty="0">
                <a:solidFill>
                  <a:schemeClr val="tx1"/>
                </a:solidFill>
                <a:latin typeface="Times New Roman" panose="02020603050405020304" pitchFamily="18" charset="0"/>
                <a:cs typeface="Times New Roman" panose="02020603050405020304" pitchFamily="18" charset="0"/>
              </a:rPr>
              <a:t>, Ravi Kumar Mandava</a:t>
            </a:r>
            <a:r>
              <a:rPr lang="en-IN" sz="1800" dirty="0">
                <a:solidFill>
                  <a:schemeClr val="tx1"/>
                </a:solidFill>
                <a:latin typeface="Times New Roman" panose="02020603050405020304" pitchFamily="18" charset="0"/>
                <a:cs typeface="Times New Roman" panose="02020603050405020304" pitchFamily="18" charset="0"/>
              </a:rPr>
              <a:t>, “</a:t>
            </a:r>
            <a:r>
              <a:rPr lang="en-US" sz="1800" dirty="0">
                <a:solidFill>
                  <a:srgbClr val="0000FF"/>
                </a:solidFill>
                <a:latin typeface="Times New Roman" panose="02020603050405020304" pitchFamily="18" charset="0"/>
                <a:cs typeface="Times New Roman" panose="02020603050405020304" pitchFamily="18" charset="0"/>
              </a:rPr>
              <a:t>A Review on Robotic Wire Arc Additive Manufacturing: Materials, Applications, Defects, and Challenges Using Artificial Intelligence Techniques</a:t>
            </a:r>
            <a:r>
              <a:rPr lang="en-US" sz="1800" dirty="0">
                <a:solidFill>
                  <a:schemeClr val="tx1"/>
                </a:solidFill>
                <a:latin typeface="Times New Roman" panose="02020603050405020304" pitchFamily="18" charset="0"/>
                <a:cs typeface="Times New Roman" panose="02020603050405020304" pitchFamily="18" charset="0"/>
              </a:rPr>
              <a:t>”</a:t>
            </a:r>
            <a:r>
              <a:rPr lang="en-IN" sz="1800" dirty="0">
                <a:solidFill>
                  <a:schemeClr val="tx1"/>
                </a:solidFill>
                <a:latin typeface="Times New Roman" panose="02020603050405020304" pitchFamily="18" charset="0"/>
                <a:cs typeface="Times New Roman" panose="02020603050405020304" pitchFamily="18" charset="0"/>
              </a:rPr>
              <a:t>, </a:t>
            </a:r>
            <a:r>
              <a:rPr lang="en-US" sz="1800" dirty="0">
                <a:solidFill>
                  <a:schemeClr val="tx1"/>
                </a:solidFill>
                <a:latin typeface="Times New Roman" panose="02020603050405020304" pitchFamily="18" charset="0"/>
                <a:cs typeface="Times New Roman" panose="02020603050405020304" pitchFamily="18" charset="0"/>
              </a:rPr>
              <a:t>The International Journal of Advanced Manufacturing Technology. (</a:t>
            </a:r>
            <a:r>
              <a:rPr lang="en-US" sz="1800" i="1" dirty="0">
                <a:solidFill>
                  <a:srgbClr val="C00000"/>
                </a:solidFill>
                <a:latin typeface="Times New Roman" panose="02020603050405020304" pitchFamily="18" charset="0"/>
                <a:cs typeface="Times New Roman" panose="02020603050405020304" pitchFamily="18" charset="0"/>
              </a:rPr>
              <a:t>Revised comments communicated</a:t>
            </a:r>
            <a:r>
              <a:rPr lang="en-US" sz="1800" dirty="0">
                <a:solidFill>
                  <a:srgbClr val="C00000"/>
                </a:solidFill>
                <a:latin typeface="Times New Roman" panose="02020603050405020304" pitchFamily="18" charset="0"/>
                <a:cs typeface="Times New Roman" panose="02020603050405020304" pitchFamily="18" charset="0"/>
              </a:rPr>
              <a:t>)</a:t>
            </a:r>
          </a:p>
          <a:p>
            <a:endParaRPr lang="en-US" sz="1800" dirty="0">
              <a:solidFill>
                <a:schemeClr val="tx1"/>
              </a:solidFill>
              <a:latin typeface="Times New Roman" panose="02020603050405020304" pitchFamily="18" charset="0"/>
              <a:cs typeface="Times New Roman" panose="02020603050405020304" pitchFamily="18" charset="0"/>
            </a:endParaRPr>
          </a:p>
        </p:txBody>
      </p:sp>
      <p:grpSp>
        <p:nvGrpSpPr>
          <p:cNvPr id="10" name="object 17">
            <a:extLst>
              <a:ext uri="{FF2B5EF4-FFF2-40B4-BE49-F238E27FC236}">
                <a16:creationId xmlns:a16="http://schemas.microsoft.com/office/drawing/2014/main" id="{176DFD5A-ADB7-7146-ECD0-2164EE1CEEDB}"/>
              </a:ext>
            </a:extLst>
          </p:cNvPr>
          <p:cNvGrpSpPr/>
          <p:nvPr/>
        </p:nvGrpSpPr>
        <p:grpSpPr>
          <a:xfrm>
            <a:off x="0" y="6512540"/>
            <a:ext cx="12192000" cy="345460"/>
            <a:chOff x="0" y="3346348"/>
            <a:chExt cx="4608195" cy="109859"/>
          </a:xfrm>
        </p:grpSpPr>
        <p:sp>
          <p:nvSpPr>
            <p:cNvPr id="11" name="object 18">
              <a:extLst>
                <a:ext uri="{FF2B5EF4-FFF2-40B4-BE49-F238E27FC236}">
                  <a16:creationId xmlns:a16="http://schemas.microsoft.com/office/drawing/2014/main" id="{3C543BBF-B589-36D2-9472-71E9AD0F59FC}"/>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12" name="object 19">
              <a:extLst>
                <a:ext uri="{FF2B5EF4-FFF2-40B4-BE49-F238E27FC236}">
                  <a16:creationId xmlns:a16="http://schemas.microsoft.com/office/drawing/2014/main" id="{E1CB4876-DB87-2A4C-7466-18E0B776701C}"/>
                </a:ext>
              </a:extLst>
            </p:cNvPr>
            <p:cNvSpPr/>
            <p:nvPr/>
          </p:nvSpPr>
          <p:spPr>
            <a:xfrm>
              <a:off x="1535976" y="3346350"/>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sp>
          <p:nvSpPr>
            <p:cNvPr id="13" name="object 20">
              <a:extLst>
                <a:ext uri="{FF2B5EF4-FFF2-40B4-BE49-F238E27FC236}">
                  <a16:creationId xmlns:a16="http://schemas.microsoft.com/office/drawing/2014/main" id="{AE788418-E2E8-1D98-5844-6B88A853BCF3}"/>
                </a:ext>
              </a:extLst>
            </p:cNvPr>
            <p:cNvSpPr/>
            <p:nvPr/>
          </p:nvSpPr>
          <p:spPr>
            <a:xfrm>
              <a:off x="3072130" y="3346352"/>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25/30</a:t>
              </a:r>
              <a:endParaRPr dirty="0"/>
            </a:p>
          </p:txBody>
        </p:sp>
      </p:grpSp>
      <p:pic>
        <p:nvPicPr>
          <p:cNvPr id="5" name="Google Shape;97;p14">
            <a:extLst>
              <a:ext uri="{FF2B5EF4-FFF2-40B4-BE49-F238E27FC236}">
                <a16:creationId xmlns:a16="http://schemas.microsoft.com/office/drawing/2014/main" id="{15A11DF1-4087-1780-2BB3-46DB287D0E32}"/>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29631456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4" name="Google Shape;224;p26"/>
          <p:cNvSpPr txBox="1">
            <a:spLocks noGrp="1"/>
          </p:cNvSpPr>
          <p:nvPr>
            <p:ph type="body" idx="1"/>
          </p:nvPr>
        </p:nvSpPr>
        <p:spPr>
          <a:xfrm>
            <a:off x="926757" y="1070518"/>
            <a:ext cx="10120184" cy="5256141"/>
          </a:xfrm>
          <a:prstGeom prst="rect">
            <a:avLst/>
          </a:prstGeom>
          <a:noFill/>
          <a:ln>
            <a:noFill/>
          </a:ln>
        </p:spPr>
        <p:txBody>
          <a:bodyPr spcFirstLastPara="1" wrap="square" lIns="91425" tIns="45700" rIns="91425" bIns="45700" anchor="t" anchorCtr="0">
            <a:normAutofit fontScale="92500" lnSpcReduction="10000"/>
          </a:bodyPr>
          <a:lstStyle/>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[1] R. Chaudhari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et al.</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“A parametric study and experimental investigations of microstructure and mechanical properties of multi-layered structure of metal core wire using wire arc additive manufacturing,”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J. Adv. Join. Process.</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vol. 8, no. October, p. 100160, 2023,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10.1016/j.jajp.2023.100160.</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[2] F. He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et al.</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“Research and application of artificial intelligence techniques for wire arc additive manufacturing: a state-of-the-art review,”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Robotics and Computer-Integrated Manufacturing</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vol. 82. Elsevier Ltd, Aug. 01, 2023.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10.1016/j.rcim.2023.102525.</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[3] T. J. Tarn, S. Ben Chen, and X. Q. Chen, “Preface,”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Adv. </a:t>
            </a:r>
            <a:r>
              <a:rPr lang="en-IN" sz="1600" i="1" kern="0" dirty="0" err="1">
                <a:effectLst/>
                <a:latin typeface="Times New Roman" panose="02020603050405020304" pitchFamily="18" charset="0"/>
                <a:ea typeface="Calibri" panose="020F0502020204030204" pitchFamily="34" charset="0"/>
                <a:cs typeface="Times New Roman" panose="02020603050405020304" pitchFamily="18" charset="0"/>
              </a:rPr>
              <a:t>Intell</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 Syst. </a:t>
            </a:r>
            <a:r>
              <a:rPr lang="en-IN" sz="1600" i="1" kern="0" dirty="0" err="1">
                <a:effectLst/>
                <a:latin typeface="Times New Roman" panose="02020603050405020304" pitchFamily="18" charset="0"/>
                <a:ea typeface="Calibri" panose="020F0502020204030204" pitchFamily="34" charset="0"/>
                <a:cs typeface="Times New Roman" panose="02020603050405020304" pitchFamily="18" charset="0"/>
              </a:rPr>
              <a:t>Comput</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vol. 363, no. January 2015, pp. v–vi, 2015,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10.1007/978-3-319-18997-0.</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[4]“No Title,” MX3D. [Online]. Available: https://mx3d.com/industries/oilgas/impeller/</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[5] S. W. Williams, F. Martina, A. C. Addison, J. Ding, G.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Pardal</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and P. Colegrove, “Wire + Arc additive manufacturing,”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Mater. Sci. Technol. (United Kingdom)</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vol. 32, no. 7, pp. 641–647, 2016,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10.1179/1743284715Y.0000000073.</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[6] Metal worm, “No Title.” [Online]. Available: https://www.metalworm.com/pressure-vessel-fabrication-with-waam-technology/</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indent="0" algn="just">
              <a:lnSpc>
                <a:spcPct val="107000"/>
              </a:lnSpc>
              <a:spcAft>
                <a:spcPts val="800"/>
              </a:spcAft>
              <a:buNone/>
            </a:pP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[7] P. R.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Gradl</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et al.</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“Additive manufacturing of liquid rocket engine combustion devices: A summary of process developments and hot-fire testing results,” </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2018 Jt. </a:t>
            </a:r>
            <a:r>
              <a:rPr lang="en-IN" sz="1600" i="1" kern="0" dirty="0" err="1">
                <a:effectLst/>
                <a:latin typeface="Times New Roman" panose="02020603050405020304" pitchFamily="18" charset="0"/>
                <a:ea typeface="Calibri" panose="020F0502020204030204" pitchFamily="34" charset="0"/>
                <a:cs typeface="Times New Roman" panose="02020603050405020304" pitchFamily="18" charset="0"/>
              </a:rPr>
              <a:t>Propuls</a:t>
            </a:r>
            <a:r>
              <a:rPr lang="en-IN" sz="1600" i="1" kern="0" dirty="0">
                <a:effectLst/>
                <a:latin typeface="Times New Roman" panose="02020603050405020304" pitchFamily="18" charset="0"/>
                <a:ea typeface="Calibri" panose="020F0502020204030204" pitchFamily="34" charset="0"/>
                <a:cs typeface="Times New Roman" panose="02020603050405020304" pitchFamily="18" charset="0"/>
              </a:rPr>
              <a:t>. Conf.</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no. July 2018, 2018, </a:t>
            </a:r>
            <a:r>
              <a:rPr lang="en-IN" sz="16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600" kern="0" dirty="0">
                <a:effectLst/>
                <a:latin typeface="Times New Roman" panose="02020603050405020304" pitchFamily="18" charset="0"/>
                <a:ea typeface="Calibri" panose="020F0502020204030204" pitchFamily="34" charset="0"/>
                <a:cs typeface="Times New Roman" panose="02020603050405020304" pitchFamily="18" charset="0"/>
              </a:rPr>
              <a:t>: 10.2514/6.2018-4625.</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lvl="0" indent="0" algn="l" rtl="0">
              <a:lnSpc>
                <a:spcPct val="107000"/>
              </a:lnSpc>
              <a:spcBef>
                <a:spcPts val="1800"/>
              </a:spcBef>
              <a:spcAft>
                <a:spcPts val="0"/>
              </a:spcAft>
              <a:buClr>
                <a:schemeClr val="dk1"/>
              </a:buClr>
              <a:buSzPts val="14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ts val="1800"/>
              <a:buNone/>
            </a:pPr>
            <a:endParaRPr sz="1800" dirty="0">
              <a:latin typeface="Calibri"/>
              <a:ea typeface="Calibri"/>
              <a:cs typeface="Calibri"/>
              <a:sym typeface="Calibri"/>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p:txBody>
      </p:sp>
      <p:sp>
        <p:nvSpPr>
          <p:cNvPr id="5" name="Rectangle: Rounded Corners 4">
            <a:extLst>
              <a:ext uri="{FF2B5EF4-FFF2-40B4-BE49-F238E27FC236}">
                <a16:creationId xmlns:a16="http://schemas.microsoft.com/office/drawing/2014/main" id="{A1D43055-FDFB-FDAE-908E-20BB12BD1DBD}"/>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6" name="object 17">
            <a:extLst>
              <a:ext uri="{FF2B5EF4-FFF2-40B4-BE49-F238E27FC236}">
                <a16:creationId xmlns:a16="http://schemas.microsoft.com/office/drawing/2014/main" id="{30527FF0-2794-6D26-1B11-F21DD4C4D53F}"/>
              </a:ext>
            </a:extLst>
          </p:cNvPr>
          <p:cNvGrpSpPr/>
          <p:nvPr/>
        </p:nvGrpSpPr>
        <p:grpSpPr>
          <a:xfrm>
            <a:off x="0" y="6518560"/>
            <a:ext cx="12102101" cy="345448"/>
            <a:chOff x="0" y="3346348"/>
            <a:chExt cx="4608195" cy="109855"/>
          </a:xfrm>
        </p:grpSpPr>
        <p:sp>
          <p:nvSpPr>
            <p:cNvPr id="7" name="object 18">
              <a:extLst>
                <a:ext uri="{FF2B5EF4-FFF2-40B4-BE49-F238E27FC236}">
                  <a16:creationId xmlns:a16="http://schemas.microsoft.com/office/drawing/2014/main" id="{DAAB7FE3-9A07-3A26-5836-FD27A4A52F99}"/>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8" name="object 19">
              <a:extLst>
                <a:ext uri="{FF2B5EF4-FFF2-40B4-BE49-F238E27FC236}">
                  <a16:creationId xmlns:a16="http://schemas.microsoft.com/office/drawing/2014/main" id="{0C8E22E7-755B-BE76-B391-1AA3450FBACE}"/>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9" name="object 20">
              <a:extLst>
                <a:ext uri="{FF2B5EF4-FFF2-40B4-BE49-F238E27FC236}">
                  <a16:creationId xmlns:a16="http://schemas.microsoft.com/office/drawing/2014/main" id="{B314B183-48FF-852B-26FB-E58318B1D9C3}"/>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26/30</a:t>
              </a:r>
              <a:endParaRPr dirty="0"/>
            </a:p>
          </p:txBody>
        </p:sp>
      </p:grpSp>
      <p:sp>
        <p:nvSpPr>
          <p:cNvPr id="2" name="object 19">
            <a:extLst>
              <a:ext uri="{FF2B5EF4-FFF2-40B4-BE49-F238E27FC236}">
                <a16:creationId xmlns:a16="http://schemas.microsoft.com/office/drawing/2014/main" id="{FD5DC101-5C94-17C0-27AA-9D1E85D33351}"/>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3" name="Google Shape;97;p14">
            <a:extLst>
              <a:ext uri="{FF2B5EF4-FFF2-40B4-BE49-F238E27FC236}">
                <a16:creationId xmlns:a16="http://schemas.microsoft.com/office/drawing/2014/main" id="{FC674249-1290-445D-3FCC-6DE4FCAA0F5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7"/>
          <p:cNvSpPr txBox="1">
            <a:spLocks noGrp="1"/>
          </p:cNvSpPr>
          <p:nvPr>
            <p:ph type="body" idx="1"/>
          </p:nvPr>
        </p:nvSpPr>
        <p:spPr>
          <a:xfrm>
            <a:off x="838200" y="1070518"/>
            <a:ext cx="10515600" cy="5638447"/>
          </a:xfrm>
          <a:prstGeom prst="rect">
            <a:avLst/>
          </a:prstGeom>
          <a:noFill/>
          <a:ln>
            <a:noFill/>
          </a:ln>
        </p:spPr>
        <p:txBody>
          <a:bodyPr spcFirstLastPara="1" wrap="square" lIns="91425" tIns="45700" rIns="91425" bIns="45700" anchor="t" anchorCtr="0">
            <a:normAutofit/>
          </a:bodyPr>
          <a:lstStyle/>
          <a:p>
            <a:pPr marL="0" lvl="0" indent="0" algn="just" rtl="0">
              <a:lnSpc>
                <a:spcPct val="107000"/>
              </a:lnSpc>
              <a:spcBef>
                <a:spcPts val="0"/>
              </a:spcBef>
              <a:spcAft>
                <a:spcPts val="0"/>
              </a:spcAft>
              <a:buClr>
                <a:schemeClr val="dk1"/>
              </a:buClr>
              <a:buSzPct val="1000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ct val="1000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ct val="100000"/>
              <a:buNone/>
            </a:pPr>
            <a:endParaRPr sz="1800" dirty="0">
              <a:latin typeface="Calibri"/>
              <a:ea typeface="Calibri"/>
              <a:cs typeface="Calibri"/>
              <a:sym typeface="Calibri"/>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a:p>
            <a:pPr marL="342900" lvl="0" indent="-248920" algn="l" rtl="0">
              <a:lnSpc>
                <a:spcPct val="150000"/>
              </a:lnSpc>
              <a:spcBef>
                <a:spcPts val="1000"/>
              </a:spcBef>
              <a:spcAft>
                <a:spcPts val="0"/>
              </a:spcAft>
              <a:buClr>
                <a:schemeClr val="dk1"/>
              </a:buClr>
              <a:buSzPct val="1000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CE5EBE0F-5D2C-E72C-2138-AD0354DE8BFA}"/>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5" name="object 17">
            <a:extLst>
              <a:ext uri="{FF2B5EF4-FFF2-40B4-BE49-F238E27FC236}">
                <a16:creationId xmlns:a16="http://schemas.microsoft.com/office/drawing/2014/main" id="{0C92B5FD-31C6-1B7B-89EF-BBEA668367EA}"/>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CA8FD8A1-5639-5078-F4E8-73192C05FF5B}"/>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3A2F3D55-8273-0EE9-0873-29FD488C60A3}"/>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AF0ED075-67D8-0D9A-568B-FBF16FE8711A}"/>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27/30</a:t>
              </a:r>
              <a:endParaRPr dirty="0"/>
            </a:p>
          </p:txBody>
        </p:sp>
      </p:grpSp>
      <p:sp>
        <p:nvSpPr>
          <p:cNvPr id="3" name="TextBox 2">
            <a:extLst>
              <a:ext uri="{FF2B5EF4-FFF2-40B4-BE49-F238E27FC236}">
                <a16:creationId xmlns:a16="http://schemas.microsoft.com/office/drawing/2014/main" id="{2D75A51C-A5BB-40F3-C159-3508CDD2452B}"/>
              </a:ext>
            </a:extLst>
          </p:cNvPr>
          <p:cNvSpPr txBox="1"/>
          <p:nvPr/>
        </p:nvSpPr>
        <p:spPr>
          <a:xfrm>
            <a:off x="838200" y="1014913"/>
            <a:ext cx="10515600" cy="5145386"/>
          </a:xfrm>
          <a:prstGeom prst="rect">
            <a:avLst/>
          </a:prstGeom>
          <a:noFill/>
        </p:spPr>
        <p:txBody>
          <a:bodyPr wrap="square">
            <a:spAutoFit/>
          </a:bodyPr>
          <a:lstStyle/>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[8]   C. Greer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et al.</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“Introduction to the design rules for Metal Big Area Additive Manufacturing,” </a:t>
            </a:r>
            <a:r>
              <a:rPr lang="en-IN" sz="1500" i="1" kern="0" dirty="0" err="1">
                <a:effectLst/>
                <a:latin typeface="Times New Roman" panose="02020603050405020304" pitchFamily="18" charset="0"/>
                <a:ea typeface="Calibri" panose="020F0502020204030204" pitchFamily="34" charset="0"/>
                <a:cs typeface="Times New Roman" panose="02020603050405020304" pitchFamily="18" charset="0"/>
              </a:rPr>
              <a:t>Addit</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 Manuf.</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27, no. November 2018, pp. 159–166, 2019,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10.1016/j.addma.2019.02.016.</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[9]	J. H. Lee, C. M. Lee, and D. H. Kim, “Repair of damaged parts using wire arc additive manufacturing in machine tools,”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J. Mater. Res. Technol.</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16, pp. 13–24, 2022,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10.1016/j.jmrt.2021.11.156.</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[10]	J. Zhang, Q. Wang, G. Xiao, and J. Zhou, “Filling Path Planning and Polygon Operations for Wire Arc Additive Manufacturing Process,”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Math. </a:t>
            </a:r>
            <a:r>
              <a:rPr lang="en-IN" sz="1500" i="1" kern="0" dirty="0" err="1">
                <a:effectLst/>
                <a:latin typeface="Times New Roman" panose="02020603050405020304" pitchFamily="18" charset="0"/>
                <a:ea typeface="Calibri" panose="020F0502020204030204" pitchFamily="34" charset="0"/>
                <a:cs typeface="Times New Roman" panose="02020603050405020304" pitchFamily="18" charset="0"/>
              </a:rPr>
              <a:t>Probl</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 Eng.</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2021, 2021,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10.1155/2021/6683319.</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[11]	Y. Zhong, Z. Zheng, J. Li, and C. Wang, “Fabrication of 316L nuclear nozzles on the main pipeline with large curvature by CMT wire arc additive manufacturing and self-developed slicing algorithm,”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Mater. Sci. Eng. A</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820, no. March, p. 141539, 2021,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10.1016/j.msea.2021.141539.</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[12]	Y. Shen, Y. Wei, and R. Liu, “A path generation method for wire and arc additive remanufacturing of complex hot forging dies,”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Int. J. Adv. Manuf. Technol.</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117, no. 5–6, pp. 1935–1943, 2021,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10.1007/s00170-021-07813-w.</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[13]	O. Yilmaz, N.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Gindy</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and J. Gao, “A repair and overhaul methodology for aeroengine components,” </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Robot. </a:t>
            </a:r>
            <a:r>
              <a:rPr lang="en-IN" sz="1500" i="1" kern="0" dirty="0" err="1">
                <a:effectLst/>
                <a:latin typeface="Times New Roman" panose="02020603050405020304" pitchFamily="18" charset="0"/>
                <a:ea typeface="Calibri" panose="020F0502020204030204" pitchFamily="34" charset="0"/>
                <a:cs typeface="Times New Roman" panose="02020603050405020304" pitchFamily="18" charset="0"/>
              </a:rPr>
              <a:t>Comput</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500" i="1" kern="0" dirty="0" err="1">
                <a:effectLst/>
                <a:latin typeface="Times New Roman" panose="02020603050405020304" pitchFamily="18" charset="0"/>
                <a:ea typeface="Calibri" panose="020F0502020204030204" pitchFamily="34" charset="0"/>
                <a:cs typeface="Times New Roman" panose="02020603050405020304" pitchFamily="18" charset="0"/>
              </a:rPr>
              <a:t>Integr</a:t>
            </a:r>
            <a:r>
              <a:rPr lang="en-IN" sz="1500" i="1" kern="0" dirty="0">
                <a:effectLst/>
                <a:latin typeface="Times New Roman" panose="02020603050405020304" pitchFamily="18" charset="0"/>
                <a:ea typeface="Calibri" panose="020F0502020204030204" pitchFamily="34" charset="0"/>
                <a:cs typeface="Times New Roman" panose="02020603050405020304" pitchFamily="18" charset="0"/>
              </a:rPr>
              <a:t>. Manuf.</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vol. 26, no. 2, pp. 190–201, 2010,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doi</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10.1016/j.rcim.2009.07.001.</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[14]	Fronius, “No Title.” [Online]. Available: https://www.fronius.com/en-in/india/welding-technology/info-centre/magazine/2019/waam</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06400" indent="-406400">
              <a:lnSpc>
                <a:spcPct val="107000"/>
              </a:lnSpc>
              <a:spcAft>
                <a:spcPts val="800"/>
              </a:spcAft>
            </a:pP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[15]	</a:t>
            </a:r>
            <a:r>
              <a:rPr lang="en-IN" sz="1500" kern="0" dirty="0" err="1">
                <a:effectLst/>
                <a:latin typeface="Times New Roman" panose="02020603050405020304" pitchFamily="18" charset="0"/>
                <a:ea typeface="Calibri" panose="020F0502020204030204" pitchFamily="34" charset="0"/>
                <a:cs typeface="Times New Roman" panose="02020603050405020304" pitchFamily="18" charset="0"/>
              </a:rPr>
              <a:t>Ramlab</a:t>
            </a:r>
            <a:r>
              <a:rPr lang="en-IN" sz="1500" kern="0" dirty="0">
                <a:effectLst/>
                <a:latin typeface="Times New Roman" panose="02020603050405020304" pitchFamily="18" charset="0"/>
                <a:ea typeface="Calibri" panose="020F0502020204030204" pitchFamily="34" charset="0"/>
                <a:cs typeface="Times New Roman" panose="02020603050405020304" pitchFamily="18" charset="0"/>
              </a:rPr>
              <a:t>, “No Title.” [Online]. Available: https://www.ramlab.com/resources/ramlab-unveils-worlds-first-class-approved-3d-printed-ships-propeller/</a:t>
            </a:r>
            <a:endParaRPr lang="en-IN" sz="1500" kern="1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 name="object 19">
            <a:extLst>
              <a:ext uri="{FF2B5EF4-FFF2-40B4-BE49-F238E27FC236}">
                <a16:creationId xmlns:a16="http://schemas.microsoft.com/office/drawing/2014/main" id="{D362E059-7615-FD2C-39F1-7BF7E800640F}"/>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8E5F4357-2B7C-4446-2AD9-63C6C1520DB7}"/>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8" name="Google Shape;238;p28"/>
          <p:cNvSpPr txBox="1">
            <a:spLocks noGrp="1"/>
          </p:cNvSpPr>
          <p:nvPr>
            <p:ph type="body" idx="1"/>
          </p:nvPr>
        </p:nvSpPr>
        <p:spPr>
          <a:xfrm>
            <a:off x="838200" y="1070518"/>
            <a:ext cx="10515600" cy="5638447"/>
          </a:xfrm>
          <a:prstGeom prst="rect">
            <a:avLst/>
          </a:prstGeom>
          <a:noFill/>
          <a:ln>
            <a:noFill/>
          </a:ln>
        </p:spPr>
        <p:txBody>
          <a:bodyPr spcFirstLastPara="1" wrap="square" lIns="91425" tIns="45700" rIns="91425" bIns="45700" anchor="t" anchorCtr="0">
            <a:normAutofit/>
          </a:bodyPr>
          <a:lstStyle/>
          <a:p>
            <a:pPr marL="0" lvl="0" indent="0" algn="l" rtl="0">
              <a:lnSpc>
                <a:spcPct val="107000"/>
              </a:lnSpc>
              <a:spcBef>
                <a:spcPts val="1800"/>
              </a:spcBef>
              <a:spcAft>
                <a:spcPts val="0"/>
              </a:spcAft>
              <a:buClr>
                <a:schemeClr val="dk1"/>
              </a:buClr>
              <a:buSzPts val="18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ts val="14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ts val="1800"/>
              <a:buNone/>
            </a:pPr>
            <a:endParaRPr sz="1800" dirty="0">
              <a:latin typeface="Calibri"/>
              <a:ea typeface="Calibri"/>
              <a:cs typeface="Calibri"/>
              <a:sym typeface="Calibri"/>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0394BC2E-0958-3764-99AC-2B6BF306B1A4}"/>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5" name="object 17">
            <a:extLst>
              <a:ext uri="{FF2B5EF4-FFF2-40B4-BE49-F238E27FC236}">
                <a16:creationId xmlns:a16="http://schemas.microsoft.com/office/drawing/2014/main" id="{8B03586B-B34F-95CF-2000-5F7E61E1AB6F}"/>
              </a:ext>
            </a:extLst>
          </p:cNvPr>
          <p:cNvGrpSpPr/>
          <p:nvPr/>
        </p:nvGrpSpPr>
        <p:grpSpPr>
          <a:xfrm>
            <a:off x="0" y="6518560"/>
            <a:ext cx="12102101" cy="345448"/>
            <a:chOff x="0" y="3346348"/>
            <a:chExt cx="4608195" cy="109855"/>
          </a:xfrm>
        </p:grpSpPr>
        <p:sp>
          <p:nvSpPr>
            <p:cNvPr id="6" name="object 18">
              <a:extLst>
                <a:ext uri="{FF2B5EF4-FFF2-40B4-BE49-F238E27FC236}">
                  <a16:creationId xmlns:a16="http://schemas.microsoft.com/office/drawing/2014/main" id="{3A78B200-CCD6-D163-3812-565793A2F725}"/>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CE0AA449-E95A-DCD7-B6BD-21F5F818EC3F}"/>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E381CD5F-2550-E304-0170-72FCF698E572}"/>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28/30</a:t>
              </a:r>
              <a:endParaRPr dirty="0"/>
            </a:p>
          </p:txBody>
        </p:sp>
      </p:grpSp>
      <p:sp>
        <p:nvSpPr>
          <p:cNvPr id="3" name="TextBox 2">
            <a:extLst>
              <a:ext uri="{FF2B5EF4-FFF2-40B4-BE49-F238E27FC236}">
                <a16:creationId xmlns:a16="http://schemas.microsoft.com/office/drawing/2014/main" id="{70F30199-9DAD-83F2-61CA-85C565FFC623}"/>
              </a:ext>
            </a:extLst>
          </p:cNvPr>
          <p:cNvSpPr txBox="1"/>
          <p:nvPr/>
        </p:nvSpPr>
        <p:spPr>
          <a:xfrm>
            <a:off x="838199" y="1004214"/>
            <a:ext cx="10962503" cy="5531771"/>
          </a:xfrm>
          <a:prstGeom prst="rect">
            <a:avLst/>
          </a:prstGeom>
          <a:noFill/>
        </p:spPr>
        <p:txBody>
          <a:bodyPr wrap="square">
            <a:spAutoFit/>
          </a:bodyPr>
          <a:lstStyle/>
          <a:p>
            <a:pPr algn="just">
              <a:lnSpc>
                <a:spcPct val="150000"/>
              </a:lnSpc>
            </a:pPr>
            <a:r>
              <a:rPr lang="en-IN" sz="1500" dirty="0">
                <a:latin typeface="Times New Roman" panose="02020603050405020304" pitchFamily="18" charset="0"/>
                <a:cs typeface="Times New Roman" panose="02020603050405020304" pitchFamily="18" charset="0"/>
              </a:rPr>
              <a:t>[16] M. </a:t>
            </a:r>
            <a:r>
              <a:rPr lang="en-IN" sz="1500" dirty="0" err="1">
                <a:latin typeface="Times New Roman" panose="02020603050405020304" pitchFamily="18" charset="0"/>
                <a:cs typeface="Times New Roman" panose="02020603050405020304" pitchFamily="18" charset="0"/>
              </a:rPr>
              <a:t>Dinovitzer</a:t>
            </a:r>
            <a:r>
              <a:rPr lang="en-IN" sz="1500" dirty="0">
                <a:latin typeface="Times New Roman" panose="02020603050405020304" pitchFamily="18" charset="0"/>
                <a:cs typeface="Times New Roman" panose="02020603050405020304" pitchFamily="18" charset="0"/>
              </a:rPr>
              <a:t>, X. Chen, J. Laliberte, X. Huang, and H. Frei, “Effect of wire and arc additive manufacturing (WAAM) process parameters on bead geometry and microstructure,” </a:t>
            </a:r>
            <a:r>
              <a:rPr lang="en-IN" sz="1500" i="1" dirty="0">
                <a:latin typeface="Times New Roman" panose="02020603050405020304" pitchFamily="18" charset="0"/>
                <a:cs typeface="Times New Roman" panose="02020603050405020304" pitchFamily="18" charset="0"/>
              </a:rPr>
              <a:t>Addit. Manuf.</a:t>
            </a:r>
            <a:r>
              <a:rPr lang="en-IN" sz="1500" dirty="0">
                <a:latin typeface="Times New Roman" panose="02020603050405020304" pitchFamily="18" charset="0"/>
                <a:cs typeface="Times New Roman" panose="02020603050405020304" pitchFamily="18" charset="0"/>
              </a:rPr>
              <a:t>, vol. 26, no. December 2018, pp. 138–146, 2019,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10.1016/j.addma.2018.12.013.</a:t>
            </a:r>
          </a:p>
          <a:p>
            <a:pPr algn="just">
              <a:lnSpc>
                <a:spcPct val="150000"/>
              </a:lnSpc>
            </a:pPr>
            <a:r>
              <a:rPr lang="en-IN" sz="1500" dirty="0">
                <a:latin typeface="Times New Roman" panose="02020603050405020304" pitchFamily="18" charset="0"/>
                <a:cs typeface="Times New Roman" panose="02020603050405020304" pitchFamily="18" charset="0"/>
              </a:rPr>
              <a:t>[17] Q. Shen, J. Xue, Z. Zheng, X. Yu, and N. Ou, “Machine learning-based prediction of CoCrFeNiMo0.2 high-entropy alloy weld bead dimensions in wire arc additive manufacturing,” </a:t>
            </a:r>
            <a:r>
              <a:rPr lang="en-IN" sz="1500" i="1" dirty="0">
                <a:latin typeface="Times New Roman" panose="02020603050405020304" pitchFamily="18" charset="0"/>
                <a:cs typeface="Times New Roman" panose="02020603050405020304" pitchFamily="18" charset="0"/>
              </a:rPr>
              <a:t>Mater. Today Commun.</a:t>
            </a:r>
            <a:r>
              <a:rPr lang="en-IN" sz="1500" dirty="0">
                <a:latin typeface="Times New Roman" panose="02020603050405020304" pitchFamily="18" charset="0"/>
                <a:cs typeface="Times New Roman" panose="02020603050405020304" pitchFamily="18" charset="0"/>
              </a:rPr>
              <a:t>, vol. 41, no. September, p. 110359, 2024,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10.1016/j.mtcomm.2024.110359.</a:t>
            </a:r>
          </a:p>
          <a:p>
            <a:pPr algn="just">
              <a:lnSpc>
                <a:spcPct val="150000"/>
              </a:lnSpc>
            </a:pPr>
            <a:r>
              <a:rPr lang="en-IN" sz="1500" dirty="0">
                <a:latin typeface="Times New Roman" panose="02020603050405020304" pitchFamily="18" charset="0"/>
                <a:cs typeface="Times New Roman" panose="02020603050405020304" pitchFamily="18" charset="0"/>
              </a:rPr>
              <a:t>[18] Y. E. </a:t>
            </a:r>
            <a:r>
              <a:rPr lang="en-IN" sz="1500" dirty="0" err="1">
                <a:latin typeface="Times New Roman" panose="02020603050405020304" pitchFamily="18" charset="0"/>
                <a:cs typeface="Times New Roman" panose="02020603050405020304" pitchFamily="18" charset="0"/>
              </a:rPr>
              <a:t>Mukhrish</a:t>
            </a:r>
            <a:r>
              <a:rPr lang="en-IN" sz="1500" dirty="0">
                <a:latin typeface="Times New Roman" panose="02020603050405020304" pitchFamily="18" charset="0"/>
                <a:cs typeface="Times New Roman" panose="02020603050405020304" pitchFamily="18" charset="0"/>
              </a:rPr>
              <a:t>, M. Asad, M. A. A. Khan, and F. </a:t>
            </a:r>
            <a:r>
              <a:rPr lang="en-IN" sz="1500" dirty="0" err="1">
                <a:latin typeface="Times New Roman" panose="02020603050405020304" pitchFamily="18" charset="0"/>
                <a:cs typeface="Times New Roman" panose="02020603050405020304" pitchFamily="18" charset="0"/>
              </a:rPr>
              <a:t>Djavanroodi</a:t>
            </a:r>
            <a:r>
              <a:rPr lang="en-IN" sz="1500" dirty="0">
                <a:latin typeface="Times New Roman" panose="02020603050405020304" pitchFamily="18" charset="0"/>
                <a:cs typeface="Times New Roman" panose="02020603050405020304" pitchFamily="18" charset="0"/>
              </a:rPr>
              <a:t>, “Experimental investigations on wire arc additive manufacturing process using an Inconel 625 alloy wire,” </a:t>
            </a:r>
            <a:r>
              <a:rPr lang="en-IN" sz="1500" i="1" dirty="0">
                <a:latin typeface="Times New Roman" panose="02020603050405020304" pitchFamily="18" charset="0"/>
                <a:cs typeface="Times New Roman" panose="02020603050405020304" pitchFamily="18" charset="0"/>
              </a:rPr>
              <a:t>Mech. Adv. Mater. Struct.</a:t>
            </a:r>
            <a:r>
              <a:rPr lang="en-IN" sz="1500" dirty="0">
                <a:latin typeface="Times New Roman" panose="02020603050405020304" pitchFamily="18" charset="0"/>
                <a:cs typeface="Times New Roman" panose="02020603050405020304" pitchFamily="18" charset="0"/>
              </a:rPr>
              <a:t>, vol. 31, no. 26, pp. 8242–8253, 2024,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10.1080/15376494.2023.2256336.</a:t>
            </a:r>
          </a:p>
          <a:p>
            <a:pPr algn="just">
              <a:lnSpc>
                <a:spcPct val="150000"/>
              </a:lnSpc>
            </a:pPr>
            <a:r>
              <a:rPr lang="en-IN" sz="1500" dirty="0">
                <a:latin typeface="Times New Roman" panose="02020603050405020304" pitchFamily="18" charset="0"/>
                <a:cs typeface="Times New Roman" panose="02020603050405020304" pitchFamily="18" charset="0"/>
              </a:rPr>
              <a:t>[19] B. Lan </a:t>
            </a:r>
            <a:r>
              <a:rPr lang="en-IN" sz="1500" i="1" dirty="0">
                <a:latin typeface="Times New Roman" panose="02020603050405020304" pitchFamily="18" charset="0"/>
                <a:cs typeface="Times New Roman" panose="02020603050405020304" pitchFamily="18" charset="0"/>
              </a:rPr>
              <a:t>et al.</a:t>
            </a:r>
            <a:r>
              <a:rPr lang="en-IN" sz="1500" dirty="0">
                <a:latin typeface="Times New Roman" panose="02020603050405020304" pitchFamily="18" charset="0"/>
                <a:cs typeface="Times New Roman" panose="02020603050405020304" pitchFamily="18" charset="0"/>
              </a:rPr>
              <a:t>, “The influence of microstructural anisotropy on the hot deformation of wire arc additive manufactured (WAAM) Inconel 718,” </a:t>
            </a:r>
            <a:r>
              <a:rPr lang="en-IN" sz="1500" i="1" dirty="0">
                <a:latin typeface="Times New Roman" panose="02020603050405020304" pitchFamily="18" charset="0"/>
                <a:cs typeface="Times New Roman" panose="02020603050405020304" pitchFamily="18" charset="0"/>
              </a:rPr>
              <a:t>Mater. Sci. Eng. A</a:t>
            </a:r>
            <a:r>
              <a:rPr lang="en-IN" sz="1500" dirty="0">
                <a:latin typeface="Times New Roman" panose="02020603050405020304" pitchFamily="18" charset="0"/>
                <a:cs typeface="Times New Roman" panose="02020603050405020304" pitchFamily="18" charset="0"/>
              </a:rPr>
              <a:t>, vol. 823, no. July, p. 141733, 2021,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10.1016/j.msea.2021.141733.</a:t>
            </a:r>
          </a:p>
          <a:p>
            <a:pPr algn="just">
              <a:lnSpc>
                <a:spcPct val="150000"/>
              </a:lnSpc>
            </a:pPr>
            <a:r>
              <a:rPr lang="en-IN" sz="1500" dirty="0">
                <a:latin typeface="Times New Roman" panose="02020603050405020304" pitchFamily="18" charset="0"/>
                <a:cs typeface="Times New Roman" panose="02020603050405020304" pitchFamily="18" charset="0"/>
              </a:rPr>
              <a:t>[20] W. Huang, Q. Wang, N. Ma, and H. Kitano, “Characteristics of residual stress distribution in wire-arc additive manufactured layers of low transformation temperature material,” </a:t>
            </a:r>
            <a:r>
              <a:rPr lang="en-IN" sz="1500" i="1" dirty="0">
                <a:latin typeface="Times New Roman" panose="02020603050405020304" pitchFamily="18" charset="0"/>
                <a:cs typeface="Times New Roman" panose="02020603050405020304" pitchFamily="18" charset="0"/>
              </a:rPr>
              <a:t>Int. Commun. Heat Mass Transf.</a:t>
            </a:r>
            <a:r>
              <a:rPr lang="en-IN" sz="1500" dirty="0">
                <a:latin typeface="Times New Roman" panose="02020603050405020304" pitchFamily="18" charset="0"/>
                <a:cs typeface="Times New Roman" panose="02020603050405020304" pitchFamily="18" charset="0"/>
              </a:rPr>
              <a:t>, vol. 148, no. September, p. 107066, 2023,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10.1016/j.icheatmasstransfer.2023.107066.</a:t>
            </a:r>
          </a:p>
          <a:p>
            <a:pPr algn="just">
              <a:lnSpc>
                <a:spcPct val="150000"/>
              </a:lnSpc>
            </a:pPr>
            <a:r>
              <a:rPr lang="en-IN" sz="1500" dirty="0">
                <a:latin typeface="Times New Roman" panose="02020603050405020304" pitchFamily="18" charset="0"/>
                <a:cs typeface="Times New Roman" panose="02020603050405020304" pitchFamily="18" charset="0"/>
              </a:rPr>
              <a:t>[21] L. Yuan </a:t>
            </a:r>
            <a:r>
              <a:rPr lang="en-IN" sz="1500" i="1" dirty="0">
                <a:latin typeface="Times New Roman" panose="02020603050405020304" pitchFamily="18" charset="0"/>
                <a:cs typeface="Times New Roman" panose="02020603050405020304" pitchFamily="18" charset="0"/>
              </a:rPr>
              <a:t>et al.</a:t>
            </a:r>
            <a:r>
              <a:rPr lang="en-IN" sz="1500" dirty="0">
                <a:latin typeface="Times New Roman" panose="02020603050405020304" pitchFamily="18" charset="0"/>
                <a:cs typeface="Times New Roman" panose="02020603050405020304" pitchFamily="18" charset="0"/>
              </a:rPr>
              <a:t>, “Fabrication of metallic parts with overhanging structures using the robotic wire arc additive manufacturing,” </a:t>
            </a:r>
            <a:r>
              <a:rPr lang="en-IN" sz="1500" i="1" dirty="0">
                <a:latin typeface="Times New Roman" panose="02020603050405020304" pitchFamily="18" charset="0"/>
                <a:cs typeface="Times New Roman" panose="02020603050405020304" pitchFamily="18" charset="0"/>
              </a:rPr>
              <a:t>J. Manuf. Process.</a:t>
            </a:r>
            <a:r>
              <a:rPr lang="en-IN" sz="1500" dirty="0">
                <a:latin typeface="Times New Roman" panose="02020603050405020304" pitchFamily="18" charset="0"/>
                <a:cs typeface="Times New Roman" panose="02020603050405020304" pitchFamily="18" charset="0"/>
              </a:rPr>
              <a:t>, vol. 63, no. March 2020, pp. 24–34, 2021,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10.1016/j.jmapro.2020.03.018.</a:t>
            </a:r>
          </a:p>
          <a:p>
            <a:pPr marL="406400" indent="-406400" algn="just">
              <a:lnSpc>
                <a:spcPct val="107000"/>
              </a:lnSpc>
              <a:spcAft>
                <a:spcPts val="800"/>
              </a:spcAft>
            </a:pP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 name="object 19">
            <a:extLst>
              <a:ext uri="{FF2B5EF4-FFF2-40B4-BE49-F238E27FC236}">
                <a16:creationId xmlns:a16="http://schemas.microsoft.com/office/drawing/2014/main" id="{882CBB6B-2A29-BD63-B766-A6BFE631538E}"/>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E4F5BB9A-5FB1-B922-35E9-7AAF8789485F}"/>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6">
          <a:extLst>
            <a:ext uri="{FF2B5EF4-FFF2-40B4-BE49-F238E27FC236}">
              <a16:creationId xmlns:a16="http://schemas.microsoft.com/office/drawing/2014/main" id="{8EED1DA6-E8D6-2261-C9B5-A2237CCE0FC8}"/>
            </a:ext>
          </a:extLst>
        </p:cNvPr>
        <p:cNvGrpSpPr/>
        <p:nvPr/>
      </p:nvGrpSpPr>
      <p:grpSpPr>
        <a:xfrm>
          <a:off x="0" y="0"/>
          <a:ext cx="0" cy="0"/>
          <a:chOff x="0" y="0"/>
          <a:chExt cx="0" cy="0"/>
        </a:xfrm>
      </p:grpSpPr>
      <p:sp>
        <p:nvSpPr>
          <p:cNvPr id="238" name="Google Shape;238;p28">
            <a:extLst>
              <a:ext uri="{FF2B5EF4-FFF2-40B4-BE49-F238E27FC236}">
                <a16:creationId xmlns:a16="http://schemas.microsoft.com/office/drawing/2014/main" id="{8D30458B-4557-0A1C-A89B-E7CF436140E5}"/>
              </a:ext>
            </a:extLst>
          </p:cNvPr>
          <p:cNvSpPr txBox="1">
            <a:spLocks noGrp="1"/>
          </p:cNvSpPr>
          <p:nvPr>
            <p:ph type="body" idx="1"/>
          </p:nvPr>
        </p:nvSpPr>
        <p:spPr>
          <a:xfrm>
            <a:off x="838200" y="1070519"/>
            <a:ext cx="10515600" cy="4774228"/>
          </a:xfrm>
          <a:prstGeom prst="rect">
            <a:avLst/>
          </a:prstGeom>
          <a:noFill/>
          <a:ln>
            <a:noFill/>
          </a:ln>
        </p:spPr>
        <p:txBody>
          <a:bodyPr spcFirstLastPara="1" wrap="square" lIns="91425" tIns="45700" rIns="91425" bIns="45700" anchor="t" anchorCtr="0">
            <a:normAutofit/>
          </a:bodyPr>
          <a:lstStyle/>
          <a:p>
            <a:pPr marL="0" lvl="0" indent="0" algn="l" rtl="0">
              <a:lnSpc>
                <a:spcPct val="107000"/>
              </a:lnSpc>
              <a:spcBef>
                <a:spcPts val="1800"/>
              </a:spcBef>
              <a:spcAft>
                <a:spcPts val="0"/>
              </a:spcAft>
              <a:buClr>
                <a:schemeClr val="dk1"/>
              </a:buClr>
              <a:buSzPts val="1800"/>
              <a:buNone/>
            </a:pPr>
            <a:endParaRPr sz="1800" dirty="0">
              <a:latin typeface="Calibri"/>
              <a:ea typeface="Calibri"/>
              <a:cs typeface="Calibri"/>
              <a:sym typeface="Calibri"/>
            </a:endParaRPr>
          </a:p>
          <a:p>
            <a:pPr marL="0" lvl="0" indent="0" algn="l" rtl="0">
              <a:lnSpc>
                <a:spcPct val="107000"/>
              </a:lnSpc>
              <a:spcBef>
                <a:spcPts val="1800"/>
              </a:spcBef>
              <a:spcAft>
                <a:spcPts val="0"/>
              </a:spcAft>
              <a:buClr>
                <a:schemeClr val="dk1"/>
              </a:buClr>
              <a:buSzPts val="1400"/>
              <a:buNone/>
            </a:pPr>
            <a:endParaRPr sz="1400" dirty="0">
              <a:latin typeface="Calibri"/>
              <a:ea typeface="Calibri"/>
              <a:cs typeface="Calibri"/>
              <a:sym typeface="Calibri"/>
            </a:endParaRPr>
          </a:p>
          <a:p>
            <a:pPr marL="0" lvl="0" indent="0" algn="l" rtl="0">
              <a:lnSpc>
                <a:spcPct val="150000"/>
              </a:lnSpc>
              <a:spcBef>
                <a:spcPts val="1800"/>
              </a:spcBef>
              <a:spcAft>
                <a:spcPts val="0"/>
              </a:spcAft>
              <a:buClr>
                <a:schemeClr val="dk1"/>
              </a:buClr>
              <a:buSzPts val="1800"/>
              <a:buNone/>
            </a:pPr>
            <a:endParaRPr sz="1800" dirty="0">
              <a:latin typeface="Calibri"/>
              <a:ea typeface="Calibri"/>
              <a:cs typeface="Calibri"/>
              <a:sym typeface="Calibri"/>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a:p>
            <a:pPr marL="342900" lvl="0" indent="-241300" algn="l" rtl="0">
              <a:lnSpc>
                <a:spcPct val="150000"/>
              </a:lnSpc>
              <a:spcBef>
                <a:spcPts val="1000"/>
              </a:spcBef>
              <a:spcAft>
                <a:spcPts val="0"/>
              </a:spcAft>
              <a:buClr>
                <a:schemeClr val="dk1"/>
              </a:buClr>
              <a:buSzPts val="1600"/>
              <a:buFont typeface="Calibri"/>
              <a:buNone/>
            </a:pPr>
            <a:endParaRPr sz="1600" dirty="0">
              <a:latin typeface="Times New Roman"/>
              <a:ea typeface="Times New Roman"/>
              <a:cs typeface="Times New Roman"/>
              <a:sym typeface="Times New Roman"/>
            </a:endParaRPr>
          </a:p>
        </p:txBody>
      </p:sp>
      <p:sp>
        <p:nvSpPr>
          <p:cNvPr id="4" name="Rectangle: Rounded Corners 3">
            <a:extLst>
              <a:ext uri="{FF2B5EF4-FFF2-40B4-BE49-F238E27FC236}">
                <a16:creationId xmlns:a16="http://schemas.microsoft.com/office/drawing/2014/main" id="{7296F623-B758-2DA6-26DB-DD74840094CB}"/>
              </a:ext>
            </a:extLst>
          </p:cNvPr>
          <p:cNvSpPr/>
          <p:nvPr/>
        </p:nvSpPr>
        <p:spPr>
          <a:xfrm>
            <a:off x="838200" y="149035"/>
            <a:ext cx="10007830" cy="758943"/>
          </a:xfrm>
          <a:prstGeom prst="roundRect">
            <a:avLst/>
          </a:prstGeom>
          <a:solidFill>
            <a:schemeClr val="accent5">
              <a:lumMod val="20000"/>
              <a:lumOff val="80000"/>
            </a:schemeClr>
          </a:solidFill>
          <a:ln>
            <a:solidFill>
              <a:schemeClr val="accent3"/>
            </a:solidFill>
          </a:ln>
        </p:spPr>
        <p:style>
          <a:lnRef idx="1">
            <a:schemeClr val="accent5"/>
          </a:lnRef>
          <a:fillRef idx="2">
            <a:schemeClr val="accent5"/>
          </a:fillRef>
          <a:effectRef idx="1">
            <a:schemeClr val="accent5"/>
          </a:effectRef>
          <a:fontRef idx="minor">
            <a:schemeClr val="dk1"/>
          </a:fontRef>
        </p:style>
        <p:txBody>
          <a:bodyPr rtlCol="0" anchor="ctr"/>
          <a:lstStyle/>
          <a:p>
            <a:r>
              <a:rPr lang="en-US" sz="2800" b="1" dirty="0">
                <a:solidFill>
                  <a:srgbClr val="002060"/>
                </a:solidFill>
                <a:latin typeface="Times New Roman" panose="02020603050405020304" pitchFamily="18" charset="0"/>
                <a:cs typeface="Times New Roman" panose="02020603050405020304" pitchFamily="18" charset="0"/>
              </a:rPr>
              <a:t>References</a:t>
            </a:r>
            <a:endParaRPr lang="en-IN" sz="2800" b="1" dirty="0">
              <a:solidFill>
                <a:srgbClr val="002060"/>
              </a:solidFill>
              <a:latin typeface="Times New Roman" panose="02020603050405020304" pitchFamily="18" charset="0"/>
              <a:cs typeface="Times New Roman" panose="02020603050405020304" pitchFamily="18" charset="0"/>
            </a:endParaRPr>
          </a:p>
        </p:txBody>
      </p:sp>
      <p:grpSp>
        <p:nvGrpSpPr>
          <p:cNvPr id="5" name="object 17">
            <a:extLst>
              <a:ext uri="{FF2B5EF4-FFF2-40B4-BE49-F238E27FC236}">
                <a16:creationId xmlns:a16="http://schemas.microsoft.com/office/drawing/2014/main" id="{04059332-1803-2026-1670-11ED235ED8F5}"/>
              </a:ext>
            </a:extLst>
          </p:cNvPr>
          <p:cNvGrpSpPr/>
          <p:nvPr/>
        </p:nvGrpSpPr>
        <p:grpSpPr>
          <a:xfrm>
            <a:off x="0" y="6518560"/>
            <a:ext cx="12192000" cy="339440"/>
            <a:chOff x="0" y="3346348"/>
            <a:chExt cx="4608195" cy="109855"/>
          </a:xfrm>
        </p:grpSpPr>
        <p:sp>
          <p:nvSpPr>
            <p:cNvPr id="6" name="object 18">
              <a:extLst>
                <a:ext uri="{FF2B5EF4-FFF2-40B4-BE49-F238E27FC236}">
                  <a16:creationId xmlns:a16="http://schemas.microsoft.com/office/drawing/2014/main" id="{B2C40871-33AF-F9E2-6427-3CA7A741095E}"/>
                </a:ext>
              </a:extLst>
            </p:cNvPr>
            <p:cNvSpPr/>
            <p:nvPr/>
          </p:nvSpPr>
          <p:spPr>
            <a:xfrm>
              <a:off x="0" y="3346348"/>
              <a:ext cx="1535976" cy="109855"/>
            </a:xfrm>
            <a:custGeom>
              <a:avLst/>
              <a:gdLst/>
              <a:ahLst/>
              <a:cxnLst/>
              <a:rect l="l" t="t" r="r" b="b"/>
              <a:pathLst>
                <a:path w="1536065" h="109854">
                  <a:moveTo>
                    <a:pt x="1535976" y="0"/>
                  </a:moveTo>
                  <a:lnTo>
                    <a:pt x="0" y="0"/>
                  </a:lnTo>
                  <a:lnTo>
                    <a:pt x="0" y="109651"/>
                  </a:lnTo>
                  <a:lnTo>
                    <a:pt x="1535976" y="109651"/>
                  </a:lnTo>
                  <a:lnTo>
                    <a:pt x="1535976" y="0"/>
                  </a:lnTo>
                  <a:close/>
                </a:path>
              </a:pathLst>
            </a:custGeom>
            <a:solidFill>
              <a:schemeClr val="accent5">
                <a:lumMod val="40000"/>
                <a:lumOff val="60000"/>
              </a:schemeClr>
            </a:solidFill>
          </p:spPr>
          <p:txBody>
            <a:bodyPr wrap="square" lIns="0" tIns="0" rIns="0" bIns="0" rtlCol="0"/>
            <a:lstStyle/>
            <a:p>
              <a:pPr algn="ctr"/>
              <a:r>
                <a:rPr lang="en-US" dirty="0">
                  <a:solidFill>
                    <a:schemeClr val="tx1"/>
                  </a:solidFill>
                  <a:latin typeface="Times New Roman" panose="02020603050405020304" pitchFamily="18" charset="0"/>
                  <a:cs typeface="Times New Roman" panose="02020603050405020304" pitchFamily="18" charset="0"/>
                </a:rPr>
                <a:t>V </a:t>
              </a:r>
              <a:r>
                <a:rPr lang="en-US" dirty="0" err="1">
                  <a:solidFill>
                    <a:schemeClr val="tx1"/>
                  </a:solidFill>
                  <a:latin typeface="Times New Roman" panose="02020603050405020304" pitchFamily="18" charset="0"/>
                  <a:cs typeface="Times New Roman" panose="02020603050405020304" pitchFamily="18" charset="0"/>
                </a:rPr>
                <a:t>V</a:t>
              </a:r>
              <a:r>
                <a:rPr lang="en-US" dirty="0">
                  <a:solidFill>
                    <a:schemeClr val="tx1"/>
                  </a:solidFill>
                  <a:latin typeface="Times New Roman" panose="02020603050405020304" pitchFamily="18" charset="0"/>
                  <a:cs typeface="Times New Roman" panose="02020603050405020304" pitchFamily="18" charset="0"/>
                </a:rPr>
                <a:t> D Praveen Kalepu (IIITDM Kurnool)</a:t>
              </a:r>
              <a:endParaRPr dirty="0">
                <a:solidFill>
                  <a:schemeClr val="tx1"/>
                </a:solidFill>
                <a:latin typeface="Times New Roman" panose="02020603050405020304" pitchFamily="18" charset="0"/>
                <a:cs typeface="Times New Roman" panose="02020603050405020304" pitchFamily="18" charset="0"/>
              </a:endParaRPr>
            </a:p>
          </p:txBody>
        </p:sp>
        <p:sp>
          <p:nvSpPr>
            <p:cNvPr id="7" name="object 19">
              <a:extLst>
                <a:ext uri="{FF2B5EF4-FFF2-40B4-BE49-F238E27FC236}">
                  <a16:creationId xmlns:a16="http://schemas.microsoft.com/office/drawing/2014/main" id="{63D0E1C5-FE4B-E692-E0FC-5AADAA28E5DB}"/>
                </a:ext>
              </a:extLst>
            </p:cNvPr>
            <p:cNvSpPr/>
            <p:nvPr/>
          </p:nvSpPr>
          <p:spPr>
            <a:xfrm>
              <a:off x="1535976"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Progressive seminar </a:t>
              </a:r>
              <a:endParaRPr dirty="0">
                <a:latin typeface="Times New Roman" panose="02020603050405020304" pitchFamily="18" charset="0"/>
                <a:cs typeface="Times New Roman" panose="02020603050405020304" pitchFamily="18" charset="0"/>
              </a:endParaRPr>
            </a:p>
          </p:txBody>
        </p:sp>
        <p:sp>
          <p:nvSpPr>
            <p:cNvPr id="8" name="object 20">
              <a:extLst>
                <a:ext uri="{FF2B5EF4-FFF2-40B4-BE49-F238E27FC236}">
                  <a16:creationId xmlns:a16="http://schemas.microsoft.com/office/drawing/2014/main" id="{02B5BD41-8638-FCF7-46CE-00B90DF37C09}"/>
                </a:ext>
              </a:extLst>
            </p:cNvPr>
            <p:cNvSpPr/>
            <p:nvPr/>
          </p:nvSpPr>
          <p:spPr>
            <a:xfrm>
              <a:off x="3072130" y="3346348"/>
              <a:ext cx="1536065" cy="109855"/>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6">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July 2025                        29/30</a:t>
              </a:r>
              <a:endParaRPr dirty="0"/>
            </a:p>
          </p:txBody>
        </p:sp>
      </p:grpSp>
      <p:sp>
        <p:nvSpPr>
          <p:cNvPr id="3" name="TextBox 2">
            <a:extLst>
              <a:ext uri="{FF2B5EF4-FFF2-40B4-BE49-F238E27FC236}">
                <a16:creationId xmlns:a16="http://schemas.microsoft.com/office/drawing/2014/main" id="{388EF86E-DBC8-03B2-7081-5994D8EEEED3}"/>
              </a:ext>
            </a:extLst>
          </p:cNvPr>
          <p:cNvSpPr txBox="1"/>
          <p:nvPr/>
        </p:nvSpPr>
        <p:spPr>
          <a:xfrm>
            <a:off x="838200" y="1107305"/>
            <a:ext cx="10007830" cy="3800528"/>
          </a:xfrm>
          <a:prstGeom prst="rect">
            <a:avLst/>
          </a:prstGeom>
          <a:noFill/>
        </p:spPr>
        <p:txBody>
          <a:bodyPr wrap="square">
            <a:spAutoFit/>
          </a:bodyPr>
          <a:lstStyle/>
          <a:p>
            <a:pPr algn="just">
              <a:lnSpc>
                <a:spcPct val="150000"/>
              </a:lnSpc>
            </a:pPr>
            <a:r>
              <a:rPr lang="en-IN" sz="1500" dirty="0">
                <a:latin typeface="Times New Roman" panose="02020603050405020304" pitchFamily="18" charset="0"/>
                <a:cs typeface="Times New Roman" panose="02020603050405020304" pitchFamily="18" charset="0"/>
              </a:rPr>
              <a:t>[22]K. H. Kazmi, M. Chandra, S. Rajak, S. K. Sharma, A. Mandal, and A. K. Das, “Implementing machine learning in robotic wire arc additive manufacturing for minimizing surface roughness,” </a:t>
            </a:r>
            <a:r>
              <a:rPr lang="en-IN" sz="1500" i="1" dirty="0">
                <a:latin typeface="Times New Roman" panose="02020603050405020304" pitchFamily="18" charset="0"/>
                <a:cs typeface="Times New Roman" panose="02020603050405020304" pitchFamily="18" charset="0"/>
              </a:rPr>
              <a:t>Int. J. </a:t>
            </a:r>
            <a:r>
              <a:rPr lang="en-IN" sz="1500" i="1" dirty="0" err="1">
                <a:latin typeface="Times New Roman" panose="02020603050405020304" pitchFamily="18" charset="0"/>
                <a:cs typeface="Times New Roman" panose="02020603050405020304" pitchFamily="18" charset="0"/>
              </a:rPr>
              <a:t>Comput</a:t>
            </a:r>
            <a:r>
              <a:rPr lang="en-IN" sz="1500" i="1" dirty="0">
                <a:latin typeface="Times New Roman" panose="02020603050405020304" pitchFamily="18" charset="0"/>
                <a:cs typeface="Times New Roman" panose="02020603050405020304" pitchFamily="18" charset="0"/>
              </a:rPr>
              <a:t>. </a:t>
            </a:r>
            <a:r>
              <a:rPr lang="en-IN" sz="1500" i="1" dirty="0" err="1">
                <a:latin typeface="Times New Roman" panose="02020603050405020304" pitchFamily="18" charset="0"/>
                <a:cs typeface="Times New Roman" panose="02020603050405020304" pitchFamily="18" charset="0"/>
              </a:rPr>
              <a:t>Integr</a:t>
            </a:r>
            <a:r>
              <a:rPr lang="en-IN" sz="1500" i="1" dirty="0">
                <a:latin typeface="Times New Roman" panose="02020603050405020304" pitchFamily="18" charset="0"/>
                <a:cs typeface="Times New Roman" panose="02020603050405020304" pitchFamily="18" charset="0"/>
              </a:rPr>
              <a:t>. Manuf.</a:t>
            </a:r>
            <a:r>
              <a:rPr lang="en-IN" sz="1500" dirty="0">
                <a:latin typeface="Times New Roman" panose="02020603050405020304" pitchFamily="18" charset="0"/>
                <a:cs typeface="Times New Roman" panose="02020603050405020304" pitchFamily="18" charset="0"/>
              </a:rPr>
              <a:t>, vol. 38, no. 2, pp. 255–270, 2025,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10.1080/0951192X.2024.2330091.</a:t>
            </a:r>
          </a:p>
          <a:p>
            <a:pPr algn="just">
              <a:lnSpc>
                <a:spcPct val="150000"/>
              </a:lnSpc>
            </a:pPr>
            <a:r>
              <a:rPr lang="en-IN" sz="1500" dirty="0">
                <a:latin typeface="Times New Roman" panose="02020603050405020304" pitchFamily="18" charset="0"/>
                <a:cs typeface="Times New Roman" panose="02020603050405020304" pitchFamily="18" charset="0"/>
              </a:rPr>
              <a:t>[23]W. J. Oh, C. M. Lee, and D. H. Kim, “Prediction of deposition bead geometry in wire arc additive manufacturing using machine learning,” </a:t>
            </a:r>
            <a:r>
              <a:rPr lang="en-IN" sz="1500" i="1" dirty="0">
                <a:latin typeface="Times New Roman" panose="02020603050405020304" pitchFamily="18" charset="0"/>
                <a:cs typeface="Times New Roman" panose="02020603050405020304" pitchFamily="18" charset="0"/>
              </a:rPr>
              <a:t>J. Mater. Res. Technol.</a:t>
            </a:r>
            <a:r>
              <a:rPr lang="en-IN" sz="1500" dirty="0">
                <a:latin typeface="Times New Roman" panose="02020603050405020304" pitchFamily="18" charset="0"/>
                <a:cs typeface="Times New Roman" panose="02020603050405020304" pitchFamily="18" charset="0"/>
              </a:rPr>
              <a:t>, vol. 20, pp. 4283–4296, 2022,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10.1016/j.jmrt.2022.08.154.</a:t>
            </a:r>
          </a:p>
          <a:p>
            <a:pPr algn="just">
              <a:lnSpc>
                <a:spcPct val="150000"/>
              </a:lnSpc>
            </a:pPr>
            <a:r>
              <a:rPr lang="en-IN" sz="1500" dirty="0">
                <a:latin typeface="Times New Roman" panose="02020603050405020304" pitchFamily="18" charset="0"/>
                <a:cs typeface="Times New Roman" panose="02020603050405020304" pitchFamily="18" charset="0"/>
              </a:rPr>
              <a:t>[24]A. Yaseer and H. Chen, “Machine learning based layer roughness </a:t>
            </a:r>
            <a:r>
              <a:rPr lang="en-IN" sz="1500" dirty="0" err="1">
                <a:latin typeface="Times New Roman" panose="02020603050405020304" pitchFamily="18" charset="0"/>
                <a:cs typeface="Times New Roman" panose="02020603050405020304" pitchFamily="18" charset="0"/>
              </a:rPr>
              <a:t>modeling</a:t>
            </a:r>
            <a:r>
              <a:rPr lang="en-IN" sz="1500" dirty="0">
                <a:latin typeface="Times New Roman" panose="02020603050405020304" pitchFamily="18" charset="0"/>
                <a:cs typeface="Times New Roman" panose="02020603050405020304" pitchFamily="18" charset="0"/>
              </a:rPr>
              <a:t> in robotic additive manufacturing,” </a:t>
            </a:r>
            <a:r>
              <a:rPr lang="en-IN" sz="1500" i="1" dirty="0">
                <a:latin typeface="Times New Roman" panose="02020603050405020304" pitchFamily="18" charset="0"/>
                <a:cs typeface="Times New Roman" panose="02020603050405020304" pitchFamily="18" charset="0"/>
              </a:rPr>
              <a:t>J. Manuf. Process.</a:t>
            </a:r>
            <a:r>
              <a:rPr lang="en-IN" sz="1500" dirty="0">
                <a:latin typeface="Times New Roman" panose="02020603050405020304" pitchFamily="18" charset="0"/>
                <a:cs typeface="Times New Roman" panose="02020603050405020304" pitchFamily="18" charset="0"/>
              </a:rPr>
              <a:t>, vol. 70, no. August, pp. 543–552, 2021,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10.1016/j.jmapro.2021.08.056.</a:t>
            </a:r>
          </a:p>
          <a:p>
            <a:pPr algn="just">
              <a:lnSpc>
                <a:spcPct val="150000"/>
              </a:lnSpc>
            </a:pPr>
            <a:r>
              <a:rPr lang="en-IN" sz="1500" dirty="0">
                <a:latin typeface="Times New Roman" panose="02020603050405020304" pitchFamily="18" charset="0"/>
                <a:cs typeface="Times New Roman" panose="02020603050405020304" pitchFamily="18" charset="0"/>
              </a:rPr>
              <a:t>[25]Y. Guo, Y. Zhang, Z. Pan, and W. Zhou, “Recent progress of sensing and machine learning technologies for process monitoring and defects detection in wire arc additive manufacturing,” </a:t>
            </a:r>
            <a:r>
              <a:rPr lang="en-IN" sz="1500" i="1" dirty="0">
                <a:latin typeface="Times New Roman" panose="02020603050405020304" pitchFamily="18" charset="0"/>
                <a:cs typeface="Times New Roman" panose="02020603050405020304" pitchFamily="18" charset="0"/>
              </a:rPr>
              <a:t>J. Manuf. Process.</a:t>
            </a:r>
            <a:r>
              <a:rPr lang="en-IN" sz="1500" dirty="0">
                <a:latin typeface="Times New Roman" panose="02020603050405020304" pitchFamily="18" charset="0"/>
                <a:cs typeface="Times New Roman" panose="02020603050405020304" pitchFamily="18" charset="0"/>
              </a:rPr>
              <a:t>, vol. 125, no. April, pp. 489–511, 2024, </a:t>
            </a:r>
            <a:r>
              <a:rPr lang="en-IN" sz="1500" dirty="0" err="1">
                <a:latin typeface="Times New Roman" panose="02020603050405020304" pitchFamily="18" charset="0"/>
                <a:cs typeface="Times New Roman" panose="02020603050405020304" pitchFamily="18" charset="0"/>
              </a:rPr>
              <a:t>doi</a:t>
            </a:r>
            <a:r>
              <a:rPr lang="en-IN" sz="1500" dirty="0">
                <a:latin typeface="Times New Roman" panose="02020603050405020304" pitchFamily="18" charset="0"/>
                <a:cs typeface="Times New Roman" panose="02020603050405020304" pitchFamily="18" charset="0"/>
              </a:rPr>
              <a:t>: 10.1016/j.jmapro.2024.07.060.</a:t>
            </a:r>
          </a:p>
          <a:p>
            <a:pPr marL="406400" indent="-406400" algn="just">
              <a:lnSpc>
                <a:spcPct val="107000"/>
              </a:lnSpc>
              <a:spcAft>
                <a:spcPts val="800"/>
              </a:spcAft>
            </a:pP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2" name="object 19">
            <a:extLst>
              <a:ext uri="{FF2B5EF4-FFF2-40B4-BE49-F238E27FC236}">
                <a16:creationId xmlns:a16="http://schemas.microsoft.com/office/drawing/2014/main" id="{A9A2213D-1CDE-65FE-C394-4DA74B24298B}"/>
              </a:ext>
            </a:extLst>
          </p:cNvPr>
          <p:cNvSpPr/>
          <p:nvPr/>
        </p:nvSpPr>
        <p:spPr>
          <a:xfrm>
            <a:off x="4063765" y="6512552"/>
            <a:ext cx="4064000" cy="345448"/>
          </a:xfrm>
          <a:custGeom>
            <a:avLst/>
            <a:gdLst/>
            <a:ahLst/>
            <a:cxnLst/>
            <a:rect l="l" t="t" r="r" b="b"/>
            <a:pathLst>
              <a:path w="1536064" h="109854">
                <a:moveTo>
                  <a:pt x="1535976" y="0"/>
                </a:moveTo>
                <a:lnTo>
                  <a:pt x="0" y="0"/>
                </a:lnTo>
                <a:lnTo>
                  <a:pt x="0" y="109651"/>
                </a:lnTo>
                <a:lnTo>
                  <a:pt x="1535976" y="109651"/>
                </a:lnTo>
                <a:lnTo>
                  <a:pt x="1535976" y="0"/>
                </a:lnTo>
                <a:close/>
              </a:path>
            </a:pathLst>
          </a:custGeom>
          <a:solidFill>
            <a:schemeClr val="accent4">
              <a:lumMod val="40000"/>
              <a:lumOff val="60000"/>
            </a:schemeClr>
          </a:solidFill>
        </p:spPr>
        <p:txBody>
          <a:bodyPr wrap="square" lIns="0" tIns="0" rIns="0" bIns="0" rtlCol="0"/>
          <a:lstStyle/>
          <a:p>
            <a:pPr algn="ctr"/>
            <a:r>
              <a:rPr lang="en-US" dirty="0">
                <a:latin typeface="Times New Roman" panose="02020603050405020304" pitchFamily="18" charset="0"/>
                <a:cs typeface="Times New Roman" panose="02020603050405020304" pitchFamily="18" charset="0"/>
              </a:rPr>
              <a:t>Ph.D</a:t>
            </a:r>
            <a:r>
              <a:rPr lang="en-US" b="1" i="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Registration seminar </a:t>
            </a:r>
          </a:p>
        </p:txBody>
      </p:sp>
      <p:pic>
        <p:nvPicPr>
          <p:cNvPr id="9" name="Google Shape;97;p14">
            <a:extLst>
              <a:ext uri="{FF2B5EF4-FFF2-40B4-BE49-F238E27FC236}">
                <a16:creationId xmlns:a16="http://schemas.microsoft.com/office/drawing/2014/main" id="{465FDDD9-ADB9-C4A0-1728-6F4A29CB8766}"/>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17719168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3">
          <a:extLst>
            <a:ext uri="{FF2B5EF4-FFF2-40B4-BE49-F238E27FC236}">
              <a16:creationId xmlns:a16="http://schemas.microsoft.com/office/drawing/2014/main" id="{609DAD76-3DC3-8DD1-A800-56CD865A9B9F}"/>
            </a:ext>
          </a:extLst>
        </p:cNvPr>
        <p:cNvGrpSpPr/>
        <p:nvPr/>
      </p:nvGrpSpPr>
      <p:grpSpPr>
        <a:xfrm>
          <a:off x="0" y="0"/>
          <a:ext cx="0" cy="0"/>
          <a:chOff x="0" y="0"/>
          <a:chExt cx="0" cy="0"/>
        </a:xfrm>
      </p:grpSpPr>
      <p:sp>
        <p:nvSpPr>
          <p:cNvPr id="244" name="Google Shape;244;p29">
            <a:extLst>
              <a:ext uri="{FF2B5EF4-FFF2-40B4-BE49-F238E27FC236}">
                <a16:creationId xmlns:a16="http://schemas.microsoft.com/office/drawing/2014/main" id="{4D465C3C-6EFC-022F-F708-E501D5594AA4}"/>
              </a:ext>
            </a:extLst>
          </p:cNvPr>
          <p:cNvSpPr txBox="1">
            <a:spLocks noGrp="1"/>
          </p:cNvSpPr>
          <p:nvPr>
            <p:ph type="title"/>
          </p:nvPr>
        </p:nvSpPr>
        <p:spPr>
          <a:xfrm>
            <a:off x="3078976" y="2847321"/>
            <a:ext cx="7492109" cy="149765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B0F0"/>
              </a:buClr>
              <a:buSzPct val="100000"/>
              <a:buFont typeface="Arial Black"/>
              <a:buNone/>
            </a:pPr>
            <a:r>
              <a:rPr lang="en-IN" sz="7200" b="1" dirty="0">
                <a:solidFill>
                  <a:srgbClr val="3333FF"/>
                </a:solidFill>
                <a:latin typeface="Times New Roman" panose="02020603050405020304" pitchFamily="18" charset="0"/>
                <a:ea typeface="Arial Black"/>
                <a:cs typeface="Times New Roman" panose="02020603050405020304" pitchFamily="18" charset="0"/>
                <a:sym typeface="Arial Black"/>
              </a:rPr>
              <a:t>THANK YOU </a:t>
            </a:r>
            <a:endParaRPr sz="7200" dirty="0">
              <a:solidFill>
                <a:srgbClr val="3333FF"/>
              </a:solidFill>
              <a:latin typeface="Times New Roman" panose="02020603050405020304" pitchFamily="18" charset="0"/>
              <a:cs typeface="Times New Roman" panose="02020603050405020304" pitchFamily="18" charset="0"/>
            </a:endParaRPr>
          </a:p>
        </p:txBody>
      </p:sp>
      <p:pic>
        <p:nvPicPr>
          <p:cNvPr id="2" name="Google Shape;97;p14">
            <a:extLst>
              <a:ext uri="{FF2B5EF4-FFF2-40B4-BE49-F238E27FC236}">
                <a16:creationId xmlns:a16="http://schemas.microsoft.com/office/drawing/2014/main" id="{A3951444-4617-0ACC-7DBB-14228F849F11}"/>
              </a:ext>
            </a:extLst>
          </p:cNvPr>
          <p:cNvPicPr preferRelativeResize="0"/>
          <p:nvPr/>
        </p:nvPicPr>
        <p:blipFill rotWithShape="1">
          <a:blip r:embed="rId3">
            <a:alphaModFix/>
          </a:blip>
          <a:srcRect/>
          <a:stretch/>
        </p:blipFill>
        <p:spPr>
          <a:xfrm>
            <a:off x="11013048" y="0"/>
            <a:ext cx="1178952" cy="1153972"/>
          </a:xfrm>
          <a:prstGeom prst="rect">
            <a:avLst/>
          </a:prstGeom>
          <a:noFill/>
          <a:ln>
            <a:noFill/>
          </a:ln>
        </p:spPr>
      </p:pic>
    </p:spTree>
    <p:extLst>
      <p:ext uri="{BB962C8B-B14F-4D97-AF65-F5344CB8AC3E}">
        <p14:creationId xmlns:p14="http://schemas.microsoft.com/office/powerpoint/2010/main" val="200568859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TM10001115[[fn=Parcel]]</Template>
  <TotalTime>4433</TotalTime>
  <Words>4777</Words>
  <Application>Microsoft Office PowerPoint</Application>
  <PresentationFormat>Widescreen</PresentationFormat>
  <Paragraphs>755</Paragraphs>
  <Slides>34</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Times New Roman</vt:lpstr>
      <vt:lpstr>Wingdings</vt:lpstr>
      <vt:lpstr>Calibri</vt:lpstr>
      <vt:lpstr>Arial</vt:lpstr>
      <vt:lpstr>Arial Black</vt:lpstr>
      <vt:lpstr>Noto Sans Symbols</vt:lpstr>
      <vt:lpstr>Courier New</vt:lpstr>
      <vt:lpstr>Office Theme</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 based Robotic Wire Arc Additive Manufacturing of Nickel based Alloy  Mr. V V D Praveen Kalepu Research Scholar    Under the supervision of</dc:title>
  <dc:creator>IIITM KURNOOL</dc:creator>
  <cp:lastModifiedBy>HP</cp:lastModifiedBy>
  <cp:revision>355</cp:revision>
  <dcterms:modified xsi:type="dcterms:W3CDTF">2025-11-10T17:32:33Z</dcterms:modified>
</cp:coreProperties>
</file>